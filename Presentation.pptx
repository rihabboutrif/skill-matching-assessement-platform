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x="18288000" cy="10287000"/>
  <p:notesSz cx="6858000" cy="9144000"/>
  <p:embeddedFontLst>
    <p:embeddedFont>
      <p:font typeface="Poppins Bold" charset="1" panose="00000800000000000000"/>
      <p:regular r:id="rId52"/>
    </p:embeddedFont>
    <p:embeddedFont>
      <p:font typeface="Poppins" charset="1" panose="00000500000000000000"/>
      <p:regular r:id="rId53"/>
    </p:embeddedFont>
    <p:embeddedFont>
      <p:font typeface="Garet" charset="1" panose="00000000000000000000"/>
      <p:regular r:id="rId54"/>
    </p:embeddedFont>
    <p:embeddedFont>
      <p:font typeface="Marykate 1" charset="1" panose="00000000000000000000"/>
      <p:regular r:id="rId55"/>
    </p:embeddedFont>
    <p:embeddedFont>
      <p:font typeface="Calibri (MS) Bold" charset="1" panose="020F0702030404030204"/>
      <p:regular r:id="rId56"/>
    </p:embeddedFont>
    <p:embeddedFont>
      <p:font typeface="Calibri (MS)" charset="1" panose="020F0502020204030204"/>
      <p:regular r:id="rId57"/>
    </p:embeddedFont>
    <p:embeddedFont>
      <p:font typeface="Biro Script Plus" charset="1" panose="03050500020000090003"/>
      <p:regular r:id="rId58"/>
    </p:embeddedFont>
    <p:embeddedFont>
      <p:font typeface="Arimo" charset="1" panose="020B0604020202020204"/>
      <p:regular r:id="rId59"/>
    </p:embeddedFont>
    <p:embeddedFont>
      <p:font typeface="Poppins Bold Italics" charset="1" panose="00000800000000000000"/>
      <p:regular r:id="rId60"/>
    </p:embeddedFont>
    <p:embeddedFont>
      <p:font typeface="Poppins Italics" charset="1" panose="00000500000000000000"/>
      <p:regular r:id="rId61"/>
    </p:embeddedFont>
    <p:embeddedFont>
      <p:font typeface="Arial Bold" charset="1" panose="020B0704020202020204"/>
      <p:regular r:id="rId62"/>
    </p:embeddedFont>
    <p:embeddedFont>
      <p:font typeface="Arial" charset="1" panose="020B0604020202020204"/>
      <p:regular r:id="rId63"/>
    </p:embeddedFont>
    <p:embeddedFont>
      <p:font typeface="Arial Italics" charset="1" panose="020B0604020202090204"/>
      <p:regular r:id="rId64"/>
    </p:embeddedFont>
    <p:embeddedFont>
      <p:font typeface="Marykate 2" charset="1" panose="00000000000000000000"/>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2" Target="../media/image17.png" Type="http://schemas.openxmlformats.org/officeDocument/2006/relationships/image"/><Relationship Id="rId3" Target="../media/image22.jpe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png" Type="http://schemas.openxmlformats.org/officeDocument/2006/relationships/image"/><Relationship Id="rId12" Target="../media/image36.png" Type="http://schemas.openxmlformats.org/officeDocument/2006/relationships/image"/><Relationship Id="rId13" Target="../media/image37.png" Type="http://schemas.openxmlformats.org/officeDocument/2006/relationships/image"/><Relationship Id="rId14" Target="../media/image38.png" Type="http://schemas.openxmlformats.org/officeDocument/2006/relationships/image"/><Relationship Id="rId15" Target="../media/image39.png" Type="http://schemas.openxmlformats.org/officeDocument/2006/relationships/image"/><Relationship Id="rId16" Target="../media/image40.png" Type="http://schemas.openxmlformats.org/officeDocument/2006/relationships/image"/><Relationship Id="rId17" Target="../media/image41.png" Type="http://schemas.openxmlformats.org/officeDocument/2006/relationships/image"/><Relationship Id="rId18" Target="../media/image42.png" Type="http://schemas.openxmlformats.org/officeDocument/2006/relationships/image"/><Relationship Id="rId19" Target="../media/image43.png" Type="http://schemas.openxmlformats.org/officeDocument/2006/relationships/image"/><Relationship Id="rId2" Target="../media/image17.png" Type="http://schemas.openxmlformats.org/officeDocument/2006/relationships/image"/><Relationship Id="rId20" Target="../media/image44.png" Type="http://schemas.openxmlformats.org/officeDocument/2006/relationships/image"/><Relationship Id="rId21" Target="../media/image45.png" Type="http://schemas.openxmlformats.org/officeDocument/2006/relationships/image"/><Relationship Id="rId22" Target="../media/image46.png" Type="http://schemas.openxmlformats.org/officeDocument/2006/relationships/image"/><Relationship Id="rId23" Target="../media/image47.png" Type="http://schemas.openxmlformats.org/officeDocument/2006/relationships/image"/><Relationship Id="rId24" Target="../media/image48.png" Type="http://schemas.openxmlformats.org/officeDocument/2006/relationships/image"/><Relationship Id="rId25" Target="../media/image49.png" Type="http://schemas.openxmlformats.org/officeDocument/2006/relationships/image"/><Relationship Id="rId26" Target="../media/image50.png" Type="http://schemas.openxmlformats.org/officeDocument/2006/relationships/image"/><Relationship Id="rId27" Target="../media/image51.png" Type="http://schemas.openxmlformats.org/officeDocument/2006/relationships/image"/><Relationship Id="rId28" Target="../media/image52.png" Type="http://schemas.openxmlformats.org/officeDocument/2006/relationships/image"/><Relationship Id="rId29" Target="../media/image53.png" Type="http://schemas.openxmlformats.org/officeDocument/2006/relationships/image"/><Relationship Id="rId3" Target="../media/image22.jpeg" Type="http://schemas.openxmlformats.org/officeDocument/2006/relationships/image"/><Relationship Id="rId30" Target="../media/image54.png" Type="http://schemas.openxmlformats.org/officeDocument/2006/relationships/image"/><Relationship Id="rId31" Target="../media/image55.png" Type="http://schemas.openxmlformats.org/officeDocument/2006/relationships/image"/><Relationship Id="rId32" Target="../media/image56.png" Type="http://schemas.openxmlformats.org/officeDocument/2006/relationships/image"/><Relationship Id="rId33" Target="../media/image57.pn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png" Type="http://schemas.openxmlformats.org/officeDocument/2006/relationships/image"/><Relationship Id="rId12" Target="../media/image64.png" Type="http://schemas.openxmlformats.org/officeDocument/2006/relationships/image"/><Relationship Id="rId13" Target="../media/image65.png" Type="http://schemas.openxmlformats.org/officeDocument/2006/relationships/image"/><Relationship Id="rId14" Target="../media/image66.png" Type="http://schemas.openxmlformats.org/officeDocument/2006/relationships/image"/><Relationship Id="rId2" Target="../media/image17.png" Type="http://schemas.openxmlformats.org/officeDocument/2006/relationships/image"/><Relationship Id="rId3" Target="../media/image58.jpeg" Type="http://schemas.openxmlformats.org/officeDocument/2006/relationships/image"/><Relationship Id="rId4" Target="../media/image22.jpe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59.png" Type="http://schemas.openxmlformats.org/officeDocument/2006/relationships/image"/><Relationship Id="rId8" Target="../media/image60.svg" Type="http://schemas.openxmlformats.org/officeDocument/2006/relationships/image"/><Relationship Id="rId9" Target="../media/image6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6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7.png" Type="http://schemas.openxmlformats.org/officeDocument/2006/relationships/image"/><Relationship Id="rId4" Target="../media/image6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7.png" Type="http://schemas.openxmlformats.org/officeDocument/2006/relationships/image"/><Relationship Id="rId4" Target="../media/image6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7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7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73.png" Type="http://schemas.openxmlformats.org/officeDocument/2006/relationships/image"/><Relationship Id="rId6" Target="../media/image74.png" Type="http://schemas.openxmlformats.org/officeDocument/2006/relationships/image"/><Relationship Id="rId7" Target="../media/image7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76.png" Type="http://schemas.openxmlformats.org/officeDocument/2006/relationships/image"/><Relationship Id="rId6" Target="../media/image7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8.jpeg" Type="http://schemas.openxmlformats.org/officeDocument/2006/relationships/image"/><Relationship Id="rId3" Target="../media/image5.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79.png" Type="http://schemas.openxmlformats.org/officeDocument/2006/relationships/image"/><Relationship Id="rId6" Target="../media/image80.png" Type="http://schemas.openxmlformats.org/officeDocument/2006/relationships/image"/><Relationship Id="rId7" Target="../media/image8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82.png" Type="http://schemas.openxmlformats.org/officeDocument/2006/relationships/image"/><Relationship Id="rId6" Target="../media/image83.png" Type="http://schemas.openxmlformats.org/officeDocument/2006/relationships/image"/><Relationship Id="rId7" Target="../media/image8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8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22.jpe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 Id="rId6" Target="../media/image86.png" Type="http://schemas.openxmlformats.org/officeDocument/2006/relationships/image"/><Relationship Id="rId7" Target="../media/image87.svg" Type="http://schemas.openxmlformats.org/officeDocument/2006/relationships/image"/><Relationship Id="rId8" Target="../media/image88.png" Type="http://schemas.openxmlformats.org/officeDocument/2006/relationships/image"/><Relationship Id="rId9" Target="../media/image89.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91.png" Type="http://schemas.openxmlformats.org/officeDocument/2006/relationships/image"/><Relationship Id="rId4" Target="../media/image92.png" Type="http://schemas.openxmlformats.org/officeDocument/2006/relationships/image"/><Relationship Id="rId5" Target="../media/image93.png" Type="http://schemas.openxmlformats.org/officeDocument/2006/relationships/image"/><Relationship Id="rId6" Target="../media/image94.png" Type="http://schemas.openxmlformats.org/officeDocument/2006/relationships/image"/><Relationship Id="rId7" Target="../media/image9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96.png" Type="http://schemas.openxmlformats.org/officeDocument/2006/relationships/image"/><Relationship Id="rId6" Target="../media/image91.png" Type="http://schemas.openxmlformats.org/officeDocument/2006/relationships/image"/><Relationship Id="rId7" Target="../media/image97.png" Type="http://schemas.openxmlformats.org/officeDocument/2006/relationships/image"/><Relationship Id="rId8" Target="../media/image98.png" Type="http://schemas.openxmlformats.org/officeDocument/2006/relationships/image"/><Relationship Id="rId9" Target="../media/image9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00.png" Type="http://schemas.openxmlformats.org/officeDocument/2006/relationships/image"/><Relationship Id="rId6" Target="../media/image101.png" Type="http://schemas.openxmlformats.org/officeDocument/2006/relationships/image"/><Relationship Id="rId7" Target="../media/image10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03.png" Type="http://schemas.openxmlformats.org/officeDocument/2006/relationships/image"/><Relationship Id="rId6" Target="../media/image104.png" Type="http://schemas.openxmlformats.org/officeDocument/2006/relationships/image"/><Relationship Id="rId7" Target="../media/image10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06.png" Type="http://schemas.openxmlformats.org/officeDocument/2006/relationships/image"/><Relationship Id="rId6" Target="../media/image107.png" Type="http://schemas.openxmlformats.org/officeDocument/2006/relationships/image"/><Relationship Id="rId7" Target="../media/image108.png" Type="http://schemas.openxmlformats.org/officeDocument/2006/relationships/image"/><Relationship Id="rId8" Target="../media/image109.png" Type="http://schemas.openxmlformats.org/officeDocument/2006/relationships/image"/><Relationship Id="rId9" Target="../media/image11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11.png" Type="http://schemas.openxmlformats.org/officeDocument/2006/relationships/image"/><Relationship Id="rId6" Target="../media/image11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113.png" Type="http://schemas.openxmlformats.org/officeDocument/2006/relationships/image"/><Relationship Id="rId5" Target="../media/image114.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117.png" Type="http://schemas.openxmlformats.org/officeDocument/2006/relationships/image"/><Relationship Id="rId9" Target="../media/image118.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19.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20.png" Type="http://schemas.openxmlformats.org/officeDocument/2006/relationships/image"/><Relationship Id="rId6" Target="../media/image121.svg" Type="http://schemas.openxmlformats.org/officeDocument/2006/relationships/image"/><Relationship Id="rId7" Target="../media/image122.png" Type="http://schemas.openxmlformats.org/officeDocument/2006/relationships/image"/><Relationship Id="rId8" Target="../media/image123.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17.png" Type="http://schemas.openxmlformats.org/officeDocument/2006/relationships/image"/><Relationship Id="rId5" Target="../media/image124.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25.png" Type="http://schemas.openxmlformats.org/officeDocument/2006/relationships/image"/><Relationship Id="rId6" Target="../media/image126.png" Type="http://schemas.openxmlformats.org/officeDocument/2006/relationships/image"/><Relationship Id="rId7" Target="../media/image127.png" Type="http://schemas.openxmlformats.org/officeDocument/2006/relationships/image"/><Relationship Id="rId8" Target="../media/image128.png" Type="http://schemas.openxmlformats.org/officeDocument/2006/relationships/image"/><Relationship Id="rId9" Target="../media/image12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0.png" Type="http://schemas.openxmlformats.org/officeDocument/2006/relationships/image"/><Relationship Id="rId3" Target="../media/image131.png" Type="http://schemas.openxmlformats.org/officeDocument/2006/relationships/image"/><Relationship Id="rId4" Target="../media/image132.png" Type="http://schemas.openxmlformats.org/officeDocument/2006/relationships/image"/><Relationship Id="rId5" Target="../media/image133.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4.png" Type="http://schemas.openxmlformats.org/officeDocument/2006/relationships/image"/><Relationship Id="rId3" Target="../media/image13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36.png" Type="http://schemas.openxmlformats.org/officeDocument/2006/relationships/image"/><Relationship Id="rId6" Target="../media/image137.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8.png" Type="http://schemas.openxmlformats.org/officeDocument/2006/relationships/image"/><Relationship Id="rId3" Target="../media/image139.png" Type="http://schemas.openxmlformats.org/officeDocument/2006/relationships/image"/><Relationship Id="rId4" Target="../media/image140.png" Type="http://schemas.openxmlformats.org/officeDocument/2006/relationships/image"/><Relationship Id="rId5" Target="../media/image141.png" Type="http://schemas.openxmlformats.org/officeDocument/2006/relationships/image"/><Relationship Id="rId6" Target="../media/image14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17.png" Type="http://schemas.openxmlformats.org/officeDocument/2006/relationships/image"/><Relationship Id="rId5" Target="../media/image143.png" Type="http://schemas.openxmlformats.org/officeDocument/2006/relationships/image"/><Relationship Id="rId6" Target="../media/image144.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0.png" Type="http://schemas.openxmlformats.org/officeDocument/2006/relationships/image"/><Relationship Id="rId2" Target="../media/image17.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45.png" Type="http://schemas.openxmlformats.org/officeDocument/2006/relationships/image"/><Relationship Id="rId6" Target="../media/image146.png" Type="http://schemas.openxmlformats.org/officeDocument/2006/relationships/image"/><Relationship Id="rId7" Target="../media/image147.png" Type="http://schemas.openxmlformats.org/officeDocument/2006/relationships/image"/><Relationship Id="rId8" Target="../media/image148.png" Type="http://schemas.openxmlformats.org/officeDocument/2006/relationships/image"/><Relationship Id="rId9" Target="../media/image149.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49.png" Type="http://schemas.openxmlformats.org/officeDocument/2006/relationships/image"/><Relationship Id="rId6" Target="../media/image150.png" Type="http://schemas.openxmlformats.org/officeDocument/2006/relationships/image"/><Relationship Id="rId7" Target="../media/image151.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7.png" Type="http://schemas.openxmlformats.org/officeDocument/2006/relationships/image"/><Relationship Id="rId6" Target="../media/image152.png" Type="http://schemas.openxmlformats.org/officeDocument/2006/relationships/image"/><Relationship Id="rId7" Target="../media/image153.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54.png" Type="http://schemas.openxmlformats.org/officeDocument/2006/relationships/image"/><Relationship Id="rId6" Target="../media/image155.png" Type="http://schemas.openxmlformats.org/officeDocument/2006/relationships/image"/><Relationship Id="rId7" Target="../media/image15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4.png" Type="http://schemas.openxmlformats.org/officeDocument/2006/relationships/image"/><Relationship Id="rId11" Target="../media/image165.png" Type="http://schemas.openxmlformats.org/officeDocument/2006/relationships/image"/><Relationship Id="rId2" Target="../media/image157.png" Type="http://schemas.openxmlformats.org/officeDocument/2006/relationships/image"/><Relationship Id="rId3" Target="../media/image158.png" Type="http://schemas.openxmlformats.org/officeDocument/2006/relationships/image"/><Relationship Id="rId4" Target="../media/image159.png" Type="http://schemas.openxmlformats.org/officeDocument/2006/relationships/image"/><Relationship Id="rId5" Target="../media/image160.png" Type="http://schemas.openxmlformats.org/officeDocument/2006/relationships/image"/><Relationship Id="rId6" Target="../media/image161.png" Type="http://schemas.openxmlformats.org/officeDocument/2006/relationships/image"/><Relationship Id="rId7" Target="../media/image5.jpeg" Type="http://schemas.openxmlformats.org/officeDocument/2006/relationships/image"/><Relationship Id="rId8" Target="../media/image162.png" Type="http://schemas.openxmlformats.org/officeDocument/2006/relationships/image"/><Relationship Id="rId9" Target="../media/image163.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6.png" Type="http://schemas.openxmlformats.org/officeDocument/2006/relationships/image"/><Relationship Id="rId3" Target="../media/image167.svg" Type="http://schemas.openxmlformats.org/officeDocument/2006/relationships/image"/><Relationship Id="rId4" Target="../media/image168.png" Type="http://schemas.openxmlformats.org/officeDocument/2006/relationships/image"/><Relationship Id="rId5" Target="../media/image169.svg" Type="http://schemas.openxmlformats.org/officeDocument/2006/relationships/image"/><Relationship Id="rId6" Target="../media/image170.png" Type="http://schemas.openxmlformats.org/officeDocument/2006/relationships/image"/><Relationship Id="rId7" Target="../media/image17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9600000">
            <a:off x="-2196294" y="-1921764"/>
            <a:ext cx="6314313" cy="6314313"/>
            <a:chOff x="0" y="0"/>
            <a:chExt cx="8419084" cy="8419084"/>
          </a:xfrm>
        </p:grpSpPr>
        <p:sp>
          <p:nvSpPr>
            <p:cNvPr name="Freeform 3" id="3" descr="/home/claude/work/assets/blob_purple.png"/>
            <p:cNvSpPr/>
            <p:nvPr/>
          </p:nvSpPr>
          <p:spPr>
            <a:xfrm flipH="false" flipV="false" rot="0">
              <a:off x="0" y="0"/>
              <a:ext cx="8419084" cy="8419084"/>
            </a:xfrm>
            <a:custGeom>
              <a:avLst/>
              <a:gdLst/>
              <a:ahLst/>
              <a:cxnLst/>
              <a:rect r="r" b="b" t="t" l="l"/>
              <a:pathLst>
                <a:path h="8419084" w="8419084">
                  <a:moveTo>
                    <a:pt x="0" y="0"/>
                  </a:moveTo>
                  <a:lnTo>
                    <a:pt x="8419084" y="0"/>
                  </a:lnTo>
                  <a:lnTo>
                    <a:pt x="8419084" y="8419084"/>
                  </a:lnTo>
                  <a:lnTo>
                    <a:pt x="0" y="8419084"/>
                  </a:lnTo>
                  <a:lnTo>
                    <a:pt x="0" y="0"/>
                  </a:lnTo>
                  <a:close/>
                </a:path>
              </a:pathLst>
            </a:custGeom>
            <a:blipFill>
              <a:blip r:embed="rId2"/>
              <a:stretch>
                <a:fillRect l="-13114" t="0" r="-13114" b="0"/>
              </a:stretch>
            </a:blipFill>
          </p:spPr>
        </p:sp>
      </p:grpSp>
      <p:grpSp>
        <p:nvGrpSpPr>
          <p:cNvPr name="Group 4" id="4"/>
          <p:cNvGrpSpPr/>
          <p:nvPr/>
        </p:nvGrpSpPr>
        <p:grpSpPr>
          <a:xfrm rot="1200000">
            <a:off x="14550333" y="6863363"/>
            <a:ext cx="5765197" cy="5765197"/>
            <a:chOff x="0" y="0"/>
            <a:chExt cx="7686929" cy="7686929"/>
          </a:xfrm>
        </p:grpSpPr>
        <p:sp>
          <p:nvSpPr>
            <p:cNvPr name="Freeform 5" id="5" descr="/home/claude/work/assets/blob_teal.png"/>
            <p:cNvSpPr/>
            <p:nvPr/>
          </p:nvSpPr>
          <p:spPr>
            <a:xfrm flipH="false" flipV="false" rot="0">
              <a:off x="0" y="0"/>
              <a:ext cx="7686929" cy="7686929"/>
            </a:xfrm>
            <a:custGeom>
              <a:avLst/>
              <a:gdLst/>
              <a:ahLst/>
              <a:cxnLst/>
              <a:rect r="r" b="b" t="t" l="l"/>
              <a:pathLst>
                <a:path h="7686929" w="7686929">
                  <a:moveTo>
                    <a:pt x="0" y="0"/>
                  </a:moveTo>
                  <a:lnTo>
                    <a:pt x="7686929" y="0"/>
                  </a:lnTo>
                  <a:lnTo>
                    <a:pt x="7686929" y="7686929"/>
                  </a:lnTo>
                  <a:lnTo>
                    <a:pt x="0" y="7686929"/>
                  </a:lnTo>
                  <a:lnTo>
                    <a:pt x="0" y="0"/>
                  </a:lnTo>
                  <a:close/>
                </a:path>
              </a:pathLst>
            </a:custGeom>
            <a:blipFill>
              <a:blip r:embed="rId3"/>
              <a:stretch>
                <a:fillRect l="-13114" t="0" r="-13114" b="0"/>
              </a:stretch>
            </a:blipFill>
          </p:spPr>
        </p:sp>
      </p:grpSp>
      <p:grpSp>
        <p:nvGrpSpPr>
          <p:cNvPr name="Group 6" id="6"/>
          <p:cNvGrpSpPr/>
          <p:nvPr/>
        </p:nvGrpSpPr>
        <p:grpSpPr>
          <a:xfrm rot="0">
            <a:off x="16815235" y="2391256"/>
            <a:ext cx="1235392" cy="1235392"/>
            <a:chOff x="0" y="0"/>
            <a:chExt cx="1647190" cy="1647190"/>
          </a:xfrm>
        </p:grpSpPr>
        <p:sp>
          <p:nvSpPr>
            <p:cNvPr name="Freeform 7" id="7" descr="/home/claude/work/assets/star_teal.png"/>
            <p:cNvSpPr/>
            <p:nvPr/>
          </p:nvSpPr>
          <p:spPr>
            <a:xfrm flipH="false" flipV="false" rot="0">
              <a:off x="0" y="0"/>
              <a:ext cx="1647190" cy="1647190"/>
            </a:xfrm>
            <a:custGeom>
              <a:avLst/>
              <a:gdLst/>
              <a:ahLst/>
              <a:cxnLst/>
              <a:rect r="r" b="b" t="t" l="l"/>
              <a:pathLst>
                <a:path h="1647190" w="1647190">
                  <a:moveTo>
                    <a:pt x="0" y="0"/>
                  </a:moveTo>
                  <a:lnTo>
                    <a:pt x="1647190" y="0"/>
                  </a:lnTo>
                  <a:lnTo>
                    <a:pt x="1647190" y="1647190"/>
                  </a:lnTo>
                  <a:lnTo>
                    <a:pt x="0" y="1647190"/>
                  </a:lnTo>
                  <a:lnTo>
                    <a:pt x="0" y="0"/>
                  </a:lnTo>
                  <a:close/>
                </a:path>
              </a:pathLst>
            </a:custGeom>
            <a:blipFill>
              <a:blip r:embed="rId4"/>
              <a:stretch>
                <a:fillRect l="0" t="0" r="0" b="0"/>
              </a:stretch>
            </a:blipFill>
          </p:spPr>
        </p:sp>
      </p:grpSp>
      <p:grpSp>
        <p:nvGrpSpPr>
          <p:cNvPr name="Group 8" id="8"/>
          <p:cNvGrpSpPr/>
          <p:nvPr/>
        </p:nvGrpSpPr>
        <p:grpSpPr>
          <a:xfrm rot="0">
            <a:off x="1098137" y="2127647"/>
            <a:ext cx="10981382" cy="480431"/>
            <a:chOff x="0" y="0"/>
            <a:chExt cx="14641843" cy="640575"/>
          </a:xfrm>
        </p:grpSpPr>
        <p:sp>
          <p:nvSpPr>
            <p:cNvPr name="Freeform 9" id="9"/>
            <p:cNvSpPr/>
            <p:nvPr/>
          </p:nvSpPr>
          <p:spPr>
            <a:xfrm flipH="false" flipV="false" rot="0">
              <a:off x="0" y="0"/>
              <a:ext cx="14641830" cy="640588"/>
            </a:xfrm>
            <a:custGeom>
              <a:avLst/>
              <a:gdLst/>
              <a:ahLst/>
              <a:cxnLst/>
              <a:rect r="r" b="b" t="t" l="l"/>
              <a:pathLst>
                <a:path h="640588" w="14641830">
                  <a:moveTo>
                    <a:pt x="0" y="0"/>
                  </a:moveTo>
                  <a:lnTo>
                    <a:pt x="14641830" y="0"/>
                  </a:lnTo>
                  <a:lnTo>
                    <a:pt x="14641830" y="640588"/>
                  </a:lnTo>
                  <a:lnTo>
                    <a:pt x="0" y="640588"/>
                  </a:lnTo>
                  <a:close/>
                </a:path>
              </a:pathLst>
            </a:custGeom>
            <a:blipFill>
              <a:blip r:embed="rId5">
                <a:alphaModFix amt="0"/>
              </a:blip>
              <a:stretch>
                <a:fillRect l="0" t="-395057" r="0" b="-395057"/>
              </a:stretch>
            </a:blipFill>
          </p:spPr>
        </p:sp>
      </p:grpSp>
      <p:grpSp>
        <p:nvGrpSpPr>
          <p:cNvPr name="Group 10" id="10"/>
          <p:cNvGrpSpPr/>
          <p:nvPr/>
        </p:nvGrpSpPr>
        <p:grpSpPr>
          <a:xfrm rot="0">
            <a:off x="4255284" y="2143897"/>
            <a:ext cx="10981382" cy="494719"/>
            <a:chOff x="0" y="0"/>
            <a:chExt cx="14641843" cy="659625"/>
          </a:xfrm>
        </p:grpSpPr>
        <p:sp>
          <p:nvSpPr>
            <p:cNvPr name="Freeform 11" id="11"/>
            <p:cNvSpPr/>
            <p:nvPr/>
          </p:nvSpPr>
          <p:spPr>
            <a:xfrm flipH="false" flipV="false" rot="0">
              <a:off x="0" y="0"/>
              <a:ext cx="14641843" cy="659625"/>
            </a:xfrm>
            <a:custGeom>
              <a:avLst/>
              <a:gdLst/>
              <a:ahLst/>
              <a:cxnLst/>
              <a:rect r="r" b="b" t="t" l="l"/>
              <a:pathLst>
                <a:path h="659625" w="14641843">
                  <a:moveTo>
                    <a:pt x="0" y="0"/>
                  </a:moveTo>
                  <a:lnTo>
                    <a:pt x="14641843" y="0"/>
                  </a:lnTo>
                  <a:lnTo>
                    <a:pt x="14641843" y="659625"/>
                  </a:lnTo>
                  <a:lnTo>
                    <a:pt x="0" y="659625"/>
                  </a:lnTo>
                  <a:close/>
                </a:path>
              </a:pathLst>
            </a:custGeom>
            <a:blipFill>
              <a:blip r:embed="rId6">
                <a:alphaModFix amt="0"/>
              </a:blip>
              <a:stretch>
                <a:fillRect l="0" t="-382513" r="0" b="-382513"/>
              </a:stretch>
            </a:blipFill>
          </p:spPr>
        </p:sp>
        <p:sp>
          <p:nvSpPr>
            <p:cNvPr name="TextBox 12" id="12"/>
            <p:cNvSpPr txBox="true"/>
            <p:nvPr/>
          </p:nvSpPr>
          <p:spPr>
            <a:xfrm>
              <a:off x="0" y="-19050"/>
              <a:ext cx="14641843" cy="678675"/>
            </a:xfrm>
            <a:prstGeom prst="rect">
              <a:avLst/>
            </a:prstGeom>
          </p:spPr>
          <p:txBody>
            <a:bodyPr anchor="ctr" rtlCol="false" tIns="0" lIns="0" bIns="0" rIns="0"/>
            <a:lstStyle/>
            <a:p>
              <a:pPr algn="l">
                <a:lnSpc>
                  <a:spcPts val="2160"/>
                </a:lnSpc>
              </a:pPr>
              <a:r>
                <a:rPr lang="en-US" b="true" sz="1800" spc="299">
                  <a:solidFill>
                    <a:srgbClr val="3D6874"/>
                  </a:solidFill>
                  <a:latin typeface="Poppins Bold"/>
                  <a:ea typeface="Poppins Bold"/>
                  <a:cs typeface="Poppins Bold"/>
                  <a:sym typeface="Poppins Bold"/>
                </a:rPr>
                <a:t>FINAL-YEAR ENGINEERING PROJECT</a:t>
              </a:r>
            </a:p>
          </p:txBody>
        </p:sp>
      </p:grpSp>
      <p:grpSp>
        <p:nvGrpSpPr>
          <p:cNvPr name="Group 13" id="13"/>
          <p:cNvGrpSpPr/>
          <p:nvPr/>
        </p:nvGrpSpPr>
        <p:grpSpPr>
          <a:xfrm rot="0">
            <a:off x="1029500" y="2676716"/>
            <a:ext cx="14413059" cy="2127647"/>
            <a:chOff x="0" y="0"/>
            <a:chExt cx="19217411" cy="2836862"/>
          </a:xfrm>
        </p:grpSpPr>
        <p:sp>
          <p:nvSpPr>
            <p:cNvPr name="Freeform 14" id="14"/>
            <p:cNvSpPr/>
            <p:nvPr/>
          </p:nvSpPr>
          <p:spPr>
            <a:xfrm flipH="false" flipV="false" rot="0">
              <a:off x="0" y="0"/>
              <a:ext cx="19217387" cy="2836799"/>
            </a:xfrm>
            <a:custGeom>
              <a:avLst/>
              <a:gdLst/>
              <a:ahLst/>
              <a:cxnLst/>
              <a:rect r="r" b="b" t="t" l="l"/>
              <a:pathLst>
                <a:path h="2836799" w="19217387">
                  <a:moveTo>
                    <a:pt x="0" y="0"/>
                  </a:moveTo>
                  <a:lnTo>
                    <a:pt x="19217387" y="0"/>
                  </a:lnTo>
                  <a:lnTo>
                    <a:pt x="19217387" y="2836799"/>
                  </a:lnTo>
                  <a:lnTo>
                    <a:pt x="0" y="2836799"/>
                  </a:lnTo>
                  <a:close/>
                </a:path>
              </a:pathLst>
            </a:custGeom>
            <a:blipFill>
              <a:blip r:embed="rId5">
                <a:alphaModFix amt="0"/>
              </a:blip>
              <a:stretch>
                <a:fillRect l="0" t="-81905" r="0" b="-81907"/>
              </a:stretch>
            </a:blipFill>
          </p:spPr>
        </p:sp>
      </p:grpSp>
      <p:grpSp>
        <p:nvGrpSpPr>
          <p:cNvPr name="Group 15" id="15"/>
          <p:cNvGrpSpPr/>
          <p:nvPr/>
        </p:nvGrpSpPr>
        <p:grpSpPr>
          <a:xfrm rot="0">
            <a:off x="1029500" y="2605278"/>
            <a:ext cx="14413059" cy="2199084"/>
            <a:chOff x="0" y="0"/>
            <a:chExt cx="19217411" cy="2932112"/>
          </a:xfrm>
        </p:grpSpPr>
        <p:sp>
          <p:nvSpPr>
            <p:cNvPr name="Freeform 16" id="16"/>
            <p:cNvSpPr/>
            <p:nvPr/>
          </p:nvSpPr>
          <p:spPr>
            <a:xfrm flipH="false" flipV="false" rot="0">
              <a:off x="0" y="0"/>
              <a:ext cx="19217411" cy="2932113"/>
            </a:xfrm>
            <a:custGeom>
              <a:avLst/>
              <a:gdLst/>
              <a:ahLst/>
              <a:cxnLst/>
              <a:rect r="r" b="b" t="t" l="l"/>
              <a:pathLst>
                <a:path h="2932113" w="19217411">
                  <a:moveTo>
                    <a:pt x="0" y="0"/>
                  </a:moveTo>
                  <a:lnTo>
                    <a:pt x="19217411" y="0"/>
                  </a:lnTo>
                  <a:lnTo>
                    <a:pt x="19217411" y="2932113"/>
                  </a:lnTo>
                  <a:lnTo>
                    <a:pt x="0" y="2932113"/>
                  </a:lnTo>
                  <a:close/>
                </a:path>
              </a:pathLst>
            </a:custGeom>
            <a:blipFill>
              <a:blip r:embed="rId6">
                <a:alphaModFix amt="0"/>
              </a:blip>
              <a:stretch>
                <a:fillRect l="0" t="-77707" r="0" b="-77707"/>
              </a:stretch>
            </a:blipFill>
          </p:spPr>
        </p:sp>
        <p:sp>
          <p:nvSpPr>
            <p:cNvPr name="TextBox 17" id="17"/>
            <p:cNvSpPr txBox="true"/>
            <p:nvPr/>
          </p:nvSpPr>
          <p:spPr>
            <a:xfrm>
              <a:off x="0" y="-95250"/>
              <a:ext cx="19217411" cy="3027362"/>
            </a:xfrm>
            <a:prstGeom prst="rect">
              <a:avLst/>
            </a:prstGeom>
          </p:spPr>
          <p:txBody>
            <a:bodyPr anchor="ctr" rtlCol="false" tIns="0" lIns="0" bIns="0" rIns="0"/>
            <a:lstStyle/>
            <a:p>
              <a:pPr algn="l">
                <a:lnSpc>
                  <a:spcPts val="10808"/>
                </a:lnSpc>
              </a:pPr>
              <a:r>
                <a:rPr lang="en-US" sz="9006" b="true">
                  <a:solidFill>
                    <a:srgbClr val="000000"/>
                  </a:solidFill>
                  <a:latin typeface="Poppins Bold"/>
                  <a:ea typeface="Poppins Bold"/>
                  <a:cs typeface="Poppins Bold"/>
                  <a:sym typeface="Poppins Bold"/>
                </a:rPr>
                <a:t>Hire on Demand</a:t>
              </a:r>
            </a:p>
          </p:txBody>
        </p:sp>
      </p:grpSp>
      <p:grpSp>
        <p:nvGrpSpPr>
          <p:cNvPr name="Group 18" id="18"/>
          <p:cNvGrpSpPr/>
          <p:nvPr/>
        </p:nvGrpSpPr>
        <p:grpSpPr>
          <a:xfrm rot="0">
            <a:off x="1235402" y="4186647"/>
            <a:ext cx="4941665" cy="549116"/>
            <a:chOff x="0" y="0"/>
            <a:chExt cx="6588887" cy="732155"/>
          </a:xfrm>
        </p:grpSpPr>
        <p:sp>
          <p:nvSpPr>
            <p:cNvPr name="Freeform 19" id="19" descr="/home/claude/work/assets/scribble.png"/>
            <p:cNvSpPr/>
            <p:nvPr/>
          </p:nvSpPr>
          <p:spPr>
            <a:xfrm flipH="false" flipV="false" rot="0">
              <a:off x="0" y="0"/>
              <a:ext cx="6588887" cy="732155"/>
            </a:xfrm>
            <a:custGeom>
              <a:avLst/>
              <a:gdLst/>
              <a:ahLst/>
              <a:cxnLst/>
              <a:rect r="r" b="b" t="t" l="l"/>
              <a:pathLst>
                <a:path h="732155" w="6588887">
                  <a:moveTo>
                    <a:pt x="0" y="0"/>
                  </a:moveTo>
                  <a:lnTo>
                    <a:pt x="6588887" y="0"/>
                  </a:lnTo>
                  <a:lnTo>
                    <a:pt x="6588887" y="732155"/>
                  </a:lnTo>
                  <a:lnTo>
                    <a:pt x="0" y="732155"/>
                  </a:lnTo>
                  <a:lnTo>
                    <a:pt x="0" y="0"/>
                  </a:lnTo>
                  <a:close/>
                </a:path>
              </a:pathLst>
            </a:custGeom>
            <a:blipFill>
              <a:blip r:embed="rId7"/>
              <a:stretch>
                <a:fillRect l="0" t="-45533" r="0" b="-45531"/>
              </a:stretch>
            </a:blipFill>
          </p:spPr>
        </p:sp>
      </p:grpSp>
      <p:grpSp>
        <p:nvGrpSpPr>
          <p:cNvPr name="Group 20" id="20"/>
          <p:cNvGrpSpPr/>
          <p:nvPr/>
        </p:nvGrpSpPr>
        <p:grpSpPr>
          <a:xfrm rot="0">
            <a:off x="1098137" y="4872990"/>
            <a:ext cx="12079519" cy="823608"/>
            <a:chOff x="0" y="0"/>
            <a:chExt cx="16106026" cy="1098144"/>
          </a:xfrm>
        </p:grpSpPr>
        <p:sp>
          <p:nvSpPr>
            <p:cNvPr name="Freeform 21" id="21"/>
            <p:cNvSpPr/>
            <p:nvPr/>
          </p:nvSpPr>
          <p:spPr>
            <a:xfrm flipH="false" flipV="false" rot="0">
              <a:off x="0" y="0"/>
              <a:ext cx="16106012" cy="1098169"/>
            </a:xfrm>
            <a:custGeom>
              <a:avLst/>
              <a:gdLst/>
              <a:ahLst/>
              <a:cxnLst/>
              <a:rect r="r" b="b" t="t" l="l"/>
              <a:pathLst>
                <a:path h="1098169" w="16106012">
                  <a:moveTo>
                    <a:pt x="0" y="0"/>
                  </a:moveTo>
                  <a:lnTo>
                    <a:pt x="16106012" y="0"/>
                  </a:lnTo>
                  <a:lnTo>
                    <a:pt x="16106012" y="1098169"/>
                  </a:lnTo>
                  <a:lnTo>
                    <a:pt x="0" y="1098169"/>
                  </a:lnTo>
                  <a:close/>
                </a:path>
              </a:pathLst>
            </a:custGeom>
            <a:blipFill>
              <a:blip r:embed="rId5">
                <a:alphaModFix amt="0"/>
              </a:blip>
              <a:stretch>
                <a:fillRect l="0" t="-235575" r="0" b="-235571"/>
              </a:stretch>
            </a:blipFill>
          </p:spPr>
        </p:sp>
      </p:grpSp>
      <p:grpSp>
        <p:nvGrpSpPr>
          <p:cNvPr name="Group 22" id="22"/>
          <p:cNvGrpSpPr/>
          <p:nvPr/>
        </p:nvGrpSpPr>
        <p:grpSpPr>
          <a:xfrm rot="0">
            <a:off x="1098137" y="4851559"/>
            <a:ext cx="12079519" cy="845039"/>
            <a:chOff x="0" y="0"/>
            <a:chExt cx="16106026" cy="1126719"/>
          </a:xfrm>
        </p:grpSpPr>
        <p:sp>
          <p:nvSpPr>
            <p:cNvPr name="Freeform 23" id="23"/>
            <p:cNvSpPr/>
            <p:nvPr/>
          </p:nvSpPr>
          <p:spPr>
            <a:xfrm flipH="false" flipV="false" rot="0">
              <a:off x="0" y="0"/>
              <a:ext cx="16106026" cy="1126719"/>
            </a:xfrm>
            <a:custGeom>
              <a:avLst/>
              <a:gdLst/>
              <a:ahLst/>
              <a:cxnLst/>
              <a:rect r="r" b="b" t="t" l="l"/>
              <a:pathLst>
                <a:path h="1126719" w="16106026">
                  <a:moveTo>
                    <a:pt x="0" y="0"/>
                  </a:moveTo>
                  <a:lnTo>
                    <a:pt x="16106026" y="0"/>
                  </a:lnTo>
                  <a:lnTo>
                    <a:pt x="16106026" y="1126719"/>
                  </a:lnTo>
                  <a:lnTo>
                    <a:pt x="0" y="1126719"/>
                  </a:lnTo>
                  <a:close/>
                </a:path>
              </a:pathLst>
            </a:custGeom>
            <a:blipFill>
              <a:blip r:embed="rId6">
                <a:alphaModFix amt="0"/>
              </a:blip>
              <a:stretch>
                <a:fillRect l="0" t="-228531" r="0" b="-228531"/>
              </a:stretch>
            </a:blipFill>
          </p:spPr>
        </p:sp>
        <p:sp>
          <p:nvSpPr>
            <p:cNvPr name="TextBox 24" id="24"/>
            <p:cNvSpPr txBox="true"/>
            <p:nvPr/>
          </p:nvSpPr>
          <p:spPr>
            <a:xfrm>
              <a:off x="0" y="-28575"/>
              <a:ext cx="16106026" cy="1155294"/>
            </a:xfrm>
            <a:prstGeom prst="rect">
              <a:avLst/>
            </a:prstGeom>
          </p:spPr>
          <p:txBody>
            <a:bodyPr anchor="ctr" rtlCol="false" tIns="0" lIns="0" bIns="0" rIns="0"/>
            <a:lstStyle/>
            <a:p>
              <a:pPr algn="l">
                <a:lnSpc>
                  <a:spcPts val="3061"/>
                </a:lnSpc>
              </a:pPr>
              <a:r>
                <a:rPr lang="en-US" sz="2550">
                  <a:solidFill>
                    <a:srgbClr val="000000"/>
                  </a:solidFill>
                  <a:latin typeface="Poppins"/>
                  <a:ea typeface="Poppins"/>
                  <a:cs typeface="Poppins"/>
                  <a:sym typeface="Poppins"/>
                </a:rPr>
                <a:t>Development of an Intelligent Skills-Matching Assessment Platform</a:t>
              </a:r>
            </a:p>
          </p:txBody>
        </p:sp>
      </p:grpSp>
      <p:sp>
        <p:nvSpPr>
          <p:cNvPr name="Freeform 25" id="25"/>
          <p:cNvSpPr/>
          <p:nvPr/>
        </p:nvSpPr>
        <p:spPr>
          <a:xfrm flipH="false" flipV="false" rot="0">
            <a:off x="1081454" y="6297587"/>
            <a:ext cx="7445797" cy="2161042"/>
          </a:xfrm>
          <a:custGeom>
            <a:avLst/>
            <a:gdLst/>
            <a:ahLst/>
            <a:cxnLst/>
            <a:rect r="r" b="b" t="t" l="l"/>
            <a:pathLst>
              <a:path h="2161042" w="7445797">
                <a:moveTo>
                  <a:pt x="0" y="0"/>
                </a:moveTo>
                <a:lnTo>
                  <a:pt x="7445797" y="0"/>
                </a:lnTo>
                <a:lnTo>
                  <a:pt x="7445797" y="2161042"/>
                </a:lnTo>
                <a:lnTo>
                  <a:pt x="0" y="21610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6" id="26"/>
          <p:cNvGrpSpPr/>
          <p:nvPr/>
        </p:nvGrpSpPr>
        <p:grpSpPr>
          <a:xfrm rot="0">
            <a:off x="1441304" y="6671186"/>
            <a:ext cx="6863363" cy="411804"/>
            <a:chOff x="0" y="0"/>
            <a:chExt cx="9151150" cy="549072"/>
          </a:xfrm>
        </p:grpSpPr>
        <p:sp>
          <p:nvSpPr>
            <p:cNvPr name="Freeform 27" id="27"/>
            <p:cNvSpPr/>
            <p:nvPr/>
          </p:nvSpPr>
          <p:spPr>
            <a:xfrm flipH="false" flipV="false" rot="0">
              <a:off x="0" y="0"/>
              <a:ext cx="9151112" cy="549021"/>
            </a:xfrm>
            <a:custGeom>
              <a:avLst/>
              <a:gdLst/>
              <a:ahLst/>
              <a:cxnLst/>
              <a:rect r="r" b="b" t="t" l="l"/>
              <a:pathLst>
                <a:path h="549021" w="9151112">
                  <a:moveTo>
                    <a:pt x="0" y="0"/>
                  </a:moveTo>
                  <a:lnTo>
                    <a:pt x="9151112" y="0"/>
                  </a:lnTo>
                  <a:lnTo>
                    <a:pt x="9151112" y="549021"/>
                  </a:lnTo>
                  <a:lnTo>
                    <a:pt x="0" y="549021"/>
                  </a:lnTo>
                  <a:close/>
                </a:path>
              </a:pathLst>
            </a:custGeom>
            <a:blipFill>
              <a:blip r:embed="rId5">
                <a:alphaModFix amt="0"/>
              </a:blip>
              <a:stretch>
                <a:fillRect l="0" t="-274547" r="0" b="-274559"/>
              </a:stretch>
            </a:blipFill>
          </p:spPr>
        </p:sp>
      </p:grpSp>
      <p:grpSp>
        <p:nvGrpSpPr>
          <p:cNvPr name="Group 28" id="28"/>
          <p:cNvGrpSpPr/>
          <p:nvPr/>
        </p:nvGrpSpPr>
        <p:grpSpPr>
          <a:xfrm rot="0">
            <a:off x="1441304" y="6664042"/>
            <a:ext cx="6863363" cy="424233"/>
            <a:chOff x="0" y="0"/>
            <a:chExt cx="9151150" cy="565644"/>
          </a:xfrm>
        </p:grpSpPr>
        <p:sp>
          <p:nvSpPr>
            <p:cNvPr name="Freeform 29" id="29"/>
            <p:cNvSpPr/>
            <p:nvPr/>
          </p:nvSpPr>
          <p:spPr>
            <a:xfrm flipH="false" flipV="false" rot="0">
              <a:off x="0" y="0"/>
              <a:ext cx="9151151" cy="565644"/>
            </a:xfrm>
            <a:custGeom>
              <a:avLst/>
              <a:gdLst/>
              <a:ahLst/>
              <a:cxnLst/>
              <a:rect r="r" b="b" t="t" l="l"/>
              <a:pathLst>
                <a:path h="565644" w="9151151">
                  <a:moveTo>
                    <a:pt x="0" y="0"/>
                  </a:moveTo>
                  <a:lnTo>
                    <a:pt x="9151151" y="0"/>
                  </a:lnTo>
                  <a:lnTo>
                    <a:pt x="9151151" y="565644"/>
                  </a:lnTo>
                  <a:lnTo>
                    <a:pt x="0" y="565644"/>
                  </a:lnTo>
                  <a:close/>
                </a:path>
              </a:pathLst>
            </a:custGeom>
            <a:blipFill>
              <a:blip r:embed="rId6">
                <a:alphaModFix amt="0"/>
              </a:blip>
              <a:stretch>
                <a:fillRect l="0" t="-265857" r="0" b="-264611"/>
              </a:stretch>
            </a:blipFill>
          </p:spPr>
        </p:sp>
        <p:sp>
          <p:nvSpPr>
            <p:cNvPr name="TextBox 30" id="30"/>
            <p:cNvSpPr txBox="true"/>
            <p:nvPr/>
          </p:nvSpPr>
          <p:spPr>
            <a:xfrm>
              <a:off x="0" y="-9525"/>
              <a:ext cx="9151150" cy="575169"/>
            </a:xfrm>
            <a:prstGeom prst="rect">
              <a:avLst/>
            </a:prstGeom>
          </p:spPr>
          <p:txBody>
            <a:bodyPr anchor="ctr" rtlCol="false" tIns="0" lIns="0" bIns="0" rIns="0"/>
            <a:lstStyle/>
            <a:p>
              <a:pPr algn="l">
                <a:lnSpc>
                  <a:spcPts val="2070"/>
                </a:lnSpc>
              </a:pPr>
              <a:r>
                <a:rPr lang="en-US" sz="1725" b="true">
                  <a:solidFill>
                    <a:srgbClr val="000000"/>
                  </a:solidFill>
                  <a:latin typeface="Poppins Bold"/>
                  <a:ea typeface="Poppins Bold"/>
                  <a:cs typeface="Poppins Bold"/>
                  <a:sym typeface="Poppins Bold"/>
                </a:rPr>
                <a:t>Computer Engineering : Business Intelligence</a:t>
              </a:r>
            </a:p>
          </p:txBody>
        </p:sp>
      </p:grpSp>
      <p:grpSp>
        <p:nvGrpSpPr>
          <p:cNvPr name="Group 31" id="31"/>
          <p:cNvGrpSpPr/>
          <p:nvPr/>
        </p:nvGrpSpPr>
        <p:grpSpPr>
          <a:xfrm rot="0">
            <a:off x="1441304" y="7137892"/>
            <a:ext cx="6863363" cy="480431"/>
            <a:chOff x="0" y="0"/>
            <a:chExt cx="9151150" cy="640575"/>
          </a:xfrm>
        </p:grpSpPr>
        <p:sp>
          <p:nvSpPr>
            <p:cNvPr name="Freeform 32" id="32"/>
            <p:cNvSpPr/>
            <p:nvPr/>
          </p:nvSpPr>
          <p:spPr>
            <a:xfrm flipH="false" flipV="false" rot="0">
              <a:off x="0" y="0"/>
              <a:ext cx="9151112" cy="640588"/>
            </a:xfrm>
            <a:custGeom>
              <a:avLst/>
              <a:gdLst/>
              <a:ahLst/>
              <a:cxnLst/>
              <a:rect r="r" b="b" t="t" l="l"/>
              <a:pathLst>
                <a:path h="640588" w="9151112">
                  <a:moveTo>
                    <a:pt x="0" y="0"/>
                  </a:moveTo>
                  <a:lnTo>
                    <a:pt x="9151112" y="0"/>
                  </a:lnTo>
                  <a:lnTo>
                    <a:pt x="9151112" y="640588"/>
                  </a:lnTo>
                  <a:lnTo>
                    <a:pt x="0" y="640588"/>
                  </a:lnTo>
                  <a:close/>
                </a:path>
              </a:pathLst>
            </a:custGeom>
            <a:blipFill>
              <a:blip r:embed="rId5">
                <a:alphaModFix amt="0"/>
              </a:blip>
              <a:stretch>
                <a:fillRect l="0" t="-228162" r="0" b="-228160"/>
              </a:stretch>
            </a:blipFill>
          </p:spPr>
        </p:sp>
      </p:grpSp>
      <p:grpSp>
        <p:nvGrpSpPr>
          <p:cNvPr name="Group 33" id="33"/>
          <p:cNvGrpSpPr/>
          <p:nvPr/>
        </p:nvGrpSpPr>
        <p:grpSpPr>
          <a:xfrm rot="0">
            <a:off x="1441304" y="7116461"/>
            <a:ext cx="6863363" cy="560635"/>
            <a:chOff x="0" y="0"/>
            <a:chExt cx="9151150" cy="747513"/>
          </a:xfrm>
        </p:grpSpPr>
        <p:sp>
          <p:nvSpPr>
            <p:cNvPr name="Freeform 34" id="34"/>
            <p:cNvSpPr/>
            <p:nvPr/>
          </p:nvSpPr>
          <p:spPr>
            <a:xfrm flipH="false" flipV="false" rot="0">
              <a:off x="0" y="0"/>
              <a:ext cx="9151151" cy="747513"/>
            </a:xfrm>
            <a:custGeom>
              <a:avLst/>
              <a:gdLst/>
              <a:ahLst/>
              <a:cxnLst/>
              <a:rect r="r" b="b" t="t" l="l"/>
              <a:pathLst>
                <a:path h="747513" w="9151151">
                  <a:moveTo>
                    <a:pt x="0" y="0"/>
                  </a:moveTo>
                  <a:lnTo>
                    <a:pt x="9151151" y="0"/>
                  </a:lnTo>
                  <a:lnTo>
                    <a:pt x="9151151" y="747513"/>
                  </a:lnTo>
                  <a:lnTo>
                    <a:pt x="0" y="747513"/>
                  </a:lnTo>
                  <a:close/>
                </a:path>
              </a:pathLst>
            </a:custGeom>
            <a:blipFill>
              <a:blip r:embed="rId6">
                <a:alphaModFix amt="0"/>
              </a:blip>
              <a:stretch>
                <a:fillRect l="0" t="-193779" r="0" b="-183296"/>
              </a:stretch>
            </a:blipFill>
          </p:spPr>
        </p:sp>
        <p:sp>
          <p:nvSpPr>
            <p:cNvPr name="TextBox 35" id="35"/>
            <p:cNvSpPr txBox="true"/>
            <p:nvPr/>
          </p:nvSpPr>
          <p:spPr>
            <a:xfrm>
              <a:off x="0" y="-28575"/>
              <a:ext cx="9151150" cy="776088"/>
            </a:xfrm>
            <a:prstGeom prst="rect">
              <a:avLst/>
            </a:prstGeom>
          </p:spPr>
          <p:txBody>
            <a:bodyPr anchor="ctr" rtlCol="false" tIns="0" lIns="0" bIns="0" rIns="0"/>
            <a:lstStyle/>
            <a:p>
              <a:pPr algn="l">
                <a:lnSpc>
                  <a:spcPts val="2702"/>
                </a:lnSpc>
              </a:pPr>
              <a:r>
                <a:rPr lang="en-US" sz="2250" b="true">
                  <a:solidFill>
                    <a:srgbClr val="000000"/>
                  </a:solidFill>
                  <a:latin typeface="Poppins Bold"/>
                  <a:ea typeface="Poppins Bold"/>
                  <a:cs typeface="Poppins Bold"/>
                  <a:sym typeface="Poppins Bold"/>
                </a:rPr>
                <a:t>Rihab Boutrif</a:t>
              </a:r>
            </a:p>
          </p:txBody>
        </p:sp>
      </p:grpSp>
      <p:grpSp>
        <p:nvGrpSpPr>
          <p:cNvPr name="Group 36" id="36"/>
          <p:cNvGrpSpPr/>
          <p:nvPr/>
        </p:nvGrpSpPr>
        <p:grpSpPr>
          <a:xfrm rot="0">
            <a:off x="1441304" y="7659510"/>
            <a:ext cx="6863363" cy="480431"/>
            <a:chOff x="0" y="0"/>
            <a:chExt cx="9151150" cy="640575"/>
          </a:xfrm>
        </p:grpSpPr>
        <p:sp>
          <p:nvSpPr>
            <p:cNvPr name="Freeform 37" id="37"/>
            <p:cNvSpPr/>
            <p:nvPr/>
          </p:nvSpPr>
          <p:spPr>
            <a:xfrm flipH="false" flipV="false" rot="0">
              <a:off x="0" y="0"/>
              <a:ext cx="9151112" cy="640588"/>
            </a:xfrm>
            <a:custGeom>
              <a:avLst/>
              <a:gdLst/>
              <a:ahLst/>
              <a:cxnLst/>
              <a:rect r="r" b="b" t="t" l="l"/>
              <a:pathLst>
                <a:path h="640588" w="9151112">
                  <a:moveTo>
                    <a:pt x="0" y="0"/>
                  </a:moveTo>
                  <a:lnTo>
                    <a:pt x="9151112" y="0"/>
                  </a:lnTo>
                  <a:lnTo>
                    <a:pt x="9151112" y="640588"/>
                  </a:lnTo>
                  <a:lnTo>
                    <a:pt x="0" y="640588"/>
                  </a:lnTo>
                  <a:close/>
                </a:path>
              </a:pathLst>
            </a:custGeom>
            <a:blipFill>
              <a:blip r:embed="rId5">
                <a:alphaModFix amt="0"/>
              </a:blip>
              <a:stretch>
                <a:fillRect l="0" t="-228162" r="0" b="-228160"/>
              </a:stretch>
            </a:blipFill>
          </p:spPr>
        </p:sp>
      </p:grpSp>
      <p:grpSp>
        <p:nvGrpSpPr>
          <p:cNvPr name="Group 38" id="38"/>
          <p:cNvGrpSpPr/>
          <p:nvPr/>
        </p:nvGrpSpPr>
        <p:grpSpPr>
          <a:xfrm rot="0">
            <a:off x="1441304" y="7652366"/>
            <a:ext cx="6863363" cy="487575"/>
            <a:chOff x="0" y="0"/>
            <a:chExt cx="9151150" cy="650100"/>
          </a:xfrm>
        </p:grpSpPr>
        <p:sp>
          <p:nvSpPr>
            <p:cNvPr name="Freeform 39" id="39"/>
            <p:cNvSpPr/>
            <p:nvPr/>
          </p:nvSpPr>
          <p:spPr>
            <a:xfrm flipH="false" flipV="false" rot="0">
              <a:off x="0" y="0"/>
              <a:ext cx="9151151" cy="650099"/>
            </a:xfrm>
            <a:custGeom>
              <a:avLst/>
              <a:gdLst/>
              <a:ahLst/>
              <a:cxnLst/>
              <a:rect r="r" b="b" t="t" l="l"/>
              <a:pathLst>
                <a:path h="650099" w="9151151">
                  <a:moveTo>
                    <a:pt x="0" y="0"/>
                  </a:moveTo>
                  <a:lnTo>
                    <a:pt x="9151151" y="0"/>
                  </a:lnTo>
                  <a:lnTo>
                    <a:pt x="9151151" y="650099"/>
                  </a:lnTo>
                  <a:lnTo>
                    <a:pt x="0" y="650099"/>
                  </a:lnTo>
                  <a:close/>
                </a:path>
              </a:pathLst>
            </a:custGeom>
            <a:blipFill>
              <a:blip r:embed="rId6">
                <a:alphaModFix amt="0"/>
              </a:blip>
              <a:stretch>
                <a:fillRect l="0" t="-224281" r="0" b="-224282"/>
              </a:stretch>
            </a:blipFill>
          </p:spPr>
        </p:sp>
        <p:sp>
          <p:nvSpPr>
            <p:cNvPr name="TextBox 40" id="40"/>
            <p:cNvSpPr txBox="true"/>
            <p:nvPr/>
          </p:nvSpPr>
          <p:spPr>
            <a:xfrm>
              <a:off x="0" y="-9525"/>
              <a:ext cx="9151150" cy="659625"/>
            </a:xfrm>
            <a:prstGeom prst="rect">
              <a:avLst/>
            </a:prstGeom>
          </p:spPr>
          <p:txBody>
            <a:bodyPr anchor="ctr" rtlCol="false" tIns="0" lIns="0" bIns="0" rIns="0"/>
            <a:lstStyle/>
            <a:p>
              <a:pPr algn="l">
                <a:lnSpc>
                  <a:spcPts val="2070"/>
                </a:lnSpc>
              </a:pPr>
              <a:r>
                <a:rPr lang="en-US" sz="1725">
                  <a:solidFill>
                    <a:srgbClr val="3D6874"/>
                  </a:solidFill>
                  <a:latin typeface="Poppins"/>
                  <a:ea typeface="Poppins"/>
                  <a:cs typeface="Poppins"/>
                  <a:sym typeface="Poppins"/>
                </a:rPr>
                <a:t> </a:t>
              </a:r>
              <a:r>
                <a:rPr lang="en-US" sz="1725">
                  <a:solidFill>
                    <a:srgbClr val="3D6874"/>
                  </a:solidFill>
                  <a:latin typeface="Poppins"/>
                  <a:ea typeface="Poppins"/>
                  <a:cs typeface="Poppins"/>
                  <a:sym typeface="Poppins"/>
                </a:rPr>
                <a:t>2025–2026</a:t>
              </a:r>
            </a:p>
          </p:txBody>
        </p:sp>
      </p:grpSp>
      <p:grpSp>
        <p:nvGrpSpPr>
          <p:cNvPr name="Group 41" id="41"/>
          <p:cNvGrpSpPr/>
          <p:nvPr/>
        </p:nvGrpSpPr>
        <p:grpSpPr>
          <a:xfrm rot="0">
            <a:off x="14618960" y="298425"/>
            <a:ext cx="2813971" cy="754952"/>
            <a:chOff x="0" y="0"/>
            <a:chExt cx="3751961" cy="1006602"/>
          </a:xfrm>
        </p:grpSpPr>
        <p:sp>
          <p:nvSpPr>
            <p:cNvPr name="Freeform 42" id="42" descr="/home/claude/work/assets/testohire_logo.png"/>
            <p:cNvSpPr/>
            <p:nvPr/>
          </p:nvSpPr>
          <p:spPr>
            <a:xfrm flipH="false" flipV="false" rot="0">
              <a:off x="0" y="0"/>
              <a:ext cx="3751961" cy="1006602"/>
            </a:xfrm>
            <a:custGeom>
              <a:avLst/>
              <a:gdLst/>
              <a:ahLst/>
              <a:cxnLst/>
              <a:rect r="r" b="b" t="t" l="l"/>
              <a:pathLst>
                <a:path h="1006602" w="3751961">
                  <a:moveTo>
                    <a:pt x="0" y="0"/>
                  </a:moveTo>
                  <a:lnTo>
                    <a:pt x="3751961" y="0"/>
                  </a:lnTo>
                  <a:lnTo>
                    <a:pt x="3751961" y="1006602"/>
                  </a:lnTo>
                  <a:lnTo>
                    <a:pt x="0" y="1006602"/>
                  </a:lnTo>
                  <a:lnTo>
                    <a:pt x="0" y="0"/>
                  </a:lnTo>
                  <a:close/>
                </a:path>
              </a:pathLst>
            </a:custGeom>
            <a:blipFill>
              <a:blip r:embed="rId10"/>
              <a:stretch>
                <a:fillRect l="0" t="-43183" r="0" b="-43184"/>
              </a:stretch>
            </a:blipFill>
          </p:spPr>
        </p:sp>
      </p:grpSp>
      <p:grpSp>
        <p:nvGrpSpPr>
          <p:cNvPr name="Group 43" id="43"/>
          <p:cNvGrpSpPr/>
          <p:nvPr/>
        </p:nvGrpSpPr>
        <p:grpSpPr>
          <a:xfrm rot="0">
            <a:off x="686333" y="9718519"/>
            <a:ext cx="8236039" cy="411804"/>
            <a:chOff x="0" y="0"/>
            <a:chExt cx="10981385" cy="549072"/>
          </a:xfrm>
        </p:grpSpPr>
        <p:sp>
          <p:nvSpPr>
            <p:cNvPr name="Freeform 44" id="44"/>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5">
                <a:alphaModFix amt="0"/>
              </a:blip>
              <a:stretch>
                <a:fillRect l="0" t="-339458" r="0" b="-339467"/>
              </a:stretch>
            </a:blipFill>
          </p:spPr>
        </p:sp>
      </p:grpSp>
      <p:grpSp>
        <p:nvGrpSpPr>
          <p:cNvPr name="Group 45" id="45"/>
          <p:cNvGrpSpPr/>
          <p:nvPr/>
        </p:nvGrpSpPr>
        <p:grpSpPr>
          <a:xfrm rot="0">
            <a:off x="686333" y="9704232"/>
            <a:ext cx="8236039" cy="426091"/>
            <a:chOff x="0" y="0"/>
            <a:chExt cx="10981385" cy="568122"/>
          </a:xfrm>
        </p:grpSpPr>
        <p:sp>
          <p:nvSpPr>
            <p:cNvPr name="Freeform 46" id="46"/>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6">
                <a:alphaModFix amt="0"/>
              </a:blip>
              <a:stretch>
                <a:fillRect l="0" t="-326631" r="0" b="-326631"/>
              </a:stretch>
            </a:blipFill>
          </p:spPr>
        </p:sp>
        <p:sp>
          <p:nvSpPr>
            <p:cNvPr name="TextBox 47" id="47"/>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48" id="48"/>
          <p:cNvGrpSpPr/>
          <p:nvPr/>
        </p:nvGrpSpPr>
        <p:grpSpPr>
          <a:xfrm rot="0">
            <a:off x="16242830" y="9718519"/>
            <a:ext cx="1372676" cy="411804"/>
            <a:chOff x="0" y="0"/>
            <a:chExt cx="1830235" cy="549072"/>
          </a:xfrm>
        </p:grpSpPr>
        <p:sp>
          <p:nvSpPr>
            <p:cNvPr name="Freeform 49" id="49"/>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5">
                <a:alphaModFix amt="0"/>
              </a:blip>
              <a:stretch>
                <a:fillRect l="0" t="-14906" r="-2" b="-14915"/>
              </a:stretch>
            </a:blipFill>
          </p:spPr>
        </p:sp>
      </p:grpSp>
      <p:grpSp>
        <p:nvGrpSpPr>
          <p:cNvPr name="Group 50" id="50"/>
          <p:cNvGrpSpPr/>
          <p:nvPr/>
        </p:nvGrpSpPr>
        <p:grpSpPr>
          <a:xfrm rot="0">
            <a:off x="16242830" y="9704232"/>
            <a:ext cx="1372676" cy="426091"/>
            <a:chOff x="0" y="0"/>
            <a:chExt cx="1830235" cy="568122"/>
          </a:xfrm>
        </p:grpSpPr>
        <p:sp>
          <p:nvSpPr>
            <p:cNvPr name="Freeform 51" id="51"/>
            <p:cNvSpPr/>
            <p:nvPr/>
          </p:nvSpPr>
          <p:spPr>
            <a:xfrm flipH="false" flipV="false" rot="0">
              <a:off x="0" y="0"/>
              <a:ext cx="1830235" cy="568122"/>
            </a:xfrm>
            <a:custGeom>
              <a:avLst/>
              <a:gdLst/>
              <a:ahLst/>
              <a:cxnLst/>
              <a:rect r="r" b="b" t="t" l="l"/>
              <a:pathLst>
                <a:path h="568122" w="1830235">
                  <a:moveTo>
                    <a:pt x="0" y="0"/>
                  </a:moveTo>
                  <a:lnTo>
                    <a:pt x="1830235" y="0"/>
                  </a:lnTo>
                  <a:lnTo>
                    <a:pt x="1830235" y="568122"/>
                  </a:lnTo>
                  <a:lnTo>
                    <a:pt x="0" y="568122"/>
                  </a:lnTo>
                  <a:close/>
                </a:path>
              </a:pathLst>
            </a:custGeom>
            <a:blipFill>
              <a:blip r:embed="rId6">
                <a:alphaModFix amt="0"/>
              </a:blip>
              <a:stretch>
                <a:fillRect l="0" t="-12772" r="0" b="-12772"/>
              </a:stretch>
            </a:blipFill>
          </p:spPr>
        </p:sp>
        <p:sp>
          <p:nvSpPr>
            <p:cNvPr name="TextBox 52" id="52"/>
            <p:cNvSpPr txBox="true"/>
            <p:nvPr/>
          </p:nvSpPr>
          <p:spPr>
            <a:xfrm>
              <a:off x="0" y="-19050"/>
              <a:ext cx="1830235" cy="587172"/>
            </a:xfrm>
            <a:prstGeom prst="rect">
              <a:avLst/>
            </a:prstGeom>
          </p:spPr>
          <p:txBody>
            <a:bodyPr anchor="ctr" rtlCol="false" tIns="0" lIns="0" bIns="0" rIns="0"/>
            <a:lstStyle/>
            <a:p>
              <a:pPr algn="r">
                <a:lnSpc>
                  <a:spcPts val="1620"/>
                </a:lnSpc>
              </a:pPr>
              <a:r>
                <a:rPr lang="en-US" sz="1350">
                  <a:solidFill>
                    <a:srgbClr val="3D6874"/>
                  </a:solidFill>
                  <a:latin typeface="Poppins"/>
                  <a:ea typeface="Poppins"/>
                  <a:cs typeface="Poppins"/>
                  <a:sym typeface="Poppins"/>
                </a:rPr>
                <a:t>1/24</a:t>
              </a:r>
            </a:p>
          </p:txBody>
        </p:sp>
      </p:grpSp>
      <p:sp>
        <p:nvSpPr>
          <p:cNvPr name="Freeform 53" id="53"/>
          <p:cNvSpPr/>
          <p:nvPr/>
        </p:nvSpPr>
        <p:spPr>
          <a:xfrm flipH="false" flipV="false" rot="0">
            <a:off x="4804353" y="116409"/>
            <a:ext cx="3011283" cy="1118984"/>
          </a:xfrm>
          <a:custGeom>
            <a:avLst/>
            <a:gdLst/>
            <a:ahLst/>
            <a:cxnLst/>
            <a:rect r="r" b="b" t="t" l="l"/>
            <a:pathLst>
              <a:path h="1118984" w="3011283">
                <a:moveTo>
                  <a:pt x="0" y="0"/>
                </a:moveTo>
                <a:lnTo>
                  <a:pt x="3011283" y="0"/>
                </a:lnTo>
                <a:lnTo>
                  <a:pt x="3011283" y="1118983"/>
                </a:lnTo>
                <a:lnTo>
                  <a:pt x="0" y="1118983"/>
                </a:lnTo>
                <a:lnTo>
                  <a:pt x="0" y="0"/>
                </a:lnTo>
                <a:close/>
              </a:path>
            </a:pathLst>
          </a:custGeom>
          <a:blipFill>
            <a:blip r:embed="rId11"/>
            <a:stretch>
              <a:fillRect l="0" t="0" r="0" b="0"/>
            </a:stretch>
          </a:blipFill>
        </p:spPr>
      </p:sp>
      <p:sp>
        <p:nvSpPr>
          <p:cNvPr name="TextBox 54" id="54"/>
          <p:cNvSpPr txBox="true"/>
          <p:nvPr/>
        </p:nvSpPr>
        <p:spPr>
          <a:xfrm rot="0">
            <a:off x="222928" y="8847496"/>
            <a:ext cx="17398889" cy="548002"/>
          </a:xfrm>
          <a:prstGeom prst="rect">
            <a:avLst/>
          </a:prstGeom>
        </p:spPr>
        <p:txBody>
          <a:bodyPr anchor="t" rtlCol="false" tIns="0" lIns="0" bIns="0" rIns="0">
            <a:spAutoFit/>
          </a:bodyPr>
          <a:lstStyle/>
          <a:p>
            <a:pPr algn="ctr">
              <a:lnSpc>
                <a:spcPts val="3919"/>
              </a:lnSpc>
            </a:pPr>
            <a:r>
              <a:rPr lang="en-US" sz="2799">
                <a:solidFill>
                  <a:srgbClr val="000000"/>
                </a:solidFill>
                <a:latin typeface="Garet"/>
                <a:ea typeface="Garet"/>
                <a:cs typeface="Garet"/>
                <a:sym typeface="Garet"/>
              </a:rPr>
              <a:t>Academic Superviser : Mr Amor Messaoud              Professionnal Supervisor : Mrs Azza Sandly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sp>
        <p:nvSpPr>
          <p:cNvPr name="Freeform 2" id="2"/>
          <p:cNvSpPr/>
          <p:nvPr/>
        </p:nvSpPr>
        <p:spPr>
          <a:xfrm flipH="false" flipV="false" rot="0">
            <a:off x="-92269" y="-310220"/>
            <a:ext cx="4437736" cy="2251767"/>
          </a:xfrm>
          <a:custGeom>
            <a:avLst/>
            <a:gdLst/>
            <a:ahLst/>
            <a:cxnLst/>
            <a:rect r="r" b="b" t="t" l="l"/>
            <a:pathLst>
              <a:path h="2251767" w="4437736">
                <a:moveTo>
                  <a:pt x="0" y="0"/>
                </a:moveTo>
                <a:lnTo>
                  <a:pt x="4437736" y="0"/>
                </a:lnTo>
                <a:lnTo>
                  <a:pt x="4437736" y="2251767"/>
                </a:lnTo>
                <a:lnTo>
                  <a:pt x="0" y="2251767"/>
                </a:lnTo>
                <a:lnTo>
                  <a:pt x="0" y="0"/>
                </a:lnTo>
                <a:close/>
              </a:path>
            </a:pathLst>
          </a:custGeom>
          <a:blipFill>
            <a:blip r:embed="rId2">
              <a:extLst>
                <a:ext uri="{96DAC541-7B7A-43D3-8B79-37D633B846F1}">
                  <asvg:svgBlip xmlns:asvg="http://schemas.microsoft.com/office/drawing/2016/SVG/main" r:embed="rId3"/>
                </a:ext>
              </a:extLst>
            </a:blip>
            <a:stretch>
              <a:fillRect l="0" t="-115" r="0" b="-115"/>
            </a:stretch>
          </a:blipFill>
        </p:spPr>
      </p:sp>
      <p:sp>
        <p:nvSpPr>
          <p:cNvPr name="TextBox 3" id="3"/>
          <p:cNvSpPr txBox="true"/>
          <p:nvPr/>
        </p:nvSpPr>
        <p:spPr>
          <a:xfrm rot="-123479">
            <a:off x="-582161" y="-254432"/>
            <a:ext cx="5427097" cy="1775270"/>
          </a:xfrm>
          <a:prstGeom prst="rect">
            <a:avLst/>
          </a:prstGeom>
        </p:spPr>
        <p:txBody>
          <a:bodyPr anchor="t" rtlCol="false" tIns="0" lIns="0" bIns="0" rIns="0">
            <a:spAutoFit/>
          </a:bodyPr>
          <a:lstStyle/>
          <a:p>
            <a:pPr algn="ctr">
              <a:lnSpc>
                <a:spcPts val="17308"/>
              </a:lnSpc>
            </a:pPr>
            <a:r>
              <a:rPr lang="en-US" sz="16968">
                <a:solidFill>
                  <a:srgbClr val="000000"/>
                </a:solidFill>
                <a:latin typeface="Marykate 1"/>
                <a:ea typeface="Marykate 1"/>
                <a:cs typeface="Marykate 1"/>
                <a:sym typeface="Marykate 1"/>
              </a:rPr>
              <a:t>PLAN</a:t>
            </a:r>
          </a:p>
        </p:txBody>
      </p:sp>
      <p:graphicFrame>
        <p:nvGraphicFramePr>
          <p:cNvPr name="Table 4" id="4"/>
          <p:cNvGraphicFramePr>
            <a:graphicFrameLocks noGrp="true"/>
          </p:cNvGraphicFramePr>
          <p:nvPr/>
        </p:nvGraphicFramePr>
        <p:xfrm>
          <a:off x="9591745" y="2084729"/>
          <a:ext cx="8051800" cy="6254307"/>
        </p:xfrm>
        <a:graphic>
          <a:graphicData uri="http://schemas.openxmlformats.org/drawingml/2006/table">
            <a:tbl>
              <a:tblPr/>
              <a:tblGrid>
                <a:gridCol w="1697801"/>
                <a:gridCol w="6353999"/>
              </a:tblGrid>
              <a:tr h="1095375">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08</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dash"/>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Methodology &amp; Framework</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dash"/>
                      <a:round/>
                      <a:headEnd type="none" w="med" len="med"/>
                      <a:tailEnd type="none" w="med" len="med"/>
                    </a:lnB>
                  </a:tcPr>
                </a:tc>
              </a:tr>
              <a:tr h="1056978">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09</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dash"/>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Sprint Timeline</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dash"/>
                      <a:round/>
                      <a:headEnd type="none" w="med" len="med"/>
                      <a:tailEnd type="none" w="med" len="med"/>
                    </a:lnB>
                  </a:tcPr>
                </a:tc>
              </a:tr>
              <a:tr h="1045898">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10</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dash"/>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Release 1</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dash"/>
                      <a:round/>
                      <a:headEnd type="none" w="med" len="med"/>
                      <a:tailEnd type="none" w="med" len="med"/>
                    </a:lnB>
                  </a:tcPr>
                </a:tc>
              </a:tr>
              <a:tr h="1032971">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11</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3D6874"/>
                      </a:solidFill>
                      <a:prstDash val="solid"/>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Release 2</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3D6874"/>
                      </a:solidFill>
                      <a:prstDash val="solid"/>
                      <a:round/>
                      <a:headEnd type="none" w="med" len="med"/>
                      <a:tailEnd type="none" w="med" len="med"/>
                    </a:lnB>
                  </a:tcPr>
                </a:tc>
              </a:tr>
              <a:tr h="1019437">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12</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3D6874"/>
                      </a:solidFill>
                      <a:prstDash val="solid"/>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Release 3</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3D6874"/>
                      </a:solidFill>
                      <a:prstDash val="solid"/>
                      <a:round/>
                      <a:headEnd type="none" w="med" len="med"/>
                      <a:tailEnd type="none" w="med" len="med"/>
                    </a:lnB>
                  </a:tcPr>
                </a:tc>
              </a:tr>
              <a:tr h="1003649">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13</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3D6874"/>
                      </a:solidFill>
                      <a:prstDash val="solid"/>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Conclusion &amp; Perspective</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3D6874"/>
                      </a:solidFill>
                      <a:prstDash val="solid"/>
                      <a:round/>
                      <a:headEnd type="none" w="med" len="med"/>
                      <a:tailEnd type="none" w="med" len="med"/>
                    </a:lnB>
                  </a:tcPr>
                </a:tc>
              </a:tr>
            </a:tbl>
          </a:graphicData>
        </a:graphic>
      </p:graphicFrame>
      <p:graphicFrame>
        <p:nvGraphicFramePr>
          <p:cNvPr name="Table 5" id="5"/>
          <p:cNvGraphicFramePr>
            <a:graphicFrameLocks noGrp="true"/>
          </p:cNvGraphicFramePr>
          <p:nvPr/>
        </p:nvGraphicFramePr>
        <p:xfrm>
          <a:off x="361152" y="2084729"/>
          <a:ext cx="9027820" cy="8331946"/>
        </p:xfrm>
        <a:graphic>
          <a:graphicData uri="http://schemas.openxmlformats.org/drawingml/2006/table">
            <a:tbl>
              <a:tblPr/>
              <a:tblGrid>
                <a:gridCol w="1732365"/>
                <a:gridCol w="7295455"/>
              </a:tblGrid>
              <a:tr h="1095375">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01</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0">
                      <a:solidFill>
                        <a:srgbClr val="3D6874"/>
                      </a:solidFill>
                      <a:prstDash val="solid"/>
                      <a:round/>
                      <a:headEnd type="none" w="med" len="med"/>
                      <a:tailEnd type="none" w="med" len="med"/>
                    </a:lnT>
                    <a:lnB cmpd="sng" algn="ctr" cap="flat" w="19050">
                      <a:solidFill>
                        <a:srgbClr val="000000"/>
                      </a:solidFill>
                      <a:prstDash val="dash"/>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Introduction</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0">
                      <a:solidFill>
                        <a:srgbClr val="3D6874"/>
                      </a:solidFill>
                      <a:prstDash val="solid"/>
                      <a:round/>
                      <a:headEnd type="none" w="med" len="med"/>
                      <a:tailEnd type="none" w="med" len="med"/>
                    </a:lnT>
                    <a:lnB cmpd="sng" algn="ctr" cap="flat" w="19050">
                      <a:solidFill>
                        <a:srgbClr val="000000"/>
                      </a:solidFill>
                      <a:prstDash val="dash"/>
                      <a:round/>
                      <a:headEnd type="none" w="med" len="med"/>
                      <a:tailEnd type="none" w="med" len="med"/>
                    </a:lnB>
                  </a:tcPr>
                </a:tc>
              </a:tr>
              <a:tr h="1104900">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02</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19050">
                      <a:solidFill>
                        <a:srgbClr val="000000"/>
                      </a:solidFill>
                      <a:prstDash val="dash"/>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Company</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19050">
                      <a:solidFill>
                        <a:srgbClr val="000000"/>
                      </a:solidFill>
                      <a:prstDash val="dash"/>
                      <a:round/>
                      <a:headEnd type="none" w="med" len="med"/>
                      <a:tailEnd type="none" w="med" len="med"/>
                    </a:lnB>
                  </a:tcPr>
                </a:tc>
              </a:tr>
              <a:tr h="1104900">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03</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dash"/>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Problem &amp; Existing Solutions</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dash"/>
                      <a:round/>
                      <a:headEnd type="none" w="med" len="med"/>
                      <a:tailEnd type="none" w="med" len="med"/>
                    </a:lnB>
                  </a:tcPr>
                </a:tc>
              </a:tr>
              <a:tr h="1104900">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04</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Proposed Solution</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solid"/>
                      <a:round/>
                      <a:headEnd type="none" w="med" len="med"/>
                      <a:tailEnd type="none" w="med" len="med"/>
                    </a:lnB>
                  </a:tcPr>
                </a:tc>
              </a:tr>
              <a:tr h="1721596">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05</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Functionnal &amp; non functionnal scope</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solid"/>
                      <a:round/>
                      <a:headEnd type="none" w="med" len="med"/>
                      <a:tailEnd type="none" w="med" len="med"/>
                    </a:lnB>
                  </a:tcPr>
                </a:tc>
              </a:tr>
              <a:tr h="1104900">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06</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Tech Stack</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solid"/>
                      <a:round/>
                      <a:headEnd type="none" w="med" len="med"/>
                      <a:tailEnd type="none" w="med" len="med"/>
                    </a:lnB>
                  </a:tcPr>
                </a:tc>
              </a:tr>
              <a:tr h="1095375">
                <a:tc>
                  <a:txBody>
                    <a:bodyPr anchor="t" rtlCol="false"/>
                    <a:lstStyle/>
                    <a:p>
                      <a:pPr algn="ctr">
                        <a:lnSpc>
                          <a:spcPts val="4898"/>
                        </a:lnSpc>
                        <a:defRPr/>
                      </a:pPr>
                      <a:r>
                        <a:rPr lang="en-US" sz="3497" b="true">
                          <a:solidFill>
                            <a:srgbClr val="000000"/>
                          </a:solidFill>
                          <a:latin typeface="Calibri (MS) Bold"/>
                          <a:ea typeface="Calibri (MS) Bold"/>
                          <a:cs typeface="Calibri (MS) Bold"/>
                          <a:sym typeface="Calibri (MS) Bold"/>
                        </a:rPr>
                        <a:t>07</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4898"/>
                        </a:lnSpc>
                        <a:defRPr/>
                      </a:pPr>
                      <a:r>
                        <a:rPr lang="en-US" sz="3497">
                          <a:solidFill>
                            <a:srgbClr val="000000"/>
                          </a:solidFill>
                          <a:latin typeface="Calibri (MS)"/>
                          <a:ea typeface="Calibri (MS)"/>
                          <a:cs typeface="Calibri (MS)"/>
                          <a:sym typeface="Calibri (MS)"/>
                        </a:rPr>
                        <a:t>UML </a:t>
                      </a:r>
                      <a:endParaRPr lang="en-US" sz="1100"/>
                    </a:p>
                  </a:txBody>
                  <a:tcPr marL="190500" marR="190500" marT="190500" marB="190500" anchor="ctr">
                    <a:lnL cmpd="sng" algn="ctr" cap="flat" w="0">
                      <a:solidFill>
                        <a:srgbClr val="3D6874"/>
                      </a:solidFill>
                      <a:prstDash val="solid"/>
                      <a:round/>
                      <a:headEnd type="none" w="med" len="med"/>
                      <a:tailEnd type="none" w="med" len="med"/>
                    </a:lnL>
                    <a:lnR cmpd="sng" algn="ctr" cap="flat" w="0">
                      <a:solidFill>
                        <a:srgbClr val="3D6874"/>
                      </a:solidFill>
                      <a:prstDash val="solid"/>
                      <a:round/>
                      <a:headEnd type="none" w="med" len="med"/>
                      <a:tailEnd type="none" w="med" len="med"/>
                    </a:lnR>
                    <a:lnT cmpd="sng" algn="ctr" cap="flat" w="19050">
                      <a:solidFill>
                        <a:srgbClr val="000000"/>
                      </a:solidFill>
                      <a:prstDash val="dash"/>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sp>
        <p:nvSpPr>
          <p:cNvPr name="Freeform 6" id="6"/>
          <p:cNvSpPr/>
          <p:nvPr/>
        </p:nvSpPr>
        <p:spPr>
          <a:xfrm flipH="false" flipV="false" rot="0">
            <a:off x="14213634" y="7047938"/>
            <a:ext cx="12425172" cy="9827181"/>
          </a:xfrm>
          <a:custGeom>
            <a:avLst/>
            <a:gdLst/>
            <a:ahLst/>
            <a:cxnLst/>
            <a:rect r="r" b="b" t="t" l="l"/>
            <a:pathLst>
              <a:path h="9827181" w="12425172">
                <a:moveTo>
                  <a:pt x="0" y="0"/>
                </a:moveTo>
                <a:lnTo>
                  <a:pt x="12425172" y="0"/>
                </a:lnTo>
                <a:lnTo>
                  <a:pt x="12425172" y="9827181"/>
                </a:lnTo>
                <a:lnTo>
                  <a:pt x="0" y="9827181"/>
                </a:lnTo>
                <a:lnTo>
                  <a:pt x="0" y="0"/>
                </a:lnTo>
                <a:close/>
              </a:path>
            </a:pathLst>
          </a:custGeom>
          <a:blipFill>
            <a:blip r:embed="rId4">
              <a:extLst>
                <a:ext uri="{96DAC541-7B7A-43D3-8B79-37D633B846F1}">
                  <asvg:svgBlip xmlns:asvg="http://schemas.microsoft.com/office/drawing/2016/SVG/main" r:embed="rId5"/>
                </a:ext>
              </a:extLst>
            </a:blip>
            <a:stretch>
              <a:fillRect l="0" t="-90" r="0" b="-90"/>
            </a:stretch>
          </a:blipFill>
        </p:spPr>
      </p:sp>
      <p:sp>
        <p:nvSpPr>
          <p:cNvPr name="TextBox 7" id="7"/>
          <p:cNvSpPr txBox="true"/>
          <p:nvPr/>
        </p:nvSpPr>
        <p:spPr>
          <a:xfrm rot="-207780">
            <a:off x="4211940" y="428906"/>
            <a:ext cx="7515997" cy="806444"/>
          </a:xfrm>
          <a:prstGeom prst="rect">
            <a:avLst/>
          </a:prstGeom>
        </p:spPr>
        <p:txBody>
          <a:bodyPr anchor="t" rtlCol="false" tIns="0" lIns="0" bIns="0" rIns="0">
            <a:spAutoFit/>
          </a:bodyPr>
          <a:lstStyle/>
          <a:p>
            <a:pPr algn="l">
              <a:lnSpc>
                <a:spcPts val="8499"/>
              </a:lnSpc>
            </a:pPr>
            <a:r>
              <a:rPr lang="en-US" sz="8499">
                <a:solidFill>
                  <a:srgbClr val="000000"/>
                </a:solidFill>
                <a:latin typeface="Biro Script Plus"/>
                <a:ea typeface="Biro Script Plus"/>
                <a:cs typeface="Biro Script Plus"/>
                <a:sym typeface="Biro Script Plus"/>
              </a:rPr>
              <a:t>of presentation</a:t>
            </a:r>
          </a:p>
        </p:txBody>
      </p:sp>
      <p:sp>
        <p:nvSpPr>
          <p:cNvPr name="Freeform 8" id="8"/>
          <p:cNvSpPr/>
          <p:nvPr/>
        </p:nvSpPr>
        <p:spPr>
          <a:xfrm flipH="false" flipV="false" rot="0">
            <a:off x="15993820" y="41015"/>
            <a:ext cx="3299450" cy="3299450"/>
          </a:xfrm>
          <a:custGeom>
            <a:avLst/>
            <a:gdLst/>
            <a:ahLst/>
            <a:cxnLst/>
            <a:rect r="r" b="b" t="t" l="l"/>
            <a:pathLst>
              <a:path h="3299450" w="3299450">
                <a:moveTo>
                  <a:pt x="0" y="0"/>
                </a:moveTo>
                <a:lnTo>
                  <a:pt x="3299450" y="0"/>
                </a:lnTo>
                <a:lnTo>
                  <a:pt x="3299450" y="3299450"/>
                </a:lnTo>
                <a:lnTo>
                  <a:pt x="0" y="3299450"/>
                </a:lnTo>
                <a:lnTo>
                  <a:pt x="0" y="0"/>
                </a:lnTo>
                <a:close/>
              </a:path>
            </a:pathLst>
          </a:custGeom>
          <a:blipFill>
            <a:blip r:embed="rId6">
              <a:extLst>
                <a:ext uri="{96DAC541-7B7A-43D3-8B79-37D633B846F1}">
                  <asvg:svgBlip xmlns:asvg="http://schemas.microsoft.com/office/drawing/2016/SVG/main" r:embed="rId7"/>
                </a:ext>
              </a:extLst>
            </a:blip>
            <a:stretch>
              <a:fillRect l="-432" t="0" r="-432" b="0"/>
            </a:stretch>
          </a:blipFill>
        </p:spPr>
      </p:sp>
      <p:sp>
        <p:nvSpPr>
          <p:cNvPr name="TextBox 9" id="9"/>
          <p:cNvSpPr txBox="true"/>
          <p:nvPr/>
        </p:nvSpPr>
        <p:spPr>
          <a:xfrm rot="0">
            <a:off x="17778393" y="223714"/>
            <a:ext cx="152400" cy="276225"/>
          </a:xfrm>
          <a:prstGeom prst="rect">
            <a:avLst/>
          </a:prstGeom>
        </p:spPr>
        <p:txBody>
          <a:bodyPr anchor="t" rtlCol="false" tIns="0" lIns="0" bIns="0" rIns="0">
            <a:spAutoFit/>
          </a:bodyPr>
          <a:lstStyle/>
          <a:p>
            <a:pPr algn="ctr">
              <a:lnSpc>
                <a:spcPts val="2238"/>
              </a:lnSpc>
            </a:pPr>
            <a:r>
              <a:rPr lang="en-US" sz="1599">
                <a:solidFill>
                  <a:srgbClr val="280F91"/>
                </a:solidFill>
                <a:latin typeface="Arimo"/>
                <a:ea typeface="Arimo"/>
                <a:cs typeface="Arimo"/>
                <a:sym typeface="Arimo"/>
              </a:rPr>
              <a:t>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742664" y="685800"/>
            <a:ext cx="754380" cy="754380"/>
            <a:chOff x="0" y="0"/>
            <a:chExt cx="1005840" cy="1005840"/>
          </a:xfrm>
        </p:grpSpPr>
        <p:sp>
          <p:nvSpPr>
            <p:cNvPr name="Freeform 3" id="3" descr="star_purple.png"/>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lnTo>
                    <a:pt x="0" y="0"/>
                  </a:lnTo>
                  <a:close/>
                </a:path>
              </a:pathLst>
            </a:custGeom>
            <a:blipFill>
              <a:blip r:embed="rId2"/>
              <a:stretch>
                <a:fillRect l="0" t="0" r="0" b="0"/>
              </a:stretch>
            </a:blipFill>
          </p:spPr>
        </p:sp>
      </p:grpSp>
      <p:grpSp>
        <p:nvGrpSpPr>
          <p:cNvPr name="Group 4" id="4"/>
          <p:cNvGrpSpPr/>
          <p:nvPr/>
        </p:nvGrpSpPr>
        <p:grpSpPr>
          <a:xfrm rot="0">
            <a:off x="685800" y="685800"/>
            <a:ext cx="1463040" cy="1495044"/>
            <a:chOff x="0" y="0"/>
            <a:chExt cx="1950720" cy="1993392"/>
          </a:xfrm>
        </p:grpSpPr>
        <p:sp>
          <p:nvSpPr>
            <p:cNvPr name="Freeform 5" id="5"/>
            <p:cNvSpPr/>
            <p:nvPr/>
          </p:nvSpPr>
          <p:spPr>
            <a:xfrm flipH="false" flipV="false" rot="0">
              <a:off x="0" y="0"/>
              <a:ext cx="1950720" cy="1993392"/>
            </a:xfrm>
            <a:custGeom>
              <a:avLst/>
              <a:gdLst/>
              <a:ahLst/>
              <a:cxnLst/>
              <a:rect r="r" b="b" t="t" l="l"/>
              <a:pathLst>
                <a:path h="1993392" w="1950720">
                  <a:moveTo>
                    <a:pt x="0" y="0"/>
                  </a:moveTo>
                  <a:lnTo>
                    <a:pt x="1950720" y="0"/>
                  </a:lnTo>
                  <a:lnTo>
                    <a:pt x="1950720" y="1993392"/>
                  </a:lnTo>
                  <a:lnTo>
                    <a:pt x="0" y="1993392"/>
                  </a:lnTo>
                  <a:close/>
                </a:path>
              </a:pathLst>
            </a:custGeom>
            <a:blipFill>
              <a:blip r:embed="rId3">
                <a:alphaModFix amt="0"/>
              </a:blip>
              <a:stretch>
                <a:fillRect l="-50237" t="0" r="-50237" b="23547"/>
              </a:stretch>
            </a:blipFill>
          </p:spPr>
        </p:sp>
        <p:sp>
          <p:nvSpPr>
            <p:cNvPr name="TextBox 6" id="6"/>
            <p:cNvSpPr txBox="true"/>
            <p:nvPr/>
          </p:nvSpPr>
          <p:spPr>
            <a:xfrm>
              <a:off x="0" y="-66675"/>
              <a:ext cx="1950720" cy="2060067"/>
            </a:xfrm>
            <a:prstGeom prst="rect">
              <a:avLst/>
            </a:prstGeom>
          </p:spPr>
          <p:txBody>
            <a:bodyPr anchor="ctr" rtlCol="false" tIns="0" lIns="0" bIns="0" rIns="0"/>
            <a:lstStyle/>
            <a:p>
              <a:pPr algn="l">
                <a:lnSpc>
                  <a:spcPts val="7200"/>
                </a:lnSpc>
              </a:pPr>
            </a:p>
          </p:txBody>
        </p:sp>
      </p:grpSp>
      <p:grpSp>
        <p:nvGrpSpPr>
          <p:cNvPr name="Group 7" id="7"/>
          <p:cNvGrpSpPr/>
          <p:nvPr/>
        </p:nvGrpSpPr>
        <p:grpSpPr>
          <a:xfrm rot="0">
            <a:off x="2148840" y="1609344"/>
            <a:ext cx="11430000" cy="1143000"/>
            <a:chOff x="0" y="0"/>
            <a:chExt cx="15240000" cy="1524000"/>
          </a:xfrm>
        </p:grpSpPr>
        <p:sp>
          <p:nvSpPr>
            <p:cNvPr name="Freeform 8" id="8"/>
            <p:cNvSpPr/>
            <p:nvPr/>
          </p:nvSpPr>
          <p:spPr>
            <a:xfrm flipH="false" flipV="false" rot="0">
              <a:off x="0" y="0"/>
              <a:ext cx="15240000" cy="1524000"/>
            </a:xfrm>
            <a:custGeom>
              <a:avLst/>
              <a:gdLst/>
              <a:ahLst/>
              <a:cxnLst/>
              <a:rect r="r" b="b" t="t" l="l"/>
              <a:pathLst>
                <a:path h="1524000" w="15240000">
                  <a:moveTo>
                    <a:pt x="0" y="0"/>
                  </a:moveTo>
                  <a:lnTo>
                    <a:pt x="15240000" y="0"/>
                  </a:lnTo>
                  <a:lnTo>
                    <a:pt x="15240000" y="1524000"/>
                  </a:lnTo>
                  <a:lnTo>
                    <a:pt x="0" y="1524000"/>
                  </a:lnTo>
                  <a:close/>
                </a:path>
              </a:pathLst>
            </a:custGeom>
            <a:blipFill>
              <a:blip r:embed="rId3">
                <a:alphaModFix amt="0"/>
              </a:blip>
              <a:stretch>
                <a:fillRect l="0" t="-144850" r="0" b="-144850"/>
              </a:stretch>
            </a:blipFill>
          </p:spPr>
        </p:sp>
        <p:sp>
          <p:nvSpPr>
            <p:cNvPr name="TextBox 9" id="9"/>
            <p:cNvSpPr txBox="true"/>
            <p:nvPr/>
          </p:nvSpPr>
          <p:spPr>
            <a:xfrm>
              <a:off x="0" y="-38100"/>
              <a:ext cx="15240000" cy="1562100"/>
            </a:xfrm>
            <a:prstGeom prst="rect">
              <a:avLst/>
            </a:prstGeom>
          </p:spPr>
          <p:txBody>
            <a:bodyPr anchor="ctr" rtlCol="false" tIns="0" lIns="0" bIns="0" rIns="0"/>
            <a:lstStyle/>
            <a:p>
              <a:pPr algn="l">
                <a:lnSpc>
                  <a:spcPts val="4680"/>
                </a:lnSpc>
              </a:pPr>
              <a:r>
                <a:rPr lang="en-US" sz="3900" b="true">
                  <a:solidFill>
                    <a:srgbClr val="000000"/>
                  </a:solidFill>
                  <a:latin typeface="Poppins Bold"/>
                  <a:ea typeface="Poppins Bold"/>
                  <a:cs typeface="Poppins Bold"/>
                  <a:sym typeface="Poppins Bold"/>
                </a:rPr>
                <a:t>Introduction</a:t>
              </a:r>
            </a:p>
          </p:txBody>
        </p:sp>
      </p:grpSp>
      <p:grpSp>
        <p:nvGrpSpPr>
          <p:cNvPr name="Group 10" id="10"/>
          <p:cNvGrpSpPr/>
          <p:nvPr/>
        </p:nvGrpSpPr>
        <p:grpSpPr>
          <a:xfrm rot="0">
            <a:off x="2130552" y="3703320"/>
            <a:ext cx="384048" cy="384048"/>
            <a:chOff x="0" y="0"/>
            <a:chExt cx="512064" cy="512064"/>
          </a:xfrm>
        </p:grpSpPr>
        <p:sp>
          <p:nvSpPr>
            <p:cNvPr name="Freeform 11" id="11"/>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737AE6"/>
            </a:solidFill>
          </p:spPr>
        </p:sp>
      </p:grpSp>
      <p:grpSp>
        <p:nvGrpSpPr>
          <p:cNvPr name="Group 12" id="12"/>
          <p:cNvGrpSpPr/>
          <p:nvPr/>
        </p:nvGrpSpPr>
        <p:grpSpPr>
          <a:xfrm rot="0">
            <a:off x="2130552" y="4343400"/>
            <a:ext cx="14264640" cy="2834640"/>
            <a:chOff x="0" y="0"/>
            <a:chExt cx="19019520" cy="3779520"/>
          </a:xfrm>
        </p:grpSpPr>
        <p:sp>
          <p:nvSpPr>
            <p:cNvPr name="Freeform 13" id="13"/>
            <p:cNvSpPr/>
            <p:nvPr/>
          </p:nvSpPr>
          <p:spPr>
            <a:xfrm flipH="false" flipV="false" rot="0">
              <a:off x="0" y="0"/>
              <a:ext cx="19019520" cy="3779520"/>
            </a:xfrm>
            <a:custGeom>
              <a:avLst/>
              <a:gdLst/>
              <a:ahLst/>
              <a:cxnLst/>
              <a:rect r="r" b="b" t="t" l="l"/>
              <a:pathLst>
                <a:path h="3779520" w="19019520">
                  <a:moveTo>
                    <a:pt x="0" y="226822"/>
                  </a:moveTo>
                  <a:cubicBezTo>
                    <a:pt x="0" y="101473"/>
                    <a:pt x="101473" y="0"/>
                    <a:pt x="226822" y="0"/>
                  </a:cubicBezTo>
                  <a:lnTo>
                    <a:pt x="18792698" y="0"/>
                  </a:lnTo>
                  <a:cubicBezTo>
                    <a:pt x="18917920" y="0"/>
                    <a:pt x="19019520" y="101473"/>
                    <a:pt x="19019520" y="226822"/>
                  </a:cubicBezTo>
                  <a:lnTo>
                    <a:pt x="19019520" y="3552698"/>
                  </a:lnTo>
                  <a:cubicBezTo>
                    <a:pt x="19019520" y="3677920"/>
                    <a:pt x="18918047" y="3779520"/>
                    <a:pt x="18792698" y="3779520"/>
                  </a:cubicBezTo>
                  <a:lnTo>
                    <a:pt x="226822" y="3779520"/>
                  </a:lnTo>
                  <a:cubicBezTo>
                    <a:pt x="101473" y="3779520"/>
                    <a:pt x="0" y="3678047"/>
                    <a:pt x="0" y="3552698"/>
                  </a:cubicBezTo>
                  <a:close/>
                </a:path>
              </a:pathLst>
            </a:custGeom>
            <a:solidFill>
              <a:srgbClr val="FFFFFF"/>
            </a:solidFill>
          </p:spPr>
        </p:sp>
      </p:grpSp>
      <p:grpSp>
        <p:nvGrpSpPr>
          <p:cNvPr name="Group 14" id="14"/>
          <p:cNvGrpSpPr/>
          <p:nvPr/>
        </p:nvGrpSpPr>
        <p:grpSpPr>
          <a:xfrm rot="0">
            <a:off x="2651760" y="4343400"/>
            <a:ext cx="14912611" cy="3871720"/>
            <a:chOff x="0" y="0"/>
            <a:chExt cx="17678400" cy="4589794"/>
          </a:xfrm>
        </p:grpSpPr>
        <p:sp>
          <p:nvSpPr>
            <p:cNvPr name="Freeform 15" id="15"/>
            <p:cNvSpPr/>
            <p:nvPr/>
          </p:nvSpPr>
          <p:spPr>
            <a:xfrm flipH="false" flipV="false" rot="0">
              <a:off x="0" y="0"/>
              <a:ext cx="17678400" cy="4589794"/>
            </a:xfrm>
            <a:custGeom>
              <a:avLst/>
              <a:gdLst/>
              <a:ahLst/>
              <a:cxnLst/>
              <a:rect r="r" b="b" t="t" l="l"/>
              <a:pathLst>
                <a:path h="4589794" w="17678400">
                  <a:moveTo>
                    <a:pt x="0" y="0"/>
                  </a:moveTo>
                  <a:lnTo>
                    <a:pt x="17678400" y="0"/>
                  </a:lnTo>
                  <a:lnTo>
                    <a:pt x="17678400" y="4589794"/>
                  </a:lnTo>
                  <a:lnTo>
                    <a:pt x="0" y="4589794"/>
                  </a:lnTo>
                  <a:close/>
                </a:path>
              </a:pathLst>
            </a:custGeom>
            <a:blipFill>
              <a:blip r:embed="rId3">
                <a:alphaModFix amt="0"/>
              </a:blip>
              <a:stretch>
                <a:fillRect l="0" t="-33876" r="0" b="-16223"/>
              </a:stretch>
            </a:blipFill>
          </p:spPr>
        </p:sp>
        <p:sp>
          <p:nvSpPr>
            <p:cNvPr name="TextBox 16" id="16"/>
            <p:cNvSpPr txBox="true"/>
            <p:nvPr/>
          </p:nvSpPr>
          <p:spPr>
            <a:xfrm>
              <a:off x="0" y="-19050"/>
              <a:ext cx="17678400" cy="4608844"/>
            </a:xfrm>
            <a:prstGeom prst="rect">
              <a:avLst/>
            </a:prstGeom>
          </p:spPr>
          <p:txBody>
            <a:bodyPr anchor="ctr" rtlCol="false" tIns="0" lIns="0" bIns="0" rIns="0"/>
            <a:lstStyle/>
            <a:p>
              <a:pPr algn="l">
                <a:lnSpc>
                  <a:spcPts val="3599"/>
                </a:lnSpc>
              </a:pPr>
              <a:r>
                <a:rPr lang="en-US" sz="2999">
                  <a:solidFill>
                    <a:srgbClr val="2A3B3F"/>
                  </a:solidFill>
                  <a:latin typeface="Poppins"/>
                  <a:ea typeface="Poppins"/>
                  <a:cs typeface="Poppins"/>
                  <a:sym typeface="Poppins"/>
                </a:rPr>
                <a:t>R</a:t>
              </a:r>
              <a:r>
                <a:rPr lang="en-US" sz="2999">
                  <a:solidFill>
                    <a:srgbClr val="2A3B3F"/>
                  </a:solidFill>
                  <a:latin typeface="Poppins"/>
                  <a:ea typeface="Poppins"/>
                  <a:cs typeface="Poppins"/>
                  <a:sym typeface="Poppins"/>
                </a:rPr>
                <a:t>ecruitment is increasingly digital, yet organisations still face the challenge of efficiently managing large volumes of candidate information and accurately identifying the most qualified profiles. Traditional recruitment methods may rely on subjective evaluations and provide limited evidence of candidates’ actual competencies. Intelligent technologies and objective skill assessment offer an opportunity to make recruitment more efficient, reliable, and evidence-based.</a:t>
              </a:r>
            </a:p>
            <a:p>
              <a:pPr algn="l">
                <a:lnSpc>
                  <a:spcPts val="3599"/>
                </a:lnSpc>
              </a:pPr>
            </a:p>
          </p:txBody>
        </p:sp>
      </p:grpSp>
      <p:grpSp>
        <p:nvGrpSpPr>
          <p:cNvPr name="Group 17" id="17"/>
          <p:cNvGrpSpPr/>
          <p:nvPr/>
        </p:nvGrpSpPr>
        <p:grpSpPr>
          <a:xfrm rot="0">
            <a:off x="685800" y="9052560"/>
            <a:ext cx="5486400" cy="365760"/>
            <a:chOff x="0" y="0"/>
            <a:chExt cx="7315200" cy="487680"/>
          </a:xfrm>
        </p:grpSpPr>
        <p:sp>
          <p:nvSpPr>
            <p:cNvPr name="Freeform 18" id="18"/>
            <p:cNvSpPr/>
            <p:nvPr/>
          </p:nvSpPr>
          <p:spPr>
            <a:xfrm flipH="false" flipV="false" rot="0">
              <a:off x="0" y="0"/>
              <a:ext cx="7315200" cy="487680"/>
            </a:xfrm>
            <a:custGeom>
              <a:avLst/>
              <a:gdLst/>
              <a:ahLst/>
              <a:cxnLst/>
              <a:rect r="r" b="b" t="t" l="l"/>
              <a:pathLst>
                <a:path h="487680" w="7315200">
                  <a:moveTo>
                    <a:pt x="0" y="0"/>
                  </a:moveTo>
                  <a:lnTo>
                    <a:pt x="7315200" y="0"/>
                  </a:lnTo>
                  <a:lnTo>
                    <a:pt x="7315200" y="487680"/>
                  </a:lnTo>
                  <a:lnTo>
                    <a:pt x="0" y="487680"/>
                  </a:lnTo>
                  <a:close/>
                </a:path>
              </a:pathLst>
            </a:custGeom>
            <a:blipFill>
              <a:blip r:embed="rId3">
                <a:alphaModFix amt="0"/>
              </a:blip>
              <a:stretch>
                <a:fillRect l="0" t="-242275" r="0" b="-242275"/>
              </a:stretch>
            </a:blipFill>
          </p:spPr>
        </p:sp>
        <p:sp>
          <p:nvSpPr>
            <p:cNvPr name="TextBox 19" id="19"/>
            <p:cNvSpPr txBox="true"/>
            <p:nvPr/>
          </p:nvSpPr>
          <p:spPr>
            <a:xfrm>
              <a:off x="0" y="-19050"/>
              <a:ext cx="7315200" cy="506730"/>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746607"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686333" y="643471"/>
            <a:ext cx="1784471" cy="1495408"/>
            <a:chOff x="0" y="0"/>
            <a:chExt cx="2379294" cy="1993877"/>
          </a:xfrm>
        </p:grpSpPr>
        <p:sp>
          <p:nvSpPr>
            <p:cNvPr name="Freeform 7" id="7"/>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4">
                <a:alphaModFix amt="0"/>
              </a:blip>
              <a:stretch>
                <a:fillRect l="-41907" t="0" r="-41907" b="14520"/>
              </a:stretch>
            </a:blipFill>
          </p:spPr>
        </p:sp>
        <p:sp>
          <p:nvSpPr>
            <p:cNvPr name="TextBox 8" id="8"/>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9" id="9"/>
          <p:cNvGrpSpPr/>
          <p:nvPr/>
        </p:nvGrpSpPr>
        <p:grpSpPr>
          <a:xfrm rot="0">
            <a:off x="2127647" y="796147"/>
            <a:ext cx="14413059" cy="1235412"/>
            <a:chOff x="0" y="0"/>
            <a:chExt cx="19217411" cy="1647215"/>
          </a:xfrm>
        </p:grpSpPr>
        <p:sp>
          <p:nvSpPr>
            <p:cNvPr name="Freeform 10" id="10"/>
            <p:cNvSpPr/>
            <p:nvPr/>
          </p:nvSpPr>
          <p:spPr>
            <a:xfrm flipH="false" flipV="false" rot="0">
              <a:off x="0" y="0"/>
              <a:ext cx="19217387" cy="1647190"/>
            </a:xfrm>
            <a:custGeom>
              <a:avLst/>
              <a:gdLst/>
              <a:ahLst/>
              <a:cxnLst/>
              <a:rect r="r" b="b" t="t" l="l"/>
              <a:pathLst>
                <a:path h="1647190" w="19217387">
                  <a:moveTo>
                    <a:pt x="0" y="0"/>
                  </a:moveTo>
                  <a:lnTo>
                    <a:pt x="19217387" y="0"/>
                  </a:lnTo>
                  <a:lnTo>
                    <a:pt x="19217387" y="1647190"/>
                  </a:lnTo>
                  <a:lnTo>
                    <a:pt x="0" y="1647190"/>
                  </a:lnTo>
                  <a:close/>
                </a:path>
              </a:pathLst>
            </a:custGeom>
            <a:blipFill>
              <a:blip r:embed="rId3">
                <a:alphaModFix amt="0"/>
              </a:blip>
              <a:stretch>
                <a:fillRect l="0" t="-177168" r="0" b="-177170"/>
              </a:stretch>
            </a:blipFill>
          </p:spPr>
        </p:sp>
      </p:grpSp>
      <p:grpSp>
        <p:nvGrpSpPr>
          <p:cNvPr name="Group 11" id="11"/>
          <p:cNvGrpSpPr/>
          <p:nvPr/>
        </p:nvGrpSpPr>
        <p:grpSpPr>
          <a:xfrm rot="0">
            <a:off x="669655" y="540487"/>
            <a:ext cx="14413059" cy="1263977"/>
            <a:chOff x="0" y="0"/>
            <a:chExt cx="19217411" cy="1685303"/>
          </a:xfrm>
        </p:grpSpPr>
        <p:sp>
          <p:nvSpPr>
            <p:cNvPr name="Freeform 12" id="12"/>
            <p:cNvSpPr/>
            <p:nvPr/>
          </p:nvSpPr>
          <p:spPr>
            <a:xfrm flipH="false" flipV="false" rot="0">
              <a:off x="0" y="0"/>
              <a:ext cx="19217411" cy="1685307"/>
            </a:xfrm>
            <a:custGeom>
              <a:avLst/>
              <a:gdLst/>
              <a:ahLst/>
              <a:cxnLst/>
              <a:rect r="r" b="b" t="t" l="l"/>
              <a:pathLst>
                <a:path h="1685307" w="19217411">
                  <a:moveTo>
                    <a:pt x="0" y="0"/>
                  </a:moveTo>
                  <a:lnTo>
                    <a:pt x="19217411" y="0"/>
                  </a:lnTo>
                  <a:lnTo>
                    <a:pt x="19217411" y="1685307"/>
                  </a:lnTo>
                  <a:lnTo>
                    <a:pt x="0" y="1685307"/>
                  </a:lnTo>
                  <a:close/>
                </a:path>
              </a:pathLst>
            </a:custGeom>
            <a:blipFill>
              <a:blip r:embed="rId4">
                <a:alphaModFix amt="0"/>
              </a:blip>
              <a:stretch>
                <a:fillRect l="0" t="-172186" r="0" b="-172186"/>
              </a:stretch>
            </a:blipFill>
          </p:spPr>
        </p:sp>
        <p:sp>
          <p:nvSpPr>
            <p:cNvPr name="TextBox 13" id="13"/>
            <p:cNvSpPr txBox="true"/>
            <p:nvPr/>
          </p:nvSpPr>
          <p:spPr>
            <a:xfrm>
              <a:off x="0" y="-38100"/>
              <a:ext cx="19217411" cy="1723403"/>
            </a:xfrm>
            <a:prstGeom prst="rect">
              <a:avLst/>
            </a:prstGeom>
          </p:spPr>
          <p:txBody>
            <a:bodyPr anchor="ctr" rtlCol="false" tIns="0" lIns="0" bIns="0" rIns="0"/>
            <a:lstStyle/>
            <a:p>
              <a:pPr algn="l">
                <a:lnSpc>
                  <a:spcPts val="4683"/>
                </a:lnSpc>
              </a:pPr>
              <a:r>
                <a:rPr lang="en-US" sz="3903" b="true">
                  <a:solidFill>
                    <a:srgbClr val="000000"/>
                  </a:solidFill>
                  <a:latin typeface="Poppins Bold"/>
                  <a:ea typeface="Poppins Bold"/>
                  <a:cs typeface="Poppins Bold"/>
                  <a:sym typeface="Poppins Bold"/>
                </a:rPr>
                <a:t>TestoHire : Host Company</a:t>
              </a:r>
            </a:p>
          </p:txBody>
        </p:sp>
      </p:grpSp>
      <p:sp>
        <p:nvSpPr>
          <p:cNvPr name="Freeform 14" id="14"/>
          <p:cNvSpPr/>
          <p:nvPr/>
        </p:nvSpPr>
        <p:spPr>
          <a:xfrm flipH="false" flipV="false" rot="0">
            <a:off x="669655" y="2385489"/>
            <a:ext cx="5112172" cy="2092366"/>
          </a:xfrm>
          <a:custGeom>
            <a:avLst/>
            <a:gdLst/>
            <a:ahLst/>
            <a:cxnLst/>
            <a:rect r="r" b="b" t="t" l="l"/>
            <a:pathLst>
              <a:path h="2092366" w="5112172">
                <a:moveTo>
                  <a:pt x="0" y="0"/>
                </a:moveTo>
                <a:lnTo>
                  <a:pt x="5112172" y="0"/>
                </a:lnTo>
                <a:lnTo>
                  <a:pt x="5112172" y="2092366"/>
                </a:lnTo>
                <a:lnTo>
                  <a:pt x="0" y="20923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960872" y="2621804"/>
            <a:ext cx="4529814" cy="439255"/>
            <a:chOff x="0" y="0"/>
            <a:chExt cx="6039752" cy="585673"/>
          </a:xfrm>
        </p:grpSpPr>
        <p:sp>
          <p:nvSpPr>
            <p:cNvPr name="Freeform 16" id="16"/>
            <p:cNvSpPr/>
            <p:nvPr/>
          </p:nvSpPr>
          <p:spPr>
            <a:xfrm flipH="false" flipV="false" rot="0">
              <a:off x="0" y="0"/>
              <a:ext cx="6039739" cy="585724"/>
            </a:xfrm>
            <a:custGeom>
              <a:avLst/>
              <a:gdLst/>
              <a:ahLst/>
              <a:cxnLst/>
              <a:rect r="r" b="b" t="t" l="l"/>
              <a:pathLst>
                <a:path h="585724" w="6039739">
                  <a:moveTo>
                    <a:pt x="0" y="0"/>
                  </a:moveTo>
                  <a:lnTo>
                    <a:pt x="6039739" y="0"/>
                  </a:lnTo>
                  <a:lnTo>
                    <a:pt x="6039739" y="585724"/>
                  </a:lnTo>
                  <a:lnTo>
                    <a:pt x="0" y="585724"/>
                  </a:lnTo>
                  <a:close/>
                </a:path>
              </a:pathLst>
            </a:custGeom>
            <a:blipFill>
              <a:blip r:embed="rId3">
                <a:alphaModFix amt="0"/>
              </a:blip>
              <a:stretch>
                <a:fillRect l="0" t="-150787" r="0" b="-150778"/>
              </a:stretch>
            </a:blipFill>
          </p:spPr>
        </p:sp>
      </p:grpSp>
      <p:grpSp>
        <p:nvGrpSpPr>
          <p:cNvPr name="Group 17" id="17"/>
          <p:cNvGrpSpPr/>
          <p:nvPr/>
        </p:nvGrpSpPr>
        <p:grpSpPr>
          <a:xfrm rot="0">
            <a:off x="960872" y="2607516"/>
            <a:ext cx="4529823" cy="453542"/>
            <a:chOff x="0" y="0"/>
            <a:chExt cx="6039764" cy="604723"/>
          </a:xfrm>
        </p:grpSpPr>
        <p:sp>
          <p:nvSpPr>
            <p:cNvPr name="Freeform 18" id="18"/>
            <p:cNvSpPr/>
            <p:nvPr/>
          </p:nvSpPr>
          <p:spPr>
            <a:xfrm flipH="false" flipV="false" rot="0">
              <a:off x="0" y="0"/>
              <a:ext cx="6039764" cy="604723"/>
            </a:xfrm>
            <a:custGeom>
              <a:avLst/>
              <a:gdLst/>
              <a:ahLst/>
              <a:cxnLst/>
              <a:rect r="r" b="b" t="t" l="l"/>
              <a:pathLst>
                <a:path h="604723" w="6039764">
                  <a:moveTo>
                    <a:pt x="0" y="0"/>
                  </a:moveTo>
                  <a:lnTo>
                    <a:pt x="6039764" y="0"/>
                  </a:lnTo>
                  <a:lnTo>
                    <a:pt x="6039764" y="604723"/>
                  </a:lnTo>
                  <a:lnTo>
                    <a:pt x="0" y="604723"/>
                  </a:lnTo>
                  <a:close/>
                </a:path>
              </a:pathLst>
            </a:custGeom>
            <a:blipFill>
              <a:blip r:embed="rId4">
                <a:alphaModFix amt="0"/>
              </a:blip>
              <a:stretch>
                <a:fillRect l="0" t="-144609" r="0" b="-144609"/>
              </a:stretch>
            </a:blipFill>
          </p:spPr>
        </p:sp>
        <p:sp>
          <p:nvSpPr>
            <p:cNvPr name="TextBox 19" id="19"/>
            <p:cNvSpPr txBox="true"/>
            <p:nvPr/>
          </p:nvSpPr>
          <p:spPr>
            <a:xfrm>
              <a:off x="0" y="-19050"/>
              <a:ext cx="6039764" cy="623773"/>
            </a:xfrm>
            <a:prstGeom prst="rect">
              <a:avLst/>
            </a:prstGeom>
          </p:spPr>
          <p:txBody>
            <a:bodyPr anchor="ctr" rtlCol="false" tIns="0" lIns="0" bIns="0" rIns="0"/>
            <a:lstStyle/>
            <a:p>
              <a:pPr algn="l">
                <a:lnSpc>
                  <a:spcPts val="2341"/>
                </a:lnSpc>
              </a:pPr>
              <a:r>
                <a:rPr lang="en-US" sz="1950" b="true">
                  <a:solidFill>
                    <a:srgbClr val="000000"/>
                  </a:solidFill>
                  <a:latin typeface="Poppins Bold"/>
                  <a:ea typeface="Poppins Bold"/>
                  <a:cs typeface="Poppins Bold"/>
                  <a:sym typeface="Poppins Bold"/>
                </a:rPr>
                <a:t>AI-Powered</a:t>
              </a:r>
            </a:p>
          </p:txBody>
        </p:sp>
      </p:grpSp>
      <p:sp>
        <p:nvSpPr>
          <p:cNvPr name="TextBox 20" id="20"/>
          <p:cNvSpPr txBox="true"/>
          <p:nvPr/>
        </p:nvSpPr>
        <p:spPr>
          <a:xfrm rot="0">
            <a:off x="960872" y="3039770"/>
            <a:ext cx="4529823" cy="1256700"/>
          </a:xfrm>
          <a:prstGeom prst="rect">
            <a:avLst/>
          </a:prstGeom>
        </p:spPr>
        <p:txBody>
          <a:bodyPr anchor="t" rtlCol="false" tIns="0" lIns="0" bIns="0" rIns="0">
            <a:spAutoFit/>
          </a:bodyPr>
          <a:lstStyle/>
          <a:p>
            <a:pPr algn="l">
              <a:lnSpc>
                <a:spcPts val="2175"/>
              </a:lnSpc>
            </a:pPr>
            <a:r>
              <a:rPr lang="en-US" sz="1575">
                <a:solidFill>
                  <a:srgbClr val="000000"/>
                </a:solidFill>
                <a:latin typeface="Poppins"/>
                <a:ea typeface="Poppins"/>
                <a:cs typeface="Poppins"/>
                <a:sym typeface="Poppins"/>
              </a:rPr>
              <a:t>Intelligent candidate evaluation</a:t>
            </a:r>
          </a:p>
        </p:txBody>
      </p:sp>
      <p:sp>
        <p:nvSpPr>
          <p:cNvPr name="Freeform 21" id="21"/>
          <p:cNvSpPr/>
          <p:nvPr/>
        </p:nvSpPr>
        <p:spPr>
          <a:xfrm flipH="false" flipV="false" rot="0">
            <a:off x="6228969" y="2385489"/>
            <a:ext cx="5112172" cy="2092366"/>
          </a:xfrm>
          <a:custGeom>
            <a:avLst/>
            <a:gdLst/>
            <a:ahLst/>
            <a:cxnLst/>
            <a:rect r="r" b="b" t="t" l="l"/>
            <a:pathLst>
              <a:path h="2092366" w="5112172">
                <a:moveTo>
                  <a:pt x="0" y="0"/>
                </a:moveTo>
                <a:lnTo>
                  <a:pt x="5112172" y="0"/>
                </a:lnTo>
                <a:lnTo>
                  <a:pt x="5112172" y="2092366"/>
                </a:lnTo>
                <a:lnTo>
                  <a:pt x="0" y="20923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2" id="22"/>
          <p:cNvGrpSpPr/>
          <p:nvPr/>
        </p:nvGrpSpPr>
        <p:grpSpPr>
          <a:xfrm rot="0">
            <a:off x="6520196" y="2621804"/>
            <a:ext cx="4529814" cy="439255"/>
            <a:chOff x="0" y="0"/>
            <a:chExt cx="6039752" cy="585673"/>
          </a:xfrm>
        </p:grpSpPr>
        <p:sp>
          <p:nvSpPr>
            <p:cNvPr name="Freeform 23" id="23"/>
            <p:cNvSpPr/>
            <p:nvPr/>
          </p:nvSpPr>
          <p:spPr>
            <a:xfrm flipH="false" flipV="false" rot="0">
              <a:off x="0" y="0"/>
              <a:ext cx="6039739" cy="585724"/>
            </a:xfrm>
            <a:custGeom>
              <a:avLst/>
              <a:gdLst/>
              <a:ahLst/>
              <a:cxnLst/>
              <a:rect r="r" b="b" t="t" l="l"/>
              <a:pathLst>
                <a:path h="585724" w="6039739">
                  <a:moveTo>
                    <a:pt x="0" y="0"/>
                  </a:moveTo>
                  <a:lnTo>
                    <a:pt x="6039739" y="0"/>
                  </a:lnTo>
                  <a:lnTo>
                    <a:pt x="6039739" y="585724"/>
                  </a:lnTo>
                  <a:lnTo>
                    <a:pt x="0" y="585724"/>
                  </a:lnTo>
                  <a:close/>
                </a:path>
              </a:pathLst>
            </a:custGeom>
            <a:blipFill>
              <a:blip r:embed="rId3">
                <a:alphaModFix amt="0"/>
              </a:blip>
              <a:stretch>
                <a:fillRect l="0" t="-150787" r="0" b="-150778"/>
              </a:stretch>
            </a:blipFill>
          </p:spPr>
        </p:sp>
      </p:grpSp>
      <p:grpSp>
        <p:nvGrpSpPr>
          <p:cNvPr name="Group 24" id="24"/>
          <p:cNvGrpSpPr/>
          <p:nvPr/>
        </p:nvGrpSpPr>
        <p:grpSpPr>
          <a:xfrm rot="0">
            <a:off x="6520196" y="2607516"/>
            <a:ext cx="4529823" cy="453542"/>
            <a:chOff x="0" y="0"/>
            <a:chExt cx="6039764" cy="604723"/>
          </a:xfrm>
        </p:grpSpPr>
        <p:sp>
          <p:nvSpPr>
            <p:cNvPr name="Freeform 25" id="25"/>
            <p:cNvSpPr/>
            <p:nvPr/>
          </p:nvSpPr>
          <p:spPr>
            <a:xfrm flipH="false" flipV="false" rot="0">
              <a:off x="0" y="0"/>
              <a:ext cx="6039764" cy="604723"/>
            </a:xfrm>
            <a:custGeom>
              <a:avLst/>
              <a:gdLst/>
              <a:ahLst/>
              <a:cxnLst/>
              <a:rect r="r" b="b" t="t" l="l"/>
              <a:pathLst>
                <a:path h="604723" w="6039764">
                  <a:moveTo>
                    <a:pt x="0" y="0"/>
                  </a:moveTo>
                  <a:lnTo>
                    <a:pt x="6039764" y="0"/>
                  </a:lnTo>
                  <a:lnTo>
                    <a:pt x="6039764" y="604723"/>
                  </a:lnTo>
                  <a:lnTo>
                    <a:pt x="0" y="604723"/>
                  </a:lnTo>
                  <a:close/>
                </a:path>
              </a:pathLst>
            </a:custGeom>
            <a:blipFill>
              <a:blip r:embed="rId4">
                <a:alphaModFix amt="0"/>
              </a:blip>
              <a:stretch>
                <a:fillRect l="0" t="-144609" r="0" b="-144609"/>
              </a:stretch>
            </a:blipFill>
          </p:spPr>
        </p:sp>
        <p:sp>
          <p:nvSpPr>
            <p:cNvPr name="TextBox 26" id="26"/>
            <p:cNvSpPr txBox="true"/>
            <p:nvPr/>
          </p:nvSpPr>
          <p:spPr>
            <a:xfrm>
              <a:off x="0" y="-19050"/>
              <a:ext cx="6039764" cy="623773"/>
            </a:xfrm>
            <a:prstGeom prst="rect">
              <a:avLst/>
            </a:prstGeom>
          </p:spPr>
          <p:txBody>
            <a:bodyPr anchor="ctr" rtlCol="false" tIns="0" lIns="0" bIns="0" rIns="0"/>
            <a:lstStyle/>
            <a:p>
              <a:pPr algn="l">
                <a:lnSpc>
                  <a:spcPts val="2341"/>
                </a:lnSpc>
              </a:pPr>
              <a:r>
                <a:rPr lang="en-US" sz="1950" b="true">
                  <a:solidFill>
                    <a:srgbClr val="000000"/>
                  </a:solidFill>
                  <a:latin typeface="Poppins Bold"/>
                  <a:ea typeface="Poppins Bold"/>
                  <a:cs typeface="Poppins Bold"/>
                  <a:sym typeface="Poppins Bold"/>
                </a:rPr>
                <a:t>Skill-Centered</a:t>
              </a:r>
            </a:p>
          </p:txBody>
        </p:sp>
      </p:grpSp>
      <p:sp>
        <p:nvSpPr>
          <p:cNvPr name="TextBox 27" id="27"/>
          <p:cNvSpPr txBox="true"/>
          <p:nvPr/>
        </p:nvSpPr>
        <p:spPr>
          <a:xfrm rot="0">
            <a:off x="6520196" y="3039770"/>
            <a:ext cx="4529823" cy="1256700"/>
          </a:xfrm>
          <a:prstGeom prst="rect">
            <a:avLst/>
          </a:prstGeom>
        </p:spPr>
        <p:txBody>
          <a:bodyPr anchor="t" rtlCol="false" tIns="0" lIns="0" bIns="0" rIns="0">
            <a:spAutoFit/>
          </a:bodyPr>
          <a:lstStyle/>
          <a:p>
            <a:pPr algn="l">
              <a:lnSpc>
                <a:spcPts val="2175"/>
              </a:lnSpc>
            </a:pPr>
            <a:r>
              <a:rPr lang="en-US" sz="1575">
                <a:solidFill>
                  <a:srgbClr val="000000"/>
                </a:solidFill>
                <a:latin typeface="Poppins"/>
                <a:ea typeface="Poppins"/>
                <a:cs typeface="Poppins"/>
                <a:sym typeface="Poppins"/>
              </a:rPr>
              <a:t>Focus on demonstrated competencies</a:t>
            </a:r>
          </a:p>
        </p:txBody>
      </p:sp>
      <p:sp>
        <p:nvSpPr>
          <p:cNvPr name="Freeform 28" id="28"/>
          <p:cNvSpPr/>
          <p:nvPr/>
        </p:nvSpPr>
        <p:spPr>
          <a:xfrm flipH="false" flipV="false" rot="0">
            <a:off x="11788292" y="2385489"/>
            <a:ext cx="5112172" cy="2092366"/>
          </a:xfrm>
          <a:custGeom>
            <a:avLst/>
            <a:gdLst/>
            <a:ahLst/>
            <a:cxnLst/>
            <a:rect r="r" b="b" t="t" l="l"/>
            <a:pathLst>
              <a:path h="2092366" w="5112172">
                <a:moveTo>
                  <a:pt x="0" y="0"/>
                </a:moveTo>
                <a:lnTo>
                  <a:pt x="5112173" y="0"/>
                </a:lnTo>
                <a:lnTo>
                  <a:pt x="5112173" y="2092366"/>
                </a:lnTo>
                <a:lnTo>
                  <a:pt x="0" y="20923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9" id="29"/>
          <p:cNvGrpSpPr/>
          <p:nvPr/>
        </p:nvGrpSpPr>
        <p:grpSpPr>
          <a:xfrm rot="0">
            <a:off x="12079519" y="2621804"/>
            <a:ext cx="4529814" cy="439255"/>
            <a:chOff x="0" y="0"/>
            <a:chExt cx="6039752" cy="585673"/>
          </a:xfrm>
        </p:grpSpPr>
        <p:sp>
          <p:nvSpPr>
            <p:cNvPr name="Freeform 30" id="30"/>
            <p:cNvSpPr/>
            <p:nvPr/>
          </p:nvSpPr>
          <p:spPr>
            <a:xfrm flipH="false" flipV="false" rot="0">
              <a:off x="0" y="0"/>
              <a:ext cx="6039739" cy="585724"/>
            </a:xfrm>
            <a:custGeom>
              <a:avLst/>
              <a:gdLst/>
              <a:ahLst/>
              <a:cxnLst/>
              <a:rect r="r" b="b" t="t" l="l"/>
              <a:pathLst>
                <a:path h="585724" w="6039739">
                  <a:moveTo>
                    <a:pt x="0" y="0"/>
                  </a:moveTo>
                  <a:lnTo>
                    <a:pt x="6039739" y="0"/>
                  </a:lnTo>
                  <a:lnTo>
                    <a:pt x="6039739" y="585724"/>
                  </a:lnTo>
                  <a:lnTo>
                    <a:pt x="0" y="585724"/>
                  </a:lnTo>
                  <a:close/>
                </a:path>
              </a:pathLst>
            </a:custGeom>
            <a:blipFill>
              <a:blip r:embed="rId3">
                <a:alphaModFix amt="0"/>
              </a:blip>
              <a:stretch>
                <a:fillRect l="0" t="-150787" r="0" b="-150778"/>
              </a:stretch>
            </a:blipFill>
          </p:spPr>
        </p:sp>
      </p:grpSp>
      <p:grpSp>
        <p:nvGrpSpPr>
          <p:cNvPr name="Group 31" id="31"/>
          <p:cNvGrpSpPr/>
          <p:nvPr/>
        </p:nvGrpSpPr>
        <p:grpSpPr>
          <a:xfrm rot="0">
            <a:off x="12079519" y="2607516"/>
            <a:ext cx="4529823" cy="453542"/>
            <a:chOff x="0" y="0"/>
            <a:chExt cx="6039764" cy="604723"/>
          </a:xfrm>
        </p:grpSpPr>
        <p:sp>
          <p:nvSpPr>
            <p:cNvPr name="Freeform 32" id="32"/>
            <p:cNvSpPr/>
            <p:nvPr/>
          </p:nvSpPr>
          <p:spPr>
            <a:xfrm flipH="false" flipV="false" rot="0">
              <a:off x="0" y="0"/>
              <a:ext cx="6039764" cy="604723"/>
            </a:xfrm>
            <a:custGeom>
              <a:avLst/>
              <a:gdLst/>
              <a:ahLst/>
              <a:cxnLst/>
              <a:rect r="r" b="b" t="t" l="l"/>
              <a:pathLst>
                <a:path h="604723" w="6039764">
                  <a:moveTo>
                    <a:pt x="0" y="0"/>
                  </a:moveTo>
                  <a:lnTo>
                    <a:pt x="6039764" y="0"/>
                  </a:lnTo>
                  <a:lnTo>
                    <a:pt x="6039764" y="604723"/>
                  </a:lnTo>
                  <a:lnTo>
                    <a:pt x="0" y="604723"/>
                  </a:lnTo>
                  <a:close/>
                </a:path>
              </a:pathLst>
            </a:custGeom>
            <a:blipFill>
              <a:blip r:embed="rId4">
                <a:alphaModFix amt="0"/>
              </a:blip>
              <a:stretch>
                <a:fillRect l="0" t="-144609" r="0" b="-144609"/>
              </a:stretch>
            </a:blipFill>
          </p:spPr>
        </p:sp>
        <p:sp>
          <p:nvSpPr>
            <p:cNvPr name="TextBox 33" id="33"/>
            <p:cNvSpPr txBox="true"/>
            <p:nvPr/>
          </p:nvSpPr>
          <p:spPr>
            <a:xfrm>
              <a:off x="0" y="-19050"/>
              <a:ext cx="6039764" cy="623773"/>
            </a:xfrm>
            <a:prstGeom prst="rect">
              <a:avLst/>
            </a:prstGeom>
          </p:spPr>
          <p:txBody>
            <a:bodyPr anchor="ctr" rtlCol="false" tIns="0" lIns="0" bIns="0" rIns="0"/>
            <a:lstStyle/>
            <a:p>
              <a:pPr algn="l">
                <a:lnSpc>
                  <a:spcPts val="2341"/>
                </a:lnSpc>
              </a:pPr>
              <a:r>
                <a:rPr lang="en-US" sz="1950" b="true">
                  <a:solidFill>
                    <a:srgbClr val="000000"/>
                  </a:solidFill>
                  <a:latin typeface="Poppins Bold"/>
                  <a:ea typeface="Poppins Bold"/>
                  <a:cs typeface="Poppins Bold"/>
                  <a:sym typeface="Poppins Bold"/>
                </a:rPr>
                <a:t>Recruiter-Oriented</a:t>
              </a:r>
            </a:p>
          </p:txBody>
        </p:sp>
      </p:grpSp>
      <p:sp>
        <p:nvSpPr>
          <p:cNvPr name="TextBox 34" id="34"/>
          <p:cNvSpPr txBox="true"/>
          <p:nvPr/>
        </p:nvSpPr>
        <p:spPr>
          <a:xfrm rot="0">
            <a:off x="12079519" y="3039770"/>
            <a:ext cx="4529823" cy="1256700"/>
          </a:xfrm>
          <a:prstGeom prst="rect">
            <a:avLst/>
          </a:prstGeom>
        </p:spPr>
        <p:txBody>
          <a:bodyPr anchor="t" rtlCol="false" tIns="0" lIns="0" bIns="0" rIns="0">
            <a:spAutoFit/>
          </a:bodyPr>
          <a:lstStyle/>
          <a:p>
            <a:pPr algn="l">
              <a:lnSpc>
                <a:spcPts val="2175"/>
              </a:lnSpc>
            </a:pPr>
            <a:r>
              <a:rPr lang="en-US" sz="1575">
                <a:solidFill>
                  <a:srgbClr val="000000"/>
                </a:solidFill>
                <a:latin typeface="Poppins"/>
                <a:ea typeface="Poppins"/>
                <a:cs typeface="Poppins"/>
                <a:sym typeface="Poppins"/>
              </a:rPr>
              <a:t>Supporting hiring decisions</a:t>
            </a:r>
          </a:p>
        </p:txBody>
      </p:sp>
      <p:grpSp>
        <p:nvGrpSpPr>
          <p:cNvPr name="Group 35" id="35"/>
          <p:cNvGrpSpPr/>
          <p:nvPr/>
        </p:nvGrpSpPr>
        <p:grpSpPr>
          <a:xfrm rot="0">
            <a:off x="686333" y="4872990"/>
            <a:ext cx="16952500" cy="2951226"/>
            <a:chOff x="0" y="0"/>
            <a:chExt cx="22603333" cy="3934968"/>
          </a:xfrm>
        </p:grpSpPr>
        <p:sp>
          <p:nvSpPr>
            <p:cNvPr name="Freeform 36" id="36"/>
            <p:cNvSpPr/>
            <p:nvPr/>
          </p:nvSpPr>
          <p:spPr>
            <a:xfrm flipH="false" flipV="false" rot="0">
              <a:off x="0" y="0"/>
              <a:ext cx="22603333" cy="3934968"/>
            </a:xfrm>
            <a:custGeom>
              <a:avLst/>
              <a:gdLst/>
              <a:ahLst/>
              <a:cxnLst/>
              <a:rect r="r" b="b" t="t" l="l"/>
              <a:pathLst>
                <a:path h="3934968" w="22603333">
                  <a:moveTo>
                    <a:pt x="0" y="219583"/>
                  </a:moveTo>
                  <a:cubicBezTo>
                    <a:pt x="0" y="98298"/>
                    <a:pt x="98298" y="0"/>
                    <a:pt x="219583" y="0"/>
                  </a:cubicBezTo>
                  <a:lnTo>
                    <a:pt x="22383750" y="0"/>
                  </a:lnTo>
                  <a:cubicBezTo>
                    <a:pt x="22505036" y="0"/>
                    <a:pt x="22603333" y="98298"/>
                    <a:pt x="22603333" y="219583"/>
                  </a:cubicBezTo>
                  <a:lnTo>
                    <a:pt x="22603333" y="3715385"/>
                  </a:lnTo>
                  <a:cubicBezTo>
                    <a:pt x="22603333" y="3836670"/>
                    <a:pt x="22505036" y="3934968"/>
                    <a:pt x="22383750" y="3934968"/>
                  </a:cubicBezTo>
                  <a:lnTo>
                    <a:pt x="219583" y="3934968"/>
                  </a:lnTo>
                  <a:cubicBezTo>
                    <a:pt x="98298" y="3934968"/>
                    <a:pt x="0" y="3836670"/>
                    <a:pt x="0" y="3715385"/>
                  </a:cubicBezTo>
                  <a:close/>
                </a:path>
              </a:pathLst>
            </a:custGeom>
            <a:solidFill>
              <a:srgbClr val="C8DAE4"/>
            </a:solidFill>
          </p:spPr>
        </p:sp>
      </p:grpSp>
      <p:grpSp>
        <p:nvGrpSpPr>
          <p:cNvPr name="Group 37" id="37"/>
          <p:cNvGrpSpPr/>
          <p:nvPr/>
        </p:nvGrpSpPr>
        <p:grpSpPr>
          <a:xfrm rot="0">
            <a:off x="1235402" y="5284784"/>
            <a:ext cx="14550323" cy="2196274"/>
            <a:chOff x="0" y="0"/>
            <a:chExt cx="19400431" cy="2928366"/>
          </a:xfrm>
        </p:grpSpPr>
        <p:sp>
          <p:nvSpPr>
            <p:cNvPr name="Freeform 38" id="38"/>
            <p:cNvSpPr/>
            <p:nvPr/>
          </p:nvSpPr>
          <p:spPr>
            <a:xfrm flipH="false" flipV="false" rot="0">
              <a:off x="0" y="0"/>
              <a:ext cx="19400393" cy="2928366"/>
            </a:xfrm>
            <a:custGeom>
              <a:avLst/>
              <a:gdLst/>
              <a:ahLst/>
              <a:cxnLst/>
              <a:rect r="r" b="b" t="t" l="l"/>
              <a:pathLst>
                <a:path h="2928366" w="19400393">
                  <a:moveTo>
                    <a:pt x="0" y="0"/>
                  </a:moveTo>
                  <a:lnTo>
                    <a:pt x="19400393" y="0"/>
                  </a:lnTo>
                  <a:lnTo>
                    <a:pt x="19400393" y="2928366"/>
                  </a:lnTo>
                  <a:lnTo>
                    <a:pt x="0" y="2928366"/>
                  </a:lnTo>
                  <a:close/>
                </a:path>
              </a:pathLst>
            </a:custGeom>
            <a:blipFill>
              <a:blip r:embed="rId3">
                <a:alphaModFix amt="0"/>
              </a:blip>
              <a:stretch>
                <a:fillRect l="0" t="-78998" r="0" b="-78998"/>
              </a:stretch>
            </a:blipFill>
          </p:spPr>
        </p:sp>
      </p:grpSp>
      <p:grpSp>
        <p:nvGrpSpPr>
          <p:cNvPr name="Group 39" id="39"/>
          <p:cNvGrpSpPr/>
          <p:nvPr/>
        </p:nvGrpSpPr>
        <p:grpSpPr>
          <a:xfrm rot="0">
            <a:off x="1235402" y="5206203"/>
            <a:ext cx="14550323" cy="2274855"/>
            <a:chOff x="0" y="0"/>
            <a:chExt cx="19400431" cy="3033140"/>
          </a:xfrm>
        </p:grpSpPr>
        <p:sp>
          <p:nvSpPr>
            <p:cNvPr name="Freeform 40" id="40"/>
            <p:cNvSpPr/>
            <p:nvPr/>
          </p:nvSpPr>
          <p:spPr>
            <a:xfrm flipH="false" flipV="false" rot="0">
              <a:off x="0" y="0"/>
              <a:ext cx="19400431" cy="3033139"/>
            </a:xfrm>
            <a:custGeom>
              <a:avLst/>
              <a:gdLst/>
              <a:ahLst/>
              <a:cxnLst/>
              <a:rect r="r" b="b" t="t" l="l"/>
              <a:pathLst>
                <a:path h="3033139" w="19400431">
                  <a:moveTo>
                    <a:pt x="0" y="0"/>
                  </a:moveTo>
                  <a:lnTo>
                    <a:pt x="19400431" y="0"/>
                  </a:lnTo>
                  <a:lnTo>
                    <a:pt x="19400431" y="3033139"/>
                  </a:lnTo>
                  <a:lnTo>
                    <a:pt x="0" y="3033139"/>
                  </a:lnTo>
                  <a:close/>
                </a:path>
              </a:pathLst>
            </a:custGeom>
            <a:blipFill>
              <a:blip r:embed="rId4">
                <a:alphaModFix amt="0"/>
              </a:blip>
              <a:stretch>
                <a:fillRect l="0" t="-74629" r="0" b="-74629"/>
              </a:stretch>
            </a:blipFill>
          </p:spPr>
        </p:sp>
        <p:sp>
          <p:nvSpPr>
            <p:cNvPr name="TextBox 41" id="41"/>
            <p:cNvSpPr txBox="true"/>
            <p:nvPr/>
          </p:nvSpPr>
          <p:spPr>
            <a:xfrm>
              <a:off x="0" y="-104775"/>
              <a:ext cx="19400431" cy="3137915"/>
            </a:xfrm>
            <a:prstGeom prst="rect">
              <a:avLst/>
            </a:prstGeom>
          </p:spPr>
          <p:txBody>
            <a:bodyPr anchor="ctr" rtlCol="false" tIns="0" lIns="0" bIns="0" rIns="0"/>
            <a:lstStyle/>
            <a:p>
              <a:pPr algn="l">
                <a:lnSpc>
                  <a:spcPts val="3512"/>
                </a:lnSpc>
              </a:pPr>
              <a:r>
                <a:rPr lang="en-US" sz="2250" b="true">
                  <a:solidFill>
                    <a:srgbClr val="000000"/>
                  </a:solidFill>
                  <a:latin typeface="Poppins Bold"/>
                  <a:ea typeface="Poppins Bold"/>
                  <a:cs typeface="Poppins Bold"/>
                  <a:sym typeface="Poppins Bold"/>
                </a:rPr>
                <a:t>TestoHire is a Tunisian technology startup focused on AI-powered talent assessment and skill-based recruitment.</a:t>
              </a:r>
            </a:p>
          </p:txBody>
        </p:sp>
      </p:grpSp>
      <p:grpSp>
        <p:nvGrpSpPr>
          <p:cNvPr name="Group 42" id="42"/>
          <p:cNvGrpSpPr/>
          <p:nvPr/>
        </p:nvGrpSpPr>
        <p:grpSpPr>
          <a:xfrm rot="0">
            <a:off x="14413059" y="8167402"/>
            <a:ext cx="2882646" cy="768668"/>
            <a:chOff x="0" y="0"/>
            <a:chExt cx="3843528" cy="1024890"/>
          </a:xfrm>
        </p:grpSpPr>
        <p:sp>
          <p:nvSpPr>
            <p:cNvPr name="Freeform 43" id="43" descr="/home/claude/work/assets/testohire_logo.png"/>
            <p:cNvSpPr/>
            <p:nvPr/>
          </p:nvSpPr>
          <p:spPr>
            <a:xfrm flipH="false" flipV="false" rot="0">
              <a:off x="0" y="0"/>
              <a:ext cx="3843528" cy="1024890"/>
            </a:xfrm>
            <a:custGeom>
              <a:avLst/>
              <a:gdLst/>
              <a:ahLst/>
              <a:cxnLst/>
              <a:rect r="r" b="b" t="t" l="l"/>
              <a:pathLst>
                <a:path h="1024890" w="3843528">
                  <a:moveTo>
                    <a:pt x="0" y="0"/>
                  </a:moveTo>
                  <a:lnTo>
                    <a:pt x="3843528" y="0"/>
                  </a:lnTo>
                  <a:lnTo>
                    <a:pt x="3843528" y="1024890"/>
                  </a:lnTo>
                  <a:lnTo>
                    <a:pt x="0" y="1024890"/>
                  </a:lnTo>
                  <a:lnTo>
                    <a:pt x="0" y="0"/>
                  </a:lnTo>
                  <a:close/>
                </a:path>
              </a:pathLst>
            </a:custGeom>
            <a:blipFill>
              <a:blip r:embed="rId7"/>
              <a:stretch>
                <a:fillRect l="0" t="-43754" r="0" b="-43754"/>
              </a:stretch>
            </a:blipFill>
          </p:spPr>
        </p:sp>
      </p:grpSp>
      <p:grpSp>
        <p:nvGrpSpPr>
          <p:cNvPr name="Group 44" id="44"/>
          <p:cNvGrpSpPr/>
          <p:nvPr/>
        </p:nvGrpSpPr>
        <p:grpSpPr>
          <a:xfrm rot="0">
            <a:off x="686333" y="9718519"/>
            <a:ext cx="8236039" cy="411804"/>
            <a:chOff x="0" y="0"/>
            <a:chExt cx="10981385" cy="549072"/>
          </a:xfrm>
        </p:grpSpPr>
        <p:sp>
          <p:nvSpPr>
            <p:cNvPr name="Freeform 45" id="45"/>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46" id="46"/>
          <p:cNvGrpSpPr/>
          <p:nvPr/>
        </p:nvGrpSpPr>
        <p:grpSpPr>
          <a:xfrm rot="0">
            <a:off x="686333" y="9704232"/>
            <a:ext cx="8236039" cy="426091"/>
            <a:chOff x="0" y="0"/>
            <a:chExt cx="10981385" cy="568122"/>
          </a:xfrm>
        </p:grpSpPr>
        <p:sp>
          <p:nvSpPr>
            <p:cNvPr name="Freeform 47" id="47"/>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48" id="48"/>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49" id="49"/>
          <p:cNvGrpSpPr/>
          <p:nvPr/>
        </p:nvGrpSpPr>
        <p:grpSpPr>
          <a:xfrm rot="0">
            <a:off x="16242830" y="9718519"/>
            <a:ext cx="1372676" cy="411804"/>
            <a:chOff x="0" y="0"/>
            <a:chExt cx="1830235" cy="549072"/>
          </a:xfrm>
        </p:grpSpPr>
        <p:sp>
          <p:nvSpPr>
            <p:cNvPr name="Freeform 50" id="50"/>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686333" y="643471"/>
            <a:ext cx="1784471" cy="1495408"/>
            <a:chOff x="0" y="0"/>
            <a:chExt cx="2379294" cy="1993877"/>
          </a:xfrm>
        </p:grpSpPr>
        <p:sp>
          <p:nvSpPr>
            <p:cNvPr name="Freeform 7" id="7"/>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4">
                <a:alphaModFix amt="0"/>
              </a:blip>
              <a:stretch>
                <a:fillRect l="-41907" t="0" r="-41907" b="14520"/>
              </a:stretch>
            </a:blipFill>
          </p:spPr>
        </p:sp>
        <p:sp>
          <p:nvSpPr>
            <p:cNvPr name="TextBox 8" id="8"/>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9" id="9"/>
          <p:cNvGrpSpPr/>
          <p:nvPr/>
        </p:nvGrpSpPr>
        <p:grpSpPr>
          <a:xfrm rot="0">
            <a:off x="2127647" y="796147"/>
            <a:ext cx="14413059" cy="1235402"/>
            <a:chOff x="0" y="0"/>
            <a:chExt cx="19217411" cy="1647203"/>
          </a:xfrm>
        </p:grpSpPr>
        <p:sp>
          <p:nvSpPr>
            <p:cNvPr name="Freeform 10" id="10"/>
            <p:cNvSpPr/>
            <p:nvPr/>
          </p:nvSpPr>
          <p:spPr>
            <a:xfrm flipH="false" flipV="false" rot="0">
              <a:off x="0" y="0"/>
              <a:ext cx="19217387" cy="1647190"/>
            </a:xfrm>
            <a:custGeom>
              <a:avLst/>
              <a:gdLst/>
              <a:ahLst/>
              <a:cxnLst/>
              <a:rect r="r" b="b" t="t" l="l"/>
              <a:pathLst>
                <a:path h="1647190" w="19217387">
                  <a:moveTo>
                    <a:pt x="0" y="0"/>
                  </a:moveTo>
                  <a:lnTo>
                    <a:pt x="19217387" y="0"/>
                  </a:lnTo>
                  <a:lnTo>
                    <a:pt x="19217387" y="1647190"/>
                  </a:lnTo>
                  <a:lnTo>
                    <a:pt x="0" y="1647190"/>
                  </a:lnTo>
                  <a:close/>
                </a:path>
              </a:pathLst>
            </a:custGeom>
            <a:blipFill>
              <a:blip r:embed="rId3">
                <a:alphaModFix amt="0"/>
              </a:blip>
              <a:stretch>
                <a:fillRect l="0" t="-177168" r="0" b="-177170"/>
              </a:stretch>
            </a:blipFill>
          </p:spPr>
        </p:sp>
      </p:grpSp>
      <p:grpSp>
        <p:nvGrpSpPr>
          <p:cNvPr name="Group 11" id="11"/>
          <p:cNvGrpSpPr/>
          <p:nvPr/>
        </p:nvGrpSpPr>
        <p:grpSpPr>
          <a:xfrm rot="0">
            <a:off x="734120" y="643471"/>
            <a:ext cx="14413059" cy="1263977"/>
            <a:chOff x="0" y="0"/>
            <a:chExt cx="19217411" cy="1685303"/>
          </a:xfrm>
        </p:grpSpPr>
        <p:sp>
          <p:nvSpPr>
            <p:cNvPr name="Freeform 12" id="12"/>
            <p:cNvSpPr/>
            <p:nvPr/>
          </p:nvSpPr>
          <p:spPr>
            <a:xfrm flipH="false" flipV="false" rot="0">
              <a:off x="0" y="0"/>
              <a:ext cx="19217411" cy="1685303"/>
            </a:xfrm>
            <a:custGeom>
              <a:avLst/>
              <a:gdLst/>
              <a:ahLst/>
              <a:cxnLst/>
              <a:rect r="r" b="b" t="t" l="l"/>
              <a:pathLst>
                <a:path h="1685303" w="19217411">
                  <a:moveTo>
                    <a:pt x="0" y="0"/>
                  </a:moveTo>
                  <a:lnTo>
                    <a:pt x="19217411" y="0"/>
                  </a:lnTo>
                  <a:lnTo>
                    <a:pt x="19217411" y="1685303"/>
                  </a:lnTo>
                  <a:lnTo>
                    <a:pt x="0" y="1685303"/>
                  </a:lnTo>
                  <a:close/>
                </a:path>
              </a:pathLst>
            </a:custGeom>
            <a:blipFill>
              <a:blip r:embed="rId4">
                <a:alphaModFix amt="0"/>
              </a:blip>
              <a:stretch>
                <a:fillRect l="0" t="-172186" r="0" b="-172186"/>
              </a:stretch>
            </a:blipFill>
          </p:spPr>
        </p:sp>
        <p:sp>
          <p:nvSpPr>
            <p:cNvPr name="TextBox 13" id="13"/>
            <p:cNvSpPr txBox="true"/>
            <p:nvPr/>
          </p:nvSpPr>
          <p:spPr>
            <a:xfrm>
              <a:off x="0" y="-38100"/>
              <a:ext cx="19217411" cy="1723403"/>
            </a:xfrm>
            <a:prstGeom prst="rect">
              <a:avLst/>
            </a:prstGeom>
          </p:spPr>
          <p:txBody>
            <a:bodyPr anchor="ctr" rtlCol="false" tIns="0" lIns="0" bIns="0" rIns="0"/>
            <a:lstStyle/>
            <a:p>
              <a:pPr algn="l">
                <a:lnSpc>
                  <a:spcPts val="4683"/>
                </a:lnSpc>
              </a:pPr>
              <a:r>
                <a:rPr lang="en-US" sz="3903" b="true">
                  <a:solidFill>
                    <a:srgbClr val="000000"/>
                  </a:solidFill>
                  <a:latin typeface="Poppins Bold"/>
                  <a:ea typeface="Poppins Bold"/>
                  <a:cs typeface="Poppins Bold"/>
                  <a:sym typeface="Poppins Bold"/>
                </a:rPr>
                <a:t>Problem</a:t>
              </a:r>
            </a:p>
          </p:txBody>
        </p:sp>
      </p:grpSp>
      <p:grpSp>
        <p:nvGrpSpPr>
          <p:cNvPr name="Group 14" id="14"/>
          <p:cNvGrpSpPr/>
          <p:nvPr/>
        </p:nvGrpSpPr>
        <p:grpSpPr>
          <a:xfrm rot="0">
            <a:off x="754971" y="2333539"/>
            <a:ext cx="8236039" cy="439255"/>
            <a:chOff x="0" y="0"/>
            <a:chExt cx="10981385" cy="585673"/>
          </a:xfrm>
        </p:grpSpPr>
        <p:sp>
          <p:nvSpPr>
            <p:cNvPr name="Freeform 15" id="15"/>
            <p:cNvSpPr/>
            <p:nvPr/>
          </p:nvSpPr>
          <p:spPr>
            <a:xfrm flipH="false" flipV="false" rot="0">
              <a:off x="0" y="0"/>
              <a:ext cx="10981436" cy="585724"/>
            </a:xfrm>
            <a:custGeom>
              <a:avLst/>
              <a:gdLst/>
              <a:ahLst/>
              <a:cxnLst/>
              <a:rect r="r" b="b" t="t" l="l"/>
              <a:pathLst>
                <a:path h="585724" w="10981436">
                  <a:moveTo>
                    <a:pt x="0" y="0"/>
                  </a:moveTo>
                  <a:lnTo>
                    <a:pt x="10981436" y="0"/>
                  </a:lnTo>
                  <a:lnTo>
                    <a:pt x="10981436" y="585724"/>
                  </a:lnTo>
                  <a:lnTo>
                    <a:pt x="0" y="585724"/>
                  </a:lnTo>
                  <a:close/>
                </a:path>
              </a:pathLst>
            </a:custGeom>
            <a:blipFill>
              <a:blip r:embed="rId3">
                <a:alphaModFix amt="0"/>
              </a:blip>
              <a:stretch>
                <a:fillRect l="0" t="-315062" r="0" b="-315054"/>
              </a:stretch>
            </a:blipFill>
          </p:spPr>
        </p:sp>
      </p:grpSp>
      <p:grpSp>
        <p:nvGrpSpPr>
          <p:cNvPr name="Group 16" id="16"/>
          <p:cNvGrpSpPr/>
          <p:nvPr/>
        </p:nvGrpSpPr>
        <p:grpSpPr>
          <a:xfrm rot="0">
            <a:off x="754971" y="2319252"/>
            <a:ext cx="8236039" cy="453542"/>
            <a:chOff x="0" y="0"/>
            <a:chExt cx="10981385" cy="604723"/>
          </a:xfrm>
        </p:grpSpPr>
        <p:sp>
          <p:nvSpPr>
            <p:cNvPr name="Freeform 17" id="17"/>
            <p:cNvSpPr/>
            <p:nvPr/>
          </p:nvSpPr>
          <p:spPr>
            <a:xfrm flipH="false" flipV="false" rot="0">
              <a:off x="0" y="0"/>
              <a:ext cx="10981386" cy="604723"/>
            </a:xfrm>
            <a:custGeom>
              <a:avLst/>
              <a:gdLst/>
              <a:ahLst/>
              <a:cxnLst/>
              <a:rect r="r" b="b" t="t" l="l"/>
              <a:pathLst>
                <a:path h="604723" w="10981386">
                  <a:moveTo>
                    <a:pt x="0" y="0"/>
                  </a:moveTo>
                  <a:lnTo>
                    <a:pt x="10981386" y="0"/>
                  </a:lnTo>
                  <a:lnTo>
                    <a:pt x="10981386" y="604723"/>
                  </a:lnTo>
                  <a:lnTo>
                    <a:pt x="0" y="604723"/>
                  </a:lnTo>
                  <a:close/>
                </a:path>
              </a:pathLst>
            </a:custGeom>
            <a:blipFill>
              <a:blip r:embed="rId4">
                <a:alphaModFix amt="0"/>
              </a:blip>
              <a:stretch>
                <a:fillRect l="0" t="-303835" r="0" b="-303835"/>
              </a:stretch>
            </a:blipFill>
          </p:spPr>
        </p:sp>
        <p:sp>
          <p:nvSpPr>
            <p:cNvPr name="TextBox 18" id="18"/>
            <p:cNvSpPr txBox="true"/>
            <p:nvPr/>
          </p:nvSpPr>
          <p:spPr>
            <a:xfrm>
              <a:off x="0" y="-19050"/>
              <a:ext cx="10981385" cy="623773"/>
            </a:xfrm>
            <a:prstGeom prst="rect">
              <a:avLst/>
            </a:prstGeom>
          </p:spPr>
          <p:txBody>
            <a:bodyPr anchor="ctr" rtlCol="false" tIns="0" lIns="0" bIns="0" rIns="0"/>
            <a:lstStyle/>
            <a:p>
              <a:pPr algn="l">
                <a:lnSpc>
                  <a:spcPts val="2341"/>
                </a:lnSpc>
              </a:pPr>
              <a:r>
                <a:rPr lang="en-US" sz="1950" b="true">
                  <a:solidFill>
                    <a:srgbClr val="000000"/>
                  </a:solidFill>
                  <a:latin typeface="Poppins Bold"/>
                  <a:ea typeface="Poppins Bold"/>
                  <a:cs typeface="Poppins Bold"/>
                  <a:sym typeface="Poppins Bold"/>
                </a:rPr>
                <a:t>The Traditional Challenge</a:t>
              </a:r>
            </a:p>
          </p:txBody>
        </p:sp>
      </p:grpSp>
      <p:grpSp>
        <p:nvGrpSpPr>
          <p:cNvPr name="Group 19" id="19"/>
          <p:cNvGrpSpPr/>
          <p:nvPr/>
        </p:nvGrpSpPr>
        <p:grpSpPr>
          <a:xfrm rot="0">
            <a:off x="754971" y="2882608"/>
            <a:ext cx="2539460" cy="686372"/>
            <a:chOff x="0" y="0"/>
            <a:chExt cx="3385947" cy="915162"/>
          </a:xfrm>
        </p:grpSpPr>
        <p:sp>
          <p:nvSpPr>
            <p:cNvPr name="Freeform 20" id="20"/>
            <p:cNvSpPr/>
            <p:nvPr/>
          </p:nvSpPr>
          <p:spPr>
            <a:xfrm flipH="false" flipV="false" rot="0">
              <a:off x="0" y="0"/>
              <a:ext cx="3385947" cy="915162"/>
            </a:xfrm>
            <a:custGeom>
              <a:avLst/>
              <a:gdLst/>
              <a:ahLst/>
              <a:cxnLst/>
              <a:rect r="r" b="b" t="t" l="l"/>
              <a:pathLst>
                <a:path h="915162" w="3385947">
                  <a:moveTo>
                    <a:pt x="0" y="457581"/>
                  </a:moveTo>
                  <a:cubicBezTo>
                    <a:pt x="0" y="204851"/>
                    <a:pt x="204851" y="0"/>
                    <a:pt x="457581" y="0"/>
                  </a:cubicBezTo>
                  <a:lnTo>
                    <a:pt x="2928366" y="0"/>
                  </a:lnTo>
                  <a:cubicBezTo>
                    <a:pt x="3181096" y="0"/>
                    <a:pt x="3385947" y="204851"/>
                    <a:pt x="3385947" y="457581"/>
                  </a:cubicBezTo>
                  <a:cubicBezTo>
                    <a:pt x="3385947" y="710311"/>
                    <a:pt x="3181096" y="915162"/>
                    <a:pt x="2928366" y="915162"/>
                  </a:cubicBezTo>
                  <a:lnTo>
                    <a:pt x="457581" y="915162"/>
                  </a:lnTo>
                  <a:cubicBezTo>
                    <a:pt x="204851" y="915162"/>
                    <a:pt x="0" y="710311"/>
                    <a:pt x="0" y="457581"/>
                  </a:cubicBezTo>
                  <a:close/>
                </a:path>
              </a:pathLst>
            </a:custGeom>
            <a:solidFill>
              <a:srgbClr val="FFFFFF"/>
            </a:solidFill>
          </p:spPr>
        </p:sp>
      </p:grpSp>
      <p:grpSp>
        <p:nvGrpSpPr>
          <p:cNvPr name="Group 21" id="21"/>
          <p:cNvGrpSpPr/>
          <p:nvPr/>
        </p:nvGrpSpPr>
        <p:grpSpPr>
          <a:xfrm rot="0">
            <a:off x="754971" y="2882608"/>
            <a:ext cx="2539441" cy="686333"/>
            <a:chOff x="0" y="0"/>
            <a:chExt cx="3385922" cy="915111"/>
          </a:xfrm>
        </p:grpSpPr>
        <p:sp>
          <p:nvSpPr>
            <p:cNvPr name="Freeform 22" id="22"/>
            <p:cNvSpPr/>
            <p:nvPr/>
          </p:nvSpPr>
          <p:spPr>
            <a:xfrm flipH="false" flipV="false" rot="0">
              <a:off x="0" y="0"/>
              <a:ext cx="3385947" cy="915162"/>
            </a:xfrm>
            <a:custGeom>
              <a:avLst/>
              <a:gdLst/>
              <a:ahLst/>
              <a:cxnLst/>
              <a:rect r="r" b="b" t="t" l="l"/>
              <a:pathLst>
                <a:path h="915162" w="3385947">
                  <a:moveTo>
                    <a:pt x="0" y="0"/>
                  </a:moveTo>
                  <a:lnTo>
                    <a:pt x="3385947" y="0"/>
                  </a:lnTo>
                  <a:lnTo>
                    <a:pt x="3385947" y="915162"/>
                  </a:lnTo>
                  <a:lnTo>
                    <a:pt x="0" y="915162"/>
                  </a:lnTo>
                  <a:close/>
                </a:path>
              </a:pathLst>
            </a:custGeom>
            <a:blipFill>
              <a:blip r:embed="rId3">
                <a:alphaModFix amt="0"/>
              </a:blip>
              <a:stretch>
                <a:fillRect l="0" t="-22042" r="0" b="-22038"/>
              </a:stretch>
            </a:blipFill>
          </p:spPr>
        </p:sp>
      </p:grpSp>
      <p:grpSp>
        <p:nvGrpSpPr>
          <p:cNvPr name="Group 23" id="23"/>
          <p:cNvGrpSpPr/>
          <p:nvPr/>
        </p:nvGrpSpPr>
        <p:grpSpPr>
          <a:xfrm rot="0">
            <a:off x="754971" y="2868320"/>
            <a:ext cx="2539441" cy="700621"/>
            <a:chOff x="0" y="0"/>
            <a:chExt cx="3385922" cy="934161"/>
          </a:xfrm>
        </p:grpSpPr>
        <p:sp>
          <p:nvSpPr>
            <p:cNvPr name="Freeform 24" id="24"/>
            <p:cNvSpPr/>
            <p:nvPr/>
          </p:nvSpPr>
          <p:spPr>
            <a:xfrm flipH="false" flipV="false" rot="0">
              <a:off x="0" y="0"/>
              <a:ext cx="3385921" cy="934161"/>
            </a:xfrm>
            <a:custGeom>
              <a:avLst/>
              <a:gdLst/>
              <a:ahLst/>
              <a:cxnLst/>
              <a:rect r="r" b="b" t="t" l="l"/>
              <a:pathLst>
                <a:path h="934161" w="3385921">
                  <a:moveTo>
                    <a:pt x="0" y="0"/>
                  </a:moveTo>
                  <a:lnTo>
                    <a:pt x="3385921" y="0"/>
                  </a:lnTo>
                  <a:lnTo>
                    <a:pt x="3385921" y="934161"/>
                  </a:lnTo>
                  <a:lnTo>
                    <a:pt x="0" y="934161"/>
                  </a:lnTo>
                  <a:close/>
                </a:path>
              </a:pathLst>
            </a:custGeom>
            <a:blipFill>
              <a:blip r:embed="rId4">
                <a:alphaModFix amt="0"/>
              </a:blip>
              <a:stretch>
                <a:fillRect l="0" t="-20624" r="0" b="-20624"/>
              </a:stretch>
            </a:blipFill>
          </p:spPr>
        </p:sp>
        <p:sp>
          <p:nvSpPr>
            <p:cNvPr name="TextBox 25" id="25"/>
            <p:cNvSpPr txBox="true"/>
            <p:nvPr/>
          </p:nvSpPr>
          <p:spPr>
            <a:xfrm>
              <a:off x="0" y="-19050"/>
              <a:ext cx="3385922" cy="953211"/>
            </a:xfrm>
            <a:prstGeom prst="rect">
              <a:avLst/>
            </a:prstGeom>
          </p:spPr>
          <p:txBody>
            <a:bodyPr anchor="ctr" rtlCol="false" tIns="0" lIns="0" bIns="0" rIns="0"/>
            <a:lstStyle/>
            <a:p>
              <a:pPr algn="ctr">
                <a:lnSpc>
                  <a:spcPts val="1801"/>
                </a:lnSpc>
              </a:pPr>
              <a:r>
                <a:rPr lang="en-US" sz="1500" b="true">
                  <a:solidFill>
                    <a:srgbClr val="000000"/>
                  </a:solidFill>
                  <a:latin typeface="Poppins Bold"/>
                  <a:ea typeface="Poppins Bold"/>
                  <a:cs typeface="Poppins Bold"/>
                  <a:sym typeface="Poppins Bold"/>
                </a:rPr>
                <a:t>CV</a:t>
              </a:r>
            </a:p>
          </p:txBody>
        </p:sp>
      </p:grpSp>
      <p:grpSp>
        <p:nvGrpSpPr>
          <p:cNvPr name="Group 26" id="26"/>
          <p:cNvGrpSpPr/>
          <p:nvPr/>
        </p:nvGrpSpPr>
        <p:grpSpPr>
          <a:xfrm rot="0">
            <a:off x="734120" y="2861758"/>
            <a:ext cx="2581142" cy="728053"/>
            <a:chOff x="0" y="0"/>
            <a:chExt cx="3441522" cy="970737"/>
          </a:xfrm>
        </p:grpSpPr>
        <p:sp>
          <p:nvSpPr>
            <p:cNvPr name="Freeform 27" id="27"/>
            <p:cNvSpPr/>
            <p:nvPr/>
          </p:nvSpPr>
          <p:spPr>
            <a:xfrm flipH="false" flipV="false" rot="0">
              <a:off x="0" y="0"/>
              <a:ext cx="3441573" cy="970788"/>
            </a:xfrm>
            <a:custGeom>
              <a:avLst/>
              <a:gdLst/>
              <a:ahLst/>
              <a:cxnLst/>
              <a:rect r="r" b="b" t="t" l="l"/>
              <a:pathLst>
                <a:path h="970788" w="3441573">
                  <a:moveTo>
                    <a:pt x="0" y="485394"/>
                  </a:moveTo>
                  <a:cubicBezTo>
                    <a:pt x="0" y="217297"/>
                    <a:pt x="213487" y="0"/>
                    <a:pt x="476758" y="0"/>
                  </a:cubicBezTo>
                  <a:lnTo>
                    <a:pt x="2964815" y="0"/>
                  </a:lnTo>
                  <a:cubicBezTo>
                    <a:pt x="3228086" y="0"/>
                    <a:pt x="3441573" y="217297"/>
                    <a:pt x="3441573" y="485394"/>
                  </a:cubicBezTo>
                  <a:cubicBezTo>
                    <a:pt x="3441573" y="753491"/>
                    <a:pt x="3228086" y="970788"/>
                    <a:pt x="2964815" y="970788"/>
                  </a:cubicBezTo>
                  <a:lnTo>
                    <a:pt x="476758" y="970788"/>
                  </a:lnTo>
                  <a:cubicBezTo>
                    <a:pt x="213487" y="970788"/>
                    <a:pt x="0" y="753491"/>
                    <a:pt x="0" y="485394"/>
                  </a:cubicBezTo>
                  <a:close/>
                </a:path>
              </a:pathLst>
            </a:custGeom>
            <a:blipFill>
              <a:blip r:embed="rId3">
                <a:alphaModFix amt="0"/>
              </a:blip>
              <a:stretch>
                <a:fillRect l="0" t="-19030" r="1" b="-19025"/>
              </a:stretch>
            </a:blipFill>
            <a:ln w="23831" cap="sq">
              <a:solidFill>
                <a:srgbClr val="3D6874"/>
              </a:solidFill>
              <a:prstDash val="solid"/>
              <a:miter/>
            </a:ln>
          </p:spPr>
        </p:sp>
      </p:grpSp>
      <p:grpSp>
        <p:nvGrpSpPr>
          <p:cNvPr name="Group 28" id="28"/>
          <p:cNvGrpSpPr/>
          <p:nvPr/>
        </p:nvGrpSpPr>
        <p:grpSpPr>
          <a:xfrm rot="0">
            <a:off x="3294412" y="3047333"/>
            <a:ext cx="480431" cy="411804"/>
            <a:chOff x="0" y="0"/>
            <a:chExt cx="640575" cy="549072"/>
          </a:xfrm>
        </p:grpSpPr>
        <p:sp>
          <p:nvSpPr>
            <p:cNvPr name="Freeform 29" id="29"/>
            <p:cNvSpPr/>
            <p:nvPr/>
          </p:nvSpPr>
          <p:spPr>
            <a:xfrm flipH="false" flipV="false" rot="0">
              <a:off x="0" y="0"/>
              <a:ext cx="640588" cy="549021"/>
            </a:xfrm>
            <a:custGeom>
              <a:avLst/>
              <a:gdLst/>
              <a:ahLst/>
              <a:cxnLst/>
              <a:rect r="r" b="b" t="t" l="l"/>
              <a:pathLst>
                <a:path h="549021" w="640588">
                  <a:moveTo>
                    <a:pt x="0" y="0"/>
                  </a:moveTo>
                  <a:lnTo>
                    <a:pt x="640588" y="0"/>
                  </a:lnTo>
                  <a:lnTo>
                    <a:pt x="640588" y="549021"/>
                  </a:lnTo>
                  <a:lnTo>
                    <a:pt x="0" y="549021"/>
                  </a:lnTo>
                  <a:close/>
                </a:path>
              </a:pathLst>
            </a:custGeom>
            <a:blipFill>
              <a:blip r:embed="rId3">
                <a:alphaModFix amt="0"/>
              </a:blip>
              <a:stretch>
                <a:fillRect l="-60049" t="0" r="-60049" b="-9"/>
              </a:stretch>
            </a:blipFill>
          </p:spPr>
        </p:sp>
      </p:grpSp>
      <p:grpSp>
        <p:nvGrpSpPr>
          <p:cNvPr name="Group 30" id="30"/>
          <p:cNvGrpSpPr/>
          <p:nvPr/>
        </p:nvGrpSpPr>
        <p:grpSpPr>
          <a:xfrm rot="0">
            <a:off x="3294412" y="3033046"/>
            <a:ext cx="480431" cy="426091"/>
            <a:chOff x="0" y="0"/>
            <a:chExt cx="640575" cy="568122"/>
          </a:xfrm>
        </p:grpSpPr>
        <p:sp>
          <p:nvSpPr>
            <p:cNvPr name="Freeform 31" id="31"/>
            <p:cNvSpPr/>
            <p:nvPr/>
          </p:nvSpPr>
          <p:spPr>
            <a:xfrm flipH="false" flipV="false" rot="0">
              <a:off x="0" y="0"/>
              <a:ext cx="640575" cy="568122"/>
            </a:xfrm>
            <a:custGeom>
              <a:avLst/>
              <a:gdLst/>
              <a:ahLst/>
              <a:cxnLst/>
              <a:rect r="r" b="b" t="t" l="l"/>
              <a:pathLst>
                <a:path h="568122" w="640575">
                  <a:moveTo>
                    <a:pt x="0" y="0"/>
                  </a:moveTo>
                  <a:lnTo>
                    <a:pt x="640575" y="0"/>
                  </a:lnTo>
                  <a:lnTo>
                    <a:pt x="640575" y="568122"/>
                  </a:lnTo>
                  <a:lnTo>
                    <a:pt x="0" y="568122"/>
                  </a:lnTo>
                  <a:close/>
                </a:path>
              </a:pathLst>
            </a:custGeom>
            <a:blipFill>
              <a:blip r:embed="rId4">
                <a:alphaModFix amt="0"/>
              </a:blip>
              <a:stretch>
                <a:fillRect l="-63791" t="0" r="-63791" b="0"/>
              </a:stretch>
            </a:blipFill>
          </p:spPr>
        </p:sp>
        <p:sp>
          <p:nvSpPr>
            <p:cNvPr name="TextBox 32" id="32"/>
            <p:cNvSpPr txBox="true"/>
            <p:nvPr/>
          </p:nvSpPr>
          <p:spPr>
            <a:xfrm>
              <a:off x="0" y="-19050"/>
              <a:ext cx="640575" cy="587172"/>
            </a:xfrm>
            <a:prstGeom prst="rect">
              <a:avLst/>
            </a:prstGeom>
          </p:spPr>
          <p:txBody>
            <a:bodyPr anchor="ctr" rtlCol="false" tIns="0" lIns="0" bIns="0" rIns="0"/>
            <a:lstStyle/>
            <a:p>
              <a:pPr algn="ctr">
                <a:lnSpc>
                  <a:spcPts val="2520"/>
                </a:lnSpc>
              </a:pPr>
              <a:r>
                <a:rPr lang="en-US" sz="2100" b="true">
                  <a:solidFill>
                    <a:srgbClr val="3D6874"/>
                  </a:solidFill>
                  <a:latin typeface="Poppins Bold"/>
                  <a:ea typeface="Poppins Bold"/>
                  <a:cs typeface="Poppins Bold"/>
                  <a:sym typeface="Poppins Bold"/>
                </a:rPr>
                <a:t>→</a:t>
              </a:r>
            </a:p>
          </p:txBody>
        </p:sp>
      </p:grpSp>
      <p:grpSp>
        <p:nvGrpSpPr>
          <p:cNvPr name="Group 33" id="33"/>
          <p:cNvGrpSpPr/>
          <p:nvPr/>
        </p:nvGrpSpPr>
        <p:grpSpPr>
          <a:xfrm rot="0">
            <a:off x="3774853" y="2882608"/>
            <a:ext cx="2539460" cy="686372"/>
            <a:chOff x="0" y="0"/>
            <a:chExt cx="3385947" cy="915162"/>
          </a:xfrm>
        </p:grpSpPr>
        <p:sp>
          <p:nvSpPr>
            <p:cNvPr name="Freeform 34" id="34"/>
            <p:cNvSpPr/>
            <p:nvPr/>
          </p:nvSpPr>
          <p:spPr>
            <a:xfrm flipH="false" flipV="false" rot="0">
              <a:off x="0" y="0"/>
              <a:ext cx="3385947" cy="915162"/>
            </a:xfrm>
            <a:custGeom>
              <a:avLst/>
              <a:gdLst/>
              <a:ahLst/>
              <a:cxnLst/>
              <a:rect r="r" b="b" t="t" l="l"/>
              <a:pathLst>
                <a:path h="915162" w="3385947">
                  <a:moveTo>
                    <a:pt x="0" y="457581"/>
                  </a:moveTo>
                  <a:cubicBezTo>
                    <a:pt x="0" y="204851"/>
                    <a:pt x="204851" y="0"/>
                    <a:pt x="457581" y="0"/>
                  </a:cubicBezTo>
                  <a:lnTo>
                    <a:pt x="2928366" y="0"/>
                  </a:lnTo>
                  <a:cubicBezTo>
                    <a:pt x="3181096" y="0"/>
                    <a:pt x="3385947" y="204851"/>
                    <a:pt x="3385947" y="457581"/>
                  </a:cubicBezTo>
                  <a:cubicBezTo>
                    <a:pt x="3385947" y="710311"/>
                    <a:pt x="3181096" y="915162"/>
                    <a:pt x="2928366" y="915162"/>
                  </a:cubicBezTo>
                  <a:lnTo>
                    <a:pt x="457581" y="915162"/>
                  </a:lnTo>
                  <a:cubicBezTo>
                    <a:pt x="204851" y="915162"/>
                    <a:pt x="0" y="710311"/>
                    <a:pt x="0" y="457581"/>
                  </a:cubicBezTo>
                  <a:close/>
                </a:path>
              </a:pathLst>
            </a:custGeom>
            <a:solidFill>
              <a:srgbClr val="FFFFFF"/>
            </a:solidFill>
          </p:spPr>
        </p:sp>
      </p:grpSp>
      <p:grpSp>
        <p:nvGrpSpPr>
          <p:cNvPr name="Group 35" id="35"/>
          <p:cNvGrpSpPr/>
          <p:nvPr/>
        </p:nvGrpSpPr>
        <p:grpSpPr>
          <a:xfrm rot="0">
            <a:off x="3774853" y="2882608"/>
            <a:ext cx="2539441" cy="686333"/>
            <a:chOff x="0" y="0"/>
            <a:chExt cx="3385922" cy="915111"/>
          </a:xfrm>
        </p:grpSpPr>
        <p:sp>
          <p:nvSpPr>
            <p:cNvPr name="Freeform 36" id="36"/>
            <p:cNvSpPr/>
            <p:nvPr/>
          </p:nvSpPr>
          <p:spPr>
            <a:xfrm flipH="false" flipV="false" rot="0">
              <a:off x="0" y="0"/>
              <a:ext cx="3385947" cy="915162"/>
            </a:xfrm>
            <a:custGeom>
              <a:avLst/>
              <a:gdLst/>
              <a:ahLst/>
              <a:cxnLst/>
              <a:rect r="r" b="b" t="t" l="l"/>
              <a:pathLst>
                <a:path h="915162" w="3385947">
                  <a:moveTo>
                    <a:pt x="0" y="0"/>
                  </a:moveTo>
                  <a:lnTo>
                    <a:pt x="3385947" y="0"/>
                  </a:lnTo>
                  <a:lnTo>
                    <a:pt x="3385947" y="915162"/>
                  </a:lnTo>
                  <a:lnTo>
                    <a:pt x="0" y="915162"/>
                  </a:lnTo>
                  <a:close/>
                </a:path>
              </a:pathLst>
            </a:custGeom>
            <a:blipFill>
              <a:blip r:embed="rId3">
                <a:alphaModFix amt="0"/>
              </a:blip>
              <a:stretch>
                <a:fillRect l="0" t="-22042" r="0" b="-22038"/>
              </a:stretch>
            </a:blipFill>
          </p:spPr>
        </p:sp>
      </p:grpSp>
      <p:grpSp>
        <p:nvGrpSpPr>
          <p:cNvPr name="Group 37" id="37"/>
          <p:cNvGrpSpPr/>
          <p:nvPr/>
        </p:nvGrpSpPr>
        <p:grpSpPr>
          <a:xfrm rot="0">
            <a:off x="3774853" y="2868320"/>
            <a:ext cx="2539441" cy="700621"/>
            <a:chOff x="0" y="0"/>
            <a:chExt cx="3385922" cy="934161"/>
          </a:xfrm>
        </p:grpSpPr>
        <p:sp>
          <p:nvSpPr>
            <p:cNvPr name="Freeform 38" id="38"/>
            <p:cNvSpPr/>
            <p:nvPr/>
          </p:nvSpPr>
          <p:spPr>
            <a:xfrm flipH="false" flipV="false" rot="0">
              <a:off x="0" y="0"/>
              <a:ext cx="3385921" cy="934161"/>
            </a:xfrm>
            <a:custGeom>
              <a:avLst/>
              <a:gdLst/>
              <a:ahLst/>
              <a:cxnLst/>
              <a:rect r="r" b="b" t="t" l="l"/>
              <a:pathLst>
                <a:path h="934161" w="3385921">
                  <a:moveTo>
                    <a:pt x="0" y="0"/>
                  </a:moveTo>
                  <a:lnTo>
                    <a:pt x="3385921" y="0"/>
                  </a:lnTo>
                  <a:lnTo>
                    <a:pt x="3385921" y="934161"/>
                  </a:lnTo>
                  <a:lnTo>
                    <a:pt x="0" y="934161"/>
                  </a:lnTo>
                  <a:close/>
                </a:path>
              </a:pathLst>
            </a:custGeom>
            <a:blipFill>
              <a:blip r:embed="rId4">
                <a:alphaModFix amt="0"/>
              </a:blip>
              <a:stretch>
                <a:fillRect l="0" t="-20624" r="0" b="-20624"/>
              </a:stretch>
            </a:blipFill>
          </p:spPr>
        </p:sp>
        <p:sp>
          <p:nvSpPr>
            <p:cNvPr name="TextBox 39" id="39"/>
            <p:cNvSpPr txBox="true"/>
            <p:nvPr/>
          </p:nvSpPr>
          <p:spPr>
            <a:xfrm>
              <a:off x="0" y="-19050"/>
              <a:ext cx="3385922" cy="953211"/>
            </a:xfrm>
            <a:prstGeom prst="rect">
              <a:avLst/>
            </a:prstGeom>
          </p:spPr>
          <p:txBody>
            <a:bodyPr anchor="ctr" rtlCol="false" tIns="0" lIns="0" bIns="0" rIns="0"/>
            <a:lstStyle/>
            <a:p>
              <a:pPr algn="ctr">
                <a:lnSpc>
                  <a:spcPts val="1801"/>
                </a:lnSpc>
              </a:pPr>
              <a:r>
                <a:rPr lang="en-US" sz="1500" b="true">
                  <a:solidFill>
                    <a:srgbClr val="000000"/>
                  </a:solidFill>
                  <a:latin typeface="Poppins Bold"/>
                  <a:ea typeface="Poppins Bold"/>
                  <a:cs typeface="Poppins Bold"/>
                  <a:sym typeface="Poppins Bold"/>
                </a:rPr>
                <a:t>Declared Skills</a:t>
              </a:r>
            </a:p>
          </p:txBody>
        </p:sp>
      </p:grpSp>
      <p:grpSp>
        <p:nvGrpSpPr>
          <p:cNvPr name="Group 40" id="40"/>
          <p:cNvGrpSpPr/>
          <p:nvPr/>
        </p:nvGrpSpPr>
        <p:grpSpPr>
          <a:xfrm rot="0">
            <a:off x="3754003" y="2861758"/>
            <a:ext cx="2581142" cy="728053"/>
            <a:chOff x="0" y="0"/>
            <a:chExt cx="3441522" cy="970737"/>
          </a:xfrm>
        </p:grpSpPr>
        <p:sp>
          <p:nvSpPr>
            <p:cNvPr name="Freeform 41" id="41"/>
            <p:cNvSpPr/>
            <p:nvPr/>
          </p:nvSpPr>
          <p:spPr>
            <a:xfrm flipH="false" flipV="false" rot="0">
              <a:off x="0" y="0"/>
              <a:ext cx="3441573" cy="970788"/>
            </a:xfrm>
            <a:custGeom>
              <a:avLst/>
              <a:gdLst/>
              <a:ahLst/>
              <a:cxnLst/>
              <a:rect r="r" b="b" t="t" l="l"/>
              <a:pathLst>
                <a:path h="970788" w="3441573">
                  <a:moveTo>
                    <a:pt x="0" y="485394"/>
                  </a:moveTo>
                  <a:cubicBezTo>
                    <a:pt x="0" y="217297"/>
                    <a:pt x="213487" y="0"/>
                    <a:pt x="476758" y="0"/>
                  </a:cubicBezTo>
                  <a:lnTo>
                    <a:pt x="2964815" y="0"/>
                  </a:lnTo>
                  <a:cubicBezTo>
                    <a:pt x="3228086" y="0"/>
                    <a:pt x="3441573" y="217297"/>
                    <a:pt x="3441573" y="485394"/>
                  </a:cubicBezTo>
                  <a:cubicBezTo>
                    <a:pt x="3441573" y="753491"/>
                    <a:pt x="3228086" y="970788"/>
                    <a:pt x="2964815" y="970788"/>
                  </a:cubicBezTo>
                  <a:lnTo>
                    <a:pt x="476758" y="970788"/>
                  </a:lnTo>
                  <a:cubicBezTo>
                    <a:pt x="213487" y="970788"/>
                    <a:pt x="0" y="753491"/>
                    <a:pt x="0" y="485394"/>
                  </a:cubicBezTo>
                  <a:close/>
                </a:path>
              </a:pathLst>
            </a:custGeom>
            <a:blipFill>
              <a:blip r:embed="rId3">
                <a:alphaModFix amt="0"/>
              </a:blip>
              <a:stretch>
                <a:fillRect l="0" t="-19030" r="1" b="-19025"/>
              </a:stretch>
            </a:blipFill>
            <a:ln w="23831" cap="sq">
              <a:solidFill>
                <a:srgbClr val="3D6874"/>
              </a:solidFill>
              <a:prstDash val="solid"/>
              <a:miter/>
            </a:ln>
          </p:spPr>
        </p:sp>
      </p:grpSp>
      <p:grpSp>
        <p:nvGrpSpPr>
          <p:cNvPr name="Group 42" id="42"/>
          <p:cNvGrpSpPr/>
          <p:nvPr/>
        </p:nvGrpSpPr>
        <p:grpSpPr>
          <a:xfrm rot="0">
            <a:off x="6314294" y="3047333"/>
            <a:ext cx="480431" cy="411804"/>
            <a:chOff x="0" y="0"/>
            <a:chExt cx="640575" cy="549072"/>
          </a:xfrm>
        </p:grpSpPr>
        <p:sp>
          <p:nvSpPr>
            <p:cNvPr name="Freeform 43" id="43"/>
            <p:cNvSpPr/>
            <p:nvPr/>
          </p:nvSpPr>
          <p:spPr>
            <a:xfrm flipH="false" flipV="false" rot="0">
              <a:off x="0" y="0"/>
              <a:ext cx="640588" cy="549021"/>
            </a:xfrm>
            <a:custGeom>
              <a:avLst/>
              <a:gdLst/>
              <a:ahLst/>
              <a:cxnLst/>
              <a:rect r="r" b="b" t="t" l="l"/>
              <a:pathLst>
                <a:path h="549021" w="640588">
                  <a:moveTo>
                    <a:pt x="0" y="0"/>
                  </a:moveTo>
                  <a:lnTo>
                    <a:pt x="640588" y="0"/>
                  </a:lnTo>
                  <a:lnTo>
                    <a:pt x="640588" y="549021"/>
                  </a:lnTo>
                  <a:lnTo>
                    <a:pt x="0" y="549021"/>
                  </a:lnTo>
                  <a:close/>
                </a:path>
              </a:pathLst>
            </a:custGeom>
            <a:blipFill>
              <a:blip r:embed="rId3">
                <a:alphaModFix amt="0"/>
              </a:blip>
              <a:stretch>
                <a:fillRect l="-60049" t="0" r="-60049" b="-9"/>
              </a:stretch>
            </a:blipFill>
          </p:spPr>
        </p:sp>
      </p:grpSp>
      <p:grpSp>
        <p:nvGrpSpPr>
          <p:cNvPr name="Group 44" id="44"/>
          <p:cNvGrpSpPr/>
          <p:nvPr/>
        </p:nvGrpSpPr>
        <p:grpSpPr>
          <a:xfrm rot="0">
            <a:off x="6314294" y="3033046"/>
            <a:ext cx="480431" cy="426091"/>
            <a:chOff x="0" y="0"/>
            <a:chExt cx="640575" cy="568122"/>
          </a:xfrm>
        </p:grpSpPr>
        <p:sp>
          <p:nvSpPr>
            <p:cNvPr name="Freeform 45" id="45"/>
            <p:cNvSpPr/>
            <p:nvPr/>
          </p:nvSpPr>
          <p:spPr>
            <a:xfrm flipH="false" flipV="false" rot="0">
              <a:off x="0" y="0"/>
              <a:ext cx="640575" cy="568122"/>
            </a:xfrm>
            <a:custGeom>
              <a:avLst/>
              <a:gdLst/>
              <a:ahLst/>
              <a:cxnLst/>
              <a:rect r="r" b="b" t="t" l="l"/>
              <a:pathLst>
                <a:path h="568122" w="640575">
                  <a:moveTo>
                    <a:pt x="0" y="0"/>
                  </a:moveTo>
                  <a:lnTo>
                    <a:pt x="640575" y="0"/>
                  </a:lnTo>
                  <a:lnTo>
                    <a:pt x="640575" y="568122"/>
                  </a:lnTo>
                  <a:lnTo>
                    <a:pt x="0" y="568122"/>
                  </a:lnTo>
                  <a:close/>
                </a:path>
              </a:pathLst>
            </a:custGeom>
            <a:blipFill>
              <a:blip r:embed="rId4">
                <a:alphaModFix amt="0"/>
              </a:blip>
              <a:stretch>
                <a:fillRect l="-63791" t="0" r="-63791" b="0"/>
              </a:stretch>
            </a:blipFill>
          </p:spPr>
        </p:sp>
        <p:sp>
          <p:nvSpPr>
            <p:cNvPr name="TextBox 46" id="46"/>
            <p:cNvSpPr txBox="true"/>
            <p:nvPr/>
          </p:nvSpPr>
          <p:spPr>
            <a:xfrm>
              <a:off x="0" y="-19050"/>
              <a:ext cx="640575" cy="587172"/>
            </a:xfrm>
            <a:prstGeom prst="rect">
              <a:avLst/>
            </a:prstGeom>
          </p:spPr>
          <p:txBody>
            <a:bodyPr anchor="ctr" rtlCol="false" tIns="0" lIns="0" bIns="0" rIns="0"/>
            <a:lstStyle/>
            <a:p>
              <a:pPr algn="ctr">
                <a:lnSpc>
                  <a:spcPts val="2520"/>
                </a:lnSpc>
              </a:pPr>
              <a:r>
                <a:rPr lang="en-US" sz="2100" b="true">
                  <a:solidFill>
                    <a:srgbClr val="3D6874"/>
                  </a:solidFill>
                  <a:latin typeface="Poppins Bold"/>
                  <a:ea typeface="Poppins Bold"/>
                  <a:cs typeface="Poppins Bold"/>
                  <a:sym typeface="Poppins Bold"/>
                </a:rPr>
                <a:t>→</a:t>
              </a:r>
            </a:p>
          </p:txBody>
        </p:sp>
      </p:grpSp>
      <p:grpSp>
        <p:nvGrpSpPr>
          <p:cNvPr name="Group 47" id="47"/>
          <p:cNvGrpSpPr/>
          <p:nvPr/>
        </p:nvGrpSpPr>
        <p:grpSpPr>
          <a:xfrm rot="0">
            <a:off x="6794725" y="2882608"/>
            <a:ext cx="2539460" cy="686372"/>
            <a:chOff x="0" y="0"/>
            <a:chExt cx="3385947" cy="915162"/>
          </a:xfrm>
        </p:grpSpPr>
        <p:sp>
          <p:nvSpPr>
            <p:cNvPr name="Freeform 48" id="48"/>
            <p:cNvSpPr/>
            <p:nvPr/>
          </p:nvSpPr>
          <p:spPr>
            <a:xfrm flipH="false" flipV="false" rot="0">
              <a:off x="0" y="0"/>
              <a:ext cx="3385947" cy="915162"/>
            </a:xfrm>
            <a:custGeom>
              <a:avLst/>
              <a:gdLst/>
              <a:ahLst/>
              <a:cxnLst/>
              <a:rect r="r" b="b" t="t" l="l"/>
              <a:pathLst>
                <a:path h="915162" w="3385947">
                  <a:moveTo>
                    <a:pt x="0" y="457581"/>
                  </a:moveTo>
                  <a:cubicBezTo>
                    <a:pt x="0" y="204851"/>
                    <a:pt x="204851" y="0"/>
                    <a:pt x="457581" y="0"/>
                  </a:cubicBezTo>
                  <a:lnTo>
                    <a:pt x="2928366" y="0"/>
                  </a:lnTo>
                  <a:cubicBezTo>
                    <a:pt x="3181096" y="0"/>
                    <a:pt x="3385947" y="204851"/>
                    <a:pt x="3385947" y="457581"/>
                  </a:cubicBezTo>
                  <a:cubicBezTo>
                    <a:pt x="3385947" y="710311"/>
                    <a:pt x="3181096" y="915162"/>
                    <a:pt x="2928366" y="915162"/>
                  </a:cubicBezTo>
                  <a:lnTo>
                    <a:pt x="457581" y="915162"/>
                  </a:lnTo>
                  <a:cubicBezTo>
                    <a:pt x="204851" y="915162"/>
                    <a:pt x="0" y="710311"/>
                    <a:pt x="0" y="457581"/>
                  </a:cubicBezTo>
                  <a:close/>
                </a:path>
              </a:pathLst>
            </a:custGeom>
            <a:solidFill>
              <a:srgbClr val="FFFFFF"/>
            </a:solidFill>
          </p:spPr>
        </p:sp>
      </p:grpSp>
      <p:grpSp>
        <p:nvGrpSpPr>
          <p:cNvPr name="Group 49" id="49"/>
          <p:cNvGrpSpPr/>
          <p:nvPr/>
        </p:nvGrpSpPr>
        <p:grpSpPr>
          <a:xfrm rot="0">
            <a:off x="6794725" y="2882608"/>
            <a:ext cx="2539441" cy="686333"/>
            <a:chOff x="0" y="0"/>
            <a:chExt cx="3385922" cy="915111"/>
          </a:xfrm>
        </p:grpSpPr>
        <p:sp>
          <p:nvSpPr>
            <p:cNvPr name="Freeform 50" id="50"/>
            <p:cNvSpPr/>
            <p:nvPr/>
          </p:nvSpPr>
          <p:spPr>
            <a:xfrm flipH="false" flipV="false" rot="0">
              <a:off x="0" y="0"/>
              <a:ext cx="3385947" cy="915162"/>
            </a:xfrm>
            <a:custGeom>
              <a:avLst/>
              <a:gdLst/>
              <a:ahLst/>
              <a:cxnLst/>
              <a:rect r="r" b="b" t="t" l="l"/>
              <a:pathLst>
                <a:path h="915162" w="3385947">
                  <a:moveTo>
                    <a:pt x="0" y="0"/>
                  </a:moveTo>
                  <a:lnTo>
                    <a:pt x="3385947" y="0"/>
                  </a:lnTo>
                  <a:lnTo>
                    <a:pt x="3385947" y="915162"/>
                  </a:lnTo>
                  <a:lnTo>
                    <a:pt x="0" y="915162"/>
                  </a:lnTo>
                  <a:close/>
                </a:path>
              </a:pathLst>
            </a:custGeom>
            <a:blipFill>
              <a:blip r:embed="rId3">
                <a:alphaModFix amt="0"/>
              </a:blip>
              <a:stretch>
                <a:fillRect l="0" t="-22042" r="0" b="-22038"/>
              </a:stretch>
            </a:blipFill>
          </p:spPr>
        </p:sp>
      </p:grpSp>
      <p:grpSp>
        <p:nvGrpSpPr>
          <p:cNvPr name="Group 51" id="51"/>
          <p:cNvGrpSpPr/>
          <p:nvPr/>
        </p:nvGrpSpPr>
        <p:grpSpPr>
          <a:xfrm rot="0">
            <a:off x="6794725" y="2868320"/>
            <a:ext cx="2539441" cy="700621"/>
            <a:chOff x="0" y="0"/>
            <a:chExt cx="3385922" cy="934161"/>
          </a:xfrm>
        </p:grpSpPr>
        <p:sp>
          <p:nvSpPr>
            <p:cNvPr name="Freeform 52" id="52"/>
            <p:cNvSpPr/>
            <p:nvPr/>
          </p:nvSpPr>
          <p:spPr>
            <a:xfrm flipH="false" flipV="false" rot="0">
              <a:off x="0" y="0"/>
              <a:ext cx="3385921" cy="934161"/>
            </a:xfrm>
            <a:custGeom>
              <a:avLst/>
              <a:gdLst/>
              <a:ahLst/>
              <a:cxnLst/>
              <a:rect r="r" b="b" t="t" l="l"/>
              <a:pathLst>
                <a:path h="934161" w="3385921">
                  <a:moveTo>
                    <a:pt x="0" y="0"/>
                  </a:moveTo>
                  <a:lnTo>
                    <a:pt x="3385921" y="0"/>
                  </a:lnTo>
                  <a:lnTo>
                    <a:pt x="3385921" y="934161"/>
                  </a:lnTo>
                  <a:lnTo>
                    <a:pt x="0" y="934161"/>
                  </a:lnTo>
                  <a:close/>
                </a:path>
              </a:pathLst>
            </a:custGeom>
            <a:blipFill>
              <a:blip r:embed="rId4">
                <a:alphaModFix amt="0"/>
              </a:blip>
              <a:stretch>
                <a:fillRect l="0" t="-20624" r="0" b="-20624"/>
              </a:stretch>
            </a:blipFill>
          </p:spPr>
        </p:sp>
        <p:sp>
          <p:nvSpPr>
            <p:cNvPr name="TextBox 53" id="53"/>
            <p:cNvSpPr txBox="true"/>
            <p:nvPr/>
          </p:nvSpPr>
          <p:spPr>
            <a:xfrm>
              <a:off x="0" y="-19050"/>
              <a:ext cx="3385922" cy="953211"/>
            </a:xfrm>
            <a:prstGeom prst="rect">
              <a:avLst/>
            </a:prstGeom>
          </p:spPr>
          <p:txBody>
            <a:bodyPr anchor="ctr" rtlCol="false" tIns="0" lIns="0" bIns="0" rIns="0"/>
            <a:lstStyle/>
            <a:p>
              <a:pPr algn="ctr">
                <a:lnSpc>
                  <a:spcPts val="1801"/>
                </a:lnSpc>
              </a:pPr>
              <a:r>
                <a:rPr lang="en-US" sz="1500" b="true">
                  <a:solidFill>
                    <a:srgbClr val="000000"/>
                  </a:solidFill>
                  <a:latin typeface="Poppins Bold"/>
                  <a:ea typeface="Poppins Bold"/>
                  <a:cs typeface="Poppins Bold"/>
                  <a:sym typeface="Poppins Bold"/>
                </a:rPr>
                <a:t>Manual Screening</a:t>
              </a:r>
            </a:p>
          </p:txBody>
        </p:sp>
      </p:grpSp>
      <p:grpSp>
        <p:nvGrpSpPr>
          <p:cNvPr name="Group 54" id="54"/>
          <p:cNvGrpSpPr/>
          <p:nvPr/>
        </p:nvGrpSpPr>
        <p:grpSpPr>
          <a:xfrm rot="0">
            <a:off x="6773875" y="2861758"/>
            <a:ext cx="2581142" cy="728053"/>
            <a:chOff x="0" y="0"/>
            <a:chExt cx="3441522" cy="970737"/>
          </a:xfrm>
        </p:grpSpPr>
        <p:sp>
          <p:nvSpPr>
            <p:cNvPr name="Freeform 55" id="55"/>
            <p:cNvSpPr/>
            <p:nvPr/>
          </p:nvSpPr>
          <p:spPr>
            <a:xfrm flipH="false" flipV="false" rot="0">
              <a:off x="0" y="0"/>
              <a:ext cx="3441573" cy="970788"/>
            </a:xfrm>
            <a:custGeom>
              <a:avLst/>
              <a:gdLst/>
              <a:ahLst/>
              <a:cxnLst/>
              <a:rect r="r" b="b" t="t" l="l"/>
              <a:pathLst>
                <a:path h="970788" w="3441573">
                  <a:moveTo>
                    <a:pt x="0" y="485394"/>
                  </a:moveTo>
                  <a:cubicBezTo>
                    <a:pt x="0" y="217297"/>
                    <a:pt x="213487" y="0"/>
                    <a:pt x="476758" y="0"/>
                  </a:cubicBezTo>
                  <a:lnTo>
                    <a:pt x="2964815" y="0"/>
                  </a:lnTo>
                  <a:cubicBezTo>
                    <a:pt x="3228086" y="0"/>
                    <a:pt x="3441573" y="217297"/>
                    <a:pt x="3441573" y="485394"/>
                  </a:cubicBezTo>
                  <a:cubicBezTo>
                    <a:pt x="3441573" y="753491"/>
                    <a:pt x="3228086" y="970788"/>
                    <a:pt x="2964815" y="970788"/>
                  </a:cubicBezTo>
                  <a:lnTo>
                    <a:pt x="476758" y="970788"/>
                  </a:lnTo>
                  <a:cubicBezTo>
                    <a:pt x="213487" y="970788"/>
                    <a:pt x="0" y="753491"/>
                    <a:pt x="0" y="485394"/>
                  </a:cubicBezTo>
                  <a:close/>
                </a:path>
              </a:pathLst>
            </a:custGeom>
            <a:blipFill>
              <a:blip r:embed="rId3">
                <a:alphaModFix amt="0"/>
              </a:blip>
              <a:stretch>
                <a:fillRect l="0" t="-19030" r="1" b="-19025"/>
              </a:stretch>
            </a:blipFill>
            <a:ln w="23831" cap="sq">
              <a:solidFill>
                <a:srgbClr val="3D6874"/>
              </a:solidFill>
              <a:prstDash val="solid"/>
              <a:miter/>
            </a:ln>
          </p:spPr>
        </p:sp>
      </p:grpSp>
      <p:grpSp>
        <p:nvGrpSpPr>
          <p:cNvPr name="Group 56" id="56"/>
          <p:cNvGrpSpPr/>
          <p:nvPr/>
        </p:nvGrpSpPr>
        <p:grpSpPr>
          <a:xfrm rot="0">
            <a:off x="9334176" y="3047333"/>
            <a:ext cx="480431" cy="411804"/>
            <a:chOff x="0" y="0"/>
            <a:chExt cx="640575" cy="549072"/>
          </a:xfrm>
        </p:grpSpPr>
        <p:sp>
          <p:nvSpPr>
            <p:cNvPr name="Freeform 57" id="57"/>
            <p:cNvSpPr/>
            <p:nvPr/>
          </p:nvSpPr>
          <p:spPr>
            <a:xfrm flipH="false" flipV="false" rot="0">
              <a:off x="0" y="0"/>
              <a:ext cx="640588" cy="549021"/>
            </a:xfrm>
            <a:custGeom>
              <a:avLst/>
              <a:gdLst/>
              <a:ahLst/>
              <a:cxnLst/>
              <a:rect r="r" b="b" t="t" l="l"/>
              <a:pathLst>
                <a:path h="549021" w="640588">
                  <a:moveTo>
                    <a:pt x="0" y="0"/>
                  </a:moveTo>
                  <a:lnTo>
                    <a:pt x="640588" y="0"/>
                  </a:lnTo>
                  <a:lnTo>
                    <a:pt x="640588" y="549021"/>
                  </a:lnTo>
                  <a:lnTo>
                    <a:pt x="0" y="549021"/>
                  </a:lnTo>
                  <a:close/>
                </a:path>
              </a:pathLst>
            </a:custGeom>
            <a:blipFill>
              <a:blip r:embed="rId3">
                <a:alphaModFix amt="0"/>
              </a:blip>
              <a:stretch>
                <a:fillRect l="-60049" t="0" r="-60049" b="-9"/>
              </a:stretch>
            </a:blipFill>
          </p:spPr>
        </p:sp>
      </p:grpSp>
      <p:grpSp>
        <p:nvGrpSpPr>
          <p:cNvPr name="Group 58" id="58"/>
          <p:cNvGrpSpPr/>
          <p:nvPr/>
        </p:nvGrpSpPr>
        <p:grpSpPr>
          <a:xfrm rot="0">
            <a:off x="9334176" y="3033046"/>
            <a:ext cx="480431" cy="426091"/>
            <a:chOff x="0" y="0"/>
            <a:chExt cx="640575" cy="568122"/>
          </a:xfrm>
        </p:grpSpPr>
        <p:sp>
          <p:nvSpPr>
            <p:cNvPr name="Freeform 59" id="59"/>
            <p:cNvSpPr/>
            <p:nvPr/>
          </p:nvSpPr>
          <p:spPr>
            <a:xfrm flipH="false" flipV="false" rot="0">
              <a:off x="0" y="0"/>
              <a:ext cx="640575" cy="568122"/>
            </a:xfrm>
            <a:custGeom>
              <a:avLst/>
              <a:gdLst/>
              <a:ahLst/>
              <a:cxnLst/>
              <a:rect r="r" b="b" t="t" l="l"/>
              <a:pathLst>
                <a:path h="568122" w="640575">
                  <a:moveTo>
                    <a:pt x="0" y="0"/>
                  </a:moveTo>
                  <a:lnTo>
                    <a:pt x="640575" y="0"/>
                  </a:lnTo>
                  <a:lnTo>
                    <a:pt x="640575" y="568122"/>
                  </a:lnTo>
                  <a:lnTo>
                    <a:pt x="0" y="568122"/>
                  </a:lnTo>
                  <a:close/>
                </a:path>
              </a:pathLst>
            </a:custGeom>
            <a:blipFill>
              <a:blip r:embed="rId4">
                <a:alphaModFix amt="0"/>
              </a:blip>
              <a:stretch>
                <a:fillRect l="-63791" t="0" r="-63791" b="0"/>
              </a:stretch>
            </a:blipFill>
          </p:spPr>
        </p:sp>
        <p:sp>
          <p:nvSpPr>
            <p:cNvPr name="TextBox 60" id="60"/>
            <p:cNvSpPr txBox="true"/>
            <p:nvPr/>
          </p:nvSpPr>
          <p:spPr>
            <a:xfrm>
              <a:off x="0" y="-19050"/>
              <a:ext cx="640575" cy="587172"/>
            </a:xfrm>
            <a:prstGeom prst="rect">
              <a:avLst/>
            </a:prstGeom>
          </p:spPr>
          <p:txBody>
            <a:bodyPr anchor="ctr" rtlCol="false" tIns="0" lIns="0" bIns="0" rIns="0"/>
            <a:lstStyle/>
            <a:p>
              <a:pPr algn="ctr">
                <a:lnSpc>
                  <a:spcPts val="2520"/>
                </a:lnSpc>
              </a:pPr>
              <a:r>
                <a:rPr lang="en-US" sz="2100" b="true">
                  <a:solidFill>
                    <a:srgbClr val="3D6874"/>
                  </a:solidFill>
                  <a:latin typeface="Poppins Bold"/>
                  <a:ea typeface="Poppins Bold"/>
                  <a:cs typeface="Poppins Bold"/>
                  <a:sym typeface="Poppins Bold"/>
                </a:rPr>
                <a:t>→</a:t>
              </a:r>
            </a:p>
          </p:txBody>
        </p:sp>
      </p:grpSp>
      <p:grpSp>
        <p:nvGrpSpPr>
          <p:cNvPr name="Group 61" id="61"/>
          <p:cNvGrpSpPr/>
          <p:nvPr/>
        </p:nvGrpSpPr>
        <p:grpSpPr>
          <a:xfrm rot="0">
            <a:off x="9814608" y="2882608"/>
            <a:ext cx="2539460" cy="686372"/>
            <a:chOff x="0" y="0"/>
            <a:chExt cx="3385947" cy="915162"/>
          </a:xfrm>
        </p:grpSpPr>
        <p:sp>
          <p:nvSpPr>
            <p:cNvPr name="Freeform 62" id="62"/>
            <p:cNvSpPr/>
            <p:nvPr/>
          </p:nvSpPr>
          <p:spPr>
            <a:xfrm flipH="false" flipV="false" rot="0">
              <a:off x="0" y="0"/>
              <a:ext cx="3385947" cy="915162"/>
            </a:xfrm>
            <a:custGeom>
              <a:avLst/>
              <a:gdLst/>
              <a:ahLst/>
              <a:cxnLst/>
              <a:rect r="r" b="b" t="t" l="l"/>
              <a:pathLst>
                <a:path h="915162" w="3385947">
                  <a:moveTo>
                    <a:pt x="0" y="457581"/>
                  </a:moveTo>
                  <a:cubicBezTo>
                    <a:pt x="0" y="204851"/>
                    <a:pt x="204851" y="0"/>
                    <a:pt x="457581" y="0"/>
                  </a:cubicBezTo>
                  <a:lnTo>
                    <a:pt x="2928366" y="0"/>
                  </a:lnTo>
                  <a:cubicBezTo>
                    <a:pt x="3181096" y="0"/>
                    <a:pt x="3385947" y="204851"/>
                    <a:pt x="3385947" y="457581"/>
                  </a:cubicBezTo>
                  <a:cubicBezTo>
                    <a:pt x="3385947" y="710311"/>
                    <a:pt x="3181096" y="915162"/>
                    <a:pt x="2928366" y="915162"/>
                  </a:cubicBezTo>
                  <a:lnTo>
                    <a:pt x="457581" y="915162"/>
                  </a:lnTo>
                  <a:cubicBezTo>
                    <a:pt x="204851" y="915162"/>
                    <a:pt x="0" y="710311"/>
                    <a:pt x="0" y="457581"/>
                  </a:cubicBezTo>
                  <a:close/>
                </a:path>
              </a:pathLst>
            </a:custGeom>
            <a:solidFill>
              <a:srgbClr val="FFFFFF"/>
            </a:solidFill>
          </p:spPr>
        </p:sp>
      </p:grpSp>
      <p:grpSp>
        <p:nvGrpSpPr>
          <p:cNvPr name="Group 63" id="63"/>
          <p:cNvGrpSpPr/>
          <p:nvPr/>
        </p:nvGrpSpPr>
        <p:grpSpPr>
          <a:xfrm rot="0">
            <a:off x="9814608" y="2882608"/>
            <a:ext cx="2539441" cy="686333"/>
            <a:chOff x="0" y="0"/>
            <a:chExt cx="3385922" cy="915111"/>
          </a:xfrm>
        </p:grpSpPr>
        <p:sp>
          <p:nvSpPr>
            <p:cNvPr name="Freeform 64" id="64"/>
            <p:cNvSpPr/>
            <p:nvPr/>
          </p:nvSpPr>
          <p:spPr>
            <a:xfrm flipH="false" flipV="false" rot="0">
              <a:off x="0" y="0"/>
              <a:ext cx="3385947" cy="915162"/>
            </a:xfrm>
            <a:custGeom>
              <a:avLst/>
              <a:gdLst/>
              <a:ahLst/>
              <a:cxnLst/>
              <a:rect r="r" b="b" t="t" l="l"/>
              <a:pathLst>
                <a:path h="915162" w="3385947">
                  <a:moveTo>
                    <a:pt x="0" y="0"/>
                  </a:moveTo>
                  <a:lnTo>
                    <a:pt x="3385947" y="0"/>
                  </a:lnTo>
                  <a:lnTo>
                    <a:pt x="3385947" y="915162"/>
                  </a:lnTo>
                  <a:lnTo>
                    <a:pt x="0" y="915162"/>
                  </a:lnTo>
                  <a:close/>
                </a:path>
              </a:pathLst>
            </a:custGeom>
            <a:blipFill>
              <a:blip r:embed="rId3">
                <a:alphaModFix amt="0"/>
              </a:blip>
              <a:stretch>
                <a:fillRect l="0" t="-22042" r="0" b="-22038"/>
              </a:stretch>
            </a:blipFill>
          </p:spPr>
        </p:sp>
      </p:grpSp>
      <p:grpSp>
        <p:nvGrpSpPr>
          <p:cNvPr name="Group 65" id="65"/>
          <p:cNvGrpSpPr/>
          <p:nvPr/>
        </p:nvGrpSpPr>
        <p:grpSpPr>
          <a:xfrm rot="0">
            <a:off x="9814608" y="2868320"/>
            <a:ext cx="2539441" cy="700621"/>
            <a:chOff x="0" y="0"/>
            <a:chExt cx="3385922" cy="934161"/>
          </a:xfrm>
        </p:grpSpPr>
        <p:sp>
          <p:nvSpPr>
            <p:cNvPr name="Freeform 66" id="66"/>
            <p:cNvSpPr/>
            <p:nvPr/>
          </p:nvSpPr>
          <p:spPr>
            <a:xfrm flipH="false" flipV="false" rot="0">
              <a:off x="0" y="0"/>
              <a:ext cx="3385921" cy="934161"/>
            </a:xfrm>
            <a:custGeom>
              <a:avLst/>
              <a:gdLst/>
              <a:ahLst/>
              <a:cxnLst/>
              <a:rect r="r" b="b" t="t" l="l"/>
              <a:pathLst>
                <a:path h="934161" w="3385921">
                  <a:moveTo>
                    <a:pt x="0" y="0"/>
                  </a:moveTo>
                  <a:lnTo>
                    <a:pt x="3385921" y="0"/>
                  </a:lnTo>
                  <a:lnTo>
                    <a:pt x="3385921" y="934161"/>
                  </a:lnTo>
                  <a:lnTo>
                    <a:pt x="0" y="934161"/>
                  </a:lnTo>
                  <a:close/>
                </a:path>
              </a:pathLst>
            </a:custGeom>
            <a:blipFill>
              <a:blip r:embed="rId4">
                <a:alphaModFix amt="0"/>
              </a:blip>
              <a:stretch>
                <a:fillRect l="0" t="-20624" r="0" b="-20624"/>
              </a:stretch>
            </a:blipFill>
          </p:spPr>
        </p:sp>
        <p:sp>
          <p:nvSpPr>
            <p:cNvPr name="TextBox 67" id="67"/>
            <p:cNvSpPr txBox="true"/>
            <p:nvPr/>
          </p:nvSpPr>
          <p:spPr>
            <a:xfrm>
              <a:off x="0" y="-19050"/>
              <a:ext cx="3385922" cy="953211"/>
            </a:xfrm>
            <a:prstGeom prst="rect">
              <a:avLst/>
            </a:prstGeom>
          </p:spPr>
          <p:txBody>
            <a:bodyPr anchor="ctr" rtlCol="false" tIns="0" lIns="0" bIns="0" rIns="0"/>
            <a:lstStyle/>
            <a:p>
              <a:pPr algn="ctr">
                <a:lnSpc>
                  <a:spcPts val="1801"/>
                </a:lnSpc>
              </a:pPr>
              <a:r>
                <a:rPr lang="en-US" sz="1500" b="true">
                  <a:solidFill>
                    <a:srgbClr val="000000"/>
                  </a:solidFill>
                  <a:latin typeface="Poppins Bold"/>
                  <a:ea typeface="Poppins Bold"/>
                  <a:cs typeface="Poppins Bold"/>
                  <a:sym typeface="Poppins Bold"/>
                </a:rPr>
                <a:t>Hiring Decision</a:t>
              </a:r>
            </a:p>
          </p:txBody>
        </p:sp>
      </p:grpSp>
      <p:grpSp>
        <p:nvGrpSpPr>
          <p:cNvPr name="Group 68" id="68"/>
          <p:cNvGrpSpPr/>
          <p:nvPr/>
        </p:nvGrpSpPr>
        <p:grpSpPr>
          <a:xfrm rot="0">
            <a:off x="9793757" y="2861758"/>
            <a:ext cx="2581142" cy="728053"/>
            <a:chOff x="0" y="0"/>
            <a:chExt cx="3441522" cy="970737"/>
          </a:xfrm>
        </p:grpSpPr>
        <p:sp>
          <p:nvSpPr>
            <p:cNvPr name="Freeform 69" id="69"/>
            <p:cNvSpPr/>
            <p:nvPr/>
          </p:nvSpPr>
          <p:spPr>
            <a:xfrm flipH="false" flipV="false" rot="0">
              <a:off x="0" y="0"/>
              <a:ext cx="3441573" cy="970788"/>
            </a:xfrm>
            <a:custGeom>
              <a:avLst/>
              <a:gdLst/>
              <a:ahLst/>
              <a:cxnLst/>
              <a:rect r="r" b="b" t="t" l="l"/>
              <a:pathLst>
                <a:path h="970788" w="3441573">
                  <a:moveTo>
                    <a:pt x="0" y="485394"/>
                  </a:moveTo>
                  <a:cubicBezTo>
                    <a:pt x="0" y="217297"/>
                    <a:pt x="213487" y="0"/>
                    <a:pt x="476758" y="0"/>
                  </a:cubicBezTo>
                  <a:lnTo>
                    <a:pt x="2964815" y="0"/>
                  </a:lnTo>
                  <a:cubicBezTo>
                    <a:pt x="3228086" y="0"/>
                    <a:pt x="3441573" y="217297"/>
                    <a:pt x="3441573" y="485394"/>
                  </a:cubicBezTo>
                  <a:cubicBezTo>
                    <a:pt x="3441573" y="753491"/>
                    <a:pt x="3228086" y="970788"/>
                    <a:pt x="2964815" y="970788"/>
                  </a:cubicBezTo>
                  <a:lnTo>
                    <a:pt x="476758" y="970788"/>
                  </a:lnTo>
                  <a:cubicBezTo>
                    <a:pt x="213487" y="970788"/>
                    <a:pt x="0" y="753491"/>
                    <a:pt x="0" y="485394"/>
                  </a:cubicBezTo>
                  <a:close/>
                </a:path>
              </a:pathLst>
            </a:custGeom>
            <a:blipFill>
              <a:blip r:embed="rId3">
                <a:alphaModFix amt="0"/>
              </a:blip>
              <a:stretch>
                <a:fillRect l="0" t="-19030" r="1" b="-19025"/>
              </a:stretch>
            </a:blipFill>
            <a:ln w="23831" cap="sq">
              <a:solidFill>
                <a:srgbClr val="3D6874"/>
              </a:solidFill>
              <a:prstDash val="solid"/>
              <a:miter/>
            </a:ln>
          </p:spPr>
        </p:sp>
      </p:grpSp>
      <p:sp>
        <p:nvSpPr>
          <p:cNvPr name="Freeform 70" id="70"/>
          <p:cNvSpPr/>
          <p:nvPr/>
        </p:nvSpPr>
        <p:spPr>
          <a:xfrm flipH="false" flipV="false" rot="0">
            <a:off x="738283" y="4169969"/>
            <a:ext cx="5455453" cy="2366972"/>
          </a:xfrm>
          <a:custGeom>
            <a:avLst/>
            <a:gdLst/>
            <a:ahLst/>
            <a:cxnLst/>
            <a:rect r="r" b="b" t="t" l="l"/>
            <a:pathLst>
              <a:path h="2366972" w="5455453">
                <a:moveTo>
                  <a:pt x="0" y="0"/>
                </a:moveTo>
                <a:lnTo>
                  <a:pt x="5455453" y="0"/>
                </a:lnTo>
                <a:lnTo>
                  <a:pt x="5455453" y="2366972"/>
                </a:lnTo>
                <a:lnTo>
                  <a:pt x="0" y="23669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1" id="71"/>
          <p:cNvGrpSpPr/>
          <p:nvPr/>
        </p:nvGrpSpPr>
        <p:grpSpPr>
          <a:xfrm rot="0">
            <a:off x="1029500" y="4406275"/>
            <a:ext cx="4872990" cy="439255"/>
            <a:chOff x="0" y="0"/>
            <a:chExt cx="6497320" cy="585673"/>
          </a:xfrm>
        </p:grpSpPr>
        <p:sp>
          <p:nvSpPr>
            <p:cNvPr name="Freeform 72" id="72"/>
            <p:cNvSpPr/>
            <p:nvPr/>
          </p:nvSpPr>
          <p:spPr>
            <a:xfrm flipH="false" flipV="false" rot="0">
              <a:off x="0" y="0"/>
              <a:ext cx="6497320" cy="585724"/>
            </a:xfrm>
            <a:custGeom>
              <a:avLst/>
              <a:gdLst/>
              <a:ahLst/>
              <a:cxnLst/>
              <a:rect r="r" b="b" t="t" l="l"/>
              <a:pathLst>
                <a:path h="585724" w="6497320">
                  <a:moveTo>
                    <a:pt x="0" y="0"/>
                  </a:moveTo>
                  <a:lnTo>
                    <a:pt x="6497320" y="0"/>
                  </a:lnTo>
                  <a:lnTo>
                    <a:pt x="6497320" y="585724"/>
                  </a:lnTo>
                  <a:lnTo>
                    <a:pt x="0" y="585724"/>
                  </a:lnTo>
                  <a:close/>
                </a:path>
              </a:pathLst>
            </a:custGeom>
            <a:blipFill>
              <a:blip r:embed="rId3">
                <a:alphaModFix amt="0"/>
              </a:blip>
              <a:stretch>
                <a:fillRect l="0" t="-165997" r="0" b="-165988"/>
              </a:stretch>
            </a:blipFill>
          </p:spPr>
        </p:sp>
      </p:grpSp>
      <p:grpSp>
        <p:nvGrpSpPr>
          <p:cNvPr name="Group 73" id="73"/>
          <p:cNvGrpSpPr/>
          <p:nvPr/>
        </p:nvGrpSpPr>
        <p:grpSpPr>
          <a:xfrm rot="0">
            <a:off x="1029500" y="4391987"/>
            <a:ext cx="4872990" cy="453542"/>
            <a:chOff x="0" y="0"/>
            <a:chExt cx="6497320" cy="604723"/>
          </a:xfrm>
        </p:grpSpPr>
        <p:sp>
          <p:nvSpPr>
            <p:cNvPr name="Freeform 74" id="74"/>
            <p:cNvSpPr/>
            <p:nvPr/>
          </p:nvSpPr>
          <p:spPr>
            <a:xfrm flipH="false" flipV="false" rot="0">
              <a:off x="0" y="0"/>
              <a:ext cx="6497320" cy="604723"/>
            </a:xfrm>
            <a:custGeom>
              <a:avLst/>
              <a:gdLst/>
              <a:ahLst/>
              <a:cxnLst/>
              <a:rect r="r" b="b" t="t" l="l"/>
              <a:pathLst>
                <a:path h="604723" w="6497320">
                  <a:moveTo>
                    <a:pt x="0" y="0"/>
                  </a:moveTo>
                  <a:lnTo>
                    <a:pt x="6497320" y="0"/>
                  </a:lnTo>
                  <a:lnTo>
                    <a:pt x="6497320" y="604723"/>
                  </a:lnTo>
                  <a:lnTo>
                    <a:pt x="0" y="604723"/>
                  </a:lnTo>
                  <a:close/>
                </a:path>
              </a:pathLst>
            </a:custGeom>
            <a:blipFill>
              <a:blip r:embed="rId4">
                <a:alphaModFix amt="0"/>
              </a:blip>
              <a:stretch>
                <a:fillRect l="0" t="-159352" r="0" b="-159352"/>
              </a:stretch>
            </a:blipFill>
          </p:spPr>
        </p:sp>
        <p:sp>
          <p:nvSpPr>
            <p:cNvPr name="TextBox 75" id="75"/>
            <p:cNvSpPr txBox="true"/>
            <p:nvPr/>
          </p:nvSpPr>
          <p:spPr>
            <a:xfrm>
              <a:off x="0" y="-19050"/>
              <a:ext cx="6497320" cy="623773"/>
            </a:xfrm>
            <a:prstGeom prst="rect">
              <a:avLst/>
            </a:prstGeom>
          </p:spPr>
          <p:txBody>
            <a:bodyPr anchor="ctr" rtlCol="false" tIns="0" lIns="0" bIns="0" rIns="0"/>
            <a:lstStyle/>
            <a:p>
              <a:pPr algn="l">
                <a:lnSpc>
                  <a:spcPts val="2341"/>
                </a:lnSpc>
              </a:pPr>
              <a:r>
                <a:rPr lang="en-US" sz="1950" b="true">
                  <a:solidFill>
                    <a:srgbClr val="000000"/>
                  </a:solidFill>
                  <a:latin typeface="Poppins Bold"/>
                  <a:ea typeface="Poppins Bold"/>
                  <a:cs typeface="Poppins Bold"/>
                  <a:sym typeface="Poppins Bold"/>
                </a:rPr>
                <a:t>High application volume</a:t>
              </a:r>
            </a:p>
          </p:txBody>
        </p:sp>
      </p:grpSp>
      <p:sp>
        <p:nvSpPr>
          <p:cNvPr name="TextBox 76" id="76"/>
          <p:cNvSpPr txBox="true"/>
          <p:nvPr/>
        </p:nvSpPr>
        <p:spPr>
          <a:xfrm rot="0">
            <a:off x="1029500" y="4824241"/>
            <a:ext cx="4872990" cy="1531229"/>
          </a:xfrm>
          <a:prstGeom prst="rect">
            <a:avLst/>
          </a:prstGeom>
        </p:spPr>
        <p:txBody>
          <a:bodyPr anchor="t" rtlCol="false" tIns="0" lIns="0" bIns="0" rIns="0">
            <a:spAutoFit/>
          </a:bodyPr>
          <a:lstStyle/>
          <a:p>
            <a:pPr algn="l">
              <a:lnSpc>
                <a:spcPts val="2175"/>
              </a:lnSpc>
            </a:pPr>
            <a:r>
              <a:rPr lang="en-US" sz="1575">
                <a:solidFill>
                  <a:srgbClr val="000000"/>
                </a:solidFill>
                <a:latin typeface="Poppins"/>
                <a:ea typeface="Poppins"/>
                <a:cs typeface="Poppins"/>
                <a:sym typeface="Poppins"/>
              </a:rPr>
              <a:t>Manual comparison becomes time-consuming.</a:t>
            </a:r>
          </a:p>
        </p:txBody>
      </p:sp>
      <p:sp>
        <p:nvSpPr>
          <p:cNvPr name="Freeform 77" id="77"/>
          <p:cNvSpPr/>
          <p:nvPr/>
        </p:nvSpPr>
        <p:spPr>
          <a:xfrm flipH="false" flipV="false" rot="0">
            <a:off x="6503508" y="4169969"/>
            <a:ext cx="5455453" cy="2366972"/>
          </a:xfrm>
          <a:custGeom>
            <a:avLst/>
            <a:gdLst/>
            <a:ahLst/>
            <a:cxnLst/>
            <a:rect r="r" b="b" t="t" l="l"/>
            <a:pathLst>
              <a:path h="2366972" w="5455453">
                <a:moveTo>
                  <a:pt x="0" y="0"/>
                </a:moveTo>
                <a:lnTo>
                  <a:pt x="5455453" y="0"/>
                </a:lnTo>
                <a:lnTo>
                  <a:pt x="5455453" y="2366972"/>
                </a:lnTo>
                <a:lnTo>
                  <a:pt x="0" y="23669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8" id="78"/>
          <p:cNvGrpSpPr/>
          <p:nvPr/>
        </p:nvGrpSpPr>
        <p:grpSpPr>
          <a:xfrm rot="0">
            <a:off x="6794725" y="4406275"/>
            <a:ext cx="4872990" cy="439255"/>
            <a:chOff x="0" y="0"/>
            <a:chExt cx="6497320" cy="585673"/>
          </a:xfrm>
        </p:grpSpPr>
        <p:sp>
          <p:nvSpPr>
            <p:cNvPr name="Freeform 79" id="79"/>
            <p:cNvSpPr/>
            <p:nvPr/>
          </p:nvSpPr>
          <p:spPr>
            <a:xfrm flipH="false" flipV="false" rot="0">
              <a:off x="0" y="0"/>
              <a:ext cx="6497320" cy="585724"/>
            </a:xfrm>
            <a:custGeom>
              <a:avLst/>
              <a:gdLst/>
              <a:ahLst/>
              <a:cxnLst/>
              <a:rect r="r" b="b" t="t" l="l"/>
              <a:pathLst>
                <a:path h="585724" w="6497320">
                  <a:moveTo>
                    <a:pt x="0" y="0"/>
                  </a:moveTo>
                  <a:lnTo>
                    <a:pt x="6497320" y="0"/>
                  </a:lnTo>
                  <a:lnTo>
                    <a:pt x="6497320" y="585724"/>
                  </a:lnTo>
                  <a:lnTo>
                    <a:pt x="0" y="585724"/>
                  </a:lnTo>
                  <a:close/>
                </a:path>
              </a:pathLst>
            </a:custGeom>
            <a:blipFill>
              <a:blip r:embed="rId3">
                <a:alphaModFix amt="0"/>
              </a:blip>
              <a:stretch>
                <a:fillRect l="0" t="-165997" r="0" b="-165988"/>
              </a:stretch>
            </a:blipFill>
          </p:spPr>
        </p:sp>
      </p:grpSp>
      <p:grpSp>
        <p:nvGrpSpPr>
          <p:cNvPr name="Group 80" id="80"/>
          <p:cNvGrpSpPr/>
          <p:nvPr/>
        </p:nvGrpSpPr>
        <p:grpSpPr>
          <a:xfrm rot="0">
            <a:off x="6794725" y="4391987"/>
            <a:ext cx="4872990" cy="453542"/>
            <a:chOff x="0" y="0"/>
            <a:chExt cx="6497320" cy="604723"/>
          </a:xfrm>
        </p:grpSpPr>
        <p:sp>
          <p:nvSpPr>
            <p:cNvPr name="Freeform 81" id="81"/>
            <p:cNvSpPr/>
            <p:nvPr/>
          </p:nvSpPr>
          <p:spPr>
            <a:xfrm flipH="false" flipV="false" rot="0">
              <a:off x="0" y="0"/>
              <a:ext cx="6497320" cy="604723"/>
            </a:xfrm>
            <a:custGeom>
              <a:avLst/>
              <a:gdLst/>
              <a:ahLst/>
              <a:cxnLst/>
              <a:rect r="r" b="b" t="t" l="l"/>
              <a:pathLst>
                <a:path h="604723" w="6497320">
                  <a:moveTo>
                    <a:pt x="0" y="0"/>
                  </a:moveTo>
                  <a:lnTo>
                    <a:pt x="6497320" y="0"/>
                  </a:lnTo>
                  <a:lnTo>
                    <a:pt x="6497320" y="604723"/>
                  </a:lnTo>
                  <a:lnTo>
                    <a:pt x="0" y="604723"/>
                  </a:lnTo>
                  <a:close/>
                </a:path>
              </a:pathLst>
            </a:custGeom>
            <a:blipFill>
              <a:blip r:embed="rId4">
                <a:alphaModFix amt="0"/>
              </a:blip>
              <a:stretch>
                <a:fillRect l="0" t="-159352" r="0" b="-159352"/>
              </a:stretch>
            </a:blipFill>
          </p:spPr>
        </p:sp>
        <p:sp>
          <p:nvSpPr>
            <p:cNvPr name="TextBox 82" id="82"/>
            <p:cNvSpPr txBox="true"/>
            <p:nvPr/>
          </p:nvSpPr>
          <p:spPr>
            <a:xfrm>
              <a:off x="0" y="-19050"/>
              <a:ext cx="6497320" cy="623773"/>
            </a:xfrm>
            <a:prstGeom prst="rect">
              <a:avLst/>
            </a:prstGeom>
          </p:spPr>
          <p:txBody>
            <a:bodyPr anchor="ctr" rtlCol="false" tIns="0" lIns="0" bIns="0" rIns="0"/>
            <a:lstStyle/>
            <a:p>
              <a:pPr algn="l">
                <a:lnSpc>
                  <a:spcPts val="2341"/>
                </a:lnSpc>
              </a:pPr>
              <a:r>
                <a:rPr lang="en-US" sz="1950" b="true">
                  <a:solidFill>
                    <a:srgbClr val="000000"/>
                  </a:solidFill>
                  <a:latin typeface="Poppins Bold"/>
                  <a:ea typeface="Poppins Bold"/>
                  <a:cs typeface="Poppins Bold"/>
                  <a:sym typeface="Poppins Bold"/>
                </a:rPr>
                <a:t>Self-declared skills</a:t>
              </a:r>
            </a:p>
          </p:txBody>
        </p:sp>
      </p:grpSp>
      <p:sp>
        <p:nvSpPr>
          <p:cNvPr name="TextBox 83" id="83"/>
          <p:cNvSpPr txBox="true"/>
          <p:nvPr/>
        </p:nvSpPr>
        <p:spPr>
          <a:xfrm rot="0">
            <a:off x="6794725" y="4824241"/>
            <a:ext cx="4872990" cy="1531229"/>
          </a:xfrm>
          <a:prstGeom prst="rect">
            <a:avLst/>
          </a:prstGeom>
        </p:spPr>
        <p:txBody>
          <a:bodyPr anchor="t" rtlCol="false" tIns="0" lIns="0" bIns="0" rIns="0">
            <a:spAutoFit/>
          </a:bodyPr>
          <a:lstStyle/>
          <a:p>
            <a:pPr algn="l">
              <a:lnSpc>
                <a:spcPts val="2175"/>
              </a:lnSpc>
            </a:pPr>
            <a:r>
              <a:rPr lang="en-US" sz="1575">
                <a:solidFill>
                  <a:srgbClr val="000000"/>
                </a:solidFill>
                <a:latin typeface="Poppins"/>
                <a:ea typeface="Poppins"/>
                <a:cs typeface="Poppins"/>
                <a:sym typeface="Poppins"/>
              </a:rPr>
              <a:t>CV information does not necessarily prove proficiency.</a:t>
            </a:r>
          </a:p>
        </p:txBody>
      </p:sp>
      <p:sp>
        <p:nvSpPr>
          <p:cNvPr name="Freeform 84" id="84"/>
          <p:cNvSpPr/>
          <p:nvPr/>
        </p:nvSpPr>
        <p:spPr>
          <a:xfrm flipH="false" flipV="false" rot="0">
            <a:off x="12268733" y="4169969"/>
            <a:ext cx="5455453" cy="2366972"/>
          </a:xfrm>
          <a:custGeom>
            <a:avLst/>
            <a:gdLst/>
            <a:ahLst/>
            <a:cxnLst/>
            <a:rect r="r" b="b" t="t" l="l"/>
            <a:pathLst>
              <a:path h="2366972" w="5455453">
                <a:moveTo>
                  <a:pt x="0" y="0"/>
                </a:moveTo>
                <a:lnTo>
                  <a:pt x="5455454" y="0"/>
                </a:lnTo>
                <a:lnTo>
                  <a:pt x="5455454" y="2366972"/>
                </a:lnTo>
                <a:lnTo>
                  <a:pt x="0" y="23669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5" id="85"/>
          <p:cNvGrpSpPr/>
          <p:nvPr/>
        </p:nvGrpSpPr>
        <p:grpSpPr>
          <a:xfrm rot="0">
            <a:off x="12559951" y="4406275"/>
            <a:ext cx="4872990" cy="439255"/>
            <a:chOff x="0" y="0"/>
            <a:chExt cx="6497320" cy="585673"/>
          </a:xfrm>
        </p:grpSpPr>
        <p:sp>
          <p:nvSpPr>
            <p:cNvPr name="Freeform 86" id="86"/>
            <p:cNvSpPr/>
            <p:nvPr/>
          </p:nvSpPr>
          <p:spPr>
            <a:xfrm flipH="false" flipV="false" rot="0">
              <a:off x="0" y="0"/>
              <a:ext cx="6497320" cy="585724"/>
            </a:xfrm>
            <a:custGeom>
              <a:avLst/>
              <a:gdLst/>
              <a:ahLst/>
              <a:cxnLst/>
              <a:rect r="r" b="b" t="t" l="l"/>
              <a:pathLst>
                <a:path h="585724" w="6497320">
                  <a:moveTo>
                    <a:pt x="0" y="0"/>
                  </a:moveTo>
                  <a:lnTo>
                    <a:pt x="6497320" y="0"/>
                  </a:lnTo>
                  <a:lnTo>
                    <a:pt x="6497320" y="585724"/>
                  </a:lnTo>
                  <a:lnTo>
                    <a:pt x="0" y="585724"/>
                  </a:lnTo>
                  <a:close/>
                </a:path>
              </a:pathLst>
            </a:custGeom>
            <a:blipFill>
              <a:blip r:embed="rId3">
                <a:alphaModFix amt="0"/>
              </a:blip>
              <a:stretch>
                <a:fillRect l="0" t="-165997" r="0" b="-165988"/>
              </a:stretch>
            </a:blipFill>
          </p:spPr>
        </p:sp>
      </p:grpSp>
      <p:grpSp>
        <p:nvGrpSpPr>
          <p:cNvPr name="Group 87" id="87"/>
          <p:cNvGrpSpPr/>
          <p:nvPr/>
        </p:nvGrpSpPr>
        <p:grpSpPr>
          <a:xfrm rot="0">
            <a:off x="12559951" y="4391987"/>
            <a:ext cx="4872990" cy="453542"/>
            <a:chOff x="0" y="0"/>
            <a:chExt cx="6497320" cy="604723"/>
          </a:xfrm>
        </p:grpSpPr>
        <p:sp>
          <p:nvSpPr>
            <p:cNvPr name="Freeform 88" id="88"/>
            <p:cNvSpPr/>
            <p:nvPr/>
          </p:nvSpPr>
          <p:spPr>
            <a:xfrm flipH="false" flipV="false" rot="0">
              <a:off x="0" y="0"/>
              <a:ext cx="6497320" cy="604723"/>
            </a:xfrm>
            <a:custGeom>
              <a:avLst/>
              <a:gdLst/>
              <a:ahLst/>
              <a:cxnLst/>
              <a:rect r="r" b="b" t="t" l="l"/>
              <a:pathLst>
                <a:path h="604723" w="6497320">
                  <a:moveTo>
                    <a:pt x="0" y="0"/>
                  </a:moveTo>
                  <a:lnTo>
                    <a:pt x="6497320" y="0"/>
                  </a:lnTo>
                  <a:lnTo>
                    <a:pt x="6497320" y="604723"/>
                  </a:lnTo>
                  <a:lnTo>
                    <a:pt x="0" y="604723"/>
                  </a:lnTo>
                  <a:close/>
                </a:path>
              </a:pathLst>
            </a:custGeom>
            <a:blipFill>
              <a:blip r:embed="rId4">
                <a:alphaModFix amt="0"/>
              </a:blip>
              <a:stretch>
                <a:fillRect l="0" t="-159352" r="0" b="-159352"/>
              </a:stretch>
            </a:blipFill>
          </p:spPr>
        </p:sp>
        <p:sp>
          <p:nvSpPr>
            <p:cNvPr name="TextBox 89" id="89"/>
            <p:cNvSpPr txBox="true"/>
            <p:nvPr/>
          </p:nvSpPr>
          <p:spPr>
            <a:xfrm>
              <a:off x="0" y="-19050"/>
              <a:ext cx="6497320" cy="623773"/>
            </a:xfrm>
            <a:prstGeom prst="rect">
              <a:avLst/>
            </a:prstGeom>
          </p:spPr>
          <p:txBody>
            <a:bodyPr anchor="ctr" rtlCol="false" tIns="0" lIns="0" bIns="0" rIns="0"/>
            <a:lstStyle/>
            <a:p>
              <a:pPr algn="l">
                <a:lnSpc>
                  <a:spcPts val="2341"/>
                </a:lnSpc>
              </a:pPr>
              <a:r>
                <a:rPr lang="en-US" sz="1950" b="true">
                  <a:solidFill>
                    <a:srgbClr val="000000"/>
                  </a:solidFill>
                  <a:latin typeface="Poppins Bold"/>
                  <a:ea typeface="Poppins Bold"/>
                  <a:cs typeface="Poppins Bold"/>
                  <a:sym typeface="Poppins Bold"/>
                </a:rPr>
                <a:t>Limited verification</a:t>
              </a:r>
            </a:p>
          </p:txBody>
        </p:sp>
      </p:grpSp>
      <p:sp>
        <p:nvSpPr>
          <p:cNvPr name="TextBox 90" id="90"/>
          <p:cNvSpPr txBox="true"/>
          <p:nvPr/>
        </p:nvSpPr>
        <p:spPr>
          <a:xfrm rot="0">
            <a:off x="12559951" y="4824241"/>
            <a:ext cx="4872990" cy="1531229"/>
          </a:xfrm>
          <a:prstGeom prst="rect">
            <a:avLst/>
          </a:prstGeom>
        </p:spPr>
        <p:txBody>
          <a:bodyPr anchor="t" rtlCol="false" tIns="0" lIns="0" bIns="0" rIns="0">
            <a:spAutoFit/>
          </a:bodyPr>
          <a:lstStyle/>
          <a:p>
            <a:pPr algn="l">
              <a:lnSpc>
                <a:spcPts val="2175"/>
              </a:lnSpc>
            </a:pPr>
            <a:r>
              <a:rPr lang="en-US" sz="1575">
                <a:solidFill>
                  <a:srgbClr val="000000"/>
                </a:solidFill>
                <a:latin typeface="Poppins"/>
                <a:ea typeface="Poppins"/>
                <a:cs typeface="Poppins"/>
                <a:sym typeface="Poppins"/>
              </a:rPr>
              <a:t>Recruiters need objective evidence of competencies.</a:t>
            </a:r>
          </a:p>
        </p:txBody>
      </p:sp>
      <p:grpSp>
        <p:nvGrpSpPr>
          <p:cNvPr name="Group 91" id="91"/>
          <p:cNvGrpSpPr/>
          <p:nvPr/>
        </p:nvGrpSpPr>
        <p:grpSpPr>
          <a:xfrm rot="0">
            <a:off x="754971" y="6932000"/>
            <a:ext cx="16815244" cy="1166717"/>
            <a:chOff x="0" y="0"/>
            <a:chExt cx="22420326" cy="1555623"/>
          </a:xfrm>
        </p:grpSpPr>
        <p:sp>
          <p:nvSpPr>
            <p:cNvPr name="Freeform 92" id="92"/>
            <p:cNvSpPr/>
            <p:nvPr/>
          </p:nvSpPr>
          <p:spPr>
            <a:xfrm flipH="false" flipV="false" rot="0">
              <a:off x="0" y="0"/>
              <a:ext cx="22420326" cy="1555623"/>
            </a:xfrm>
            <a:custGeom>
              <a:avLst/>
              <a:gdLst/>
              <a:ahLst/>
              <a:cxnLst/>
              <a:rect r="r" b="b" t="t" l="l"/>
              <a:pathLst>
                <a:path h="1555623" w="22420326">
                  <a:moveTo>
                    <a:pt x="0" y="219583"/>
                  </a:moveTo>
                  <a:cubicBezTo>
                    <a:pt x="0" y="98298"/>
                    <a:pt x="98298" y="0"/>
                    <a:pt x="219583" y="0"/>
                  </a:cubicBezTo>
                  <a:lnTo>
                    <a:pt x="22200744" y="0"/>
                  </a:lnTo>
                  <a:cubicBezTo>
                    <a:pt x="22322028" y="0"/>
                    <a:pt x="22420326" y="98298"/>
                    <a:pt x="22420326" y="219583"/>
                  </a:cubicBezTo>
                  <a:lnTo>
                    <a:pt x="22420326" y="1336040"/>
                  </a:lnTo>
                  <a:cubicBezTo>
                    <a:pt x="22420326" y="1457325"/>
                    <a:pt x="22322028" y="1555623"/>
                    <a:pt x="22200744" y="1555623"/>
                  </a:cubicBezTo>
                  <a:lnTo>
                    <a:pt x="219583" y="1555623"/>
                  </a:lnTo>
                  <a:cubicBezTo>
                    <a:pt x="98298" y="1555750"/>
                    <a:pt x="0" y="1457325"/>
                    <a:pt x="0" y="1336040"/>
                  </a:cubicBezTo>
                  <a:close/>
                </a:path>
              </a:pathLst>
            </a:custGeom>
            <a:solidFill>
              <a:srgbClr val="737AE6"/>
            </a:solidFill>
          </p:spPr>
        </p:sp>
      </p:grpSp>
      <p:grpSp>
        <p:nvGrpSpPr>
          <p:cNvPr name="Group 93" id="93"/>
          <p:cNvGrpSpPr/>
          <p:nvPr/>
        </p:nvGrpSpPr>
        <p:grpSpPr>
          <a:xfrm rot="0">
            <a:off x="1235402" y="6932000"/>
            <a:ext cx="15923000" cy="1166774"/>
            <a:chOff x="0" y="0"/>
            <a:chExt cx="21230666" cy="1555699"/>
          </a:xfrm>
        </p:grpSpPr>
        <p:sp>
          <p:nvSpPr>
            <p:cNvPr name="Freeform 94" id="94"/>
            <p:cNvSpPr/>
            <p:nvPr/>
          </p:nvSpPr>
          <p:spPr>
            <a:xfrm flipH="false" flipV="false" rot="0">
              <a:off x="0" y="0"/>
              <a:ext cx="21230717" cy="1555750"/>
            </a:xfrm>
            <a:custGeom>
              <a:avLst/>
              <a:gdLst/>
              <a:ahLst/>
              <a:cxnLst/>
              <a:rect r="r" b="b" t="t" l="l"/>
              <a:pathLst>
                <a:path h="1555750" w="21230717">
                  <a:moveTo>
                    <a:pt x="0" y="0"/>
                  </a:moveTo>
                  <a:lnTo>
                    <a:pt x="21230717" y="0"/>
                  </a:lnTo>
                  <a:lnTo>
                    <a:pt x="21230717" y="1555750"/>
                  </a:lnTo>
                  <a:lnTo>
                    <a:pt x="0" y="1555750"/>
                  </a:lnTo>
                  <a:close/>
                </a:path>
              </a:pathLst>
            </a:custGeom>
            <a:blipFill>
              <a:blip r:embed="rId3">
                <a:alphaModFix amt="0"/>
              </a:blip>
              <a:stretch>
                <a:fillRect l="0" t="-215720" r="0" b="-215717"/>
              </a:stretch>
            </a:blipFill>
          </p:spPr>
        </p:sp>
      </p:grpSp>
      <p:grpSp>
        <p:nvGrpSpPr>
          <p:cNvPr name="Group 95" id="95"/>
          <p:cNvGrpSpPr/>
          <p:nvPr/>
        </p:nvGrpSpPr>
        <p:grpSpPr>
          <a:xfrm rot="0">
            <a:off x="1235402" y="6910568"/>
            <a:ext cx="15923000" cy="1188206"/>
            <a:chOff x="0" y="0"/>
            <a:chExt cx="21230666" cy="1584274"/>
          </a:xfrm>
        </p:grpSpPr>
        <p:sp>
          <p:nvSpPr>
            <p:cNvPr name="Freeform 96" id="96"/>
            <p:cNvSpPr/>
            <p:nvPr/>
          </p:nvSpPr>
          <p:spPr>
            <a:xfrm flipH="false" flipV="false" rot="0">
              <a:off x="0" y="0"/>
              <a:ext cx="21230667" cy="1584274"/>
            </a:xfrm>
            <a:custGeom>
              <a:avLst/>
              <a:gdLst/>
              <a:ahLst/>
              <a:cxnLst/>
              <a:rect r="r" b="b" t="t" l="l"/>
              <a:pathLst>
                <a:path h="1584274" w="21230667">
                  <a:moveTo>
                    <a:pt x="0" y="0"/>
                  </a:moveTo>
                  <a:lnTo>
                    <a:pt x="21230667" y="0"/>
                  </a:lnTo>
                  <a:lnTo>
                    <a:pt x="21230667" y="1584274"/>
                  </a:lnTo>
                  <a:lnTo>
                    <a:pt x="0" y="1584274"/>
                  </a:lnTo>
                  <a:close/>
                </a:path>
              </a:pathLst>
            </a:custGeom>
            <a:blipFill>
              <a:blip r:embed="rId4">
                <a:alphaModFix amt="0"/>
              </a:blip>
              <a:stretch>
                <a:fillRect l="0" t="-211116" r="0" b="-211116"/>
              </a:stretch>
            </a:blipFill>
          </p:spPr>
        </p:sp>
        <p:sp>
          <p:nvSpPr>
            <p:cNvPr name="TextBox 97" id="97"/>
            <p:cNvSpPr txBox="true"/>
            <p:nvPr/>
          </p:nvSpPr>
          <p:spPr>
            <a:xfrm>
              <a:off x="0" y="-28575"/>
              <a:ext cx="21230666" cy="1612849"/>
            </a:xfrm>
            <a:prstGeom prst="rect">
              <a:avLst/>
            </a:prstGeom>
          </p:spPr>
          <p:txBody>
            <a:bodyPr anchor="ctr" rtlCol="false" tIns="0" lIns="0" bIns="0" rIns="0"/>
            <a:lstStyle/>
            <a:p>
              <a:pPr algn="l">
                <a:lnSpc>
                  <a:spcPts val="2702"/>
                </a:lnSpc>
              </a:pPr>
              <a:r>
                <a:rPr lang="en-US" b="true" sz="2250" i="true">
                  <a:solidFill>
                    <a:srgbClr val="FFFFFF"/>
                  </a:solidFill>
                  <a:latin typeface="Poppins Bold Italics"/>
                  <a:ea typeface="Poppins Bold Italics"/>
                  <a:cs typeface="Poppins Bold Italics"/>
                  <a:sym typeface="Poppins Bold Italics"/>
                </a:rPr>
                <a:t>How can we transform candidate information into reliable evidence of skills?</a:t>
              </a:r>
            </a:p>
          </p:txBody>
        </p:sp>
      </p:grpSp>
      <p:grpSp>
        <p:nvGrpSpPr>
          <p:cNvPr name="Group 98" id="98"/>
          <p:cNvGrpSpPr/>
          <p:nvPr/>
        </p:nvGrpSpPr>
        <p:grpSpPr>
          <a:xfrm rot="0">
            <a:off x="686333" y="9718519"/>
            <a:ext cx="8236039" cy="411804"/>
            <a:chOff x="0" y="0"/>
            <a:chExt cx="10981385" cy="549072"/>
          </a:xfrm>
        </p:grpSpPr>
        <p:sp>
          <p:nvSpPr>
            <p:cNvPr name="Freeform 99" id="99"/>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00" id="100"/>
          <p:cNvGrpSpPr/>
          <p:nvPr/>
        </p:nvGrpSpPr>
        <p:grpSpPr>
          <a:xfrm rot="0">
            <a:off x="686333" y="9704232"/>
            <a:ext cx="8236039" cy="426091"/>
            <a:chOff x="0" y="0"/>
            <a:chExt cx="10981385" cy="568122"/>
          </a:xfrm>
        </p:grpSpPr>
        <p:sp>
          <p:nvSpPr>
            <p:cNvPr name="Freeform 101" id="101"/>
            <p:cNvSpPr/>
            <p:nvPr/>
          </p:nvSpPr>
          <p:spPr>
            <a:xfrm flipH="false" flipV="false" rot="0">
              <a:off x="0" y="0"/>
              <a:ext cx="10981386" cy="568119"/>
            </a:xfrm>
            <a:custGeom>
              <a:avLst/>
              <a:gdLst/>
              <a:ahLst/>
              <a:cxnLst/>
              <a:rect r="r" b="b" t="t" l="l"/>
              <a:pathLst>
                <a:path h="568119" w="10981386">
                  <a:moveTo>
                    <a:pt x="0" y="0"/>
                  </a:moveTo>
                  <a:lnTo>
                    <a:pt x="10981386" y="0"/>
                  </a:lnTo>
                  <a:lnTo>
                    <a:pt x="10981386" y="568119"/>
                  </a:lnTo>
                  <a:lnTo>
                    <a:pt x="0" y="568119"/>
                  </a:lnTo>
                  <a:close/>
                </a:path>
              </a:pathLst>
            </a:custGeom>
            <a:blipFill>
              <a:blip r:embed="rId4">
                <a:alphaModFix amt="0"/>
              </a:blip>
              <a:stretch>
                <a:fillRect l="0" t="-326633" r="0" b="-326633"/>
              </a:stretch>
            </a:blipFill>
          </p:spPr>
        </p:sp>
        <p:sp>
          <p:nvSpPr>
            <p:cNvPr name="TextBox 102" id="102"/>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03" id="103"/>
          <p:cNvGrpSpPr/>
          <p:nvPr/>
        </p:nvGrpSpPr>
        <p:grpSpPr>
          <a:xfrm rot="0">
            <a:off x="16242830" y="9718519"/>
            <a:ext cx="1372676" cy="411804"/>
            <a:chOff x="0" y="0"/>
            <a:chExt cx="1830235" cy="549072"/>
          </a:xfrm>
        </p:grpSpPr>
        <p:sp>
          <p:nvSpPr>
            <p:cNvPr name="Freeform 104" id="104"/>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509" cy="1235392"/>
            <a:chOff x="0" y="0"/>
            <a:chExt cx="2379345" cy="1647190"/>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4" t="0" r="-38884" b="0"/>
              </a:stretch>
            </a:blipFill>
          </p:spPr>
        </p:sp>
      </p:grpSp>
      <p:grpSp>
        <p:nvGrpSpPr>
          <p:cNvPr name="Group 6" id="6"/>
          <p:cNvGrpSpPr/>
          <p:nvPr/>
        </p:nvGrpSpPr>
        <p:grpSpPr>
          <a:xfrm rot="0">
            <a:off x="686333" y="643471"/>
            <a:ext cx="1784471" cy="1495406"/>
            <a:chOff x="0" y="0"/>
            <a:chExt cx="2379294" cy="1993875"/>
          </a:xfrm>
        </p:grpSpPr>
        <p:sp>
          <p:nvSpPr>
            <p:cNvPr name="Freeform 7" id="7"/>
            <p:cNvSpPr/>
            <p:nvPr/>
          </p:nvSpPr>
          <p:spPr>
            <a:xfrm flipH="false" flipV="false" rot="0">
              <a:off x="0" y="0"/>
              <a:ext cx="2379345" cy="1993900"/>
            </a:xfrm>
            <a:custGeom>
              <a:avLst/>
              <a:gdLst/>
              <a:ahLst/>
              <a:cxnLst/>
              <a:rect r="r" b="b" t="t" l="l"/>
              <a:pathLst>
                <a:path h="1993900" w="2379345">
                  <a:moveTo>
                    <a:pt x="0" y="0"/>
                  </a:moveTo>
                  <a:lnTo>
                    <a:pt x="2379345" y="0"/>
                  </a:lnTo>
                  <a:lnTo>
                    <a:pt x="2379345" y="1993900"/>
                  </a:lnTo>
                  <a:lnTo>
                    <a:pt x="0" y="1993900"/>
                  </a:lnTo>
                  <a:close/>
                </a:path>
              </a:pathLst>
            </a:custGeom>
            <a:blipFill>
              <a:blip r:embed="rId4">
                <a:alphaModFix amt="0"/>
              </a:blip>
              <a:stretch>
                <a:fillRect l="-57593" t="0" r="-57591" b="1"/>
              </a:stretch>
            </a:blipFill>
          </p:spPr>
        </p:sp>
      </p:grpSp>
      <p:grpSp>
        <p:nvGrpSpPr>
          <p:cNvPr name="Group 8" id="8"/>
          <p:cNvGrpSpPr/>
          <p:nvPr/>
        </p:nvGrpSpPr>
        <p:grpSpPr>
          <a:xfrm rot="0">
            <a:off x="2127647" y="796147"/>
            <a:ext cx="14413040" cy="1235392"/>
            <a:chOff x="0" y="0"/>
            <a:chExt cx="19217386" cy="1647190"/>
          </a:xfrm>
        </p:grpSpPr>
        <p:sp>
          <p:nvSpPr>
            <p:cNvPr name="Freeform 9" id="9"/>
            <p:cNvSpPr/>
            <p:nvPr/>
          </p:nvSpPr>
          <p:spPr>
            <a:xfrm flipH="false" flipV="false" rot="0">
              <a:off x="0" y="0"/>
              <a:ext cx="19217387" cy="1647190"/>
            </a:xfrm>
            <a:custGeom>
              <a:avLst/>
              <a:gdLst/>
              <a:ahLst/>
              <a:cxnLst/>
              <a:rect r="r" b="b" t="t" l="l"/>
              <a:pathLst>
                <a:path h="1647190" w="19217387">
                  <a:moveTo>
                    <a:pt x="0" y="0"/>
                  </a:moveTo>
                  <a:lnTo>
                    <a:pt x="19217387" y="0"/>
                  </a:lnTo>
                  <a:lnTo>
                    <a:pt x="19217387" y="1647190"/>
                  </a:lnTo>
                  <a:lnTo>
                    <a:pt x="0" y="1647190"/>
                  </a:lnTo>
                  <a:close/>
                </a:path>
              </a:pathLst>
            </a:custGeom>
            <a:blipFill>
              <a:blip r:embed="rId3">
                <a:alphaModFix amt="0"/>
              </a:blip>
              <a:stretch>
                <a:fillRect l="0" t="-177169" r="0" b="-177168"/>
              </a:stretch>
            </a:blipFill>
          </p:spPr>
        </p:sp>
      </p:grpSp>
      <p:grpSp>
        <p:nvGrpSpPr>
          <p:cNvPr name="Group 10" id="10"/>
          <p:cNvGrpSpPr/>
          <p:nvPr/>
        </p:nvGrpSpPr>
        <p:grpSpPr>
          <a:xfrm rot="0">
            <a:off x="738283" y="767572"/>
            <a:ext cx="14413059" cy="1263977"/>
            <a:chOff x="0" y="0"/>
            <a:chExt cx="19217411" cy="1685303"/>
          </a:xfrm>
        </p:grpSpPr>
        <p:sp>
          <p:nvSpPr>
            <p:cNvPr name="Freeform 11" id="11"/>
            <p:cNvSpPr/>
            <p:nvPr/>
          </p:nvSpPr>
          <p:spPr>
            <a:xfrm flipH="false" flipV="false" rot="0">
              <a:off x="0" y="0"/>
              <a:ext cx="19217387" cy="1685290"/>
            </a:xfrm>
            <a:custGeom>
              <a:avLst/>
              <a:gdLst/>
              <a:ahLst/>
              <a:cxnLst/>
              <a:rect r="r" b="b" t="t" l="l"/>
              <a:pathLst>
                <a:path h="1685290" w="19217387">
                  <a:moveTo>
                    <a:pt x="0" y="0"/>
                  </a:moveTo>
                  <a:lnTo>
                    <a:pt x="19217387" y="0"/>
                  </a:lnTo>
                  <a:lnTo>
                    <a:pt x="19217387" y="1685290"/>
                  </a:lnTo>
                  <a:lnTo>
                    <a:pt x="0" y="1685290"/>
                  </a:lnTo>
                  <a:close/>
                </a:path>
              </a:pathLst>
            </a:custGeom>
            <a:blipFill>
              <a:blip r:embed="rId4">
                <a:alphaModFix amt="0"/>
              </a:blip>
              <a:stretch>
                <a:fillRect l="0" t="-172033" r="0" b="-172033"/>
              </a:stretch>
            </a:blipFill>
          </p:spPr>
        </p:sp>
      </p:grpSp>
      <p:grpSp>
        <p:nvGrpSpPr>
          <p:cNvPr name="Group 12" id="12"/>
          <p:cNvGrpSpPr/>
          <p:nvPr/>
        </p:nvGrpSpPr>
        <p:grpSpPr>
          <a:xfrm rot="0">
            <a:off x="738283" y="738997"/>
            <a:ext cx="14413059" cy="1292552"/>
            <a:chOff x="0" y="0"/>
            <a:chExt cx="19217411" cy="1723403"/>
          </a:xfrm>
        </p:grpSpPr>
        <p:sp>
          <p:nvSpPr>
            <p:cNvPr name="Freeform 13" id="13"/>
            <p:cNvSpPr/>
            <p:nvPr/>
          </p:nvSpPr>
          <p:spPr>
            <a:xfrm flipH="false" flipV="false" rot="0">
              <a:off x="0" y="0"/>
              <a:ext cx="19217411" cy="1723403"/>
            </a:xfrm>
            <a:custGeom>
              <a:avLst/>
              <a:gdLst/>
              <a:ahLst/>
              <a:cxnLst/>
              <a:rect r="r" b="b" t="t" l="l"/>
              <a:pathLst>
                <a:path h="1723403" w="19217411">
                  <a:moveTo>
                    <a:pt x="0" y="0"/>
                  </a:moveTo>
                  <a:lnTo>
                    <a:pt x="19217411" y="0"/>
                  </a:lnTo>
                  <a:lnTo>
                    <a:pt x="19217411" y="1723403"/>
                  </a:lnTo>
                  <a:lnTo>
                    <a:pt x="0" y="1723403"/>
                  </a:lnTo>
                  <a:close/>
                </a:path>
              </a:pathLst>
            </a:custGeom>
            <a:blipFill>
              <a:blip r:embed="rId5">
                <a:alphaModFix amt="0"/>
              </a:blip>
              <a:stretch>
                <a:fillRect l="0" t="-167274" r="0" b="-167274"/>
              </a:stretch>
            </a:blipFill>
          </p:spPr>
        </p:sp>
        <p:sp>
          <p:nvSpPr>
            <p:cNvPr name="TextBox 14" id="14"/>
            <p:cNvSpPr txBox="true"/>
            <p:nvPr/>
          </p:nvSpPr>
          <p:spPr>
            <a:xfrm>
              <a:off x="0" y="-38100"/>
              <a:ext cx="19217411" cy="1761503"/>
            </a:xfrm>
            <a:prstGeom prst="rect">
              <a:avLst/>
            </a:prstGeom>
          </p:spPr>
          <p:txBody>
            <a:bodyPr anchor="ctr" rtlCol="false" tIns="0" lIns="0" bIns="0" rIns="0"/>
            <a:lstStyle/>
            <a:p>
              <a:pPr algn="l">
                <a:lnSpc>
                  <a:spcPts val="4683"/>
                </a:lnSpc>
              </a:pPr>
              <a:r>
                <a:rPr lang="en-US" sz="3903" b="true">
                  <a:solidFill>
                    <a:srgbClr val="000000"/>
                  </a:solidFill>
                  <a:latin typeface="Poppins Bold"/>
                  <a:ea typeface="Poppins Bold"/>
                  <a:cs typeface="Poppins Bold"/>
                  <a:sym typeface="Poppins Bold"/>
                </a:rPr>
                <a:t>Existing Solutions &amp; Identified Gap</a:t>
              </a:r>
            </a:p>
          </p:txBody>
        </p:sp>
      </p:grpSp>
      <p:sp>
        <p:nvSpPr>
          <p:cNvPr name="Freeform 15" id="15"/>
          <p:cNvSpPr/>
          <p:nvPr/>
        </p:nvSpPr>
        <p:spPr>
          <a:xfrm flipH="false" flipV="false" rot="0">
            <a:off x="738283" y="2385489"/>
            <a:ext cx="5455358" cy="2450001"/>
          </a:xfrm>
          <a:custGeom>
            <a:avLst/>
            <a:gdLst/>
            <a:ahLst/>
            <a:cxnLst/>
            <a:rect r="r" b="b" t="t" l="l"/>
            <a:pathLst>
              <a:path h="2450001" w="5455358">
                <a:moveTo>
                  <a:pt x="0" y="0"/>
                </a:moveTo>
                <a:lnTo>
                  <a:pt x="5455358" y="0"/>
                </a:lnTo>
                <a:lnTo>
                  <a:pt x="5455358" y="2450001"/>
                </a:lnTo>
                <a:lnTo>
                  <a:pt x="0" y="2450001"/>
                </a:lnTo>
                <a:lnTo>
                  <a:pt x="0" y="0"/>
                </a:lnTo>
                <a:close/>
              </a:path>
            </a:pathLst>
          </a:custGeom>
          <a:blipFill>
            <a:blip r:embed="rId6">
              <a:extLst>
                <a:ext uri="{96DAC541-7B7A-43D3-8B79-37D633B846F1}">
                  <asvg:svgBlip xmlns:asvg="http://schemas.microsoft.com/office/drawing/2016/SVG/main" r:embed="rId7"/>
                </a:ext>
              </a:extLst>
            </a:blip>
            <a:stretch>
              <a:fillRect l="-22500" t="0" r="-22500" b="0"/>
            </a:stretch>
          </a:blipFill>
        </p:spPr>
      </p:sp>
      <p:grpSp>
        <p:nvGrpSpPr>
          <p:cNvPr name="Group 16" id="16"/>
          <p:cNvGrpSpPr/>
          <p:nvPr/>
        </p:nvGrpSpPr>
        <p:grpSpPr>
          <a:xfrm rot="0">
            <a:off x="1029500" y="2621804"/>
            <a:ext cx="4872990" cy="439293"/>
            <a:chOff x="0" y="0"/>
            <a:chExt cx="6497320" cy="585724"/>
          </a:xfrm>
        </p:grpSpPr>
        <p:sp>
          <p:nvSpPr>
            <p:cNvPr name="Freeform 17" id="17"/>
            <p:cNvSpPr/>
            <p:nvPr/>
          </p:nvSpPr>
          <p:spPr>
            <a:xfrm flipH="false" flipV="false" rot="0">
              <a:off x="0" y="0"/>
              <a:ext cx="6497320" cy="585724"/>
            </a:xfrm>
            <a:custGeom>
              <a:avLst/>
              <a:gdLst/>
              <a:ahLst/>
              <a:cxnLst/>
              <a:rect r="r" b="b" t="t" l="l"/>
              <a:pathLst>
                <a:path h="585724" w="6497320">
                  <a:moveTo>
                    <a:pt x="0" y="0"/>
                  </a:moveTo>
                  <a:lnTo>
                    <a:pt x="6497320" y="0"/>
                  </a:lnTo>
                  <a:lnTo>
                    <a:pt x="6497320" y="585724"/>
                  </a:lnTo>
                  <a:lnTo>
                    <a:pt x="0" y="585724"/>
                  </a:lnTo>
                  <a:close/>
                </a:path>
              </a:pathLst>
            </a:custGeom>
            <a:blipFill>
              <a:blip r:embed="rId3">
                <a:alphaModFix amt="0"/>
              </a:blip>
              <a:stretch>
                <a:fillRect l="0" t="-165993" r="0" b="-165993"/>
              </a:stretch>
            </a:blipFill>
          </p:spPr>
        </p:sp>
      </p:grpSp>
      <p:grpSp>
        <p:nvGrpSpPr>
          <p:cNvPr name="Group 18" id="18"/>
          <p:cNvGrpSpPr/>
          <p:nvPr/>
        </p:nvGrpSpPr>
        <p:grpSpPr>
          <a:xfrm rot="0">
            <a:off x="1029500" y="2607516"/>
            <a:ext cx="4872990" cy="453542"/>
            <a:chOff x="0" y="0"/>
            <a:chExt cx="6497320" cy="604723"/>
          </a:xfrm>
        </p:grpSpPr>
        <p:sp>
          <p:nvSpPr>
            <p:cNvPr name="Freeform 19" id="19"/>
            <p:cNvSpPr/>
            <p:nvPr/>
          </p:nvSpPr>
          <p:spPr>
            <a:xfrm flipH="false" flipV="false" rot="0">
              <a:off x="0" y="0"/>
              <a:ext cx="6497320" cy="604774"/>
            </a:xfrm>
            <a:custGeom>
              <a:avLst/>
              <a:gdLst/>
              <a:ahLst/>
              <a:cxnLst/>
              <a:rect r="r" b="b" t="t" l="l"/>
              <a:pathLst>
                <a:path h="604774" w="6497320">
                  <a:moveTo>
                    <a:pt x="0" y="0"/>
                  </a:moveTo>
                  <a:lnTo>
                    <a:pt x="6497320" y="0"/>
                  </a:lnTo>
                  <a:lnTo>
                    <a:pt x="6497320" y="604774"/>
                  </a:lnTo>
                  <a:lnTo>
                    <a:pt x="0" y="604774"/>
                  </a:lnTo>
                  <a:close/>
                </a:path>
              </a:pathLst>
            </a:custGeom>
            <a:blipFill>
              <a:blip r:embed="rId4">
                <a:alphaModFix amt="0"/>
              </a:blip>
              <a:stretch>
                <a:fillRect l="0" t="-159193" r="0" b="-159185"/>
              </a:stretch>
            </a:blipFill>
          </p:spPr>
        </p:sp>
      </p:grpSp>
      <p:grpSp>
        <p:nvGrpSpPr>
          <p:cNvPr name="Group 20" id="20"/>
          <p:cNvGrpSpPr/>
          <p:nvPr/>
        </p:nvGrpSpPr>
        <p:grpSpPr>
          <a:xfrm rot="0">
            <a:off x="1029500" y="2593229"/>
            <a:ext cx="4872990" cy="467830"/>
            <a:chOff x="0" y="0"/>
            <a:chExt cx="6497320" cy="623773"/>
          </a:xfrm>
        </p:grpSpPr>
        <p:sp>
          <p:nvSpPr>
            <p:cNvPr name="Freeform 21" id="21"/>
            <p:cNvSpPr/>
            <p:nvPr/>
          </p:nvSpPr>
          <p:spPr>
            <a:xfrm flipH="false" flipV="false" rot="0">
              <a:off x="0" y="0"/>
              <a:ext cx="6497320" cy="623773"/>
            </a:xfrm>
            <a:custGeom>
              <a:avLst/>
              <a:gdLst/>
              <a:ahLst/>
              <a:cxnLst/>
              <a:rect r="r" b="b" t="t" l="l"/>
              <a:pathLst>
                <a:path h="623773" w="6497320">
                  <a:moveTo>
                    <a:pt x="0" y="0"/>
                  </a:moveTo>
                  <a:lnTo>
                    <a:pt x="6497320" y="0"/>
                  </a:lnTo>
                  <a:lnTo>
                    <a:pt x="6497320" y="623773"/>
                  </a:lnTo>
                  <a:lnTo>
                    <a:pt x="0" y="623773"/>
                  </a:lnTo>
                  <a:close/>
                </a:path>
              </a:pathLst>
            </a:custGeom>
            <a:blipFill>
              <a:blip r:embed="rId5">
                <a:alphaModFix amt="0"/>
              </a:blip>
              <a:stretch>
                <a:fillRect l="0" t="-152959" r="0" b="-152959"/>
              </a:stretch>
            </a:blipFill>
          </p:spPr>
        </p:sp>
        <p:sp>
          <p:nvSpPr>
            <p:cNvPr name="TextBox 22" id="22"/>
            <p:cNvSpPr txBox="true"/>
            <p:nvPr/>
          </p:nvSpPr>
          <p:spPr>
            <a:xfrm>
              <a:off x="0" y="-19050"/>
              <a:ext cx="6497320" cy="642823"/>
            </a:xfrm>
            <a:prstGeom prst="rect">
              <a:avLst/>
            </a:prstGeom>
          </p:spPr>
          <p:txBody>
            <a:bodyPr anchor="ctr" rtlCol="false" tIns="0" lIns="0" bIns="0" rIns="0"/>
            <a:lstStyle/>
            <a:p>
              <a:pPr algn="l">
                <a:lnSpc>
                  <a:spcPts val="2340"/>
                </a:lnSpc>
              </a:pPr>
              <a:r>
                <a:rPr lang="en-US" sz="1950" b="true">
                  <a:solidFill>
                    <a:srgbClr val="000000"/>
                  </a:solidFill>
                  <a:latin typeface="Poppins Bold"/>
                  <a:ea typeface="Poppins Bold"/>
                  <a:cs typeface="Poppins Bold"/>
                  <a:sym typeface="Poppins Bold"/>
                </a:rPr>
                <a:t>LinkedIn Recruiter</a:t>
              </a:r>
            </a:p>
          </p:txBody>
        </p:sp>
      </p:grpSp>
      <p:sp>
        <p:nvSpPr>
          <p:cNvPr name="Freeform 23" id="23"/>
          <p:cNvSpPr/>
          <p:nvPr/>
        </p:nvSpPr>
        <p:spPr>
          <a:xfrm flipH="false" flipV="false" rot="0">
            <a:off x="6503508" y="2385489"/>
            <a:ext cx="5455358" cy="2450001"/>
          </a:xfrm>
          <a:custGeom>
            <a:avLst/>
            <a:gdLst/>
            <a:ahLst/>
            <a:cxnLst/>
            <a:rect r="r" b="b" t="t" l="l"/>
            <a:pathLst>
              <a:path h="2450001" w="5455358">
                <a:moveTo>
                  <a:pt x="0" y="0"/>
                </a:moveTo>
                <a:lnTo>
                  <a:pt x="5455358" y="0"/>
                </a:lnTo>
                <a:lnTo>
                  <a:pt x="5455358" y="2450001"/>
                </a:lnTo>
                <a:lnTo>
                  <a:pt x="0" y="2450001"/>
                </a:lnTo>
                <a:lnTo>
                  <a:pt x="0" y="0"/>
                </a:lnTo>
                <a:close/>
              </a:path>
            </a:pathLst>
          </a:custGeom>
          <a:blipFill>
            <a:blip r:embed="rId6">
              <a:extLst>
                <a:ext uri="{96DAC541-7B7A-43D3-8B79-37D633B846F1}">
                  <asvg:svgBlip xmlns:asvg="http://schemas.microsoft.com/office/drawing/2016/SVG/main" r:embed="rId7"/>
                </a:ext>
              </a:extLst>
            </a:blip>
            <a:stretch>
              <a:fillRect l="-22500" t="0" r="-22500" b="0"/>
            </a:stretch>
          </a:blipFill>
        </p:spPr>
      </p:sp>
      <p:grpSp>
        <p:nvGrpSpPr>
          <p:cNvPr name="Group 24" id="24"/>
          <p:cNvGrpSpPr/>
          <p:nvPr/>
        </p:nvGrpSpPr>
        <p:grpSpPr>
          <a:xfrm rot="0">
            <a:off x="6794725" y="2621804"/>
            <a:ext cx="4872990" cy="439293"/>
            <a:chOff x="0" y="0"/>
            <a:chExt cx="6497320" cy="585724"/>
          </a:xfrm>
        </p:grpSpPr>
        <p:sp>
          <p:nvSpPr>
            <p:cNvPr name="Freeform 25" id="25"/>
            <p:cNvSpPr/>
            <p:nvPr/>
          </p:nvSpPr>
          <p:spPr>
            <a:xfrm flipH="false" flipV="false" rot="0">
              <a:off x="0" y="0"/>
              <a:ext cx="6497320" cy="585724"/>
            </a:xfrm>
            <a:custGeom>
              <a:avLst/>
              <a:gdLst/>
              <a:ahLst/>
              <a:cxnLst/>
              <a:rect r="r" b="b" t="t" l="l"/>
              <a:pathLst>
                <a:path h="585724" w="6497320">
                  <a:moveTo>
                    <a:pt x="0" y="0"/>
                  </a:moveTo>
                  <a:lnTo>
                    <a:pt x="6497320" y="0"/>
                  </a:lnTo>
                  <a:lnTo>
                    <a:pt x="6497320" y="585724"/>
                  </a:lnTo>
                  <a:lnTo>
                    <a:pt x="0" y="585724"/>
                  </a:lnTo>
                  <a:close/>
                </a:path>
              </a:pathLst>
            </a:custGeom>
            <a:blipFill>
              <a:blip r:embed="rId3">
                <a:alphaModFix amt="0"/>
              </a:blip>
              <a:stretch>
                <a:fillRect l="0" t="-165993" r="0" b="-165993"/>
              </a:stretch>
            </a:blipFill>
          </p:spPr>
        </p:sp>
      </p:grpSp>
      <p:grpSp>
        <p:nvGrpSpPr>
          <p:cNvPr name="Group 26" id="26"/>
          <p:cNvGrpSpPr/>
          <p:nvPr/>
        </p:nvGrpSpPr>
        <p:grpSpPr>
          <a:xfrm rot="0">
            <a:off x="6794725" y="2607516"/>
            <a:ext cx="4872990" cy="453542"/>
            <a:chOff x="0" y="0"/>
            <a:chExt cx="6497320" cy="604723"/>
          </a:xfrm>
        </p:grpSpPr>
        <p:sp>
          <p:nvSpPr>
            <p:cNvPr name="Freeform 27" id="27"/>
            <p:cNvSpPr/>
            <p:nvPr/>
          </p:nvSpPr>
          <p:spPr>
            <a:xfrm flipH="false" flipV="false" rot="0">
              <a:off x="0" y="0"/>
              <a:ext cx="6497320" cy="604774"/>
            </a:xfrm>
            <a:custGeom>
              <a:avLst/>
              <a:gdLst/>
              <a:ahLst/>
              <a:cxnLst/>
              <a:rect r="r" b="b" t="t" l="l"/>
              <a:pathLst>
                <a:path h="604774" w="6497320">
                  <a:moveTo>
                    <a:pt x="0" y="0"/>
                  </a:moveTo>
                  <a:lnTo>
                    <a:pt x="6497320" y="0"/>
                  </a:lnTo>
                  <a:lnTo>
                    <a:pt x="6497320" y="604774"/>
                  </a:lnTo>
                  <a:lnTo>
                    <a:pt x="0" y="604774"/>
                  </a:lnTo>
                  <a:close/>
                </a:path>
              </a:pathLst>
            </a:custGeom>
            <a:blipFill>
              <a:blip r:embed="rId4">
                <a:alphaModFix amt="0"/>
              </a:blip>
              <a:stretch>
                <a:fillRect l="0" t="-159193" r="0" b="-159185"/>
              </a:stretch>
            </a:blipFill>
          </p:spPr>
        </p:sp>
      </p:grpSp>
      <p:grpSp>
        <p:nvGrpSpPr>
          <p:cNvPr name="Group 28" id="28"/>
          <p:cNvGrpSpPr/>
          <p:nvPr/>
        </p:nvGrpSpPr>
        <p:grpSpPr>
          <a:xfrm rot="0">
            <a:off x="6794725" y="2593229"/>
            <a:ext cx="4872990" cy="467830"/>
            <a:chOff x="0" y="0"/>
            <a:chExt cx="6497320" cy="623773"/>
          </a:xfrm>
        </p:grpSpPr>
        <p:sp>
          <p:nvSpPr>
            <p:cNvPr name="Freeform 29" id="29"/>
            <p:cNvSpPr/>
            <p:nvPr/>
          </p:nvSpPr>
          <p:spPr>
            <a:xfrm flipH="false" flipV="false" rot="0">
              <a:off x="0" y="0"/>
              <a:ext cx="6497320" cy="623773"/>
            </a:xfrm>
            <a:custGeom>
              <a:avLst/>
              <a:gdLst/>
              <a:ahLst/>
              <a:cxnLst/>
              <a:rect r="r" b="b" t="t" l="l"/>
              <a:pathLst>
                <a:path h="623773" w="6497320">
                  <a:moveTo>
                    <a:pt x="0" y="0"/>
                  </a:moveTo>
                  <a:lnTo>
                    <a:pt x="6497320" y="0"/>
                  </a:lnTo>
                  <a:lnTo>
                    <a:pt x="6497320" y="623773"/>
                  </a:lnTo>
                  <a:lnTo>
                    <a:pt x="0" y="623773"/>
                  </a:lnTo>
                  <a:close/>
                </a:path>
              </a:pathLst>
            </a:custGeom>
            <a:blipFill>
              <a:blip r:embed="rId5">
                <a:alphaModFix amt="0"/>
              </a:blip>
              <a:stretch>
                <a:fillRect l="0" t="-152959" r="0" b="-152959"/>
              </a:stretch>
            </a:blipFill>
          </p:spPr>
        </p:sp>
        <p:sp>
          <p:nvSpPr>
            <p:cNvPr name="TextBox 30" id="30"/>
            <p:cNvSpPr txBox="true"/>
            <p:nvPr/>
          </p:nvSpPr>
          <p:spPr>
            <a:xfrm>
              <a:off x="0" y="-19050"/>
              <a:ext cx="6497320" cy="642823"/>
            </a:xfrm>
            <a:prstGeom prst="rect">
              <a:avLst/>
            </a:prstGeom>
          </p:spPr>
          <p:txBody>
            <a:bodyPr anchor="ctr" rtlCol="false" tIns="0" lIns="0" bIns="0" rIns="0"/>
            <a:lstStyle/>
            <a:p>
              <a:pPr algn="l">
                <a:lnSpc>
                  <a:spcPts val="2340"/>
                </a:lnSpc>
              </a:pPr>
              <a:r>
                <a:rPr lang="en-US" sz="1950" b="true">
                  <a:solidFill>
                    <a:srgbClr val="000000"/>
                  </a:solidFill>
                  <a:latin typeface="Poppins Bold"/>
                  <a:ea typeface="Poppins Bold"/>
                  <a:cs typeface="Poppins Bold"/>
                  <a:sym typeface="Poppins Bold"/>
                </a:rPr>
                <a:t>TestGorilla</a:t>
              </a:r>
            </a:p>
          </p:txBody>
        </p:sp>
      </p:grpSp>
      <p:sp>
        <p:nvSpPr>
          <p:cNvPr name="Freeform 31" id="31"/>
          <p:cNvSpPr/>
          <p:nvPr/>
        </p:nvSpPr>
        <p:spPr>
          <a:xfrm flipH="false" flipV="false" rot="0">
            <a:off x="12268733" y="2385489"/>
            <a:ext cx="5455358" cy="2450001"/>
          </a:xfrm>
          <a:custGeom>
            <a:avLst/>
            <a:gdLst/>
            <a:ahLst/>
            <a:cxnLst/>
            <a:rect r="r" b="b" t="t" l="l"/>
            <a:pathLst>
              <a:path h="2450001" w="5455358">
                <a:moveTo>
                  <a:pt x="0" y="0"/>
                </a:moveTo>
                <a:lnTo>
                  <a:pt x="5455358" y="0"/>
                </a:lnTo>
                <a:lnTo>
                  <a:pt x="5455358" y="2450001"/>
                </a:lnTo>
                <a:lnTo>
                  <a:pt x="0" y="2450001"/>
                </a:lnTo>
                <a:lnTo>
                  <a:pt x="0" y="0"/>
                </a:lnTo>
                <a:close/>
              </a:path>
            </a:pathLst>
          </a:custGeom>
          <a:blipFill>
            <a:blip r:embed="rId6">
              <a:extLst>
                <a:ext uri="{96DAC541-7B7A-43D3-8B79-37D633B846F1}">
                  <asvg:svgBlip xmlns:asvg="http://schemas.microsoft.com/office/drawing/2016/SVG/main" r:embed="rId7"/>
                </a:ext>
              </a:extLst>
            </a:blip>
            <a:stretch>
              <a:fillRect l="-22500" t="0" r="-22500" b="0"/>
            </a:stretch>
          </a:blipFill>
        </p:spPr>
      </p:sp>
      <p:grpSp>
        <p:nvGrpSpPr>
          <p:cNvPr name="Group 32" id="32"/>
          <p:cNvGrpSpPr/>
          <p:nvPr/>
        </p:nvGrpSpPr>
        <p:grpSpPr>
          <a:xfrm rot="0">
            <a:off x="12559951" y="2621804"/>
            <a:ext cx="4872990" cy="439293"/>
            <a:chOff x="0" y="0"/>
            <a:chExt cx="6497320" cy="585724"/>
          </a:xfrm>
        </p:grpSpPr>
        <p:sp>
          <p:nvSpPr>
            <p:cNvPr name="Freeform 33" id="33"/>
            <p:cNvSpPr/>
            <p:nvPr/>
          </p:nvSpPr>
          <p:spPr>
            <a:xfrm flipH="false" flipV="false" rot="0">
              <a:off x="0" y="0"/>
              <a:ext cx="6497320" cy="585724"/>
            </a:xfrm>
            <a:custGeom>
              <a:avLst/>
              <a:gdLst/>
              <a:ahLst/>
              <a:cxnLst/>
              <a:rect r="r" b="b" t="t" l="l"/>
              <a:pathLst>
                <a:path h="585724" w="6497320">
                  <a:moveTo>
                    <a:pt x="0" y="0"/>
                  </a:moveTo>
                  <a:lnTo>
                    <a:pt x="6497320" y="0"/>
                  </a:lnTo>
                  <a:lnTo>
                    <a:pt x="6497320" y="585724"/>
                  </a:lnTo>
                  <a:lnTo>
                    <a:pt x="0" y="585724"/>
                  </a:lnTo>
                  <a:close/>
                </a:path>
              </a:pathLst>
            </a:custGeom>
            <a:blipFill>
              <a:blip r:embed="rId3">
                <a:alphaModFix amt="0"/>
              </a:blip>
              <a:stretch>
                <a:fillRect l="0" t="-165993" r="0" b="-165993"/>
              </a:stretch>
            </a:blipFill>
          </p:spPr>
        </p:sp>
      </p:grpSp>
      <p:grpSp>
        <p:nvGrpSpPr>
          <p:cNvPr name="Group 34" id="34"/>
          <p:cNvGrpSpPr/>
          <p:nvPr/>
        </p:nvGrpSpPr>
        <p:grpSpPr>
          <a:xfrm rot="0">
            <a:off x="12559951" y="2607516"/>
            <a:ext cx="4872990" cy="453542"/>
            <a:chOff x="0" y="0"/>
            <a:chExt cx="6497320" cy="604723"/>
          </a:xfrm>
        </p:grpSpPr>
        <p:sp>
          <p:nvSpPr>
            <p:cNvPr name="Freeform 35" id="35"/>
            <p:cNvSpPr/>
            <p:nvPr/>
          </p:nvSpPr>
          <p:spPr>
            <a:xfrm flipH="false" flipV="false" rot="0">
              <a:off x="0" y="0"/>
              <a:ext cx="6497320" cy="604774"/>
            </a:xfrm>
            <a:custGeom>
              <a:avLst/>
              <a:gdLst/>
              <a:ahLst/>
              <a:cxnLst/>
              <a:rect r="r" b="b" t="t" l="l"/>
              <a:pathLst>
                <a:path h="604774" w="6497320">
                  <a:moveTo>
                    <a:pt x="0" y="0"/>
                  </a:moveTo>
                  <a:lnTo>
                    <a:pt x="6497320" y="0"/>
                  </a:lnTo>
                  <a:lnTo>
                    <a:pt x="6497320" y="604774"/>
                  </a:lnTo>
                  <a:lnTo>
                    <a:pt x="0" y="604774"/>
                  </a:lnTo>
                  <a:close/>
                </a:path>
              </a:pathLst>
            </a:custGeom>
            <a:blipFill>
              <a:blip r:embed="rId4">
                <a:alphaModFix amt="0"/>
              </a:blip>
              <a:stretch>
                <a:fillRect l="0" t="-159193" r="0" b="-159185"/>
              </a:stretch>
            </a:blipFill>
          </p:spPr>
        </p:sp>
      </p:grpSp>
      <p:grpSp>
        <p:nvGrpSpPr>
          <p:cNvPr name="Group 36" id="36"/>
          <p:cNvGrpSpPr/>
          <p:nvPr/>
        </p:nvGrpSpPr>
        <p:grpSpPr>
          <a:xfrm rot="0">
            <a:off x="12559951" y="2593229"/>
            <a:ext cx="4872990" cy="467830"/>
            <a:chOff x="0" y="0"/>
            <a:chExt cx="6497320" cy="623773"/>
          </a:xfrm>
        </p:grpSpPr>
        <p:sp>
          <p:nvSpPr>
            <p:cNvPr name="Freeform 37" id="37"/>
            <p:cNvSpPr/>
            <p:nvPr/>
          </p:nvSpPr>
          <p:spPr>
            <a:xfrm flipH="false" flipV="false" rot="0">
              <a:off x="0" y="0"/>
              <a:ext cx="6497320" cy="623773"/>
            </a:xfrm>
            <a:custGeom>
              <a:avLst/>
              <a:gdLst/>
              <a:ahLst/>
              <a:cxnLst/>
              <a:rect r="r" b="b" t="t" l="l"/>
              <a:pathLst>
                <a:path h="623773" w="6497320">
                  <a:moveTo>
                    <a:pt x="0" y="0"/>
                  </a:moveTo>
                  <a:lnTo>
                    <a:pt x="6497320" y="0"/>
                  </a:lnTo>
                  <a:lnTo>
                    <a:pt x="6497320" y="623773"/>
                  </a:lnTo>
                  <a:lnTo>
                    <a:pt x="0" y="623773"/>
                  </a:lnTo>
                  <a:close/>
                </a:path>
              </a:pathLst>
            </a:custGeom>
            <a:blipFill>
              <a:blip r:embed="rId5">
                <a:alphaModFix amt="0"/>
              </a:blip>
              <a:stretch>
                <a:fillRect l="0" t="-152959" r="0" b="-152959"/>
              </a:stretch>
            </a:blipFill>
          </p:spPr>
        </p:sp>
        <p:sp>
          <p:nvSpPr>
            <p:cNvPr name="TextBox 38" id="38"/>
            <p:cNvSpPr txBox="true"/>
            <p:nvPr/>
          </p:nvSpPr>
          <p:spPr>
            <a:xfrm>
              <a:off x="0" y="-19050"/>
              <a:ext cx="6497320" cy="642823"/>
            </a:xfrm>
            <a:prstGeom prst="rect">
              <a:avLst/>
            </a:prstGeom>
          </p:spPr>
          <p:txBody>
            <a:bodyPr anchor="ctr" rtlCol="false" tIns="0" lIns="0" bIns="0" rIns="0"/>
            <a:lstStyle/>
            <a:p>
              <a:pPr algn="l">
                <a:lnSpc>
                  <a:spcPts val="2340"/>
                </a:lnSpc>
              </a:pPr>
              <a:r>
                <a:rPr lang="en-US" sz="1950" b="true">
                  <a:solidFill>
                    <a:srgbClr val="000000"/>
                  </a:solidFill>
                  <a:latin typeface="Poppins Bold"/>
                  <a:ea typeface="Poppins Bold"/>
                  <a:cs typeface="Poppins Bold"/>
                  <a:sym typeface="Poppins Bold"/>
                </a:rPr>
                <a:t>HackerRank</a:t>
              </a:r>
            </a:p>
          </p:txBody>
        </p:sp>
      </p:grpSp>
      <p:grpSp>
        <p:nvGrpSpPr>
          <p:cNvPr name="Group 39" id="39"/>
          <p:cNvGrpSpPr/>
          <p:nvPr/>
        </p:nvGrpSpPr>
        <p:grpSpPr>
          <a:xfrm rot="0">
            <a:off x="1235402" y="5285708"/>
            <a:ext cx="15923000" cy="1813046"/>
            <a:chOff x="0" y="0"/>
            <a:chExt cx="21230666" cy="2417394"/>
          </a:xfrm>
        </p:grpSpPr>
        <p:sp>
          <p:nvSpPr>
            <p:cNvPr name="Freeform 40" id="40"/>
            <p:cNvSpPr/>
            <p:nvPr/>
          </p:nvSpPr>
          <p:spPr>
            <a:xfrm flipH="false" flipV="false" rot="0">
              <a:off x="0" y="0"/>
              <a:ext cx="21230667" cy="2417394"/>
            </a:xfrm>
            <a:custGeom>
              <a:avLst/>
              <a:gdLst/>
              <a:ahLst/>
              <a:cxnLst/>
              <a:rect r="r" b="b" t="t" l="l"/>
              <a:pathLst>
                <a:path h="2417394" w="21230667">
                  <a:moveTo>
                    <a:pt x="0" y="0"/>
                  </a:moveTo>
                  <a:lnTo>
                    <a:pt x="21230667" y="0"/>
                  </a:lnTo>
                  <a:lnTo>
                    <a:pt x="21230667" y="2417394"/>
                  </a:lnTo>
                  <a:lnTo>
                    <a:pt x="0" y="2417394"/>
                  </a:lnTo>
                  <a:close/>
                </a:path>
              </a:pathLst>
            </a:custGeom>
            <a:blipFill>
              <a:blip r:embed="rId5">
                <a:alphaModFix amt="0"/>
              </a:blip>
              <a:stretch>
                <a:fillRect l="0" t="-121126" r="0" b="-121126"/>
              </a:stretch>
            </a:blipFill>
          </p:spPr>
        </p:sp>
        <p:sp>
          <p:nvSpPr>
            <p:cNvPr name="TextBox 41" id="41"/>
            <p:cNvSpPr txBox="true"/>
            <p:nvPr/>
          </p:nvSpPr>
          <p:spPr>
            <a:xfrm>
              <a:off x="0" y="-19050"/>
              <a:ext cx="21230666" cy="2436444"/>
            </a:xfrm>
            <a:prstGeom prst="rect">
              <a:avLst/>
            </a:prstGeom>
          </p:spPr>
          <p:txBody>
            <a:bodyPr anchor="ctr" rtlCol="false" tIns="0" lIns="0" bIns="0" rIns="0"/>
            <a:lstStyle/>
            <a:p>
              <a:pPr algn="l">
                <a:lnSpc>
                  <a:spcPts val="2881"/>
                </a:lnSpc>
              </a:pPr>
              <a:r>
                <a:rPr lang="en-US" sz="2400" b="true">
                  <a:solidFill>
                    <a:srgbClr val="000000"/>
                  </a:solidFill>
                  <a:latin typeface="Poppins Bold"/>
                  <a:ea typeface="Poppins Bold"/>
                  <a:cs typeface="Poppins Bold"/>
                  <a:sym typeface="Poppins Bold"/>
                </a:rPr>
                <a:t>Each platform is strong in one area but incomplete , no single solution unifies sourcing, verified assessment, and recruiter discovery.</a:t>
              </a:r>
            </a:p>
          </p:txBody>
        </p:sp>
      </p:grpSp>
      <p:grpSp>
        <p:nvGrpSpPr>
          <p:cNvPr name="Group 42" id="42"/>
          <p:cNvGrpSpPr/>
          <p:nvPr/>
        </p:nvGrpSpPr>
        <p:grpSpPr>
          <a:xfrm rot="0">
            <a:off x="686333" y="9718519"/>
            <a:ext cx="8236077" cy="411766"/>
            <a:chOff x="0" y="0"/>
            <a:chExt cx="10981436" cy="549021"/>
          </a:xfrm>
        </p:grpSpPr>
        <p:sp>
          <p:nvSpPr>
            <p:cNvPr name="Freeform 43" id="43"/>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65" r="0" b="-339465"/>
              </a:stretch>
            </a:blipFill>
          </p:spPr>
        </p:sp>
      </p:grpSp>
      <p:grpSp>
        <p:nvGrpSpPr>
          <p:cNvPr name="Group 44" id="44"/>
          <p:cNvGrpSpPr/>
          <p:nvPr/>
        </p:nvGrpSpPr>
        <p:grpSpPr>
          <a:xfrm rot="0">
            <a:off x="686333" y="9704232"/>
            <a:ext cx="8236039" cy="426091"/>
            <a:chOff x="0" y="0"/>
            <a:chExt cx="10981385" cy="568122"/>
          </a:xfrm>
        </p:grpSpPr>
        <p:sp>
          <p:nvSpPr>
            <p:cNvPr name="Freeform 45" id="45"/>
            <p:cNvSpPr/>
            <p:nvPr/>
          </p:nvSpPr>
          <p:spPr>
            <a:xfrm flipH="false" flipV="false" rot="0">
              <a:off x="0" y="0"/>
              <a:ext cx="10981436" cy="568071"/>
            </a:xfrm>
            <a:custGeom>
              <a:avLst/>
              <a:gdLst/>
              <a:ahLst/>
              <a:cxnLst/>
              <a:rect r="r" b="b" t="t" l="l"/>
              <a:pathLst>
                <a:path h="568071" w="10981436">
                  <a:moveTo>
                    <a:pt x="0" y="0"/>
                  </a:moveTo>
                  <a:lnTo>
                    <a:pt x="10981436" y="0"/>
                  </a:lnTo>
                  <a:lnTo>
                    <a:pt x="10981436" y="568071"/>
                  </a:lnTo>
                  <a:lnTo>
                    <a:pt x="0" y="568071"/>
                  </a:lnTo>
                  <a:close/>
                </a:path>
              </a:pathLst>
            </a:custGeom>
            <a:blipFill>
              <a:blip r:embed="rId4">
                <a:alphaModFix amt="0"/>
              </a:blip>
              <a:stretch>
                <a:fillRect l="0" t="-326398" r="0" b="-326409"/>
              </a:stretch>
            </a:blipFill>
          </p:spPr>
        </p:sp>
      </p:grpSp>
      <p:grpSp>
        <p:nvGrpSpPr>
          <p:cNvPr name="Group 46" id="46"/>
          <p:cNvGrpSpPr/>
          <p:nvPr/>
        </p:nvGrpSpPr>
        <p:grpSpPr>
          <a:xfrm rot="0">
            <a:off x="686333" y="9689944"/>
            <a:ext cx="8236039" cy="440379"/>
            <a:chOff x="0" y="0"/>
            <a:chExt cx="10981385" cy="587172"/>
          </a:xfrm>
        </p:grpSpPr>
        <p:sp>
          <p:nvSpPr>
            <p:cNvPr name="Freeform 47" id="47"/>
            <p:cNvSpPr/>
            <p:nvPr/>
          </p:nvSpPr>
          <p:spPr>
            <a:xfrm flipH="false" flipV="false" rot="0">
              <a:off x="0" y="0"/>
              <a:ext cx="10981386" cy="587171"/>
            </a:xfrm>
            <a:custGeom>
              <a:avLst/>
              <a:gdLst/>
              <a:ahLst/>
              <a:cxnLst/>
              <a:rect r="r" b="b" t="t" l="l"/>
              <a:pathLst>
                <a:path h="587171" w="10981386">
                  <a:moveTo>
                    <a:pt x="0" y="0"/>
                  </a:moveTo>
                  <a:lnTo>
                    <a:pt x="10981386" y="0"/>
                  </a:lnTo>
                  <a:lnTo>
                    <a:pt x="10981386" y="587171"/>
                  </a:lnTo>
                  <a:lnTo>
                    <a:pt x="0" y="587171"/>
                  </a:lnTo>
                  <a:close/>
                </a:path>
              </a:pathLst>
            </a:custGeom>
            <a:blipFill>
              <a:blip r:embed="rId5">
                <a:alphaModFix amt="0"/>
              </a:blip>
              <a:stretch>
                <a:fillRect l="0" t="-314412" r="0" b="-314412"/>
              </a:stretch>
            </a:blipFill>
          </p:spPr>
        </p:sp>
        <p:sp>
          <p:nvSpPr>
            <p:cNvPr name="TextBox 48" id="48"/>
            <p:cNvSpPr txBox="true"/>
            <p:nvPr/>
          </p:nvSpPr>
          <p:spPr>
            <a:xfrm>
              <a:off x="0" y="-19050"/>
              <a:ext cx="10981385" cy="60622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49" id="49"/>
          <p:cNvGrpSpPr/>
          <p:nvPr/>
        </p:nvGrpSpPr>
        <p:grpSpPr>
          <a:xfrm rot="0">
            <a:off x="16242830" y="9718519"/>
            <a:ext cx="1372648" cy="411766"/>
            <a:chOff x="0" y="0"/>
            <a:chExt cx="1830197" cy="549021"/>
          </a:xfrm>
        </p:grpSpPr>
        <p:sp>
          <p:nvSpPr>
            <p:cNvPr name="Freeform 50" id="50"/>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8" r="0" b="-14910"/>
              </a:stretch>
            </a:blipFill>
          </p:spPr>
        </p:sp>
      </p:grpSp>
      <p:grpSp>
        <p:nvGrpSpPr>
          <p:cNvPr name="Group 51" id="51"/>
          <p:cNvGrpSpPr/>
          <p:nvPr/>
        </p:nvGrpSpPr>
        <p:grpSpPr>
          <a:xfrm rot="0">
            <a:off x="4739973" y="2541565"/>
            <a:ext cx="1163460" cy="1222867"/>
            <a:chOff x="0" y="0"/>
            <a:chExt cx="1551280" cy="1630490"/>
          </a:xfrm>
        </p:grpSpPr>
        <p:sp>
          <p:nvSpPr>
            <p:cNvPr name="Freeform 52" id="52"/>
            <p:cNvSpPr/>
            <p:nvPr/>
          </p:nvSpPr>
          <p:spPr>
            <a:xfrm flipH="false" flipV="false" rot="0">
              <a:off x="0" y="0"/>
              <a:ext cx="1551305" cy="1630553"/>
            </a:xfrm>
            <a:custGeom>
              <a:avLst/>
              <a:gdLst/>
              <a:ahLst/>
              <a:cxnLst/>
              <a:rect r="r" b="b" t="t" l="l"/>
              <a:pathLst>
                <a:path h="1630553" w="1551305">
                  <a:moveTo>
                    <a:pt x="0" y="0"/>
                  </a:moveTo>
                  <a:lnTo>
                    <a:pt x="1551305" y="0"/>
                  </a:lnTo>
                  <a:lnTo>
                    <a:pt x="1551305" y="1630553"/>
                  </a:lnTo>
                  <a:lnTo>
                    <a:pt x="0" y="1630553"/>
                  </a:lnTo>
                  <a:lnTo>
                    <a:pt x="0" y="0"/>
                  </a:lnTo>
                  <a:close/>
                </a:path>
              </a:pathLst>
            </a:custGeom>
            <a:blipFill>
              <a:blip r:embed="rId8"/>
              <a:stretch>
                <a:fillRect l="-532" t="0" r="-530" b="3"/>
              </a:stretch>
            </a:blipFill>
          </p:spPr>
        </p:sp>
      </p:grpSp>
      <p:grpSp>
        <p:nvGrpSpPr>
          <p:cNvPr name="Group 53" id="53"/>
          <p:cNvGrpSpPr/>
          <p:nvPr/>
        </p:nvGrpSpPr>
        <p:grpSpPr>
          <a:xfrm rot="0">
            <a:off x="10912478" y="2621804"/>
            <a:ext cx="755237" cy="1119645"/>
            <a:chOff x="0" y="0"/>
            <a:chExt cx="1006983" cy="1492860"/>
          </a:xfrm>
        </p:grpSpPr>
        <p:sp>
          <p:nvSpPr>
            <p:cNvPr name="Freeform 54" id="54"/>
            <p:cNvSpPr/>
            <p:nvPr/>
          </p:nvSpPr>
          <p:spPr>
            <a:xfrm flipH="false" flipV="false" rot="0">
              <a:off x="0" y="0"/>
              <a:ext cx="1006983" cy="1492885"/>
            </a:xfrm>
            <a:custGeom>
              <a:avLst/>
              <a:gdLst/>
              <a:ahLst/>
              <a:cxnLst/>
              <a:rect r="r" b="b" t="t" l="l"/>
              <a:pathLst>
                <a:path h="1492885" w="1006983">
                  <a:moveTo>
                    <a:pt x="0" y="0"/>
                  </a:moveTo>
                  <a:lnTo>
                    <a:pt x="1006983" y="0"/>
                  </a:lnTo>
                  <a:lnTo>
                    <a:pt x="1006983" y="1492885"/>
                  </a:lnTo>
                  <a:lnTo>
                    <a:pt x="0" y="1492885"/>
                  </a:lnTo>
                  <a:lnTo>
                    <a:pt x="0" y="0"/>
                  </a:lnTo>
                  <a:close/>
                </a:path>
              </a:pathLst>
            </a:custGeom>
            <a:blipFill>
              <a:blip r:embed="rId9"/>
              <a:stretch>
                <a:fillRect l="0" t="-168" r="0" b="-166"/>
              </a:stretch>
            </a:blipFill>
          </p:spPr>
        </p:sp>
      </p:grpSp>
      <p:grpSp>
        <p:nvGrpSpPr>
          <p:cNvPr name="Group 55" id="55"/>
          <p:cNvGrpSpPr/>
          <p:nvPr/>
        </p:nvGrpSpPr>
        <p:grpSpPr>
          <a:xfrm rot="0">
            <a:off x="16198110" y="2541565"/>
            <a:ext cx="1280131" cy="1280131"/>
            <a:chOff x="0" y="0"/>
            <a:chExt cx="1706842" cy="1706842"/>
          </a:xfrm>
        </p:grpSpPr>
        <p:sp>
          <p:nvSpPr>
            <p:cNvPr name="Freeform 56" id="56"/>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lnTo>
                    <a:pt x="0" y="0"/>
                  </a:lnTo>
                  <a:close/>
                </a:path>
              </a:pathLst>
            </a:custGeom>
            <a:blipFill>
              <a:blip r:embed="rId10"/>
              <a:stretch>
                <a:fillRect l="0" t="0" r="2" b="2"/>
              </a:stretch>
            </a:blipFill>
          </p:spPr>
        </p:sp>
      </p:grpSp>
      <p:sp>
        <p:nvSpPr>
          <p:cNvPr name="TextBox 57" id="57"/>
          <p:cNvSpPr txBox="true"/>
          <p:nvPr/>
        </p:nvSpPr>
        <p:spPr>
          <a:xfrm rot="0">
            <a:off x="1029500" y="3001670"/>
            <a:ext cx="4872990" cy="1388097"/>
          </a:xfrm>
          <a:prstGeom prst="rect">
            <a:avLst/>
          </a:prstGeom>
        </p:spPr>
        <p:txBody>
          <a:bodyPr anchor="t" rtlCol="false" tIns="0" lIns="0" bIns="0" rIns="0">
            <a:spAutoFit/>
          </a:bodyPr>
          <a:lstStyle/>
          <a:p>
            <a:pPr algn="l">
              <a:lnSpc>
                <a:spcPts val="1899"/>
              </a:lnSpc>
            </a:pPr>
            <a:r>
              <a:rPr lang="en-US" sz="1299">
                <a:solidFill>
                  <a:srgbClr val="000000"/>
                </a:solidFill>
                <a:latin typeface="Poppins"/>
                <a:ea typeface="Poppins"/>
                <a:cs typeface="Poppins"/>
                <a:sym typeface="Poppins"/>
              </a:rPr>
              <a:t>•  Strong candidate sourcing &amp; profile access</a:t>
            </a:r>
          </a:p>
          <a:p>
            <a:pPr algn="l">
              <a:lnSpc>
                <a:spcPts val="1899"/>
              </a:lnSpc>
            </a:pPr>
            <a:r>
              <a:rPr lang="en-US" sz="1299">
                <a:solidFill>
                  <a:srgbClr val="000000"/>
                </a:solidFill>
                <a:latin typeface="Poppins"/>
                <a:ea typeface="Poppins"/>
                <a:cs typeface="Poppins"/>
                <a:sym typeface="Poppins"/>
              </a:rPr>
              <a:t>•  </a:t>
            </a:r>
            <a:r>
              <a:rPr lang="en-US" sz="1299" b="true">
                <a:solidFill>
                  <a:srgbClr val="3D6874"/>
                </a:solidFill>
                <a:latin typeface="Poppins Bold"/>
                <a:ea typeface="Poppins Bold"/>
                <a:cs typeface="Poppins Bold"/>
                <a:sym typeface="Poppins Bold"/>
              </a:rPr>
              <a:t>Gap: </a:t>
            </a:r>
            <a:r>
              <a:rPr lang="en-US" sz="1299">
                <a:solidFill>
                  <a:srgbClr val="000000"/>
                </a:solidFill>
                <a:latin typeface="Poppins"/>
                <a:ea typeface="Poppins"/>
                <a:cs typeface="Poppins"/>
                <a:sym typeface="Poppins"/>
              </a:rPr>
              <a:t>skills are self-reported, not verified</a:t>
            </a:r>
          </a:p>
        </p:txBody>
      </p:sp>
      <p:sp>
        <p:nvSpPr>
          <p:cNvPr name="TextBox 58" id="58"/>
          <p:cNvSpPr txBox="true"/>
          <p:nvPr/>
        </p:nvSpPr>
        <p:spPr>
          <a:xfrm rot="0">
            <a:off x="6794725" y="3001670"/>
            <a:ext cx="4872990" cy="1388097"/>
          </a:xfrm>
          <a:prstGeom prst="rect">
            <a:avLst/>
          </a:prstGeom>
        </p:spPr>
        <p:txBody>
          <a:bodyPr anchor="t" rtlCol="false" tIns="0" lIns="0" bIns="0" rIns="0">
            <a:spAutoFit/>
          </a:bodyPr>
          <a:lstStyle/>
          <a:p>
            <a:pPr algn="l">
              <a:lnSpc>
                <a:spcPts val="1899"/>
              </a:lnSpc>
            </a:pPr>
            <a:r>
              <a:rPr lang="en-US" sz="1299">
                <a:solidFill>
                  <a:srgbClr val="000000"/>
                </a:solidFill>
                <a:latin typeface="Poppins"/>
                <a:ea typeface="Poppins"/>
                <a:cs typeface="Poppins"/>
                <a:sym typeface="Poppins"/>
              </a:rPr>
              <a:t>•  Structured tests with automated evaluation</a:t>
            </a:r>
          </a:p>
          <a:p>
            <a:pPr algn="l">
              <a:lnSpc>
                <a:spcPts val="1899"/>
              </a:lnSpc>
            </a:pPr>
            <a:r>
              <a:rPr lang="en-US" sz="1299">
                <a:solidFill>
                  <a:srgbClr val="000000"/>
                </a:solidFill>
                <a:latin typeface="Poppins"/>
                <a:ea typeface="Poppins"/>
                <a:cs typeface="Poppins"/>
                <a:sym typeface="Poppins"/>
              </a:rPr>
              <a:t>•  </a:t>
            </a:r>
            <a:r>
              <a:rPr lang="en-US" sz="1299" b="true">
                <a:solidFill>
                  <a:srgbClr val="3D6874"/>
                </a:solidFill>
                <a:latin typeface="Poppins Bold"/>
                <a:ea typeface="Poppins Bold"/>
                <a:cs typeface="Poppins Bold"/>
                <a:sym typeface="Poppins Bold"/>
              </a:rPr>
              <a:t>Gap: </a:t>
            </a:r>
            <a:r>
              <a:rPr lang="en-US" sz="1299">
                <a:solidFill>
                  <a:srgbClr val="000000"/>
                </a:solidFill>
                <a:latin typeface="Poppins"/>
                <a:ea typeface="Poppins"/>
                <a:cs typeface="Poppins"/>
                <a:sym typeface="Poppins"/>
              </a:rPr>
              <a:t>not built for sourcing or discovery</a:t>
            </a:r>
          </a:p>
        </p:txBody>
      </p:sp>
      <p:sp>
        <p:nvSpPr>
          <p:cNvPr name="TextBox 59" id="59"/>
          <p:cNvSpPr txBox="true"/>
          <p:nvPr/>
        </p:nvSpPr>
        <p:spPr>
          <a:xfrm rot="0">
            <a:off x="12559951" y="3001670"/>
            <a:ext cx="4872990" cy="1388097"/>
          </a:xfrm>
          <a:prstGeom prst="rect">
            <a:avLst/>
          </a:prstGeom>
        </p:spPr>
        <p:txBody>
          <a:bodyPr anchor="t" rtlCol="false" tIns="0" lIns="0" bIns="0" rIns="0">
            <a:spAutoFit/>
          </a:bodyPr>
          <a:lstStyle/>
          <a:p>
            <a:pPr algn="l">
              <a:lnSpc>
                <a:spcPts val="1899"/>
              </a:lnSpc>
            </a:pPr>
            <a:r>
              <a:rPr lang="en-US" sz="1299">
                <a:solidFill>
                  <a:srgbClr val="000000"/>
                </a:solidFill>
                <a:latin typeface="Poppins"/>
                <a:ea typeface="Poppins"/>
                <a:cs typeface="Poppins"/>
                <a:sym typeface="Poppins"/>
              </a:rPr>
              <a:t>•  Coding challenges, technical assessment</a:t>
            </a:r>
          </a:p>
          <a:p>
            <a:pPr algn="l">
              <a:lnSpc>
                <a:spcPts val="1899"/>
              </a:lnSpc>
            </a:pPr>
            <a:r>
              <a:rPr lang="en-US" sz="1299">
                <a:solidFill>
                  <a:srgbClr val="000000"/>
                </a:solidFill>
                <a:latin typeface="Poppins"/>
                <a:ea typeface="Poppins"/>
                <a:cs typeface="Poppins"/>
                <a:sym typeface="Poppins"/>
              </a:rPr>
              <a:t>•  </a:t>
            </a:r>
            <a:r>
              <a:rPr lang="en-US" sz="1299" b="true">
                <a:solidFill>
                  <a:srgbClr val="3D6874"/>
                </a:solidFill>
                <a:latin typeface="Poppins Bold"/>
                <a:ea typeface="Poppins Bold"/>
                <a:cs typeface="Poppins Bold"/>
                <a:sym typeface="Poppins Bold"/>
              </a:rPr>
              <a:t>Gap: </a:t>
            </a:r>
            <a:r>
              <a:rPr lang="en-US" sz="1299">
                <a:solidFill>
                  <a:srgbClr val="000000"/>
                </a:solidFill>
                <a:latin typeface="Poppins"/>
                <a:ea typeface="Poppins"/>
                <a:cs typeface="Poppins"/>
                <a:sym typeface="Poppins"/>
              </a:rPr>
              <a:t>no profile mgmt or recruiter discovery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8DAE4"/>
        </a:solidFill>
      </p:bgPr>
    </p:bg>
    <p:spTree>
      <p:nvGrpSpPr>
        <p:cNvPr id="1" name=""/>
        <p:cNvGrpSpPr/>
        <p:nvPr/>
      </p:nvGrpSpPr>
      <p:grpSpPr>
        <a:xfrm>
          <a:off x="0" y="0"/>
          <a:ext cx="0" cy="0"/>
          <a:chOff x="0" y="0"/>
          <a:chExt cx="0" cy="0"/>
        </a:xfrm>
      </p:grpSpPr>
      <p:grpSp>
        <p:nvGrpSpPr>
          <p:cNvPr name="Group 2" id="2"/>
          <p:cNvGrpSpPr/>
          <p:nvPr/>
        </p:nvGrpSpPr>
        <p:grpSpPr>
          <a:xfrm rot="0">
            <a:off x="-3157147" y="8373304"/>
            <a:ext cx="3706178" cy="3706178"/>
            <a:chOff x="0" y="0"/>
            <a:chExt cx="4941570" cy="4941570"/>
          </a:xfrm>
        </p:grpSpPr>
        <p:sp>
          <p:nvSpPr>
            <p:cNvPr name="Freeform 3" id="3" descr="/home/claude/work/assets/blob_purple.png"/>
            <p:cNvSpPr/>
            <p:nvPr/>
          </p:nvSpPr>
          <p:spPr>
            <a:xfrm flipH="false" flipV="false" rot="0">
              <a:off x="0" y="0"/>
              <a:ext cx="4941570" cy="4941570"/>
            </a:xfrm>
            <a:custGeom>
              <a:avLst/>
              <a:gdLst/>
              <a:ahLst/>
              <a:cxnLst/>
              <a:rect r="r" b="b" t="t" l="l"/>
              <a:pathLst>
                <a:path h="4941570" w="4941570">
                  <a:moveTo>
                    <a:pt x="0" y="0"/>
                  </a:moveTo>
                  <a:lnTo>
                    <a:pt x="4941570" y="0"/>
                  </a:lnTo>
                  <a:lnTo>
                    <a:pt x="4941570" y="4941570"/>
                  </a:lnTo>
                  <a:lnTo>
                    <a:pt x="0" y="4941570"/>
                  </a:lnTo>
                  <a:lnTo>
                    <a:pt x="0" y="0"/>
                  </a:lnTo>
                  <a:close/>
                </a:path>
              </a:pathLst>
            </a:custGeom>
            <a:blipFill>
              <a:blip r:embed="rId2"/>
              <a:stretch>
                <a:fillRect l="-13114" t="0" r="-13114" b="0"/>
              </a:stretch>
            </a:blipFill>
          </p:spPr>
        </p:sp>
      </p:grpSp>
      <p:grpSp>
        <p:nvGrpSpPr>
          <p:cNvPr name="Group 4" id="4"/>
          <p:cNvGrpSpPr/>
          <p:nvPr/>
        </p:nvGrpSpPr>
        <p:grpSpPr>
          <a:xfrm rot="0">
            <a:off x="16334804" y="686333"/>
            <a:ext cx="960882" cy="960882"/>
            <a:chOff x="0" y="0"/>
            <a:chExt cx="1281176" cy="1281176"/>
          </a:xfrm>
        </p:grpSpPr>
        <p:sp>
          <p:nvSpPr>
            <p:cNvPr name="Freeform 5" id="5" descr="/home/claude/work/assets/star_teal.png"/>
            <p:cNvSpPr/>
            <p:nvPr/>
          </p:nvSpPr>
          <p:spPr>
            <a:xfrm flipH="false" flipV="false" rot="0">
              <a:off x="0" y="0"/>
              <a:ext cx="1281176" cy="1281176"/>
            </a:xfrm>
            <a:custGeom>
              <a:avLst/>
              <a:gdLst/>
              <a:ahLst/>
              <a:cxnLst/>
              <a:rect r="r" b="b" t="t" l="l"/>
              <a:pathLst>
                <a:path h="1281176" w="1281176">
                  <a:moveTo>
                    <a:pt x="0" y="0"/>
                  </a:moveTo>
                  <a:lnTo>
                    <a:pt x="1281176" y="0"/>
                  </a:lnTo>
                  <a:lnTo>
                    <a:pt x="1281176" y="1281176"/>
                  </a:lnTo>
                  <a:lnTo>
                    <a:pt x="0" y="1281176"/>
                  </a:lnTo>
                  <a:lnTo>
                    <a:pt x="0" y="0"/>
                  </a:lnTo>
                  <a:close/>
                </a:path>
              </a:pathLst>
            </a:custGeom>
            <a:blipFill>
              <a:blip r:embed="rId3"/>
              <a:stretch>
                <a:fillRect l="0" t="0" r="0" b="0"/>
              </a:stretch>
            </a:blipFill>
          </p:spPr>
        </p:sp>
      </p:grpSp>
      <p:grpSp>
        <p:nvGrpSpPr>
          <p:cNvPr name="Group 6" id="6"/>
          <p:cNvGrpSpPr/>
          <p:nvPr/>
        </p:nvGrpSpPr>
        <p:grpSpPr>
          <a:xfrm rot="0">
            <a:off x="686333" y="686333"/>
            <a:ext cx="1784471" cy="1235402"/>
            <a:chOff x="0" y="0"/>
            <a:chExt cx="2379294" cy="1647203"/>
          </a:xfrm>
        </p:grpSpPr>
        <p:sp>
          <p:nvSpPr>
            <p:cNvPr name="Freeform 7" id="7"/>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4">
                <a:alphaModFix amt="0"/>
              </a:blip>
              <a:stretch>
                <a:fillRect l="-38886" t="0" r="-38884" b="0"/>
              </a:stretch>
            </a:blipFill>
          </p:spPr>
        </p:sp>
      </p:grpSp>
      <p:grpSp>
        <p:nvGrpSpPr>
          <p:cNvPr name="Group 8" id="8"/>
          <p:cNvGrpSpPr/>
          <p:nvPr/>
        </p:nvGrpSpPr>
        <p:grpSpPr>
          <a:xfrm rot="0">
            <a:off x="686333" y="643471"/>
            <a:ext cx="1784471" cy="1495408"/>
            <a:chOff x="0" y="0"/>
            <a:chExt cx="2379294" cy="1993877"/>
          </a:xfrm>
        </p:grpSpPr>
        <p:sp>
          <p:nvSpPr>
            <p:cNvPr name="Freeform 9" id="9"/>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5">
                <a:alphaModFix amt="0"/>
              </a:blip>
              <a:stretch>
                <a:fillRect l="-41907" t="0" r="-41907" b="14520"/>
              </a:stretch>
            </a:blipFill>
          </p:spPr>
        </p:sp>
        <p:sp>
          <p:nvSpPr>
            <p:cNvPr name="TextBox 10" id="10"/>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11" id="11"/>
          <p:cNvGrpSpPr/>
          <p:nvPr/>
        </p:nvGrpSpPr>
        <p:grpSpPr>
          <a:xfrm rot="0">
            <a:off x="2127647" y="796147"/>
            <a:ext cx="15099392" cy="1235412"/>
            <a:chOff x="0" y="0"/>
            <a:chExt cx="20132523" cy="1647215"/>
          </a:xfrm>
        </p:grpSpPr>
        <p:sp>
          <p:nvSpPr>
            <p:cNvPr name="Freeform 12" id="12"/>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4">
                <a:alphaModFix amt="0"/>
              </a:blip>
              <a:stretch>
                <a:fillRect l="0" t="-187986" r="0" b="-187987"/>
              </a:stretch>
            </a:blipFill>
          </p:spPr>
        </p:sp>
      </p:grpSp>
      <p:grpSp>
        <p:nvGrpSpPr>
          <p:cNvPr name="Group 13" id="13"/>
          <p:cNvGrpSpPr/>
          <p:nvPr/>
        </p:nvGrpSpPr>
        <p:grpSpPr>
          <a:xfrm rot="0">
            <a:off x="686333" y="874902"/>
            <a:ext cx="15099392" cy="1263977"/>
            <a:chOff x="0" y="0"/>
            <a:chExt cx="20132523" cy="1685303"/>
          </a:xfrm>
        </p:grpSpPr>
        <p:sp>
          <p:nvSpPr>
            <p:cNvPr name="Freeform 14" id="14"/>
            <p:cNvSpPr/>
            <p:nvPr/>
          </p:nvSpPr>
          <p:spPr>
            <a:xfrm flipH="false" flipV="false" rot="0">
              <a:off x="0" y="0"/>
              <a:ext cx="20132523" cy="1685307"/>
            </a:xfrm>
            <a:custGeom>
              <a:avLst/>
              <a:gdLst/>
              <a:ahLst/>
              <a:cxnLst/>
              <a:rect r="r" b="b" t="t" l="l"/>
              <a:pathLst>
                <a:path h="1685307" w="20132523">
                  <a:moveTo>
                    <a:pt x="0" y="0"/>
                  </a:moveTo>
                  <a:lnTo>
                    <a:pt x="20132523" y="0"/>
                  </a:lnTo>
                  <a:lnTo>
                    <a:pt x="20132523" y="1685307"/>
                  </a:lnTo>
                  <a:lnTo>
                    <a:pt x="0" y="1685307"/>
                  </a:lnTo>
                  <a:close/>
                </a:path>
              </a:pathLst>
            </a:custGeom>
            <a:blipFill>
              <a:blip r:embed="rId5">
                <a:alphaModFix amt="0"/>
              </a:blip>
              <a:stretch>
                <a:fillRect l="0" t="-182766" r="0" b="-182766"/>
              </a:stretch>
            </a:blipFill>
          </p:spPr>
        </p:sp>
        <p:sp>
          <p:nvSpPr>
            <p:cNvPr name="TextBox 15" id="15"/>
            <p:cNvSpPr txBox="true"/>
            <p:nvPr/>
          </p:nvSpPr>
          <p:spPr>
            <a:xfrm>
              <a:off x="0" y="-38100"/>
              <a:ext cx="20132523" cy="1723403"/>
            </a:xfrm>
            <a:prstGeom prst="rect">
              <a:avLst/>
            </a:prstGeom>
          </p:spPr>
          <p:txBody>
            <a:bodyPr anchor="ctr" rtlCol="false" tIns="0" lIns="0" bIns="0" rIns="0"/>
            <a:lstStyle/>
            <a:p>
              <a:pPr algn="l">
                <a:lnSpc>
                  <a:spcPts val="4503"/>
                </a:lnSpc>
              </a:pPr>
              <a:r>
                <a:rPr lang="en-US" sz="3752" b="true">
                  <a:solidFill>
                    <a:srgbClr val="000000"/>
                  </a:solidFill>
                  <a:latin typeface="Poppins Bold"/>
                  <a:ea typeface="Poppins Bold"/>
                  <a:cs typeface="Poppins Bold"/>
                  <a:sym typeface="Poppins Bold"/>
                </a:rPr>
                <a:t>Hire on Demand : The Proposed Solution</a:t>
              </a:r>
            </a:p>
          </p:txBody>
        </p:sp>
      </p:grpSp>
      <p:sp>
        <p:nvSpPr>
          <p:cNvPr name="Freeform 16" id="16"/>
          <p:cNvSpPr/>
          <p:nvPr/>
        </p:nvSpPr>
        <p:spPr>
          <a:xfrm flipH="false" flipV="false" rot="0">
            <a:off x="738283" y="3964067"/>
            <a:ext cx="1916154" cy="1200160"/>
          </a:xfrm>
          <a:custGeom>
            <a:avLst/>
            <a:gdLst/>
            <a:ahLst/>
            <a:cxnLst/>
            <a:rect r="r" b="b" t="t" l="l"/>
            <a:pathLst>
              <a:path h="1200160" w="1916154">
                <a:moveTo>
                  <a:pt x="0" y="0"/>
                </a:moveTo>
                <a:lnTo>
                  <a:pt x="1916154" y="0"/>
                </a:lnTo>
                <a:lnTo>
                  <a:pt x="1916154" y="1200159"/>
                </a:lnTo>
                <a:lnTo>
                  <a:pt x="0" y="1200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823608" y="3980755"/>
            <a:ext cx="1745523" cy="1166774"/>
            <a:chOff x="0" y="0"/>
            <a:chExt cx="2327364" cy="1555699"/>
          </a:xfrm>
        </p:grpSpPr>
        <p:sp>
          <p:nvSpPr>
            <p:cNvPr name="Freeform 18" id="18"/>
            <p:cNvSpPr/>
            <p:nvPr/>
          </p:nvSpPr>
          <p:spPr>
            <a:xfrm flipH="false" flipV="false" rot="0">
              <a:off x="0" y="0"/>
              <a:ext cx="2327402" cy="1555750"/>
            </a:xfrm>
            <a:custGeom>
              <a:avLst/>
              <a:gdLst/>
              <a:ahLst/>
              <a:cxnLst/>
              <a:rect r="r" b="b" t="t" l="l"/>
              <a:pathLst>
                <a:path h="1555750" w="2327402">
                  <a:moveTo>
                    <a:pt x="0" y="0"/>
                  </a:moveTo>
                  <a:lnTo>
                    <a:pt x="2327402" y="0"/>
                  </a:lnTo>
                  <a:lnTo>
                    <a:pt x="2327402" y="1555750"/>
                  </a:lnTo>
                  <a:lnTo>
                    <a:pt x="0" y="1555750"/>
                  </a:lnTo>
                  <a:close/>
                </a:path>
              </a:pathLst>
            </a:custGeom>
            <a:blipFill>
              <a:blip r:embed="rId4">
                <a:alphaModFix amt="0"/>
              </a:blip>
              <a:stretch>
                <a:fillRect l="-35821" t="0" r="-35820" b="3"/>
              </a:stretch>
            </a:blipFill>
          </p:spPr>
        </p:sp>
      </p:grpSp>
      <p:grpSp>
        <p:nvGrpSpPr>
          <p:cNvPr name="Group 19" id="19"/>
          <p:cNvGrpSpPr/>
          <p:nvPr/>
        </p:nvGrpSpPr>
        <p:grpSpPr>
          <a:xfrm rot="0">
            <a:off x="823608" y="3959323"/>
            <a:ext cx="1745523" cy="1188206"/>
            <a:chOff x="0" y="0"/>
            <a:chExt cx="2327364" cy="1584274"/>
          </a:xfrm>
        </p:grpSpPr>
        <p:sp>
          <p:nvSpPr>
            <p:cNvPr name="Freeform 20" id="20"/>
            <p:cNvSpPr/>
            <p:nvPr/>
          </p:nvSpPr>
          <p:spPr>
            <a:xfrm flipH="false" flipV="false" rot="0">
              <a:off x="0" y="0"/>
              <a:ext cx="2327364" cy="1584274"/>
            </a:xfrm>
            <a:custGeom>
              <a:avLst/>
              <a:gdLst/>
              <a:ahLst/>
              <a:cxnLst/>
              <a:rect r="r" b="b" t="t" l="l"/>
              <a:pathLst>
                <a:path h="1584274" w="2327364">
                  <a:moveTo>
                    <a:pt x="0" y="0"/>
                  </a:moveTo>
                  <a:lnTo>
                    <a:pt x="2327364" y="0"/>
                  </a:lnTo>
                  <a:lnTo>
                    <a:pt x="2327364" y="1584274"/>
                  </a:lnTo>
                  <a:lnTo>
                    <a:pt x="0" y="1584274"/>
                  </a:lnTo>
                  <a:close/>
                </a:path>
              </a:pathLst>
            </a:custGeom>
            <a:blipFill>
              <a:blip r:embed="rId5">
                <a:alphaModFix amt="0"/>
              </a:blip>
              <a:stretch>
                <a:fillRect l="-37338" t="0" r="-37338" b="0"/>
              </a:stretch>
            </a:blipFill>
          </p:spPr>
        </p:sp>
        <p:sp>
          <p:nvSpPr>
            <p:cNvPr name="TextBox 21" id="21"/>
            <p:cNvSpPr txBox="true"/>
            <p:nvPr/>
          </p:nvSpPr>
          <p:spPr>
            <a:xfrm>
              <a:off x="0" y="-28575"/>
              <a:ext cx="2327364" cy="1612849"/>
            </a:xfrm>
            <a:prstGeom prst="rect">
              <a:avLst/>
            </a:prstGeom>
          </p:spPr>
          <p:txBody>
            <a:bodyPr anchor="ctr" rtlCol="false" tIns="0" lIns="0" bIns="0" rIns="0"/>
            <a:lstStyle/>
            <a:p>
              <a:pPr algn="ctr">
                <a:lnSpc>
                  <a:spcPts val="1710"/>
                </a:lnSpc>
              </a:pPr>
              <a:r>
                <a:rPr lang="en-US" sz="1425" b="true">
                  <a:solidFill>
                    <a:srgbClr val="000000"/>
                  </a:solidFill>
                  <a:latin typeface="Poppins Bold"/>
                  <a:ea typeface="Poppins Bold"/>
                  <a:cs typeface="Poppins Bold"/>
                  <a:sym typeface="Poppins Bold"/>
                </a:rPr>
                <a:t>CV</a:t>
              </a:r>
            </a:p>
          </p:txBody>
        </p:sp>
      </p:grpSp>
      <p:grpSp>
        <p:nvGrpSpPr>
          <p:cNvPr name="Group 22" id="22"/>
          <p:cNvGrpSpPr/>
          <p:nvPr/>
        </p:nvGrpSpPr>
        <p:grpSpPr>
          <a:xfrm rot="0">
            <a:off x="2637758" y="3953294"/>
            <a:ext cx="247079" cy="1084412"/>
            <a:chOff x="0" y="0"/>
            <a:chExt cx="329438" cy="1445882"/>
          </a:xfrm>
        </p:grpSpPr>
        <p:sp>
          <p:nvSpPr>
            <p:cNvPr name="Freeform 23" id="23"/>
            <p:cNvSpPr/>
            <p:nvPr/>
          </p:nvSpPr>
          <p:spPr>
            <a:xfrm flipH="false" flipV="false" rot="0">
              <a:off x="0" y="0"/>
              <a:ext cx="329438" cy="1445895"/>
            </a:xfrm>
            <a:custGeom>
              <a:avLst/>
              <a:gdLst/>
              <a:ahLst/>
              <a:cxnLst/>
              <a:rect r="r" b="b" t="t" l="l"/>
              <a:pathLst>
                <a:path h="1445895" w="329438">
                  <a:moveTo>
                    <a:pt x="0" y="0"/>
                  </a:moveTo>
                  <a:lnTo>
                    <a:pt x="329438" y="0"/>
                  </a:lnTo>
                  <a:lnTo>
                    <a:pt x="329438" y="1445895"/>
                  </a:lnTo>
                  <a:lnTo>
                    <a:pt x="0" y="1445895"/>
                  </a:lnTo>
                  <a:close/>
                </a:path>
              </a:pathLst>
            </a:custGeom>
            <a:blipFill>
              <a:blip r:embed="rId4">
                <a:alphaModFix amt="0"/>
              </a:blip>
              <a:stretch>
                <a:fillRect l="-513508" t="0" r="-513508" b="0"/>
              </a:stretch>
            </a:blipFill>
          </p:spPr>
        </p:sp>
      </p:grpSp>
      <p:grpSp>
        <p:nvGrpSpPr>
          <p:cNvPr name="Group 24" id="24"/>
          <p:cNvGrpSpPr/>
          <p:nvPr/>
        </p:nvGrpSpPr>
        <p:grpSpPr>
          <a:xfrm rot="0">
            <a:off x="2637758" y="3939007"/>
            <a:ext cx="247079" cy="1098699"/>
            <a:chOff x="0" y="0"/>
            <a:chExt cx="329438" cy="1464932"/>
          </a:xfrm>
        </p:grpSpPr>
        <p:sp>
          <p:nvSpPr>
            <p:cNvPr name="Freeform 25" id="25"/>
            <p:cNvSpPr/>
            <p:nvPr/>
          </p:nvSpPr>
          <p:spPr>
            <a:xfrm flipH="false" flipV="false" rot="0">
              <a:off x="0" y="0"/>
              <a:ext cx="329439" cy="1464933"/>
            </a:xfrm>
            <a:custGeom>
              <a:avLst/>
              <a:gdLst/>
              <a:ahLst/>
              <a:cxnLst/>
              <a:rect r="r" b="b" t="t" l="l"/>
              <a:pathLst>
                <a:path h="1464933" w="329439">
                  <a:moveTo>
                    <a:pt x="0" y="0"/>
                  </a:moveTo>
                  <a:lnTo>
                    <a:pt x="329439" y="0"/>
                  </a:lnTo>
                  <a:lnTo>
                    <a:pt x="329439" y="1464933"/>
                  </a:lnTo>
                  <a:lnTo>
                    <a:pt x="0" y="1464933"/>
                  </a:lnTo>
                  <a:close/>
                </a:path>
              </a:pathLst>
            </a:custGeom>
            <a:blipFill>
              <a:blip r:embed="rId5">
                <a:alphaModFix amt="0"/>
              </a:blip>
              <a:stretch>
                <a:fillRect l="-520534" t="0" r="-520534" b="0"/>
              </a:stretch>
            </a:blipFill>
          </p:spPr>
        </p:sp>
        <p:sp>
          <p:nvSpPr>
            <p:cNvPr name="TextBox 26" id="26"/>
            <p:cNvSpPr txBox="true"/>
            <p:nvPr/>
          </p:nvSpPr>
          <p:spPr>
            <a:xfrm>
              <a:off x="0" y="-19050"/>
              <a:ext cx="329438" cy="1483982"/>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27" id="27"/>
          <p:cNvSpPr/>
          <p:nvPr/>
        </p:nvSpPr>
        <p:spPr>
          <a:xfrm flipH="false" flipV="false" rot="0">
            <a:off x="2868158" y="3964067"/>
            <a:ext cx="1916154" cy="1200160"/>
          </a:xfrm>
          <a:custGeom>
            <a:avLst/>
            <a:gdLst/>
            <a:ahLst/>
            <a:cxnLst/>
            <a:rect r="r" b="b" t="t" l="l"/>
            <a:pathLst>
              <a:path h="1200160" w="1916154">
                <a:moveTo>
                  <a:pt x="0" y="0"/>
                </a:moveTo>
                <a:lnTo>
                  <a:pt x="1916154" y="0"/>
                </a:lnTo>
                <a:lnTo>
                  <a:pt x="1916154" y="1200159"/>
                </a:lnTo>
                <a:lnTo>
                  <a:pt x="0" y="1200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8" id="28"/>
          <p:cNvGrpSpPr/>
          <p:nvPr/>
        </p:nvGrpSpPr>
        <p:grpSpPr>
          <a:xfrm rot="0">
            <a:off x="2953474" y="3980755"/>
            <a:ext cx="1745523" cy="1166774"/>
            <a:chOff x="0" y="0"/>
            <a:chExt cx="2327364" cy="1555699"/>
          </a:xfrm>
        </p:grpSpPr>
        <p:sp>
          <p:nvSpPr>
            <p:cNvPr name="Freeform 29" id="29"/>
            <p:cNvSpPr/>
            <p:nvPr/>
          </p:nvSpPr>
          <p:spPr>
            <a:xfrm flipH="false" flipV="false" rot="0">
              <a:off x="0" y="0"/>
              <a:ext cx="2327402" cy="1555750"/>
            </a:xfrm>
            <a:custGeom>
              <a:avLst/>
              <a:gdLst/>
              <a:ahLst/>
              <a:cxnLst/>
              <a:rect r="r" b="b" t="t" l="l"/>
              <a:pathLst>
                <a:path h="1555750" w="2327402">
                  <a:moveTo>
                    <a:pt x="0" y="0"/>
                  </a:moveTo>
                  <a:lnTo>
                    <a:pt x="2327402" y="0"/>
                  </a:lnTo>
                  <a:lnTo>
                    <a:pt x="2327402" y="1555750"/>
                  </a:lnTo>
                  <a:lnTo>
                    <a:pt x="0" y="1555750"/>
                  </a:lnTo>
                  <a:close/>
                </a:path>
              </a:pathLst>
            </a:custGeom>
            <a:blipFill>
              <a:blip r:embed="rId4">
                <a:alphaModFix amt="0"/>
              </a:blip>
              <a:stretch>
                <a:fillRect l="-35821" t="0" r="-35820" b="3"/>
              </a:stretch>
            </a:blipFill>
          </p:spPr>
        </p:sp>
      </p:grpSp>
      <p:grpSp>
        <p:nvGrpSpPr>
          <p:cNvPr name="Group 30" id="30"/>
          <p:cNvGrpSpPr/>
          <p:nvPr/>
        </p:nvGrpSpPr>
        <p:grpSpPr>
          <a:xfrm rot="0">
            <a:off x="2953474" y="3959323"/>
            <a:ext cx="1745523" cy="1188206"/>
            <a:chOff x="0" y="0"/>
            <a:chExt cx="2327364" cy="1584274"/>
          </a:xfrm>
        </p:grpSpPr>
        <p:sp>
          <p:nvSpPr>
            <p:cNvPr name="Freeform 31" id="31"/>
            <p:cNvSpPr/>
            <p:nvPr/>
          </p:nvSpPr>
          <p:spPr>
            <a:xfrm flipH="false" flipV="false" rot="0">
              <a:off x="0" y="0"/>
              <a:ext cx="2327364" cy="1584274"/>
            </a:xfrm>
            <a:custGeom>
              <a:avLst/>
              <a:gdLst/>
              <a:ahLst/>
              <a:cxnLst/>
              <a:rect r="r" b="b" t="t" l="l"/>
              <a:pathLst>
                <a:path h="1584274" w="2327364">
                  <a:moveTo>
                    <a:pt x="0" y="0"/>
                  </a:moveTo>
                  <a:lnTo>
                    <a:pt x="2327364" y="0"/>
                  </a:lnTo>
                  <a:lnTo>
                    <a:pt x="2327364" y="1584274"/>
                  </a:lnTo>
                  <a:lnTo>
                    <a:pt x="0" y="1584274"/>
                  </a:lnTo>
                  <a:close/>
                </a:path>
              </a:pathLst>
            </a:custGeom>
            <a:blipFill>
              <a:blip r:embed="rId5">
                <a:alphaModFix amt="0"/>
              </a:blip>
              <a:stretch>
                <a:fillRect l="-37338" t="0" r="-37338" b="0"/>
              </a:stretch>
            </a:blipFill>
          </p:spPr>
        </p:sp>
        <p:sp>
          <p:nvSpPr>
            <p:cNvPr name="TextBox 32" id="32"/>
            <p:cNvSpPr txBox="true"/>
            <p:nvPr/>
          </p:nvSpPr>
          <p:spPr>
            <a:xfrm>
              <a:off x="0" y="-28575"/>
              <a:ext cx="2327364" cy="1612849"/>
            </a:xfrm>
            <a:prstGeom prst="rect">
              <a:avLst/>
            </a:prstGeom>
          </p:spPr>
          <p:txBody>
            <a:bodyPr anchor="ctr" rtlCol="false" tIns="0" lIns="0" bIns="0" rIns="0"/>
            <a:lstStyle/>
            <a:p>
              <a:pPr algn="ctr">
                <a:lnSpc>
                  <a:spcPts val="1710"/>
                </a:lnSpc>
              </a:pPr>
              <a:r>
                <a:rPr lang="en-US" sz="1425" b="true">
                  <a:solidFill>
                    <a:srgbClr val="000000"/>
                  </a:solidFill>
                  <a:latin typeface="Poppins Bold"/>
                  <a:ea typeface="Poppins Bold"/>
                  <a:cs typeface="Poppins Bold"/>
                  <a:sym typeface="Poppins Bold"/>
                </a:rPr>
                <a:t>AI Profile</a:t>
              </a:r>
            </a:p>
          </p:txBody>
        </p:sp>
      </p:grpSp>
      <p:grpSp>
        <p:nvGrpSpPr>
          <p:cNvPr name="Group 33" id="33"/>
          <p:cNvGrpSpPr/>
          <p:nvPr/>
        </p:nvGrpSpPr>
        <p:grpSpPr>
          <a:xfrm rot="0">
            <a:off x="4767634" y="3953294"/>
            <a:ext cx="247079" cy="1084412"/>
            <a:chOff x="0" y="0"/>
            <a:chExt cx="329438" cy="1445882"/>
          </a:xfrm>
        </p:grpSpPr>
        <p:sp>
          <p:nvSpPr>
            <p:cNvPr name="Freeform 34" id="34"/>
            <p:cNvSpPr/>
            <p:nvPr/>
          </p:nvSpPr>
          <p:spPr>
            <a:xfrm flipH="false" flipV="false" rot="0">
              <a:off x="0" y="0"/>
              <a:ext cx="329438" cy="1445895"/>
            </a:xfrm>
            <a:custGeom>
              <a:avLst/>
              <a:gdLst/>
              <a:ahLst/>
              <a:cxnLst/>
              <a:rect r="r" b="b" t="t" l="l"/>
              <a:pathLst>
                <a:path h="1445895" w="329438">
                  <a:moveTo>
                    <a:pt x="0" y="0"/>
                  </a:moveTo>
                  <a:lnTo>
                    <a:pt x="329438" y="0"/>
                  </a:lnTo>
                  <a:lnTo>
                    <a:pt x="329438" y="1445895"/>
                  </a:lnTo>
                  <a:lnTo>
                    <a:pt x="0" y="1445895"/>
                  </a:lnTo>
                  <a:close/>
                </a:path>
              </a:pathLst>
            </a:custGeom>
            <a:blipFill>
              <a:blip r:embed="rId4">
                <a:alphaModFix amt="0"/>
              </a:blip>
              <a:stretch>
                <a:fillRect l="-513508" t="0" r="-513508" b="0"/>
              </a:stretch>
            </a:blipFill>
          </p:spPr>
        </p:sp>
      </p:grpSp>
      <p:grpSp>
        <p:nvGrpSpPr>
          <p:cNvPr name="Group 35" id="35"/>
          <p:cNvGrpSpPr/>
          <p:nvPr/>
        </p:nvGrpSpPr>
        <p:grpSpPr>
          <a:xfrm rot="0">
            <a:off x="4767634" y="3939007"/>
            <a:ext cx="247079" cy="1098699"/>
            <a:chOff x="0" y="0"/>
            <a:chExt cx="329438" cy="1464932"/>
          </a:xfrm>
        </p:grpSpPr>
        <p:sp>
          <p:nvSpPr>
            <p:cNvPr name="Freeform 36" id="36"/>
            <p:cNvSpPr/>
            <p:nvPr/>
          </p:nvSpPr>
          <p:spPr>
            <a:xfrm flipH="false" flipV="false" rot="0">
              <a:off x="0" y="0"/>
              <a:ext cx="329439" cy="1464933"/>
            </a:xfrm>
            <a:custGeom>
              <a:avLst/>
              <a:gdLst/>
              <a:ahLst/>
              <a:cxnLst/>
              <a:rect r="r" b="b" t="t" l="l"/>
              <a:pathLst>
                <a:path h="1464933" w="329439">
                  <a:moveTo>
                    <a:pt x="0" y="0"/>
                  </a:moveTo>
                  <a:lnTo>
                    <a:pt x="329439" y="0"/>
                  </a:lnTo>
                  <a:lnTo>
                    <a:pt x="329439" y="1464933"/>
                  </a:lnTo>
                  <a:lnTo>
                    <a:pt x="0" y="1464933"/>
                  </a:lnTo>
                  <a:close/>
                </a:path>
              </a:pathLst>
            </a:custGeom>
            <a:blipFill>
              <a:blip r:embed="rId5">
                <a:alphaModFix amt="0"/>
              </a:blip>
              <a:stretch>
                <a:fillRect l="-520534" t="0" r="-520534" b="0"/>
              </a:stretch>
            </a:blipFill>
          </p:spPr>
        </p:sp>
        <p:sp>
          <p:nvSpPr>
            <p:cNvPr name="TextBox 37" id="37"/>
            <p:cNvSpPr txBox="true"/>
            <p:nvPr/>
          </p:nvSpPr>
          <p:spPr>
            <a:xfrm>
              <a:off x="0" y="-19050"/>
              <a:ext cx="329438" cy="1483982"/>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38" id="38"/>
          <p:cNvSpPr/>
          <p:nvPr/>
        </p:nvSpPr>
        <p:spPr>
          <a:xfrm flipH="false" flipV="false" rot="0">
            <a:off x="4998034" y="3964067"/>
            <a:ext cx="1916154" cy="1200160"/>
          </a:xfrm>
          <a:custGeom>
            <a:avLst/>
            <a:gdLst/>
            <a:ahLst/>
            <a:cxnLst/>
            <a:rect r="r" b="b" t="t" l="l"/>
            <a:pathLst>
              <a:path h="1200160" w="1916154">
                <a:moveTo>
                  <a:pt x="0" y="0"/>
                </a:moveTo>
                <a:lnTo>
                  <a:pt x="1916154" y="0"/>
                </a:lnTo>
                <a:lnTo>
                  <a:pt x="1916154" y="1200159"/>
                </a:lnTo>
                <a:lnTo>
                  <a:pt x="0" y="1200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9" id="39"/>
          <p:cNvGrpSpPr/>
          <p:nvPr/>
        </p:nvGrpSpPr>
        <p:grpSpPr>
          <a:xfrm rot="0">
            <a:off x="5083350" y="3980755"/>
            <a:ext cx="1745523" cy="1166774"/>
            <a:chOff x="0" y="0"/>
            <a:chExt cx="2327364" cy="1555699"/>
          </a:xfrm>
        </p:grpSpPr>
        <p:sp>
          <p:nvSpPr>
            <p:cNvPr name="Freeform 40" id="40"/>
            <p:cNvSpPr/>
            <p:nvPr/>
          </p:nvSpPr>
          <p:spPr>
            <a:xfrm flipH="false" flipV="false" rot="0">
              <a:off x="0" y="0"/>
              <a:ext cx="2327402" cy="1555750"/>
            </a:xfrm>
            <a:custGeom>
              <a:avLst/>
              <a:gdLst/>
              <a:ahLst/>
              <a:cxnLst/>
              <a:rect r="r" b="b" t="t" l="l"/>
              <a:pathLst>
                <a:path h="1555750" w="2327402">
                  <a:moveTo>
                    <a:pt x="0" y="0"/>
                  </a:moveTo>
                  <a:lnTo>
                    <a:pt x="2327402" y="0"/>
                  </a:lnTo>
                  <a:lnTo>
                    <a:pt x="2327402" y="1555750"/>
                  </a:lnTo>
                  <a:lnTo>
                    <a:pt x="0" y="1555750"/>
                  </a:lnTo>
                  <a:close/>
                </a:path>
              </a:pathLst>
            </a:custGeom>
            <a:blipFill>
              <a:blip r:embed="rId4">
                <a:alphaModFix amt="0"/>
              </a:blip>
              <a:stretch>
                <a:fillRect l="-35821" t="0" r="-35820" b="3"/>
              </a:stretch>
            </a:blipFill>
          </p:spPr>
        </p:sp>
      </p:grpSp>
      <p:grpSp>
        <p:nvGrpSpPr>
          <p:cNvPr name="Group 41" id="41"/>
          <p:cNvGrpSpPr/>
          <p:nvPr/>
        </p:nvGrpSpPr>
        <p:grpSpPr>
          <a:xfrm rot="0">
            <a:off x="5083350" y="3959323"/>
            <a:ext cx="1745523" cy="1188206"/>
            <a:chOff x="0" y="0"/>
            <a:chExt cx="2327364" cy="1584274"/>
          </a:xfrm>
        </p:grpSpPr>
        <p:sp>
          <p:nvSpPr>
            <p:cNvPr name="Freeform 42" id="42"/>
            <p:cNvSpPr/>
            <p:nvPr/>
          </p:nvSpPr>
          <p:spPr>
            <a:xfrm flipH="false" flipV="false" rot="0">
              <a:off x="0" y="0"/>
              <a:ext cx="2327364" cy="1584274"/>
            </a:xfrm>
            <a:custGeom>
              <a:avLst/>
              <a:gdLst/>
              <a:ahLst/>
              <a:cxnLst/>
              <a:rect r="r" b="b" t="t" l="l"/>
              <a:pathLst>
                <a:path h="1584274" w="2327364">
                  <a:moveTo>
                    <a:pt x="0" y="0"/>
                  </a:moveTo>
                  <a:lnTo>
                    <a:pt x="2327364" y="0"/>
                  </a:lnTo>
                  <a:lnTo>
                    <a:pt x="2327364" y="1584274"/>
                  </a:lnTo>
                  <a:lnTo>
                    <a:pt x="0" y="1584274"/>
                  </a:lnTo>
                  <a:close/>
                </a:path>
              </a:pathLst>
            </a:custGeom>
            <a:blipFill>
              <a:blip r:embed="rId5">
                <a:alphaModFix amt="0"/>
              </a:blip>
              <a:stretch>
                <a:fillRect l="-37338" t="0" r="-37338" b="0"/>
              </a:stretch>
            </a:blipFill>
          </p:spPr>
        </p:sp>
        <p:sp>
          <p:nvSpPr>
            <p:cNvPr name="TextBox 43" id="43"/>
            <p:cNvSpPr txBox="true"/>
            <p:nvPr/>
          </p:nvSpPr>
          <p:spPr>
            <a:xfrm>
              <a:off x="0" y="-28575"/>
              <a:ext cx="2327364" cy="1612849"/>
            </a:xfrm>
            <a:prstGeom prst="rect">
              <a:avLst/>
            </a:prstGeom>
          </p:spPr>
          <p:txBody>
            <a:bodyPr anchor="ctr" rtlCol="false" tIns="0" lIns="0" bIns="0" rIns="0"/>
            <a:lstStyle/>
            <a:p>
              <a:pPr algn="ctr">
                <a:lnSpc>
                  <a:spcPts val="1710"/>
                </a:lnSpc>
              </a:pPr>
              <a:r>
                <a:rPr lang="en-US" sz="1425" b="true">
                  <a:solidFill>
                    <a:srgbClr val="000000"/>
                  </a:solidFill>
                  <a:latin typeface="Poppins Bold"/>
                  <a:ea typeface="Poppins Bold"/>
                  <a:cs typeface="Poppins Bold"/>
                  <a:sym typeface="Poppins Bold"/>
                </a:rPr>
                <a:t>Assessment</a:t>
              </a:r>
            </a:p>
          </p:txBody>
        </p:sp>
      </p:grpSp>
      <p:grpSp>
        <p:nvGrpSpPr>
          <p:cNvPr name="Group 44" id="44"/>
          <p:cNvGrpSpPr/>
          <p:nvPr/>
        </p:nvGrpSpPr>
        <p:grpSpPr>
          <a:xfrm rot="0">
            <a:off x="6897510" y="3953294"/>
            <a:ext cx="247079" cy="1084412"/>
            <a:chOff x="0" y="0"/>
            <a:chExt cx="329438" cy="1445882"/>
          </a:xfrm>
        </p:grpSpPr>
        <p:sp>
          <p:nvSpPr>
            <p:cNvPr name="Freeform 45" id="45"/>
            <p:cNvSpPr/>
            <p:nvPr/>
          </p:nvSpPr>
          <p:spPr>
            <a:xfrm flipH="false" flipV="false" rot="0">
              <a:off x="0" y="0"/>
              <a:ext cx="329438" cy="1445895"/>
            </a:xfrm>
            <a:custGeom>
              <a:avLst/>
              <a:gdLst/>
              <a:ahLst/>
              <a:cxnLst/>
              <a:rect r="r" b="b" t="t" l="l"/>
              <a:pathLst>
                <a:path h="1445895" w="329438">
                  <a:moveTo>
                    <a:pt x="0" y="0"/>
                  </a:moveTo>
                  <a:lnTo>
                    <a:pt x="329438" y="0"/>
                  </a:lnTo>
                  <a:lnTo>
                    <a:pt x="329438" y="1445895"/>
                  </a:lnTo>
                  <a:lnTo>
                    <a:pt x="0" y="1445895"/>
                  </a:lnTo>
                  <a:close/>
                </a:path>
              </a:pathLst>
            </a:custGeom>
            <a:blipFill>
              <a:blip r:embed="rId4">
                <a:alphaModFix amt="0"/>
              </a:blip>
              <a:stretch>
                <a:fillRect l="-513508" t="0" r="-513508" b="0"/>
              </a:stretch>
            </a:blipFill>
          </p:spPr>
        </p:sp>
      </p:grpSp>
      <p:grpSp>
        <p:nvGrpSpPr>
          <p:cNvPr name="Group 46" id="46"/>
          <p:cNvGrpSpPr/>
          <p:nvPr/>
        </p:nvGrpSpPr>
        <p:grpSpPr>
          <a:xfrm rot="0">
            <a:off x="6897510" y="3939007"/>
            <a:ext cx="247079" cy="1098699"/>
            <a:chOff x="0" y="0"/>
            <a:chExt cx="329438" cy="1464932"/>
          </a:xfrm>
        </p:grpSpPr>
        <p:sp>
          <p:nvSpPr>
            <p:cNvPr name="Freeform 47" id="47"/>
            <p:cNvSpPr/>
            <p:nvPr/>
          </p:nvSpPr>
          <p:spPr>
            <a:xfrm flipH="false" flipV="false" rot="0">
              <a:off x="0" y="0"/>
              <a:ext cx="329439" cy="1464933"/>
            </a:xfrm>
            <a:custGeom>
              <a:avLst/>
              <a:gdLst/>
              <a:ahLst/>
              <a:cxnLst/>
              <a:rect r="r" b="b" t="t" l="l"/>
              <a:pathLst>
                <a:path h="1464933" w="329439">
                  <a:moveTo>
                    <a:pt x="0" y="0"/>
                  </a:moveTo>
                  <a:lnTo>
                    <a:pt x="329439" y="0"/>
                  </a:lnTo>
                  <a:lnTo>
                    <a:pt x="329439" y="1464933"/>
                  </a:lnTo>
                  <a:lnTo>
                    <a:pt x="0" y="1464933"/>
                  </a:lnTo>
                  <a:close/>
                </a:path>
              </a:pathLst>
            </a:custGeom>
            <a:blipFill>
              <a:blip r:embed="rId5">
                <a:alphaModFix amt="0"/>
              </a:blip>
              <a:stretch>
                <a:fillRect l="-520534" t="0" r="-520534" b="0"/>
              </a:stretch>
            </a:blipFill>
          </p:spPr>
        </p:sp>
        <p:sp>
          <p:nvSpPr>
            <p:cNvPr name="TextBox 48" id="48"/>
            <p:cNvSpPr txBox="true"/>
            <p:nvPr/>
          </p:nvSpPr>
          <p:spPr>
            <a:xfrm>
              <a:off x="0" y="-19050"/>
              <a:ext cx="329438" cy="1483982"/>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49" id="49"/>
          <p:cNvSpPr/>
          <p:nvPr/>
        </p:nvSpPr>
        <p:spPr>
          <a:xfrm flipH="false" flipV="false" rot="0">
            <a:off x="7127900" y="3964067"/>
            <a:ext cx="1916154" cy="1200160"/>
          </a:xfrm>
          <a:custGeom>
            <a:avLst/>
            <a:gdLst/>
            <a:ahLst/>
            <a:cxnLst/>
            <a:rect r="r" b="b" t="t" l="l"/>
            <a:pathLst>
              <a:path h="1200160" w="1916154">
                <a:moveTo>
                  <a:pt x="0" y="0"/>
                </a:moveTo>
                <a:lnTo>
                  <a:pt x="1916154" y="0"/>
                </a:lnTo>
                <a:lnTo>
                  <a:pt x="1916154" y="1200159"/>
                </a:lnTo>
                <a:lnTo>
                  <a:pt x="0" y="1200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0" id="50"/>
          <p:cNvGrpSpPr/>
          <p:nvPr/>
        </p:nvGrpSpPr>
        <p:grpSpPr>
          <a:xfrm rot="0">
            <a:off x="7213225" y="3980755"/>
            <a:ext cx="1745523" cy="1166774"/>
            <a:chOff x="0" y="0"/>
            <a:chExt cx="2327364" cy="1555699"/>
          </a:xfrm>
        </p:grpSpPr>
        <p:sp>
          <p:nvSpPr>
            <p:cNvPr name="Freeform 51" id="51"/>
            <p:cNvSpPr/>
            <p:nvPr/>
          </p:nvSpPr>
          <p:spPr>
            <a:xfrm flipH="false" flipV="false" rot="0">
              <a:off x="0" y="0"/>
              <a:ext cx="2327402" cy="1555750"/>
            </a:xfrm>
            <a:custGeom>
              <a:avLst/>
              <a:gdLst/>
              <a:ahLst/>
              <a:cxnLst/>
              <a:rect r="r" b="b" t="t" l="l"/>
              <a:pathLst>
                <a:path h="1555750" w="2327402">
                  <a:moveTo>
                    <a:pt x="0" y="0"/>
                  </a:moveTo>
                  <a:lnTo>
                    <a:pt x="2327402" y="0"/>
                  </a:lnTo>
                  <a:lnTo>
                    <a:pt x="2327402" y="1555750"/>
                  </a:lnTo>
                  <a:lnTo>
                    <a:pt x="0" y="1555750"/>
                  </a:lnTo>
                  <a:close/>
                </a:path>
              </a:pathLst>
            </a:custGeom>
            <a:blipFill>
              <a:blip r:embed="rId4">
                <a:alphaModFix amt="0"/>
              </a:blip>
              <a:stretch>
                <a:fillRect l="-35821" t="0" r="-35820" b="3"/>
              </a:stretch>
            </a:blipFill>
          </p:spPr>
        </p:sp>
      </p:grpSp>
      <p:grpSp>
        <p:nvGrpSpPr>
          <p:cNvPr name="Group 52" id="52"/>
          <p:cNvGrpSpPr/>
          <p:nvPr/>
        </p:nvGrpSpPr>
        <p:grpSpPr>
          <a:xfrm rot="0">
            <a:off x="7213225" y="3959323"/>
            <a:ext cx="1745523" cy="1188206"/>
            <a:chOff x="0" y="0"/>
            <a:chExt cx="2327364" cy="1584274"/>
          </a:xfrm>
        </p:grpSpPr>
        <p:sp>
          <p:nvSpPr>
            <p:cNvPr name="Freeform 53" id="53"/>
            <p:cNvSpPr/>
            <p:nvPr/>
          </p:nvSpPr>
          <p:spPr>
            <a:xfrm flipH="false" flipV="false" rot="0">
              <a:off x="0" y="0"/>
              <a:ext cx="2327364" cy="1584274"/>
            </a:xfrm>
            <a:custGeom>
              <a:avLst/>
              <a:gdLst/>
              <a:ahLst/>
              <a:cxnLst/>
              <a:rect r="r" b="b" t="t" l="l"/>
              <a:pathLst>
                <a:path h="1584274" w="2327364">
                  <a:moveTo>
                    <a:pt x="0" y="0"/>
                  </a:moveTo>
                  <a:lnTo>
                    <a:pt x="2327364" y="0"/>
                  </a:lnTo>
                  <a:lnTo>
                    <a:pt x="2327364" y="1584274"/>
                  </a:lnTo>
                  <a:lnTo>
                    <a:pt x="0" y="1584274"/>
                  </a:lnTo>
                  <a:close/>
                </a:path>
              </a:pathLst>
            </a:custGeom>
            <a:blipFill>
              <a:blip r:embed="rId5">
                <a:alphaModFix amt="0"/>
              </a:blip>
              <a:stretch>
                <a:fillRect l="-37338" t="0" r="-37338" b="0"/>
              </a:stretch>
            </a:blipFill>
          </p:spPr>
        </p:sp>
        <p:sp>
          <p:nvSpPr>
            <p:cNvPr name="TextBox 54" id="54"/>
            <p:cNvSpPr txBox="true"/>
            <p:nvPr/>
          </p:nvSpPr>
          <p:spPr>
            <a:xfrm>
              <a:off x="0" y="-28575"/>
              <a:ext cx="2327364" cy="1612849"/>
            </a:xfrm>
            <a:prstGeom prst="rect">
              <a:avLst/>
            </a:prstGeom>
          </p:spPr>
          <p:txBody>
            <a:bodyPr anchor="ctr" rtlCol="false" tIns="0" lIns="0" bIns="0" rIns="0"/>
            <a:lstStyle/>
            <a:p>
              <a:pPr algn="ctr">
                <a:lnSpc>
                  <a:spcPts val="1710"/>
                </a:lnSpc>
              </a:pPr>
              <a:r>
                <a:rPr lang="en-US" sz="1425" b="true">
                  <a:solidFill>
                    <a:srgbClr val="000000"/>
                  </a:solidFill>
                  <a:latin typeface="Poppins Bold"/>
                  <a:ea typeface="Poppins Bold"/>
                  <a:cs typeface="Poppins Bold"/>
                  <a:sym typeface="Poppins Bold"/>
                </a:rPr>
                <a:t>Proctoring</a:t>
              </a:r>
            </a:p>
          </p:txBody>
        </p:sp>
      </p:grpSp>
      <p:grpSp>
        <p:nvGrpSpPr>
          <p:cNvPr name="Group 55" id="55"/>
          <p:cNvGrpSpPr/>
          <p:nvPr/>
        </p:nvGrpSpPr>
        <p:grpSpPr>
          <a:xfrm rot="0">
            <a:off x="9027376" y="3953294"/>
            <a:ext cx="247079" cy="1084412"/>
            <a:chOff x="0" y="0"/>
            <a:chExt cx="329438" cy="1445882"/>
          </a:xfrm>
        </p:grpSpPr>
        <p:sp>
          <p:nvSpPr>
            <p:cNvPr name="Freeform 56" id="56"/>
            <p:cNvSpPr/>
            <p:nvPr/>
          </p:nvSpPr>
          <p:spPr>
            <a:xfrm flipH="false" flipV="false" rot="0">
              <a:off x="0" y="0"/>
              <a:ext cx="329438" cy="1445895"/>
            </a:xfrm>
            <a:custGeom>
              <a:avLst/>
              <a:gdLst/>
              <a:ahLst/>
              <a:cxnLst/>
              <a:rect r="r" b="b" t="t" l="l"/>
              <a:pathLst>
                <a:path h="1445895" w="329438">
                  <a:moveTo>
                    <a:pt x="0" y="0"/>
                  </a:moveTo>
                  <a:lnTo>
                    <a:pt x="329438" y="0"/>
                  </a:lnTo>
                  <a:lnTo>
                    <a:pt x="329438" y="1445895"/>
                  </a:lnTo>
                  <a:lnTo>
                    <a:pt x="0" y="1445895"/>
                  </a:lnTo>
                  <a:close/>
                </a:path>
              </a:pathLst>
            </a:custGeom>
            <a:blipFill>
              <a:blip r:embed="rId4">
                <a:alphaModFix amt="0"/>
              </a:blip>
              <a:stretch>
                <a:fillRect l="-513508" t="0" r="-513508" b="0"/>
              </a:stretch>
            </a:blipFill>
          </p:spPr>
        </p:sp>
      </p:grpSp>
      <p:grpSp>
        <p:nvGrpSpPr>
          <p:cNvPr name="Group 57" id="57"/>
          <p:cNvGrpSpPr/>
          <p:nvPr/>
        </p:nvGrpSpPr>
        <p:grpSpPr>
          <a:xfrm rot="0">
            <a:off x="9027376" y="3939007"/>
            <a:ext cx="247079" cy="1098699"/>
            <a:chOff x="0" y="0"/>
            <a:chExt cx="329438" cy="1464932"/>
          </a:xfrm>
        </p:grpSpPr>
        <p:sp>
          <p:nvSpPr>
            <p:cNvPr name="Freeform 58" id="58"/>
            <p:cNvSpPr/>
            <p:nvPr/>
          </p:nvSpPr>
          <p:spPr>
            <a:xfrm flipH="false" flipV="false" rot="0">
              <a:off x="0" y="0"/>
              <a:ext cx="329439" cy="1464933"/>
            </a:xfrm>
            <a:custGeom>
              <a:avLst/>
              <a:gdLst/>
              <a:ahLst/>
              <a:cxnLst/>
              <a:rect r="r" b="b" t="t" l="l"/>
              <a:pathLst>
                <a:path h="1464933" w="329439">
                  <a:moveTo>
                    <a:pt x="0" y="0"/>
                  </a:moveTo>
                  <a:lnTo>
                    <a:pt x="329439" y="0"/>
                  </a:lnTo>
                  <a:lnTo>
                    <a:pt x="329439" y="1464933"/>
                  </a:lnTo>
                  <a:lnTo>
                    <a:pt x="0" y="1464933"/>
                  </a:lnTo>
                  <a:close/>
                </a:path>
              </a:pathLst>
            </a:custGeom>
            <a:blipFill>
              <a:blip r:embed="rId5">
                <a:alphaModFix amt="0"/>
              </a:blip>
              <a:stretch>
                <a:fillRect l="-520534" t="0" r="-520534" b="0"/>
              </a:stretch>
            </a:blipFill>
          </p:spPr>
        </p:sp>
        <p:sp>
          <p:nvSpPr>
            <p:cNvPr name="TextBox 59" id="59"/>
            <p:cNvSpPr txBox="true"/>
            <p:nvPr/>
          </p:nvSpPr>
          <p:spPr>
            <a:xfrm>
              <a:off x="0" y="-19050"/>
              <a:ext cx="329438" cy="1483982"/>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60" id="60"/>
          <p:cNvSpPr/>
          <p:nvPr/>
        </p:nvSpPr>
        <p:spPr>
          <a:xfrm flipH="false" flipV="false" rot="0">
            <a:off x="9257776" y="3964067"/>
            <a:ext cx="1916154" cy="1200160"/>
          </a:xfrm>
          <a:custGeom>
            <a:avLst/>
            <a:gdLst/>
            <a:ahLst/>
            <a:cxnLst/>
            <a:rect r="r" b="b" t="t" l="l"/>
            <a:pathLst>
              <a:path h="1200160" w="1916154">
                <a:moveTo>
                  <a:pt x="0" y="0"/>
                </a:moveTo>
                <a:lnTo>
                  <a:pt x="1916154" y="0"/>
                </a:lnTo>
                <a:lnTo>
                  <a:pt x="1916154" y="1200159"/>
                </a:lnTo>
                <a:lnTo>
                  <a:pt x="0" y="1200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1" id="61"/>
          <p:cNvGrpSpPr/>
          <p:nvPr/>
        </p:nvGrpSpPr>
        <p:grpSpPr>
          <a:xfrm rot="0">
            <a:off x="9343092" y="3980755"/>
            <a:ext cx="1745523" cy="1166774"/>
            <a:chOff x="0" y="0"/>
            <a:chExt cx="2327364" cy="1555699"/>
          </a:xfrm>
        </p:grpSpPr>
        <p:sp>
          <p:nvSpPr>
            <p:cNvPr name="Freeform 62" id="62"/>
            <p:cNvSpPr/>
            <p:nvPr/>
          </p:nvSpPr>
          <p:spPr>
            <a:xfrm flipH="false" flipV="false" rot="0">
              <a:off x="0" y="0"/>
              <a:ext cx="2327402" cy="1555750"/>
            </a:xfrm>
            <a:custGeom>
              <a:avLst/>
              <a:gdLst/>
              <a:ahLst/>
              <a:cxnLst/>
              <a:rect r="r" b="b" t="t" l="l"/>
              <a:pathLst>
                <a:path h="1555750" w="2327402">
                  <a:moveTo>
                    <a:pt x="0" y="0"/>
                  </a:moveTo>
                  <a:lnTo>
                    <a:pt x="2327402" y="0"/>
                  </a:lnTo>
                  <a:lnTo>
                    <a:pt x="2327402" y="1555750"/>
                  </a:lnTo>
                  <a:lnTo>
                    <a:pt x="0" y="1555750"/>
                  </a:lnTo>
                  <a:close/>
                </a:path>
              </a:pathLst>
            </a:custGeom>
            <a:blipFill>
              <a:blip r:embed="rId4">
                <a:alphaModFix amt="0"/>
              </a:blip>
              <a:stretch>
                <a:fillRect l="-35821" t="0" r="-35820" b="3"/>
              </a:stretch>
            </a:blipFill>
          </p:spPr>
        </p:sp>
      </p:grpSp>
      <p:grpSp>
        <p:nvGrpSpPr>
          <p:cNvPr name="Group 63" id="63"/>
          <p:cNvGrpSpPr/>
          <p:nvPr/>
        </p:nvGrpSpPr>
        <p:grpSpPr>
          <a:xfrm rot="0">
            <a:off x="9343092" y="3959323"/>
            <a:ext cx="1745523" cy="1188206"/>
            <a:chOff x="0" y="0"/>
            <a:chExt cx="2327364" cy="1584274"/>
          </a:xfrm>
        </p:grpSpPr>
        <p:sp>
          <p:nvSpPr>
            <p:cNvPr name="Freeform 64" id="64"/>
            <p:cNvSpPr/>
            <p:nvPr/>
          </p:nvSpPr>
          <p:spPr>
            <a:xfrm flipH="false" flipV="false" rot="0">
              <a:off x="0" y="0"/>
              <a:ext cx="2327364" cy="1584274"/>
            </a:xfrm>
            <a:custGeom>
              <a:avLst/>
              <a:gdLst/>
              <a:ahLst/>
              <a:cxnLst/>
              <a:rect r="r" b="b" t="t" l="l"/>
              <a:pathLst>
                <a:path h="1584274" w="2327364">
                  <a:moveTo>
                    <a:pt x="0" y="0"/>
                  </a:moveTo>
                  <a:lnTo>
                    <a:pt x="2327364" y="0"/>
                  </a:lnTo>
                  <a:lnTo>
                    <a:pt x="2327364" y="1584274"/>
                  </a:lnTo>
                  <a:lnTo>
                    <a:pt x="0" y="1584274"/>
                  </a:lnTo>
                  <a:close/>
                </a:path>
              </a:pathLst>
            </a:custGeom>
            <a:blipFill>
              <a:blip r:embed="rId5">
                <a:alphaModFix amt="0"/>
              </a:blip>
              <a:stretch>
                <a:fillRect l="-37338" t="0" r="-37338" b="0"/>
              </a:stretch>
            </a:blipFill>
          </p:spPr>
        </p:sp>
        <p:sp>
          <p:nvSpPr>
            <p:cNvPr name="TextBox 65" id="65"/>
            <p:cNvSpPr txBox="true"/>
            <p:nvPr/>
          </p:nvSpPr>
          <p:spPr>
            <a:xfrm>
              <a:off x="0" y="-28575"/>
              <a:ext cx="2327364" cy="1612849"/>
            </a:xfrm>
            <a:prstGeom prst="rect">
              <a:avLst/>
            </a:prstGeom>
          </p:spPr>
          <p:txBody>
            <a:bodyPr anchor="ctr" rtlCol="false" tIns="0" lIns="0" bIns="0" rIns="0"/>
            <a:lstStyle/>
            <a:p>
              <a:pPr algn="ctr">
                <a:lnSpc>
                  <a:spcPts val="1710"/>
                </a:lnSpc>
              </a:pPr>
              <a:r>
                <a:rPr lang="en-US" sz="1425" b="true">
                  <a:solidFill>
                    <a:srgbClr val="000000"/>
                  </a:solidFill>
                  <a:latin typeface="Poppins Bold"/>
                  <a:ea typeface="Poppins Bold"/>
                  <a:cs typeface="Poppins Bold"/>
                  <a:sym typeface="Poppins Bold"/>
                </a:rPr>
                <a:t>Evaluation</a:t>
              </a:r>
            </a:p>
          </p:txBody>
        </p:sp>
      </p:grpSp>
      <p:grpSp>
        <p:nvGrpSpPr>
          <p:cNvPr name="Group 66" id="66"/>
          <p:cNvGrpSpPr/>
          <p:nvPr/>
        </p:nvGrpSpPr>
        <p:grpSpPr>
          <a:xfrm rot="0">
            <a:off x="11157252" y="3953294"/>
            <a:ext cx="247079" cy="1084412"/>
            <a:chOff x="0" y="0"/>
            <a:chExt cx="329438" cy="1445882"/>
          </a:xfrm>
        </p:grpSpPr>
        <p:sp>
          <p:nvSpPr>
            <p:cNvPr name="Freeform 67" id="67"/>
            <p:cNvSpPr/>
            <p:nvPr/>
          </p:nvSpPr>
          <p:spPr>
            <a:xfrm flipH="false" flipV="false" rot="0">
              <a:off x="0" y="0"/>
              <a:ext cx="329438" cy="1445895"/>
            </a:xfrm>
            <a:custGeom>
              <a:avLst/>
              <a:gdLst/>
              <a:ahLst/>
              <a:cxnLst/>
              <a:rect r="r" b="b" t="t" l="l"/>
              <a:pathLst>
                <a:path h="1445895" w="329438">
                  <a:moveTo>
                    <a:pt x="0" y="0"/>
                  </a:moveTo>
                  <a:lnTo>
                    <a:pt x="329438" y="0"/>
                  </a:lnTo>
                  <a:lnTo>
                    <a:pt x="329438" y="1445895"/>
                  </a:lnTo>
                  <a:lnTo>
                    <a:pt x="0" y="1445895"/>
                  </a:lnTo>
                  <a:close/>
                </a:path>
              </a:pathLst>
            </a:custGeom>
            <a:blipFill>
              <a:blip r:embed="rId4">
                <a:alphaModFix amt="0"/>
              </a:blip>
              <a:stretch>
                <a:fillRect l="-513508" t="0" r="-513508" b="0"/>
              </a:stretch>
            </a:blipFill>
          </p:spPr>
        </p:sp>
      </p:grpSp>
      <p:grpSp>
        <p:nvGrpSpPr>
          <p:cNvPr name="Group 68" id="68"/>
          <p:cNvGrpSpPr/>
          <p:nvPr/>
        </p:nvGrpSpPr>
        <p:grpSpPr>
          <a:xfrm rot="0">
            <a:off x="11157252" y="3939007"/>
            <a:ext cx="247079" cy="1098699"/>
            <a:chOff x="0" y="0"/>
            <a:chExt cx="329438" cy="1464932"/>
          </a:xfrm>
        </p:grpSpPr>
        <p:sp>
          <p:nvSpPr>
            <p:cNvPr name="Freeform 69" id="69"/>
            <p:cNvSpPr/>
            <p:nvPr/>
          </p:nvSpPr>
          <p:spPr>
            <a:xfrm flipH="false" flipV="false" rot="0">
              <a:off x="0" y="0"/>
              <a:ext cx="329439" cy="1464933"/>
            </a:xfrm>
            <a:custGeom>
              <a:avLst/>
              <a:gdLst/>
              <a:ahLst/>
              <a:cxnLst/>
              <a:rect r="r" b="b" t="t" l="l"/>
              <a:pathLst>
                <a:path h="1464933" w="329439">
                  <a:moveTo>
                    <a:pt x="0" y="0"/>
                  </a:moveTo>
                  <a:lnTo>
                    <a:pt x="329439" y="0"/>
                  </a:lnTo>
                  <a:lnTo>
                    <a:pt x="329439" y="1464933"/>
                  </a:lnTo>
                  <a:lnTo>
                    <a:pt x="0" y="1464933"/>
                  </a:lnTo>
                  <a:close/>
                </a:path>
              </a:pathLst>
            </a:custGeom>
            <a:blipFill>
              <a:blip r:embed="rId5">
                <a:alphaModFix amt="0"/>
              </a:blip>
              <a:stretch>
                <a:fillRect l="-520534" t="0" r="-520534" b="0"/>
              </a:stretch>
            </a:blipFill>
          </p:spPr>
        </p:sp>
        <p:sp>
          <p:nvSpPr>
            <p:cNvPr name="TextBox 70" id="70"/>
            <p:cNvSpPr txBox="true"/>
            <p:nvPr/>
          </p:nvSpPr>
          <p:spPr>
            <a:xfrm>
              <a:off x="0" y="-19050"/>
              <a:ext cx="329438" cy="1483982"/>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71" id="71"/>
          <p:cNvSpPr/>
          <p:nvPr/>
        </p:nvSpPr>
        <p:spPr>
          <a:xfrm flipH="false" flipV="false" rot="0">
            <a:off x="11387652" y="3964067"/>
            <a:ext cx="1916154" cy="1200160"/>
          </a:xfrm>
          <a:custGeom>
            <a:avLst/>
            <a:gdLst/>
            <a:ahLst/>
            <a:cxnLst/>
            <a:rect r="r" b="b" t="t" l="l"/>
            <a:pathLst>
              <a:path h="1200160" w="1916154">
                <a:moveTo>
                  <a:pt x="0" y="0"/>
                </a:moveTo>
                <a:lnTo>
                  <a:pt x="1916154" y="0"/>
                </a:lnTo>
                <a:lnTo>
                  <a:pt x="1916154" y="1200159"/>
                </a:lnTo>
                <a:lnTo>
                  <a:pt x="0" y="1200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2" id="72"/>
          <p:cNvGrpSpPr/>
          <p:nvPr/>
        </p:nvGrpSpPr>
        <p:grpSpPr>
          <a:xfrm rot="0">
            <a:off x="11472967" y="3980755"/>
            <a:ext cx="1745523" cy="1166774"/>
            <a:chOff x="0" y="0"/>
            <a:chExt cx="2327364" cy="1555699"/>
          </a:xfrm>
        </p:grpSpPr>
        <p:sp>
          <p:nvSpPr>
            <p:cNvPr name="Freeform 73" id="73"/>
            <p:cNvSpPr/>
            <p:nvPr/>
          </p:nvSpPr>
          <p:spPr>
            <a:xfrm flipH="false" flipV="false" rot="0">
              <a:off x="0" y="0"/>
              <a:ext cx="2327402" cy="1555750"/>
            </a:xfrm>
            <a:custGeom>
              <a:avLst/>
              <a:gdLst/>
              <a:ahLst/>
              <a:cxnLst/>
              <a:rect r="r" b="b" t="t" l="l"/>
              <a:pathLst>
                <a:path h="1555750" w="2327402">
                  <a:moveTo>
                    <a:pt x="0" y="0"/>
                  </a:moveTo>
                  <a:lnTo>
                    <a:pt x="2327402" y="0"/>
                  </a:lnTo>
                  <a:lnTo>
                    <a:pt x="2327402" y="1555750"/>
                  </a:lnTo>
                  <a:lnTo>
                    <a:pt x="0" y="1555750"/>
                  </a:lnTo>
                  <a:close/>
                </a:path>
              </a:pathLst>
            </a:custGeom>
            <a:blipFill>
              <a:blip r:embed="rId4">
                <a:alphaModFix amt="0"/>
              </a:blip>
              <a:stretch>
                <a:fillRect l="-35821" t="0" r="-35820" b="3"/>
              </a:stretch>
            </a:blipFill>
          </p:spPr>
        </p:sp>
      </p:grpSp>
      <p:grpSp>
        <p:nvGrpSpPr>
          <p:cNvPr name="Group 74" id="74"/>
          <p:cNvGrpSpPr/>
          <p:nvPr/>
        </p:nvGrpSpPr>
        <p:grpSpPr>
          <a:xfrm rot="0">
            <a:off x="11472967" y="3959323"/>
            <a:ext cx="1745523" cy="1188206"/>
            <a:chOff x="0" y="0"/>
            <a:chExt cx="2327364" cy="1584274"/>
          </a:xfrm>
        </p:grpSpPr>
        <p:sp>
          <p:nvSpPr>
            <p:cNvPr name="Freeform 75" id="75"/>
            <p:cNvSpPr/>
            <p:nvPr/>
          </p:nvSpPr>
          <p:spPr>
            <a:xfrm flipH="false" flipV="false" rot="0">
              <a:off x="0" y="0"/>
              <a:ext cx="2327364" cy="1584274"/>
            </a:xfrm>
            <a:custGeom>
              <a:avLst/>
              <a:gdLst/>
              <a:ahLst/>
              <a:cxnLst/>
              <a:rect r="r" b="b" t="t" l="l"/>
              <a:pathLst>
                <a:path h="1584274" w="2327364">
                  <a:moveTo>
                    <a:pt x="0" y="0"/>
                  </a:moveTo>
                  <a:lnTo>
                    <a:pt x="2327364" y="0"/>
                  </a:lnTo>
                  <a:lnTo>
                    <a:pt x="2327364" y="1584274"/>
                  </a:lnTo>
                  <a:lnTo>
                    <a:pt x="0" y="1584274"/>
                  </a:lnTo>
                  <a:close/>
                </a:path>
              </a:pathLst>
            </a:custGeom>
            <a:blipFill>
              <a:blip r:embed="rId5">
                <a:alphaModFix amt="0"/>
              </a:blip>
              <a:stretch>
                <a:fillRect l="-37338" t="0" r="-37338" b="0"/>
              </a:stretch>
            </a:blipFill>
          </p:spPr>
        </p:sp>
        <p:sp>
          <p:nvSpPr>
            <p:cNvPr name="TextBox 76" id="76"/>
            <p:cNvSpPr txBox="true"/>
            <p:nvPr/>
          </p:nvSpPr>
          <p:spPr>
            <a:xfrm>
              <a:off x="0" y="-28575"/>
              <a:ext cx="2327364" cy="1612849"/>
            </a:xfrm>
            <a:prstGeom prst="rect">
              <a:avLst/>
            </a:prstGeom>
          </p:spPr>
          <p:txBody>
            <a:bodyPr anchor="ctr" rtlCol="false" tIns="0" lIns="0" bIns="0" rIns="0"/>
            <a:lstStyle/>
            <a:p>
              <a:pPr algn="ctr">
                <a:lnSpc>
                  <a:spcPts val="1710"/>
                </a:lnSpc>
              </a:pPr>
              <a:r>
                <a:rPr lang="en-US" sz="1425" b="true">
                  <a:solidFill>
                    <a:srgbClr val="000000"/>
                  </a:solidFill>
                  <a:latin typeface="Poppins Bold"/>
                  <a:ea typeface="Poppins Bold"/>
                  <a:cs typeface="Poppins Bold"/>
                  <a:sym typeface="Poppins Bold"/>
                </a:rPr>
                <a:t>Ranking</a:t>
              </a:r>
            </a:p>
          </p:txBody>
        </p:sp>
      </p:grpSp>
      <p:grpSp>
        <p:nvGrpSpPr>
          <p:cNvPr name="Group 77" id="77"/>
          <p:cNvGrpSpPr/>
          <p:nvPr/>
        </p:nvGrpSpPr>
        <p:grpSpPr>
          <a:xfrm rot="0">
            <a:off x="13287127" y="3953294"/>
            <a:ext cx="247079" cy="1084412"/>
            <a:chOff x="0" y="0"/>
            <a:chExt cx="329438" cy="1445882"/>
          </a:xfrm>
        </p:grpSpPr>
        <p:sp>
          <p:nvSpPr>
            <p:cNvPr name="Freeform 78" id="78"/>
            <p:cNvSpPr/>
            <p:nvPr/>
          </p:nvSpPr>
          <p:spPr>
            <a:xfrm flipH="false" flipV="false" rot="0">
              <a:off x="0" y="0"/>
              <a:ext cx="329438" cy="1445895"/>
            </a:xfrm>
            <a:custGeom>
              <a:avLst/>
              <a:gdLst/>
              <a:ahLst/>
              <a:cxnLst/>
              <a:rect r="r" b="b" t="t" l="l"/>
              <a:pathLst>
                <a:path h="1445895" w="329438">
                  <a:moveTo>
                    <a:pt x="0" y="0"/>
                  </a:moveTo>
                  <a:lnTo>
                    <a:pt x="329438" y="0"/>
                  </a:lnTo>
                  <a:lnTo>
                    <a:pt x="329438" y="1445895"/>
                  </a:lnTo>
                  <a:lnTo>
                    <a:pt x="0" y="1445895"/>
                  </a:lnTo>
                  <a:close/>
                </a:path>
              </a:pathLst>
            </a:custGeom>
            <a:blipFill>
              <a:blip r:embed="rId4">
                <a:alphaModFix amt="0"/>
              </a:blip>
              <a:stretch>
                <a:fillRect l="-513508" t="0" r="-513508" b="0"/>
              </a:stretch>
            </a:blipFill>
          </p:spPr>
        </p:sp>
      </p:grpSp>
      <p:grpSp>
        <p:nvGrpSpPr>
          <p:cNvPr name="Group 79" id="79"/>
          <p:cNvGrpSpPr/>
          <p:nvPr/>
        </p:nvGrpSpPr>
        <p:grpSpPr>
          <a:xfrm rot="0">
            <a:off x="13287127" y="3939007"/>
            <a:ext cx="247079" cy="1098699"/>
            <a:chOff x="0" y="0"/>
            <a:chExt cx="329438" cy="1464932"/>
          </a:xfrm>
        </p:grpSpPr>
        <p:sp>
          <p:nvSpPr>
            <p:cNvPr name="Freeform 80" id="80"/>
            <p:cNvSpPr/>
            <p:nvPr/>
          </p:nvSpPr>
          <p:spPr>
            <a:xfrm flipH="false" flipV="false" rot="0">
              <a:off x="0" y="0"/>
              <a:ext cx="329439" cy="1464933"/>
            </a:xfrm>
            <a:custGeom>
              <a:avLst/>
              <a:gdLst/>
              <a:ahLst/>
              <a:cxnLst/>
              <a:rect r="r" b="b" t="t" l="l"/>
              <a:pathLst>
                <a:path h="1464933" w="329439">
                  <a:moveTo>
                    <a:pt x="0" y="0"/>
                  </a:moveTo>
                  <a:lnTo>
                    <a:pt x="329439" y="0"/>
                  </a:lnTo>
                  <a:lnTo>
                    <a:pt x="329439" y="1464933"/>
                  </a:lnTo>
                  <a:lnTo>
                    <a:pt x="0" y="1464933"/>
                  </a:lnTo>
                  <a:close/>
                </a:path>
              </a:pathLst>
            </a:custGeom>
            <a:blipFill>
              <a:blip r:embed="rId5">
                <a:alphaModFix amt="0"/>
              </a:blip>
              <a:stretch>
                <a:fillRect l="-520534" t="0" r="-520534" b="0"/>
              </a:stretch>
            </a:blipFill>
          </p:spPr>
        </p:sp>
        <p:sp>
          <p:nvSpPr>
            <p:cNvPr name="TextBox 81" id="81"/>
            <p:cNvSpPr txBox="true"/>
            <p:nvPr/>
          </p:nvSpPr>
          <p:spPr>
            <a:xfrm>
              <a:off x="0" y="-19050"/>
              <a:ext cx="329438" cy="1483982"/>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82" id="82"/>
          <p:cNvSpPr/>
          <p:nvPr/>
        </p:nvSpPr>
        <p:spPr>
          <a:xfrm flipH="false" flipV="false" rot="0">
            <a:off x="13517518" y="3964067"/>
            <a:ext cx="1916154" cy="1200160"/>
          </a:xfrm>
          <a:custGeom>
            <a:avLst/>
            <a:gdLst/>
            <a:ahLst/>
            <a:cxnLst/>
            <a:rect r="r" b="b" t="t" l="l"/>
            <a:pathLst>
              <a:path h="1200160" w="1916154">
                <a:moveTo>
                  <a:pt x="0" y="0"/>
                </a:moveTo>
                <a:lnTo>
                  <a:pt x="1916154" y="0"/>
                </a:lnTo>
                <a:lnTo>
                  <a:pt x="1916154" y="1200159"/>
                </a:lnTo>
                <a:lnTo>
                  <a:pt x="0" y="1200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3" id="83"/>
          <p:cNvGrpSpPr/>
          <p:nvPr/>
        </p:nvGrpSpPr>
        <p:grpSpPr>
          <a:xfrm rot="0">
            <a:off x="13602843" y="3980755"/>
            <a:ext cx="1745523" cy="1166774"/>
            <a:chOff x="0" y="0"/>
            <a:chExt cx="2327364" cy="1555699"/>
          </a:xfrm>
        </p:grpSpPr>
        <p:sp>
          <p:nvSpPr>
            <p:cNvPr name="Freeform 84" id="84"/>
            <p:cNvSpPr/>
            <p:nvPr/>
          </p:nvSpPr>
          <p:spPr>
            <a:xfrm flipH="false" flipV="false" rot="0">
              <a:off x="0" y="0"/>
              <a:ext cx="2327402" cy="1555750"/>
            </a:xfrm>
            <a:custGeom>
              <a:avLst/>
              <a:gdLst/>
              <a:ahLst/>
              <a:cxnLst/>
              <a:rect r="r" b="b" t="t" l="l"/>
              <a:pathLst>
                <a:path h="1555750" w="2327402">
                  <a:moveTo>
                    <a:pt x="0" y="0"/>
                  </a:moveTo>
                  <a:lnTo>
                    <a:pt x="2327402" y="0"/>
                  </a:lnTo>
                  <a:lnTo>
                    <a:pt x="2327402" y="1555750"/>
                  </a:lnTo>
                  <a:lnTo>
                    <a:pt x="0" y="1555750"/>
                  </a:lnTo>
                  <a:close/>
                </a:path>
              </a:pathLst>
            </a:custGeom>
            <a:blipFill>
              <a:blip r:embed="rId4">
                <a:alphaModFix amt="0"/>
              </a:blip>
              <a:stretch>
                <a:fillRect l="-35821" t="0" r="-35820" b="3"/>
              </a:stretch>
            </a:blipFill>
          </p:spPr>
        </p:sp>
      </p:grpSp>
      <p:grpSp>
        <p:nvGrpSpPr>
          <p:cNvPr name="Group 85" id="85"/>
          <p:cNvGrpSpPr/>
          <p:nvPr/>
        </p:nvGrpSpPr>
        <p:grpSpPr>
          <a:xfrm rot="0">
            <a:off x="13602843" y="3959323"/>
            <a:ext cx="1745523" cy="1188206"/>
            <a:chOff x="0" y="0"/>
            <a:chExt cx="2327364" cy="1584274"/>
          </a:xfrm>
        </p:grpSpPr>
        <p:sp>
          <p:nvSpPr>
            <p:cNvPr name="Freeform 86" id="86"/>
            <p:cNvSpPr/>
            <p:nvPr/>
          </p:nvSpPr>
          <p:spPr>
            <a:xfrm flipH="false" flipV="false" rot="0">
              <a:off x="0" y="0"/>
              <a:ext cx="2327364" cy="1584274"/>
            </a:xfrm>
            <a:custGeom>
              <a:avLst/>
              <a:gdLst/>
              <a:ahLst/>
              <a:cxnLst/>
              <a:rect r="r" b="b" t="t" l="l"/>
              <a:pathLst>
                <a:path h="1584274" w="2327364">
                  <a:moveTo>
                    <a:pt x="0" y="0"/>
                  </a:moveTo>
                  <a:lnTo>
                    <a:pt x="2327364" y="0"/>
                  </a:lnTo>
                  <a:lnTo>
                    <a:pt x="2327364" y="1584274"/>
                  </a:lnTo>
                  <a:lnTo>
                    <a:pt x="0" y="1584274"/>
                  </a:lnTo>
                  <a:close/>
                </a:path>
              </a:pathLst>
            </a:custGeom>
            <a:blipFill>
              <a:blip r:embed="rId5">
                <a:alphaModFix amt="0"/>
              </a:blip>
              <a:stretch>
                <a:fillRect l="-37338" t="0" r="-37338" b="0"/>
              </a:stretch>
            </a:blipFill>
          </p:spPr>
        </p:sp>
        <p:sp>
          <p:nvSpPr>
            <p:cNvPr name="TextBox 87" id="87"/>
            <p:cNvSpPr txBox="true"/>
            <p:nvPr/>
          </p:nvSpPr>
          <p:spPr>
            <a:xfrm>
              <a:off x="0" y="-28575"/>
              <a:ext cx="2327364" cy="1612849"/>
            </a:xfrm>
            <a:prstGeom prst="rect">
              <a:avLst/>
            </a:prstGeom>
          </p:spPr>
          <p:txBody>
            <a:bodyPr anchor="ctr" rtlCol="false" tIns="0" lIns="0" bIns="0" rIns="0"/>
            <a:lstStyle/>
            <a:p>
              <a:pPr algn="ctr">
                <a:lnSpc>
                  <a:spcPts val="1710"/>
                </a:lnSpc>
              </a:pPr>
              <a:r>
                <a:rPr lang="en-US" sz="1425" b="true">
                  <a:solidFill>
                    <a:srgbClr val="000000"/>
                  </a:solidFill>
                  <a:latin typeface="Poppins Bold"/>
                  <a:ea typeface="Poppins Bold"/>
                  <a:cs typeface="Poppins Bold"/>
                  <a:sym typeface="Poppins Bold"/>
                </a:rPr>
                <a:t>Recruiter Search</a:t>
              </a:r>
            </a:p>
          </p:txBody>
        </p:sp>
      </p:grpSp>
      <p:grpSp>
        <p:nvGrpSpPr>
          <p:cNvPr name="Group 88" id="88"/>
          <p:cNvGrpSpPr/>
          <p:nvPr/>
        </p:nvGrpSpPr>
        <p:grpSpPr>
          <a:xfrm rot="0">
            <a:off x="15416994" y="3953294"/>
            <a:ext cx="247079" cy="1084412"/>
            <a:chOff x="0" y="0"/>
            <a:chExt cx="329438" cy="1445882"/>
          </a:xfrm>
        </p:grpSpPr>
        <p:sp>
          <p:nvSpPr>
            <p:cNvPr name="Freeform 89" id="89"/>
            <p:cNvSpPr/>
            <p:nvPr/>
          </p:nvSpPr>
          <p:spPr>
            <a:xfrm flipH="false" flipV="false" rot="0">
              <a:off x="0" y="0"/>
              <a:ext cx="329438" cy="1445895"/>
            </a:xfrm>
            <a:custGeom>
              <a:avLst/>
              <a:gdLst/>
              <a:ahLst/>
              <a:cxnLst/>
              <a:rect r="r" b="b" t="t" l="l"/>
              <a:pathLst>
                <a:path h="1445895" w="329438">
                  <a:moveTo>
                    <a:pt x="0" y="0"/>
                  </a:moveTo>
                  <a:lnTo>
                    <a:pt x="329438" y="0"/>
                  </a:lnTo>
                  <a:lnTo>
                    <a:pt x="329438" y="1445895"/>
                  </a:lnTo>
                  <a:lnTo>
                    <a:pt x="0" y="1445895"/>
                  </a:lnTo>
                  <a:close/>
                </a:path>
              </a:pathLst>
            </a:custGeom>
            <a:blipFill>
              <a:blip r:embed="rId4">
                <a:alphaModFix amt="0"/>
              </a:blip>
              <a:stretch>
                <a:fillRect l="-513508" t="0" r="-513508" b="0"/>
              </a:stretch>
            </a:blipFill>
          </p:spPr>
        </p:sp>
      </p:grpSp>
      <p:grpSp>
        <p:nvGrpSpPr>
          <p:cNvPr name="Group 90" id="90"/>
          <p:cNvGrpSpPr/>
          <p:nvPr/>
        </p:nvGrpSpPr>
        <p:grpSpPr>
          <a:xfrm rot="0">
            <a:off x="15416994" y="3939007"/>
            <a:ext cx="247079" cy="1098699"/>
            <a:chOff x="0" y="0"/>
            <a:chExt cx="329438" cy="1464932"/>
          </a:xfrm>
        </p:grpSpPr>
        <p:sp>
          <p:nvSpPr>
            <p:cNvPr name="Freeform 91" id="91"/>
            <p:cNvSpPr/>
            <p:nvPr/>
          </p:nvSpPr>
          <p:spPr>
            <a:xfrm flipH="false" flipV="false" rot="0">
              <a:off x="0" y="0"/>
              <a:ext cx="329439" cy="1464933"/>
            </a:xfrm>
            <a:custGeom>
              <a:avLst/>
              <a:gdLst/>
              <a:ahLst/>
              <a:cxnLst/>
              <a:rect r="r" b="b" t="t" l="l"/>
              <a:pathLst>
                <a:path h="1464933" w="329439">
                  <a:moveTo>
                    <a:pt x="0" y="0"/>
                  </a:moveTo>
                  <a:lnTo>
                    <a:pt x="329439" y="0"/>
                  </a:lnTo>
                  <a:lnTo>
                    <a:pt x="329439" y="1464933"/>
                  </a:lnTo>
                  <a:lnTo>
                    <a:pt x="0" y="1464933"/>
                  </a:lnTo>
                  <a:close/>
                </a:path>
              </a:pathLst>
            </a:custGeom>
            <a:blipFill>
              <a:blip r:embed="rId5">
                <a:alphaModFix amt="0"/>
              </a:blip>
              <a:stretch>
                <a:fillRect l="-520534" t="0" r="-520534" b="0"/>
              </a:stretch>
            </a:blipFill>
          </p:spPr>
        </p:sp>
        <p:sp>
          <p:nvSpPr>
            <p:cNvPr name="TextBox 92" id="92"/>
            <p:cNvSpPr txBox="true"/>
            <p:nvPr/>
          </p:nvSpPr>
          <p:spPr>
            <a:xfrm>
              <a:off x="0" y="-19050"/>
              <a:ext cx="329438" cy="1483982"/>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93" id="93"/>
          <p:cNvSpPr/>
          <p:nvPr/>
        </p:nvSpPr>
        <p:spPr>
          <a:xfrm flipH="false" flipV="false" rot="0">
            <a:off x="15647394" y="3964067"/>
            <a:ext cx="1916154" cy="1200160"/>
          </a:xfrm>
          <a:custGeom>
            <a:avLst/>
            <a:gdLst/>
            <a:ahLst/>
            <a:cxnLst/>
            <a:rect r="r" b="b" t="t" l="l"/>
            <a:pathLst>
              <a:path h="1200160" w="1916154">
                <a:moveTo>
                  <a:pt x="0" y="0"/>
                </a:moveTo>
                <a:lnTo>
                  <a:pt x="1916154" y="0"/>
                </a:lnTo>
                <a:lnTo>
                  <a:pt x="1916154" y="1200159"/>
                </a:lnTo>
                <a:lnTo>
                  <a:pt x="0" y="1200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4" id="94"/>
          <p:cNvGrpSpPr/>
          <p:nvPr/>
        </p:nvGrpSpPr>
        <p:grpSpPr>
          <a:xfrm rot="0">
            <a:off x="15732709" y="3980755"/>
            <a:ext cx="1745523" cy="1166774"/>
            <a:chOff x="0" y="0"/>
            <a:chExt cx="2327364" cy="1555699"/>
          </a:xfrm>
        </p:grpSpPr>
        <p:sp>
          <p:nvSpPr>
            <p:cNvPr name="Freeform 95" id="95"/>
            <p:cNvSpPr/>
            <p:nvPr/>
          </p:nvSpPr>
          <p:spPr>
            <a:xfrm flipH="false" flipV="false" rot="0">
              <a:off x="0" y="0"/>
              <a:ext cx="2327402" cy="1555750"/>
            </a:xfrm>
            <a:custGeom>
              <a:avLst/>
              <a:gdLst/>
              <a:ahLst/>
              <a:cxnLst/>
              <a:rect r="r" b="b" t="t" l="l"/>
              <a:pathLst>
                <a:path h="1555750" w="2327402">
                  <a:moveTo>
                    <a:pt x="0" y="0"/>
                  </a:moveTo>
                  <a:lnTo>
                    <a:pt x="2327402" y="0"/>
                  </a:lnTo>
                  <a:lnTo>
                    <a:pt x="2327402" y="1555750"/>
                  </a:lnTo>
                  <a:lnTo>
                    <a:pt x="0" y="1555750"/>
                  </a:lnTo>
                  <a:close/>
                </a:path>
              </a:pathLst>
            </a:custGeom>
            <a:blipFill>
              <a:blip r:embed="rId4">
                <a:alphaModFix amt="0"/>
              </a:blip>
              <a:stretch>
                <a:fillRect l="-35821" t="0" r="-35820" b="3"/>
              </a:stretch>
            </a:blipFill>
          </p:spPr>
        </p:sp>
      </p:grpSp>
      <p:grpSp>
        <p:nvGrpSpPr>
          <p:cNvPr name="Group 96" id="96"/>
          <p:cNvGrpSpPr/>
          <p:nvPr/>
        </p:nvGrpSpPr>
        <p:grpSpPr>
          <a:xfrm rot="0">
            <a:off x="15732709" y="3959323"/>
            <a:ext cx="1745523" cy="1188206"/>
            <a:chOff x="0" y="0"/>
            <a:chExt cx="2327364" cy="1584274"/>
          </a:xfrm>
        </p:grpSpPr>
        <p:sp>
          <p:nvSpPr>
            <p:cNvPr name="Freeform 97" id="97"/>
            <p:cNvSpPr/>
            <p:nvPr/>
          </p:nvSpPr>
          <p:spPr>
            <a:xfrm flipH="false" flipV="false" rot="0">
              <a:off x="0" y="0"/>
              <a:ext cx="2327364" cy="1584274"/>
            </a:xfrm>
            <a:custGeom>
              <a:avLst/>
              <a:gdLst/>
              <a:ahLst/>
              <a:cxnLst/>
              <a:rect r="r" b="b" t="t" l="l"/>
              <a:pathLst>
                <a:path h="1584274" w="2327364">
                  <a:moveTo>
                    <a:pt x="0" y="0"/>
                  </a:moveTo>
                  <a:lnTo>
                    <a:pt x="2327364" y="0"/>
                  </a:lnTo>
                  <a:lnTo>
                    <a:pt x="2327364" y="1584274"/>
                  </a:lnTo>
                  <a:lnTo>
                    <a:pt x="0" y="1584274"/>
                  </a:lnTo>
                  <a:close/>
                </a:path>
              </a:pathLst>
            </a:custGeom>
            <a:blipFill>
              <a:blip r:embed="rId5">
                <a:alphaModFix amt="0"/>
              </a:blip>
              <a:stretch>
                <a:fillRect l="-37338" t="0" r="-37338" b="0"/>
              </a:stretch>
            </a:blipFill>
          </p:spPr>
        </p:sp>
        <p:sp>
          <p:nvSpPr>
            <p:cNvPr name="TextBox 98" id="98"/>
            <p:cNvSpPr txBox="true"/>
            <p:nvPr/>
          </p:nvSpPr>
          <p:spPr>
            <a:xfrm>
              <a:off x="0" y="-28575"/>
              <a:ext cx="2327364" cy="1612849"/>
            </a:xfrm>
            <a:prstGeom prst="rect">
              <a:avLst/>
            </a:prstGeom>
          </p:spPr>
          <p:txBody>
            <a:bodyPr anchor="ctr" rtlCol="false" tIns="0" lIns="0" bIns="0" rIns="0"/>
            <a:lstStyle/>
            <a:p>
              <a:pPr algn="ctr">
                <a:lnSpc>
                  <a:spcPts val="1710"/>
                </a:lnSpc>
              </a:pPr>
              <a:r>
                <a:rPr lang="en-US" sz="1425" b="true">
                  <a:solidFill>
                    <a:srgbClr val="000000"/>
                  </a:solidFill>
                  <a:latin typeface="Poppins Bold"/>
                  <a:ea typeface="Poppins Bold"/>
                  <a:cs typeface="Poppins Bold"/>
                  <a:sym typeface="Poppins Bold"/>
                </a:rPr>
                <a:t>Discovery</a:t>
              </a:r>
            </a:p>
          </p:txBody>
        </p:sp>
      </p:grpSp>
      <p:grpSp>
        <p:nvGrpSpPr>
          <p:cNvPr name="Group 99" id="99"/>
          <p:cNvGrpSpPr/>
          <p:nvPr/>
        </p:nvGrpSpPr>
        <p:grpSpPr>
          <a:xfrm rot="0">
            <a:off x="1372676" y="5902490"/>
            <a:ext cx="15511196" cy="686333"/>
            <a:chOff x="0" y="0"/>
            <a:chExt cx="20681594" cy="915111"/>
          </a:xfrm>
        </p:grpSpPr>
        <p:sp>
          <p:nvSpPr>
            <p:cNvPr name="Freeform 100" id="100"/>
            <p:cNvSpPr/>
            <p:nvPr/>
          </p:nvSpPr>
          <p:spPr>
            <a:xfrm flipH="false" flipV="false" rot="0">
              <a:off x="0" y="0"/>
              <a:ext cx="20681569" cy="915162"/>
            </a:xfrm>
            <a:custGeom>
              <a:avLst/>
              <a:gdLst/>
              <a:ahLst/>
              <a:cxnLst/>
              <a:rect r="r" b="b" t="t" l="l"/>
              <a:pathLst>
                <a:path h="915162" w="20681569">
                  <a:moveTo>
                    <a:pt x="0" y="0"/>
                  </a:moveTo>
                  <a:lnTo>
                    <a:pt x="20681569" y="0"/>
                  </a:lnTo>
                  <a:lnTo>
                    <a:pt x="20681569" y="915162"/>
                  </a:lnTo>
                  <a:lnTo>
                    <a:pt x="0" y="915162"/>
                  </a:lnTo>
                  <a:close/>
                </a:path>
              </a:pathLst>
            </a:custGeom>
            <a:blipFill>
              <a:blip r:embed="rId4">
                <a:alphaModFix amt="0"/>
              </a:blip>
              <a:stretch>
                <a:fillRect l="0" t="-390036" r="0" b="-390030"/>
              </a:stretch>
            </a:blipFill>
          </p:spPr>
        </p:sp>
      </p:grpSp>
      <p:grpSp>
        <p:nvGrpSpPr>
          <p:cNvPr name="Group 101" id="101"/>
          <p:cNvGrpSpPr/>
          <p:nvPr/>
        </p:nvGrpSpPr>
        <p:grpSpPr>
          <a:xfrm rot="0">
            <a:off x="1372676" y="5881059"/>
            <a:ext cx="15511196" cy="707765"/>
            <a:chOff x="0" y="0"/>
            <a:chExt cx="20681594" cy="943686"/>
          </a:xfrm>
        </p:grpSpPr>
        <p:sp>
          <p:nvSpPr>
            <p:cNvPr name="Freeform 102" id="102"/>
            <p:cNvSpPr/>
            <p:nvPr/>
          </p:nvSpPr>
          <p:spPr>
            <a:xfrm flipH="false" flipV="false" rot="0">
              <a:off x="0" y="0"/>
              <a:ext cx="20681595" cy="943686"/>
            </a:xfrm>
            <a:custGeom>
              <a:avLst/>
              <a:gdLst/>
              <a:ahLst/>
              <a:cxnLst/>
              <a:rect r="r" b="b" t="t" l="l"/>
              <a:pathLst>
                <a:path h="943686" w="20681595">
                  <a:moveTo>
                    <a:pt x="0" y="0"/>
                  </a:moveTo>
                  <a:lnTo>
                    <a:pt x="20681595" y="0"/>
                  </a:lnTo>
                  <a:lnTo>
                    <a:pt x="20681595" y="943686"/>
                  </a:lnTo>
                  <a:lnTo>
                    <a:pt x="0" y="943686"/>
                  </a:lnTo>
                  <a:close/>
                </a:path>
              </a:pathLst>
            </a:custGeom>
            <a:blipFill>
              <a:blip r:embed="rId5">
                <a:alphaModFix amt="0"/>
              </a:blip>
              <a:stretch>
                <a:fillRect l="0" t="-377029" r="0" b="-377029"/>
              </a:stretch>
            </a:blipFill>
          </p:spPr>
        </p:sp>
        <p:sp>
          <p:nvSpPr>
            <p:cNvPr name="TextBox 103" id="103"/>
            <p:cNvSpPr txBox="true"/>
            <p:nvPr/>
          </p:nvSpPr>
          <p:spPr>
            <a:xfrm>
              <a:off x="0" y="-28575"/>
              <a:ext cx="20681594" cy="972261"/>
            </a:xfrm>
            <a:prstGeom prst="rect">
              <a:avLst/>
            </a:prstGeom>
          </p:spPr>
          <p:txBody>
            <a:bodyPr anchor="ctr" rtlCol="false" tIns="0" lIns="0" bIns="0" rIns="0"/>
            <a:lstStyle/>
            <a:p>
              <a:pPr algn="ctr">
                <a:lnSpc>
                  <a:spcPts val="2702"/>
                </a:lnSpc>
              </a:pPr>
              <a:r>
                <a:rPr lang="en-US" sz="2250">
                  <a:solidFill>
                    <a:srgbClr val="000000"/>
                  </a:solidFill>
                  <a:latin typeface="Poppins"/>
                  <a:ea typeface="Poppins"/>
                  <a:cs typeface="Poppins"/>
                  <a:sym typeface="Poppins"/>
                </a:rPr>
                <a:t>An integrated recruitment workflow built around skills and verified competencies.</a:t>
              </a:r>
            </a:p>
          </p:txBody>
        </p:sp>
      </p:grpSp>
      <p:grpSp>
        <p:nvGrpSpPr>
          <p:cNvPr name="Group 104" id="104"/>
          <p:cNvGrpSpPr/>
          <p:nvPr/>
        </p:nvGrpSpPr>
        <p:grpSpPr>
          <a:xfrm rot="0">
            <a:off x="1372676" y="6588824"/>
            <a:ext cx="15511196" cy="549069"/>
            <a:chOff x="0" y="0"/>
            <a:chExt cx="20681594" cy="732092"/>
          </a:xfrm>
        </p:grpSpPr>
        <p:sp>
          <p:nvSpPr>
            <p:cNvPr name="Freeform 105" id="105"/>
            <p:cNvSpPr/>
            <p:nvPr/>
          </p:nvSpPr>
          <p:spPr>
            <a:xfrm flipH="false" flipV="false" rot="0">
              <a:off x="0" y="0"/>
              <a:ext cx="20681569" cy="732155"/>
            </a:xfrm>
            <a:custGeom>
              <a:avLst/>
              <a:gdLst/>
              <a:ahLst/>
              <a:cxnLst/>
              <a:rect r="r" b="b" t="t" l="l"/>
              <a:pathLst>
                <a:path h="732155" w="20681569">
                  <a:moveTo>
                    <a:pt x="0" y="0"/>
                  </a:moveTo>
                  <a:lnTo>
                    <a:pt x="20681569" y="0"/>
                  </a:lnTo>
                  <a:lnTo>
                    <a:pt x="20681569" y="732155"/>
                  </a:lnTo>
                  <a:lnTo>
                    <a:pt x="0" y="732155"/>
                  </a:lnTo>
                  <a:close/>
                </a:path>
              </a:pathLst>
            </a:custGeom>
            <a:blipFill>
              <a:blip r:embed="rId4">
                <a:alphaModFix amt="0"/>
              </a:blip>
              <a:stretch>
                <a:fillRect l="0" t="-500026" r="0" b="-500019"/>
              </a:stretch>
            </a:blipFill>
          </p:spPr>
        </p:sp>
      </p:grpSp>
      <p:grpSp>
        <p:nvGrpSpPr>
          <p:cNvPr name="Group 106" id="106"/>
          <p:cNvGrpSpPr/>
          <p:nvPr/>
        </p:nvGrpSpPr>
        <p:grpSpPr>
          <a:xfrm rot="0">
            <a:off x="1372676" y="6574536"/>
            <a:ext cx="15511196" cy="563356"/>
            <a:chOff x="0" y="0"/>
            <a:chExt cx="20681594" cy="751142"/>
          </a:xfrm>
        </p:grpSpPr>
        <p:sp>
          <p:nvSpPr>
            <p:cNvPr name="Freeform 107" id="107"/>
            <p:cNvSpPr/>
            <p:nvPr/>
          </p:nvSpPr>
          <p:spPr>
            <a:xfrm flipH="false" flipV="false" rot="0">
              <a:off x="0" y="0"/>
              <a:ext cx="20681595" cy="751142"/>
            </a:xfrm>
            <a:custGeom>
              <a:avLst/>
              <a:gdLst/>
              <a:ahLst/>
              <a:cxnLst/>
              <a:rect r="r" b="b" t="t" l="l"/>
              <a:pathLst>
                <a:path h="751142" w="20681595">
                  <a:moveTo>
                    <a:pt x="0" y="0"/>
                  </a:moveTo>
                  <a:lnTo>
                    <a:pt x="20681595" y="0"/>
                  </a:lnTo>
                  <a:lnTo>
                    <a:pt x="20681595" y="751142"/>
                  </a:lnTo>
                  <a:lnTo>
                    <a:pt x="0" y="751142"/>
                  </a:lnTo>
                  <a:close/>
                </a:path>
              </a:pathLst>
            </a:custGeom>
            <a:blipFill>
              <a:blip r:embed="rId5">
                <a:alphaModFix amt="0"/>
              </a:blip>
              <a:stretch>
                <a:fillRect l="0" t="-486492" r="0" b="-486491"/>
              </a:stretch>
            </a:blipFill>
          </p:spPr>
        </p:sp>
        <p:sp>
          <p:nvSpPr>
            <p:cNvPr name="TextBox 108" id="108"/>
            <p:cNvSpPr txBox="true"/>
            <p:nvPr/>
          </p:nvSpPr>
          <p:spPr>
            <a:xfrm>
              <a:off x="0" y="-19050"/>
              <a:ext cx="20681594" cy="770192"/>
            </a:xfrm>
            <a:prstGeom prst="rect">
              <a:avLst/>
            </a:prstGeom>
          </p:spPr>
          <p:txBody>
            <a:bodyPr anchor="ctr" rtlCol="false" tIns="0" lIns="0" bIns="0" rIns="0"/>
            <a:lstStyle/>
            <a:p>
              <a:pPr algn="ctr">
                <a:lnSpc>
                  <a:spcPts val="2341"/>
                </a:lnSpc>
              </a:pPr>
              <a:r>
                <a:rPr lang="en-US" sz="1950" b="true">
                  <a:solidFill>
                    <a:srgbClr val="000000"/>
                  </a:solidFill>
                  <a:latin typeface="Poppins Bold"/>
                  <a:ea typeface="Poppins Bold"/>
                  <a:cs typeface="Poppins Bold"/>
                  <a:sym typeface="Poppins Bold"/>
                </a:rPr>
                <a:t>Candidate  →  Assessment  →  Evidence  →  Recruiter</a:t>
              </a:r>
            </a:p>
          </p:txBody>
        </p:sp>
      </p:grpSp>
      <p:grpSp>
        <p:nvGrpSpPr>
          <p:cNvPr name="Group 109" id="109"/>
          <p:cNvGrpSpPr/>
          <p:nvPr/>
        </p:nvGrpSpPr>
        <p:grpSpPr>
          <a:xfrm rot="0">
            <a:off x="686333" y="9718519"/>
            <a:ext cx="8236039" cy="411804"/>
            <a:chOff x="0" y="0"/>
            <a:chExt cx="10981385" cy="549072"/>
          </a:xfrm>
        </p:grpSpPr>
        <p:sp>
          <p:nvSpPr>
            <p:cNvPr name="Freeform 110" id="110"/>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4">
                <a:alphaModFix amt="0"/>
              </a:blip>
              <a:stretch>
                <a:fillRect l="0" t="-339458" r="0" b="-339467"/>
              </a:stretch>
            </a:blipFill>
          </p:spPr>
        </p:sp>
      </p:grpSp>
      <p:grpSp>
        <p:nvGrpSpPr>
          <p:cNvPr name="Group 111" id="111"/>
          <p:cNvGrpSpPr/>
          <p:nvPr/>
        </p:nvGrpSpPr>
        <p:grpSpPr>
          <a:xfrm rot="0">
            <a:off x="686333" y="9704232"/>
            <a:ext cx="8236039" cy="426091"/>
            <a:chOff x="0" y="0"/>
            <a:chExt cx="10981385" cy="568122"/>
          </a:xfrm>
        </p:grpSpPr>
        <p:sp>
          <p:nvSpPr>
            <p:cNvPr name="Freeform 112" id="112"/>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5">
                <a:alphaModFix amt="0"/>
              </a:blip>
              <a:stretch>
                <a:fillRect l="0" t="-326631" r="0" b="-326631"/>
              </a:stretch>
            </a:blipFill>
          </p:spPr>
        </p:sp>
        <p:sp>
          <p:nvSpPr>
            <p:cNvPr name="TextBox 113" id="113"/>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14" id="114"/>
          <p:cNvGrpSpPr/>
          <p:nvPr/>
        </p:nvGrpSpPr>
        <p:grpSpPr>
          <a:xfrm rot="0">
            <a:off x="16242830" y="9718519"/>
            <a:ext cx="1372676" cy="411804"/>
            <a:chOff x="0" y="0"/>
            <a:chExt cx="1830235" cy="549072"/>
          </a:xfrm>
        </p:grpSpPr>
        <p:sp>
          <p:nvSpPr>
            <p:cNvPr name="Freeform 115" id="115"/>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4">
                <a:alphaModFix amt="0"/>
              </a:blip>
              <a:stretch>
                <a:fillRect l="0" t="-14906" r="-2" b="-14915"/>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509" cy="1235392"/>
            <a:chOff x="0" y="0"/>
            <a:chExt cx="2379345" cy="1647190"/>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4" t="0" r="-38884" b="0"/>
              </a:stretch>
            </a:blipFill>
          </p:spPr>
        </p:sp>
      </p:grpSp>
      <p:grpSp>
        <p:nvGrpSpPr>
          <p:cNvPr name="Group 6" id="6"/>
          <p:cNvGrpSpPr/>
          <p:nvPr/>
        </p:nvGrpSpPr>
        <p:grpSpPr>
          <a:xfrm rot="0">
            <a:off x="686333" y="643471"/>
            <a:ext cx="1784471" cy="1278265"/>
            <a:chOff x="0" y="0"/>
            <a:chExt cx="2379294" cy="1704353"/>
          </a:xfrm>
        </p:grpSpPr>
        <p:sp>
          <p:nvSpPr>
            <p:cNvPr name="Freeform 7" id="7"/>
            <p:cNvSpPr/>
            <p:nvPr/>
          </p:nvSpPr>
          <p:spPr>
            <a:xfrm flipH="false" flipV="false" rot="0">
              <a:off x="0" y="0"/>
              <a:ext cx="2379345" cy="1704340"/>
            </a:xfrm>
            <a:custGeom>
              <a:avLst/>
              <a:gdLst/>
              <a:ahLst/>
              <a:cxnLst/>
              <a:rect r="r" b="b" t="t" l="l"/>
              <a:pathLst>
                <a:path h="1704340" w="2379345">
                  <a:moveTo>
                    <a:pt x="0" y="0"/>
                  </a:moveTo>
                  <a:lnTo>
                    <a:pt x="2379345" y="0"/>
                  </a:lnTo>
                  <a:lnTo>
                    <a:pt x="2379345" y="1704340"/>
                  </a:lnTo>
                  <a:lnTo>
                    <a:pt x="0" y="1704340"/>
                  </a:lnTo>
                  <a:close/>
                </a:path>
              </a:pathLst>
            </a:custGeom>
            <a:blipFill>
              <a:blip r:embed="rId4">
                <a:alphaModFix amt="0"/>
              </a:blip>
              <a:stretch>
                <a:fillRect l="-41970" t="0" r="-41967" b="0"/>
              </a:stretch>
            </a:blipFill>
          </p:spPr>
        </p:sp>
      </p:grpSp>
      <p:grpSp>
        <p:nvGrpSpPr>
          <p:cNvPr name="Group 8" id="8"/>
          <p:cNvGrpSpPr/>
          <p:nvPr/>
        </p:nvGrpSpPr>
        <p:grpSpPr>
          <a:xfrm rot="0">
            <a:off x="686333" y="607752"/>
            <a:ext cx="1784471" cy="1495281"/>
            <a:chOff x="0" y="0"/>
            <a:chExt cx="2379294" cy="1993708"/>
          </a:xfrm>
        </p:grpSpPr>
        <p:sp>
          <p:nvSpPr>
            <p:cNvPr name="Freeform 9" id="9"/>
            <p:cNvSpPr/>
            <p:nvPr/>
          </p:nvSpPr>
          <p:spPr>
            <a:xfrm flipH="false" flipV="false" rot="0">
              <a:off x="0" y="0"/>
              <a:ext cx="2379295" cy="1993709"/>
            </a:xfrm>
            <a:custGeom>
              <a:avLst/>
              <a:gdLst/>
              <a:ahLst/>
              <a:cxnLst/>
              <a:rect r="r" b="b" t="t" l="l"/>
              <a:pathLst>
                <a:path h="1993709" w="2379295">
                  <a:moveTo>
                    <a:pt x="0" y="0"/>
                  </a:moveTo>
                  <a:lnTo>
                    <a:pt x="2379295" y="0"/>
                  </a:lnTo>
                  <a:lnTo>
                    <a:pt x="2379295" y="1993709"/>
                  </a:lnTo>
                  <a:lnTo>
                    <a:pt x="0" y="1993709"/>
                  </a:lnTo>
                  <a:close/>
                </a:path>
              </a:pathLst>
            </a:custGeom>
            <a:blipFill>
              <a:blip r:embed="rId5">
                <a:alphaModFix amt="0"/>
              </a:blip>
              <a:stretch>
                <a:fillRect l="-44475" t="0" r="-44475" b="12124"/>
              </a:stretch>
            </a:blipFill>
          </p:spPr>
        </p:sp>
        <p:sp>
          <p:nvSpPr>
            <p:cNvPr name="TextBox 10" id="10"/>
            <p:cNvSpPr txBox="true"/>
            <p:nvPr/>
          </p:nvSpPr>
          <p:spPr>
            <a:xfrm>
              <a:off x="0" y="-47625"/>
              <a:ext cx="2379294" cy="2041333"/>
            </a:xfrm>
            <a:prstGeom prst="rect">
              <a:avLst/>
            </a:prstGeom>
          </p:spPr>
          <p:txBody>
            <a:bodyPr anchor="ctr" rtlCol="false" tIns="0" lIns="0" bIns="0" rIns="0"/>
            <a:lstStyle/>
            <a:p>
              <a:pPr algn="l">
                <a:lnSpc>
                  <a:spcPts val="7204"/>
                </a:lnSpc>
              </a:pPr>
            </a:p>
          </p:txBody>
        </p:sp>
      </p:grpSp>
      <p:grpSp>
        <p:nvGrpSpPr>
          <p:cNvPr name="Group 11" id="11"/>
          <p:cNvGrpSpPr/>
          <p:nvPr/>
        </p:nvGrpSpPr>
        <p:grpSpPr>
          <a:xfrm rot="0">
            <a:off x="2127647" y="796147"/>
            <a:ext cx="14413040" cy="1235392"/>
            <a:chOff x="0" y="0"/>
            <a:chExt cx="19217386" cy="1647190"/>
          </a:xfrm>
        </p:grpSpPr>
        <p:sp>
          <p:nvSpPr>
            <p:cNvPr name="Freeform 12" id="12"/>
            <p:cNvSpPr/>
            <p:nvPr/>
          </p:nvSpPr>
          <p:spPr>
            <a:xfrm flipH="false" flipV="false" rot="0">
              <a:off x="0" y="0"/>
              <a:ext cx="19217387" cy="1647190"/>
            </a:xfrm>
            <a:custGeom>
              <a:avLst/>
              <a:gdLst/>
              <a:ahLst/>
              <a:cxnLst/>
              <a:rect r="r" b="b" t="t" l="l"/>
              <a:pathLst>
                <a:path h="1647190" w="19217387">
                  <a:moveTo>
                    <a:pt x="0" y="0"/>
                  </a:moveTo>
                  <a:lnTo>
                    <a:pt x="19217387" y="0"/>
                  </a:lnTo>
                  <a:lnTo>
                    <a:pt x="19217387" y="1647190"/>
                  </a:lnTo>
                  <a:lnTo>
                    <a:pt x="0" y="1647190"/>
                  </a:lnTo>
                  <a:close/>
                </a:path>
              </a:pathLst>
            </a:custGeom>
            <a:blipFill>
              <a:blip r:embed="rId3">
                <a:alphaModFix amt="0"/>
              </a:blip>
              <a:stretch>
                <a:fillRect l="0" t="-177169" r="0" b="-177168"/>
              </a:stretch>
            </a:blipFill>
          </p:spPr>
        </p:sp>
      </p:grpSp>
      <p:grpSp>
        <p:nvGrpSpPr>
          <p:cNvPr name="Group 13" id="13"/>
          <p:cNvGrpSpPr/>
          <p:nvPr/>
        </p:nvGrpSpPr>
        <p:grpSpPr>
          <a:xfrm rot="0">
            <a:off x="2127647" y="767572"/>
            <a:ext cx="14413059" cy="1263977"/>
            <a:chOff x="0" y="0"/>
            <a:chExt cx="19217411" cy="1685303"/>
          </a:xfrm>
        </p:grpSpPr>
        <p:sp>
          <p:nvSpPr>
            <p:cNvPr name="Freeform 14" id="14"/>
            <p:cNvSpPr/>
            <p:nvPr/>
          </p:nvSpPr>
          <p:spPr>
            <a:xfrm flipH="false" flipV="false" rot="0">
              <a:off x="0" y="0"/>
              <a:ext cx="19217387" cy="1685290"/>
            </a:xfrm>
            <a:custGeom>
              <a:avLst/>
              <a:gdLst/>
              <a:ahLst/>
              <a:cxnLst/>
              <a:rect r="r" b="b" t="t" l="l"/>
              <a:pathLst>
                <a:path h="1685290" w="19217387">
                  <a:moveTo>
                    <a:pt x="0" y="0"/>
                  </a:moveTo>
                  <a:lnTo>
                    <a:pt x="19217387" y="0"/>
                  </a:lnTo>
                  <a:lnTo>
                    <a:pt x="19217387" y="1685290"/>
                  </a:lnTo>
                  <a:lnTo>
                    <a:pt x="0" y="1685290"/>
                  </a:lnTo>
                  <a:close/>
                </a:path>
              </a:pathLst>
            </a:custGeom>
            <a:blipFill>
              <a:blip r:embed="rId4">
                <a:alphaModFix amt="0"/>
              </a:blip>
              <a:stretch>
                <a:fillRect l="0" t="-172033" r="0" b="-172033"/>
              </a:stretch>
            </a:blipFill>
          </p:spPr>
        </p:sp>
      </p:grpSp>
      <p:grpSp>
        <p:nvGrpSpPr>
          <p:cNvPr name="Group 15" id="15"/>
          <p:cNvGrpSpPr/>
          <p:nvPr/>
        </p:nvGrpSpPr>
        <p:grpSpPr>
          <a:xfrm rot="0">
            <a:off x="646109" y="607752"/>
            <a:ext cx="14413059" cy="1292552"/>
            <a:chOff x="0" y="0"/>
            <a:chExt cx="19217411" cy="1723403"/>
          </a:xfrm>
        </p:grpSpPr>
        <p:sp>
          <p:nvSpPr>
            <p:cNvPr name="Freeform 16" id="16"/>
            <p:cNvSpPr/>
            <p:nvPr/>
          </p:nvSpPr>
          <p:spPr>
            <a:xfrm flipH="false" flipV="false" rot="0">
              <a:off x="0" y="0"/>
              <a:ext cx="19217411" cy="1723403"/>
            </a:xfrm>
            <a:custGeom>
              <a:avLst/>
              <a:gdLst/>
              <a:ahLst/>
              <a:cxnLst/>
              <a:rect r="r" b="b" t="t" l="l"/>
              <a:pathLst>
                <a:path h="1723403" w="19217411">
                  <a:moveTo>
                    <a:pt x="0" y="0"/>
                  </a:moveTo>
                  <a:lnTo>
                    <a:pt x="19217411" y="0"/>
                  </a:lnTo>
                  <a:lnTo>
                    <a:pt x="19217411" y="1723403"/>
                  </a:lnTo>
                  <a:lnTo>
                    <a:pt x="0" y="1723403"/>
                  </a:lnTo>
                  <a:close/>
                </a:path>
              </a:pathLst>
            </a:custGeom>
            <a:blipFill>
              <a:blip r:embed="rId5">
                <a:alphaModFix amt="0"/>
              </a:blip>
              <a:stretch>
                <a:fillRect l="0" t="-167274" r="0" b="-167274"/>
              </a:stretch>
            </a:blipFill>
          </p:spPr>
        </p:sp>
        <p:sp>
          <p:nvSpPr>
            <p:cNvPr name="TextBox 17" id="17"/>
            <p:cNvSpPr txBox="true"/>
            <p:nvPr/>
          </p:nvSpPr>
          <p:spPr>
            <a:xfrm>
              <a:off x="0" y="-38100"/>
              <a:ext cx="19217411" cy="1761503"/>
            </a:xfrm>
            <a:prstGeom prst="rect">
              <a:avLst/>
            </a:prstGeom>
          </p:spPr>
          <p:txBody>
            <a:bodyPr anchor="ctr" rtlCol="false" tIns="0" lIns="0" bIns="0" rIns="0"/>
            <a:lstStyle/>
            <a:p>
              <a:pPr algn="l">
                <a:lnSpc>
                  <a:spcPts val="4683"/>
                </a:lnSpc>
              </a:pPr>
              <a:r>
                <a:rPr lang="en-US" sz="3903" b="true">
                  <a:solidFill>
                    <a:srgbClr val="000000"/>
                  </a:solidFill>
                  <a:latin typeface="Poppins Bold"/>
                  <a:ea typeface="Poppins Bold"/>
                  <a:cs typeface="Poppins Bold"/>
                  <a:sym typeface="Poppins Bold"/>
                </a:rPr>
                <a:t>Platform Functional Scope</a:t>
              </a:r>
            </a:p>
          </p:txBody>
        </p:sp>
      </p:grpSp>
      <p:sp>
        <p:nvSpPr>
          <p:cNvPr name="Freeform 18" id="18"/>
          <p:cNvSpPr/>
          <p:nvPr/>
        </p:nvSpPr>
        <p:spPr>
          <a:xfrm flipH="false" flipV="false" rot="0">
            <a:off x="646109" y="2268884"/>
            <a:ext cx="5487257" cy="6922199"/>
          </a:xfrm>
          <a:custGeom>
            <a:avLst/>
            <a:gdLst/>
            <a:ahLst/>
            <a:cxnLst/>
            <a:rect r="r" b="b" t="t" l="l"/>
            <a:pathLst>
              <a:path h="6922199" w="5487257">
                <a:moveTo>
                  <a:pt x="0" y="0"/>
                </a:moveTo>
                <a:lnTo>
                  <a:pt x="5487258" y="0"/>
                </a:lnTo>
                <a:lnTo>
                  <a:pt x="5487258" y="6922198"/>
                </a:lnTo>
                <a:lnTo>
                  <a:pt x="0" y="69221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0">
            <a:off x="657225" y="2279999"/>
            <a:ext cx="5465064" cy="82582"/>
            <a:chOff x="0" y="0"/>
            <a:chExt cx="7286752" cy="110109"/>
          </a:xfrm>
        </p:grpSpPr>
        <p:sp>
          <p:nvSpPr>
            <p:cNvPr name="Freeform 20" id="20"/>
            <p:cNvSpPr/>
            <p:nvPr/>
          </p:nvSpPr>
          <p:spPr>
            <a:xfrm flipH="false" flipV="false" rot="0">
              <a:off x="0" y="0"/>
              <a:ext cx="7286752" cy="110109"/>
            </a:xfrm>
            <a:custGeom>
              <a:avLst/>
              <a:gdLst/>
              <a:ahLst/>
              <a:cxnLst/>
              <a:rect r="r" b="b" t="t" l="l"/>
              <a:pathLst>
                <a:path h="110109" w="7286752">
                  <a:moveTo>
                    <a:pt x="27559" y="0"/>
                  </a:moveTo>
                  <a:lnTo>
                    <a:pt x="7259193" y="0"/>
                  </a:lnTo>
                  <a:cubicBezTo>
                    <a:pt x="7274433" y="0"/>
                    <a:pt x="7286752" y="12319"/>
                    <a:pt x="7286752" y="27559"/>
                  </a:cubicBezTo>
                  <a:lnTo>
                    <a:pt x="7286752" y="82550"/>
                  </a:lnTo>
                  <a:cubicBezTo>
                    <a:pt x="7286752" y="97790"/>
                    <a:pt x="7274433" y="110109"/>
                    <a:pt x="7259193" y="110109"/>
                  </a:cubicBezTo>
                  <a:lnTo>
                    <a:pt x="27559" y="110109"/>
                  </a:lnTo>
                  <a:cubicBezTo>
                    <a:pt x="12319" y="110109"/>
                    <a:pt x="0" y="97790"/>
                    <a:pt x="0" y="82550"/>
                  </a:cubicBezTo>
                  <a:lnTo>
                    <a:pt x="0" y="27559"/>
                  </a:lnTo>
                  <a:cubicBezTo>
                    <a:pt x="0" y="12319"/>
                    <a:pt x="12319" y="0"/>
                    <a:pt x="27559" y="0"/>
                  </a:cubicBezTo>
                  <a:close/>
                </a:path>
              </a:pathLst>
            </a:custGeom>
            <a:solidFill>
              <a:srgbClr val="3D6874"/>
            </a:solidFill>
          </p:spPr>
        </p:sp>
      </p:grpSp>
      <p:grpSp>
        <p:nvGrpSpPr>
          <p:cNvPr name="Group 21" id="21"/>
          <p:cNvGrpSpPr/>
          <p:nvPr/>
        </p:nvGrpSpPr>
        <p:grpSpPr>
          <a:xfrm rot="0">
            <a:off x="907228" y="2550004"/>
            <a:ext cx="480060" cy="480060"/>
            <a:chOff x="0" y="0"/>
            <a:chExt cx="640080" cy="640080"/>
          </a:xfrm>
        </p:grpSpPr>
        <p:sp>
          <p:nvSpPr>
            <p:cNvPr name="Freeform 22" id="22"/>
            <p:cNvSpPr/>
            <p:nvPr/>
          </p:nvSpPr>
          <p:spPr>
            <a:xfrm flipH="false" flipV="false" rot="0">
              <a:off x="0" y="0"/>
              <a:ext cx="640080" cy="640080"/>
            </a:xfrm>
            <a:custGeom>
              <a:avLst/>
              <a:gdLst/>
              <a:ahLst/>
              <a:cxnLst/>
              <a:rect r="r" b="b" t="t" l="l"/>
              <a:pathLst>
                <a:path h="640080" w="640080">
                  <a:moveTo>
                    <a:pt x="0" y="320040"/>
                  </a:moveTo>
                  <a:cubicBezTo>
                    <a:pt x="0" y="143256"/>
                    <a:pt x="143256" y="0"/>
                    <a:pt x="320040" y="0"/>
                  </a:cubicBezTo>
                  <a:cubicBezTo>
                    <a:pt x="496824" y="0"/>
                    <a:pt x="640080" y="143256"/>
                    <a:pt x="640080" y="320040"/>
                  </a:cubicBezTo>
                  <a:cubicBezTo>
                    <a:pt x="640080" y="496824"/>
                    <a:pt x="496824" y="640080"/>
                    <a:pt x="320040" y="640080"/>
                  </a:cubicBezTo>
                  <a:cubicBezTo>
                    <a:pt x="143256" y="640080"/>
                    <a:pt x="0" y="496697"/>
                    <a:pt x="0" y="320040"/>
                  </a:cubicBezTo>
                  <a:close/>
                </a:path>
              </a:pathLst>
            </a:custGeom>
            <a:solidFill>
              <a:srgbClr val="3D6874"/>
            </a:solidFill>
          </p:spPr>
        </p:sp>
      </p:grpSp>
      <p:grpSp>
        <p:nvGrpSpPr>
          <p:cNvPr name="Group 23" id="23"/>
          <p:cNvGrpSpPr/>
          <p:nvPr/>
        </p:nvGrpSpPr>
        <p:grpSpPr>
          <a:xfrm rot="0">
            <a:off x="1022423" y="2665200"/>
            <a:ext cx="249555" cy="249555"/>
            <a:chOff x="0" y="0"/>
            <a:chExt cx="332740" cy="332740"/>
          </a:xfrm>
        </p:grpSpPr>
        <p:sp>
          <p:nvSpPr>
            <p:cNvPr name="Freeform 24" id="24"/>
            <p:cNvSpPr/>
            <p:nvPr/>
          </p:nvSpPr>
          <p:spPr>
            <a:xfrm flipH="false" flipV="false" rot="0">
              <a:off x="0" y="0"/>
              <a:ext cx="332740" cy="332740"/>
            </a:xfrm>
            <a:custGeom>
              <a:avLst/>
              <a:gdLst/>
              <a:ahLst/>
              <a:cxnLst/>
              <a:rect r="r" b="b" t="t" l="l"/>
              <a:pathLst>
                <a:path h="332740" w="332740">
                  <a:moveTo>
                    <a:pt x="0" y="0"/>
                  </a:moveTo>
                  <a:lnTo>
                    <a:pt x="332740" y="0"/>
                  </a:lnTo>
                  <a:lnTo>
                    <a:pt x="332740" y="332740"/>
                  </a:lnTo>
                  <a:lnTo>
                    <a:pt x="0" y="332740"/>
                  </a:lnTo>
                  <a:lnTo>
                    <a:pt x="0" y="0"/>
                  </a:lnTo>
                  <a:close/>
                </a:path>
              </a:pathLst>
            </a:custGeom>
            <a:blipFill>
              <a:blip r:embed="rId8"/>
              <a:stretch>
                <a:fillRect l="0" t="0" r="0" b="0"/>
              </a:stretch>
            </a:blipFill>
          </p:spPr>
        </p:sp>
      </p:grpSp>
      <p:grpSp>
        <p:nvGrpSpPr>
          <p:cNvPr name="Group 25" id="25"/>
          <p:cNvGrpSpPr/>
          <p:nvPr/>
        </p:nvGrpSpPr>
        <p:grpSpPr>
          <a:xfrm rot="0">
            <a:off x="1537221" y="2550004"/>
            <a:ext cx="4335056" cy="330003"/>
            <a:chOff x="0" y="0"/>
            <a:chExt cx="5780075" cy="440004"/>
          </a:xfrm>
        </p:grpSpPr>
        <p:sp>
          <p:nvSpPr>
            <p:cNvPr name="Freeform 26" id="26"/>
            <p:cNvSpPr/>
            <p:nvPr/>
          </p:nvSpPr>
          <p:spPr>
            <a:xfrm flipH="false" flipV="false" rot="0">
              <a:off x="0" y="0"/>
              <a:ext cx="5780024" cy="440055"/>
            </a:xfrm>
            <a:custGeom>
              <a:avLst/>
              <a:gdLst/>
              <a:ahLst/>
              <a:cxnLst/>
              <a:rect r="r" b="b" t="t" l="l"/>
              <a:pathLst>
                <a:path h="440055" w="5780024">
                  <a:moveTo>
                    <a:pt x="0" y="0"/>
                  </a:moveTo>
                  <a:lnTo>
                    <a:pt x="5780024" y="0"/>
                  </a:lnTo>
                  <a:lnTo>
                    <a:pt x="5780024" y="440055"/>
                  </a:lnTo>
                  <a:lnTo>
                    <a:pt x="0" y="440055"/>
                  </a:lnTo>
                  <a:close/>
                </a:path>
              </a:pathLst>
            </a:custGeom>
            <a:blipFill>
              <a:blip r:embed="rId4">
                <a:alphaModFix amt="0"/>
              </a:blip>
              <a:stretch>
                <a:fillRect l="0" t="-205763" r="0" b="-205748"/>
              </a:stretch>
            </a:blipFill>
          </p:spPr>
        </p:sp>
      </p:grpSp>
      <p:grpSp>
        <p:nvGrpSpPr>
          <p:cNvPr name="Group 27" id="27"/>
          <p:cNvGrpSpPr/>
          <p:nvPr/>
        </p:nvGrpSpPr>
        <p:grpSpPr>
          <a:xfrm rot="0">
            <a:off x="1537221" y="2528573"/>
            <a:ext cx="4335056" cy="351434"/>
            <a:chOff x="0" y="0"/>
            <a:chExt cx="5780075" cy="468579"/>
          </a:xfrm>
        </p:grpSpPr>
        <p:sp>
          <p:nvSpPr>
            <p:cNvPr name="Freeform 28" id="28"/>
            <p:cNvSpPr/>
            <p:nvPr/>
          </p:nvSpPr>
          <p:spPr>
            <a:xfrm flipH="false" flipV="false" rot="0">
              <a:off x="0" y="0"/>
              <a:ext cx="5780075" cy="468579"/>
            </a:xfrm>
            <a:custGeom>
              <a:avLst/>
              <a:gdLst/>
              <a:ahLst/>
              <a:cxnLst/>
              <a:rect r="r" b="b" t="t" l="l"/>
              <a:pathLst>
                <a:path h="468579" w="5780075">
                  <a:moveTo>
                    <a:pt x="0" y="0"/>
                  </a:moveTo>
                  <a:lnTo>
                    <a:pt x="5780075" y="0"/>
                  </a:lnTo>
                  <a:lnTo>
                    <a:pt x="5780075" y="468579"/>
                  </a:lnTo>
                  <a:lnTo>
                    <a:pt x="0" y="468579"/>
                  </a:lnTo>
                  <a:close/>
                </a:path>
              </a:pathLst>
            </a:custGeom>
            <a:blipFill>
              <a:blip r:embed="rId5">
                <a:alphaModFix amt="0"/>
              </a:blip>
              <a:stretch>
                <a:fillRect l="0" t="-190354" r="0" b="-190354"/>
              </a:stretch>
            </a:blipFill>
          </p:spPr>
        </p:sp>
        <p:sp>
          <p:nvSpPr>
            <p:cNvPr name="TextBox 29" id="29"/>
            <p:cNvSpPr txBox="true"/>
            <p:nvPr/>
          </p:nvSpPr>
          <p:spPr>
            <a:xfrm>
              <a:off x="0" y="-28575"/>
              <a:ext cx="5780075" cy="497154"/>
            </a:xfrm>
            <a:prstGeom prst="rect">
              <a:avLst/>
            </a:prstGeom>
          </p:spPr>
          <p:txBody>
            <a:bodyPr anchor="ctr" rtlCol="false" tIns="0" lIns="0" bIns="0" rIns="0"/>
            <a:lstStyle/>
            <a:p>
              <a:pPr algn="l">
                <a:lnSpc>
                  <a:spcPts val="2040"/>
                </a:lnSpc>
              </a:pPr>
              <a:r>
                <a:rPr lang="en-US" sz="1700" b="true">
                  <a:solidFill>
                    <a:srgbClr val="3D6874"/>
                  </a:solidFill>
                  <a:latin typeface="Poppins Bold"/>
                  <a:ea typeface="Poppins Bold"/>
                  <a:cs typeface="Poppins Bold"/>
                  <a:sym typeface="Poppins Bold"/>
                </a:rPr>
                <a:t>Administrator</a:t>
              </a:r>
            </a:p>
          </p:txBody>
        </p:sp>
      </p:grpSp>
      <p:sp>
        <p:nvSpPr>
          <p:cNvPr name="AutoShape 30" id="30"/>
          <p:cNvSpPr/>
          <p:nvPr/>
        </p:nvSpPr>
        <p:spPr>
          <a:xfrm rot="89940">
            <a:off x="1512999" y="2880951"/>
            <a:ext cx="728453" cy="0"/>
          </a:xfrm>
          <a:prstGeom prst="line">
            <a:avLst/>
          </a:prstGeom>
          <a:ln cap="rnd" w="19050">
            <a:solidFill>
              <a:srgbClr val="3D6874"/>
            </a:solidFill>
            <a:prstDash val="solid"/>
            <a:headEnd type="none" len="sm" w="sm"/>
            <a:tailEnd type="none" len="sm" w="sm"/>
          </a:ln>
        </p:spPr>
      </p:sp>
      <p:grpSp>
        <p:nvGrpSpPr>
          <p:cNvPr name="Group 31" id="31"/>
          <p:cNvGrpSpPr/>
          <p:nvPr/>
        </p:nvGrpSpPr>
        <p:grpSpPr>
          <a:xfrm rot="0">
            <a:off x="907228" y="3290002"/>
            <a:ext cx="330041" cy="330041"/>
            <a:chOff x="0" y="0"/>
            <a:chExt cx="440055" cy="440055"/>
          </a:xfrm>
        </p:grpSpPr>
        <p:sp>
          <p:nvSpPr>
            <p:cNvPr name="Freeform 32" id="32"/>
            <p:cNvSpPr/>
            <p:nvPr/>
          </p:nvSpPr>
          <p:spPr>
            <a:xfrm flipH="false" flipV="false" rot="0">
              <a:off x="0" y="0"/>
              <a:ext cx="440055" cy="440055"/>
            </a:xfrm>
            <a:custGeom>
              <a:avLst/>
              <a:gdLst/>
              <a:ahLst/>
              <a:cxnLst/>
              <a:rect r="r" b="b" t="t" l="l"/>
              <a:pathLst>
                <a:path h="440055" w="440055">
                  <a:moveTo>
                    <a:pt x="0" y="0"/>
                  </a:moveTo>
                  <a:lnTo>
                    <a:pt x="440055" y="0"/>
                  </a:lnTo>
                  <a:lnTo>
                    <a:pt x="440055" y="440055"/>
                  </a:lnTo>
                  <a:lnTo>
                    <a:pt x="0" y="440055"/>
                  </a:lnTo>
                  <a:lnTo>
                    <a:pt x="0" y="0"/>
                  </a:lnTo>
                  <a:close/>
                </a:path>
              </a:pathLst>
            </a:custGeom>
            <a:blipFill>
              <a:blip r:embed="rId9"/>
              <a:stretch>
                <a:fillRect l="0" t="0" r="0" b="0"/>
              </a:stretch>
            </a:blipFill>
          </p:spPr>
        </p:sp>
      </p:grpSp>
      <p:grpSp>
        <p:nvGrpSpPr>
          <p:cNvPr name="Group 33" id="33"/>
          <p:cNvGrpSpPr/>
          <p:nvPr/>
        </p:nvGrpSpPr>
        <p:grpSpPr>
          <a:xfrm rot="0">
            <a:off x="1387221" y="3290002"/>
            <a:ext cx="4485056" cy="330003"/>
            <a:chOff x="0" y="0"/>
            <a:chExt cx="5980074" cy="440004"/>
          </a:xfrm>
        </p:grpSpPr>
        <p:sp>
          <p:nvSpPr>
            <p:cNvPr name="Freeform 34" id="34"/>
            <p:cNvSpPr/>
            <p:nvPr/>
          </p:nvSpPr>
          <p:spPr>
            <a:xfrm flipH="false" flipV="false" rot="0">
              <a:off x="0" y="0"/>
              <a:ext cx="5980049" cy="440055"/>
            </a:xfrm>
            <a:custGeom>
              <a:avLst/>
              <a:gdLst/>
              <a:ahLst/>
              <a:cxnLst/>
              <a:rect r="r" b="b" t="t" l="l"/>
              <a:pathLst>
                <a:path h="440055" w="5980049">
                  <a:moveTo>
                    <a:pt x="0" y="0"/>
                  </a:moveTo>
                  <a:lnTo>
                    <a:pt x="5980049" y="0"/>
                  </a:lnTo>
                  <a:lnTo>
                    <a:pt x="5980049" y="440055"/>
                  </a:lnTo>
                  <a:lnTo>
                    <a:pt x="0" y="440055"/>
                  </a:lnTo>
                  <a:close/>
                </a:path>
              </a:pathLst>
            </a:custGeom>
            <a:blipFill>
              <a:blip r:embed="rId4">
                <a:alphaModFix amt="0"/>
              </a:blip>
              <a:stretch>
                <a:fillRect l="0" t="-214611" r="0" b="-214600"/>
              </a:stretch>
            </a:blipFill>
          </p:spPr>
        </p:sp>
      </p:grpSp>
      <p:grpSp>
        <p:nvGrpSpPr>
          <p:cNvPr name="Group 35" id="35"/>
          <p:cNvGrpSpPr/>
          <p:nvPr/>
        </p:nvGrpSpPr>
        <p:grpSpPr>
          <a:xfrm rot="0">
            <a:off x="1387221" y="3275714"/>
            <a:ext cx="4485056" cy="344291"/>
            <a:chOff x="0" y="0"/>
            <a:chExt cx="5980074" cy="459054"/>
          </a:xfrm>
        </p:grpSpPr>
        <p:sp>
          <p:nvSpPr>
            <p:cNvPr name="Freeform 36" id="36"/>
            <p:cNvSpPr/>
            <p:nvPr/>
          </p:nvSpPr>
          <p:spPr>
            <a:xfrm flipH="false" flipV="false" rot="0">
              <a:off x="0" y="0"/>
              <a:ext cx="5980075" cy="459054"/>
            </a:xfrm>
            <a:custGeom>
              <a:avLst/>
              <a:gdLst/>
              <a:ahLst/>
              <a:cxnLst/>
              <a:rect r="r" b="b" t="t" l="l"/>
              <a:pathLst>
                <a:path h="459054" w="5980075">
                  <a:moveTo>
                    <a:pt x="0" y="0"/>
                  </a:moveTo>
                  <a:lnTo>
                    <a:pt x="5980075" y="0"/>
                  </a:lnTo>
                  <a:lnTo>
                    <a:pt x="5980075" y="459054"/>
                  </a:lnTo>
                  <a:lnTo>
                    <a:pt x="0" y="459054"/>
                  </a:lnTo>
                  <a:close/>
                </a:path>
              </a:pathLst>
            </a:custGeom>
            <a:blipFill>
              <a:blip r:embed="rId5">
                <a:alphaModFix amt="0"/>
              </a:blip>
              <a:stretch>
                <a:fillRect l="0" t="-203830" r="0" b="-203830"/>
              </a:stretch>
            </a:blipFill>
          </p:spPr>
        </p:sp>
        <p:sp>
          <p:nvSpPr>
            <p:cNvPr name="TextBox 37" id="37"/>
            <p:cNvSpPr txBox="true"/>
            <p:nvPr/>
          </p:nvSpPr>
          <p:spPr>
            <a:xfrm>
              <a:off x="0" y="-19050"/>
              <a:ext cx="5980074" cy="478104"/>
            </a:xfrm>
            <a:prstGeom prst="rect">
              <a:avLst/>
            </a:prstGeom>
          </p:spPr>
          <p:txBody>
            <a:bodyPr anchor="ctr" rtlCol="false" tIns="0" lIns="0" bIns="0" rIns="0"/>
            <a:lstStyle/>
            <a:p>
              <a:pPr algn="l">
                <a:lnSpc>
                  <a:spcPts val="1526"/>
                </a:lnSpc>
              </a:pPr>
              <a:r>
                <a:rPr lang="en-US" sz="1200">
                  <a:solidFill>
                    <a:srgbClr val="2A3B3F"/>
                  </a:solidFill>
                  <a:latin typeface="Poppins"/>
                  <a:ea typeface="Poppins"/>
                  <a:cs typeface="Poppins"/>
                  <a:sym typeface="Poppins"/>
                </a:rPr>
                <a:t>Secure authentication and access control.</a:t>
              </a:r>
            </a:p>
          </p:txBody>
        </p:sp>
      </p:grpSp>
      <p:grpSp>
        <p:nvGrpSpPr>
          <p:cNvPr name="Group 38" id="38"/>
          <p:cNvGrpSpPr/>
          <p:nvPr/>
        </p:nvGrpSpPr>
        <p:grpSpPr>
          <a:xfrm rot="0">
            <a:off x="907228" y="3879999"/>
            <a:ext cx="330041" cy="330041"/>
            <a:chOff x="0" y="0"/>
            <a:chExt cx="440055" cy="440055"/>
          </a:xfrm>
        </p:grpSpPr>
        <p:sp>
          <p:nvSpPr>
            <p:cNvPr name="Freeform 39" id="39"/>
            <p:cNvSpPr/>
            <p:nvPr/>
          </p:nvSpPr>
          <p:spPr>
            <a:xfrm flipH="false" flipV="false" rot="0">
              <a:off x="0" y="0"/>
              <a:ext cx="440055" cy="440055"/>
            </a:xfrm>
            <a:custGeom>
              <a:avLst/>
              <a:gdLst/>
              <a:ahLst/>
              <a:cxnLst/>
              <a:rect r="r" b="b" t="t" l="l"/>
              <a:pathLst>
                <a:path h="440055" w="440055">
                  <a:moveTo>
                    <a:pt x="0" y="0"/>
                  </a:moveTo>
                  <a:lnTo>
                    <a:pt x="440055" y="0"/>
                  </a:lnTo>
                  <a:lnTo>
                    <a:pt x="440055" y="440055"/>
                  </a:lnTo>
                  <a:lnTo>
                    <a:pt x="0" y="440055"/>
                  </a:lnTo>
                  <a:lnTo>
                    <a:pt x="0" y="0"/>
                  </a:lnTo>
                  <a:close/>
                </a:path>
              </a:pathLst>
            </a:custGeom>
            <a:blipFill>
              <a:blip r:embed="rId10"/>
              <a:stretch>
                <a:fillRect l="0" t="0" r="0" b="0"/>
              </a:stretch>
            </a:blipFill>
          </p:spPr>
        </p:sp>
      </p:grpSp>
      <p:grpSp>
        <p:nvGrpSpPr>
          <p:cNvPr name="Group 40" id="40"/>
          <p:cNvGrpSpPr/>
          <p:nvPr/>
        </p:nvGrpSpPr>
        <p:grpSpPr>
          <a:xfrm rot="0">
            <a:off x="1387221" y="3879999"/>
            <a:ext cx="4485056" cy="330003"/>
            <a:chOff x="0" y="0"/>
            <a:chExt cx="5980074" cy="440004"/>
          </a:xfrm>
        </p:grpSpPr>
        <p:sp>
          <p:nvSpPr>
            <p:cNvPr name="Freeform 41" id="41"/>
            <p:cNvSpPr/>
            <p:nvPr/>
          </p:nvSpPr>
          <p:spPr>
            <a:xfrm flipH="false" flipV="false" rot="0">
              <a:off x="0" y="0"/>
              <a:ext cx="5980049" cy="440055"/>
            </a:xfrm>
            <a:custGeom>
              <a:avLst/>
              <a:gdLst/>
              <a:ahLst/>
              <a:cxnLst/>
              <a:rect r="r" b="b" t="t" l="l"/>
              <a:pathLst>
                <a:path h="440055" w="5980049">
                  <a:moveTo>
                    <a:pt x="0" y="0"/>
                  </a:moveTo>
                  <a:lnTo>
                    <a:pt x="5980049" y="0"/>
                  </a:lnTo>
                  <a:lnTo>
                    <a:pt x="5980049" y="440055"/>
                  </a:lnTo>
                  <a:lnTo>
                    <a:pt x="0" y="440055"/>
                  </a:lnTo>
                  <a:close/>
                </a:path>
              </a:pathLst>
            </a:custGeom>
            <a:blipFill>
              <a:blip r:embed="rId4">
                <a:alphaModFix amt="0"/>
              </a:blip>
              <a:stretch>
                <a:fillRect l="0" t="-214611" r="0" b="-214600"/>
              </a:stretch>
            </a:blipFill>
          </p:spPr>
        </p:sp>
      </p:grpSp>
      <p:grpSp>
        <p:nvGrpSpPr>
          <p:cNvPr name="Group 42" id="42"/>
          <p:cNvGrpSpPr/>
          <p:nvPr/>
        </p:nvGrpSpPr>
        <p:grpSpPr>
          <a:xfrm rot="0">
            <a:off x="1387221" y="3865712"/>
            <a:ext cx="4485056" cy="344291"/>
            <a:chOff x="0" y="0"/>
            <a:chExt cx="5980074" cy="459054"/>
          </a:xfrm>
        </p:grpSpPr>
        <p:sp>
          <p:nvSpPr>
            <p:cNvPr name="Freeform 43" id="43"/>
            <p:cNvSpPr/>
            <p:nvPr/>
          </p:nvSpPr>
          <p:spPr>
            <a:xfrm flipH="false" flipV="false" rot="0">
              <a:off x="0" y="0"/>
              <a:ext cx="5980075" cy="459054"/>
            </a:xfrm>
            <a:custGeom>
              <a:avLst/>
              <a:gdLst/>
              <a:ahLst/>
              <a:cxnLst/>
              <a:rect r="r" b="b" t="t" l="l"/>
              <a:pathLst>
                <a:path h="459054" w="5980075">
                  <a:moveTo>
                    <a:pt x="0" y="0"/>
                  </a:moveTo>
                  <a:lnTo>
                    <a:pt x="5980075" y="0"/>
                  </a:lnTo>
                  <a:lnTo>
                    <a:pt x="5980075" y="459054"/>
                  </a:lnTo>
                  <a:lnTo>
                    <a:pt x="0" y="459054"/>
                  </a:lnTo>
                  <a:close/>
                </a:path>
              </a:pathLst>
            </a:custGeom>
            <a:blipFill>
              <a:blip r:embed="rId5">
                <a:alphaModFix amt="0"/>
              </a:blip>
              <a:stretch>
                <a:fillRect l="0" t="-203830" r="0" b="-203830"/>
              </a:stretch>
            </a:blipFill>
          </p:spPr>
        </p:sp>
        <p:sp>
          <p:nvSpPr>
            <p:cNvPr name="TextBox 44" id="44"/>
            <p:cNvSpPr txBox="true"/>
            <p:nvPr/>
          </p:nvSpPr>
          <p:spPr>
            <a:xfrm>
              <a:off x="0" y="-19050"/>
              <a:ext cx="5980074" cy="478104"/>
            </a:xfrm>
            <a:prstGeom prst="rect">
              <a:avLst/>
            </a:prstGeom>
          </p:spPr>
          <p:txBody>
            <a:bodyPr anchor="ctr" rtlCol="false" tIns="0" lIns="0" bIns="0" rIns="0"/>
            <a:lstStyle/>
            <a:p>
              <a:pPr algn="l">
                <a:lnSpc>
                  <a:spcPts val="1526"/>
                </a:lnSpc>
              </a:pPr>
              <a:r>
                <a:rPr lang="en-US" sz="1200">
                  <a:solidFill>
                    <a:srgbClr val="2A3B3F"/>
                  </a:solidFill>
                  <a:latin typeface="Poppins"/>
                  <a:ea typeface="Poppins"/>
                  <a:cs typeface="Poppins"/>
                  <a:sym typeface="Poppins"/>
                </a:rPr>
                <a:t>User account management: creation, suspension, deletion.</a:t>
              </a:r>
            </a:p>
          </p:txBody>
        </p:sp>
      </p:grpSp>
      <p:grpSp>
        <p:nvGrpSpPr>
          <p:cNvPr name="Group 45" id="45"/>
          <p:cNvGrpSpPr/>
          <p:nvPr/>
        </p:nvGrpSpPr>
        <p:grpSpPr>
          <a:xfrm rot="0">
            <a:off x="907228" y="4500077"/>
            <a:ext cx="330041" cy="330041"/>
            <a:chOff x="0" y="0"/>
            <a:chExt cx="440055" cy="440055"/>
          </a:xfrm>
        </p:grpSpPr>
        <p:sp>
          <p:nvSpPr>
            <p:cNvPr name="Freeform 46" id="46"/>
            <p:cNvSpPr/>
            <p:nvPr/>
          </p:nvSpPr>
          <p:spPr>
            <a:xfrm flipH="false" flipV="false" rot="0">
              <a:off x="0" y="0"/>
              <a:ext cx="440055" cy="440055"/>
            </a:xfrm>
            <a:custGeom>
              <a:avLst/>
              <a:gdLst/>
              <a:ahLst/>
              <a:cxnLst/>
              <a:rect r="r" b="b" t="t" l="l"/>
              <a:pathLst>
                <a:path h="440055" w="440055">
                  <a:moveTo>
                    <a:pt x="0" y="0"/>
                  </a:moveTo>
                  <a:lnTo>
                    <a:pt x="440055" y="0"/>
                  </a:lnTo>
                  <a:lnTo>
                    <a:pt x="440055" y="440055"/>
                  </a:lnTo>
                  <a:lnTo>
                    <a:pt x="0" y="440055"/>
                  </a:lnTo>
                  <a:lnTo>
                    <a:pt x="0" y="0"/>
                  </a:lnTo>
                  <a:close/>
                </a:path>
              </a:pathLst>
            </a:custGeom>
            <a:blipFill>
              <a:blip r:embed="rId11"/>
              <a:stretch>
                <a:fillRect l="0" t="0" r="0" b="0"/>
              </a:stretch>
            </a:blipFill>
          </p:spPr>
        </p:sp>
      </p:grpSp>
      <p:grpSp>
        <p:nvGrpSpPr>
          <p:cNvPr name="Group 47" id="47"/>
          <p:cNvGrpSpPr/>
          <p:nvPr/>
        </p:nvGrpSpPr>
        <p:grpSpPr>
          <a:xfrm rot="0">
            <a:off x="1387221" y="4469997"/>
            <a:ext cx="4485056" cy="390144"/>
            <a:chOff x="0" y="0"/>
            <a:chExt cx="5980074" cy="520192"/>
          </a:xfrm>
        </p:grpSpPr>
        <p:sp>
          <p:nvSpPr>
            <p:cNvPr name="Freeform 48" id="48"/>
            <p:cNvSpPr/>
            <p:nvPr/>
          </p:nvSpPr>
          <p:spPr>
            <a:xfrm flipH="false" flipV="false" rot="0">
              <a:off x="0" y="0"/>
              <a:ext cx="5980049" cy="520192"/>
            </a:xfrm>
            <a:custGeom>
              <a:avLst/>
              <a:gdLst/>
              <a:ahLst/>
              <a:cxnLst/>
              <a:rect r="r" b="b" t="t" l="l"/>
              <a:pathLst>
                <a:path h="520192" w="5980049">
                  <a:moveTo>
                    <a:pt x="0" y="0"/>
                  </a:moveTo>
                  <a:lnTo>
                    <a:pt x="5980049" y="0"/>
                  </a:lnTo>
                  <a:lnTo>
                    <a:pt x="5980049" y="520192"/>
                  </a:lnTo>
                  <a:lnTo>
                    <a:pt x="0" y="520192"/>
                  </a:lnTo>
                  <a:close/>
                </a:path>
              </a:pathLst>
            </a:custGeom>
            <a:blipFill>
              <a:blip r:embed="rId4">
                <a:alphaModFix amt="0"/>
              </a:blip>
              <a:stretch>
                <a:fillRect l="0" t="-173842" r="0" b="-173842"/>
              </a:stretch>
            </a:blipFill>
          </p:spPr>
        </p:sp>
      </p:grpSp>
      <p:grpSp>
        <p:nvGrpSpPr>
          <p:cNvPr name="Group 49" id="49"/>
          <p:cNvGrpSpPr/>
          <p:nvPr/>
        </p:nvGrpSpPr>
        <p:grpSpPr>
          <a:xfrm rot="0">
            <a:off x="1387221" y="4455709"/>
            <a:ext cx="4485056" cy="404432"/>
            <a:chOff x="0" y="0"/>
            <a:chExt cx="5980074" cy="539242"/>
          </a:xfrm>
        </p:grpSpPr>
        <p:sp>
          <p:nvSpPr>
            <p:cNvPr name="Freeform 50" id="50"/>
            <p:cNvSpPr/>
            <p:nvPr/>
          </p:nvSpPr>
          <p:spPr>
            <a:xfrm flipH="false" flipV="false" rot="0">
              <a:off x="0" y="0"/>
              <a:ext cx="5980075" cy="539242"/>
            </a:xfrm>
            <a:custGeom>
              <a:avLst/>
              <a:gdLst/>
              <a:ahLst/>
              <a:cxnLst/>
              <a:rect r="r" b="b" t="t" l="l"/>
              <a:pathLst>
                <a:path h="539242" w="5980075">
                  <a:moveTo>
                    <a:pt x="0" y="0"/>
                  </a:moveTo>
                  <a:lnTo>
                    <a:pt x="5980075" y="0"/>
                  </a:lnTo>
                  <a:lnTo>
                    <a:pt x="5980075" y="539242"/>
                  </a:lnTo>
                  <a:lnTo>
                    <a:pt x="0" y="539242"/>
                  </a:lnTo>
                  <a:close/>
                </a:path>
              </a:pathLst>
            </a:custGeom>
            <a:blipFill>
              <a:blip r:embed="rId5">
                <a:alphaModFix amt="0"/>
              </a:blip>
              <a:stretch>
                <a:fillRect l="0" t="-166084" r="0" b="-166084"/>
              </a:stretch>
            </a:blipFill>
          </p:spPr>
        </p:sp>
        <p:sp>
          <p:nvSpPr>
            <p:cNvPr name="TextBox 51" id="51"/>
            <p:cNvSpPr txBox="true"/>
            <p:nvPr/>
          </p:nvSpPr>
          <p:spPr>
            <a:xfrm>
              <a:off x="0" y="-19050"/>
              <a:ext cx="5980074" cy="558292"/>
            </a:xfrm>
            <a:prstGeom prst="rect">
              <a:avLst/>
            </a:prstGeom>
          </p:spPr>
          <p:txBody>
            <a:bodyPr anchor="ctr" rtlCol="false" tIns="0" lIns="0" bIns="0" rIns="0"/>
            <a:lstStyle/>
            <a:p>
              <a:pPr algn="l">
                <a:lnSpc>
                  <a:spcPts val="1526"/>
                </a:lnSpc>
              </a:pPr>
              <a:r>
                <a:rPr lang="en-US" sz="1200">
                  <a:solidFill>
                    <a:srgbClr val="2A3B3F"/>
                  </a:solidFill>
                  <a:latin typeface="Poppins"/>
                  <a:ea typeface="Poppins"/>
                  <a:cs typeface="Poppins"/>
                  <a:sym typeface="Poppins"/>
                </a:rPr>
                <a:t>Subscription plan management: creation, modification, deletion.</a:t>
              </a:r>
            </a:p>
          </p:txBody>
        </p:sp>
      </p:grpSp>
      <p:grpSp>
        <p:nvGrpSpPr>
          <p:cNvPr name="Group 52" id="52"/>
          <p:cNvGrpSpPr/>
          <p:nvPr/>
        </p:nvGrpSpPr>
        <p:grpSpPr>
          <a:xfrm rot="0">
            <a:off x="907228" y="5120145"/>
            <a:ext cx="330041" cy="330041"/>
            <a:chOff x="0" y="0"/>
            <a:chExt cx="440055" cy="440055"/>
          </a:xfrm>
        </p:grpSpPr>
        <p:sp>
          <p:nvSpPr>
            <p:cNvPr name="Freeform 53" id="53"/>
            <p:cNvSpPr/>
            <p:nvPr/>
          </p:nvSpPr>
          <p:spPr>
            <a:xfrm flipH="false" flipV="false" rot="0">
              <a:off x="0" y="0"/>
              <a:ext cx="440055" cy="440055"/>
            </a:xfrm>
            <a:custGeom>
              <a:avLst/>
              <a:gdLst/>
              <a:ahLst/>
              <a:cxnLst/>
              <a:rect r="r" b="b" t="t" l="l"/>
              <a:pathLst>
                <a:path h="440055" w="440055">
                  <a:moveTo>
                    <a:pt x="0" y="0"/>
                  </a:moveTo>
                  <a:lnTo>
                    <a:pt x="440055" y="0"/>
                  </a:lnTo>
                  <a:lnTo>
                    <a:pt x="440055" y="440055"/>
                  </a:lnTo>
                  <a:lnTo>
                    <a:pt x="0" y="440055"/>
                  </a:lnTo>
                  <a:lnTo>
                    <a:pt x="0" y="0"/>
                  </a:lnTo>
                  <a:close/>
                </a:path>
              </a:pathLst>
            </a:custGeom>
            <a:blipFill>
              <a:blip r:embed="rId12"/>
              <a:stretch>
                <a:fillRect l="0" t="0" r="0" b="0"/>
              </a:stretch>
            </a:blipFill>
          </p:spPr>
        </p:sp>
      </p:grpSp>
      <p:grpSp>
        <p:nvGrpSpPr>
          <p:cNvPr name="Group 54" id="54"/>
          <p:cNvGrpSpPr/>
          <p:nvPr/>
        </p:nvGrpSpPr>
        <p:grpSpPr>
          <a:xfrm rot="0">
            <a:off x="1387221" y="5120145"/>
            <a:ext cx="4485056" cy="330003"/>
            <a:chOff x="0" y="0"/>
            <a:chExt cx="5980074" cy="440004"/>
          </a:xfrm>
        </p:grpSpPr>
        <p:sp>
          <p:nvSpPr>
            <p:cNvPr name="Freeform 55" id="55"/>
            <p:cNvSpPr/>
            <p:nvPr/>
          </p:nvSpPr>
          <p:spPr>
            <a:xfrm flipH="false" flipV="false" rot="0">
              <a:off x="0" y="0"/>
              <a:ext cx="5980049" cy="440055"/>
            </a:xfrm>
            <a:custGeom>
              <a:avLst/>
              <a:gdLst/>
              <a:ahLst/>
              <a:cxnLst/>
              <a:rect r="r" b="b" t="t" l="l"/>
              <a:pathLst>
                <a:path h="440055" w="5980049">
                  <a:moveTo>
                    <a:pt x="0" y="0"/>
                  </a:moveTo>
                  <a:lnTo>
                    <a:pt x="5980049" y="0"/>
                  </a:lnTo>
                  <a:lnTo>
                    <a:pt x="5980049" y="440055"/>
                  </a:lnTo>
                  <a:lnTo>
                    <a:pt x="0" y="440055"/>
                  </a:lnTo>
                  <a:close/>
                </a:path>
              </a:pathLst>
            </a:custGeom>
            <a:blipFill>
              <a:blip r:embed="rId4">
                <a:alphaModFix amt="0"/>
              </a:blip>
              <a:stretch>
                <a:fillRect l="0" t="-214611" r="0" b="-214600"/>
              </a:stretch>
            </a:blipFill>
          </p:spPr>
        </p:sp>
      </p:grpSp>
      <p:grpSp>
        <p:nvGrpSpPr>
          <p:cNvPr name="Group 56" id="56"/>
          <p:cNvGrpSpPr/>
          <p:nvPr/>
        </p:nvGrpSpPr>
        <p:grpSpPr>
          <a:xfrm rot="0">
            <a:off x="1387221" y="5105857"/>
            <a:ext cx="4485056" cy="344291"/>
            <a:chOff x="0" y="0"/>
            <a:chExt cx="5980074" cy="459054"/>
          </a:xfrm>
        </p:grpSpPr>
        <p:sp>
          <p:nvSpPr>
            <p:cNvPr name="Freeform 57" id="57"/>
            <p:cNvSpPr/>
            <p:nvPr/>
          </p:nvSpPr>
          <p:spPr>
            <a:xfrm flipH="false" flipV="false" rot="0">
              <a:off x="0" y="0"/>
              <a:ext cx="5980075" cy="459054"/>
            </a:xfrm>
            <a:custGeom>
              <a:avLst/>
              <a:gdLst/>
              <a:ahLst/>
              <a:cxnLst/>
              <a:rect r="r" b="b" t="t" l="l"/>
              <a:pathLst>
                <a:path h="459054" w="5980075">
                  <a:moveTo>
                    <a:pt x="0" y="0"/>
                  </a:moveTo>
                  <a:lnTo>
                    <a:pt x="5980075" y="0"/>
                  </a:lnTo>
                  <a:lnTo>
                    <a:pt x="5980075" y="459054"/>
                  </a:lnTo>
                  <a:lnTo>
                    <a:pt x="0" y="459054"/>
                  </a:lnTo>
                  <a:close/>
                </a:path>
              </a:pathLst>
            </a:custGeom>
            <a:blipFill>
              <a:blip r:embed="rId5">
                <a:alphaModFix amt="0"/>
              </a:blip>
              <a:stretch>
                <a:fillRect l="0" t="-203830" r="0" b="-203830"/>
              </a:stretch>
            </a:blipFill>
          </p:spPr>
        </p:sp>
        <p:sp>
          <p:nvSpPr>
            <p:cNvPr name="TextBox 58" id="58"/>
            <p:cNvSpPr txBox="true"/>
            <p:nvPr/>
          </p:nvSpPr>
          <p:spPr>
            <a:xfrm>
              <a:off x="0" y="-19050"/>
              <a:ext cx="5980074" cy="478104"/>
            </a:xfrm>
            <a:prstGeom prst="rect">
              <a:avLst/>
            </a:prstGeom>
          </p:spPr>
          <p:txBody>
            <a:bodyPr anchor="ctr" rtlCol="false" tIns="0" lIns="0" bIns="0" rIns="0"/>
            <a:lstStyle/>
            <a:p>
              <a:pPr algn="l">
                <a:lnSpc>
                  <a:spcPts val="1526"/>
                </a:lnSpc>
              </a:pPr>
              <a:r>
                <a:rPr lang="en-US" sz="1200">
                  <a:solidFill>
                    <a:srgbClr val="2A3B3F"/>
                  </a:solidFill>
                  <a:latin typeface="Poppins"/>
                  <a:ea typeface="Poppins"/>
                  <a:cs typeface="Poppins"/>
                  <a:sym typeface="Poppins"/>
                </a:rPr>
                <a:t>Access to platform statistics and monitoring information.</a:t>
              </a:r>
            </a:p>
          </p:txBody>
        </p:sp>
      </p:grpSp>
      <p:sp>
        <p:nvSpPr>
          <p:cNvPr name="Freeform 59" id="59"/>
          <p:cNvSpPr/>
          <p:nvPr/>
        </p:nvSpPr>
        <p:spPr>
          <a:xfrm flipH="false" flipV="false" rot="0">
            <a:off x="6385808" y="2268884"/>
            <a:ext cx="5487257" cy="6922199"/>
          </a:xfrm>
          <a:custGeom>
            <a:avLst/>
            <a:gdLst/>
            <a:ahLst/>
            <a:cxnLst/>
            <a:rect r="r" b="b" t="t" l="l"/>
            <a:pathLst>
              <a:path h="6922199" w="5487257">
                <a:moveTo>
                  <a:pt x="0" y="0"/>
                </a:moveTo>
                <a:lnTo>
                  <a:pt x="5487257" y="0"/>
                </a:lnTo>
                <a:lnTo>
                  <a:pt x="5487257" y="6922198"/>
                </a:lnTo>
                <a:lnTo>
                  <a:pt x="0" y="69221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0" id="60"/>
          <p:cNvGrpSpPr/>
          <p:nvPr/>
        </p:nvGrpSpPr>
        <p:grpSpPr>
          <a:xfrm rot="0">
            <a:off x="6396923" y="2279999"/>
            <a:ext cx="5465064" cy="82582"/>
            <a:chOff x="0" y="0"/>
            <a:chExt cx="7286752" cy="110109"/>
          </a:xfrm>
        </p:grpSpPr>
        <p:sp>
          <p:nvSpPr>
            <p:cNvPr name="Freeform 61" id="61"/>
            <p:cNvSpPr/>
            <p:nvPr/>
          </p:nvSpPr>
          <p:spPr>
            <a:xfrm flipH="false" flipV="false" rot="0">
              <a:off x="0" y="0"/>
              <a:ext cx="7286752" cy="110109"/>
            </a:xfrm>
            <a:custGeom>
              <a:avLst/>
              <a:gdLst/>
              <a:ahLst/>
              <a:cxnLst/>
              <a:rect r="r" b="b" t="t" l="l"/>
              <a:pathLst>
                <a:path h="110109" w="7286752">
                  <a:moveTo>
                    <a:pt x="27559" y="0"/>
                  </a:moveTo>
                  <a:lnTo>
                    <a:pt x="7259193" y="0"/>
                  </a:lnTo>
                  <a:cubicBezTo>
                    <a:pt x="7274433" y="0"/>
                    <a:pt x="7286752" y="12319"/>
                    <a:pt x="7286752" y="27559"/>
                  </a:cubicBezTo>
                  <a:lnTo>
                    <a:pt x="7286752" y="82550"/>
                  </a:lnTo>
                  <a:cubicBezTo>
                    <a:pt x="7286752" y="97790"/>
                    <a:pt x="7274433" y="110109"/>
                    <a:pt x="7259193" y="110109"/>
                  </a:cubicBezTo>
                  <a:lnTo>
                    <a:pt x="27559" y="110109"/>
                  </a:lnTo>
                  <a:cubicBezTo>
                    <a:pt x="12319" y="110109"/>
                    <a:pt x="0" y="97790"/>
                    <a:pt x="0" y="82550"/>
                  </a:cubicBezTo>
                  <a:lnTo>
                    <a:pt x="0" y="27559"/>
                  </a:lnTo>
                  <a:cubicBezTo>
                    <a:pt x="0" y="12319"/>
                    <a:pt x="12319" y="0"/>
                    <a:pt x="27559" y="0"/>
                  </a:cubicBezTo>
                  <a:close/>
                </a:path>
              </a:pathLst>
            </a:custGeom>
            <a:solidFill>
              <a:srgbClr val="737AE6"/>
            </a:solidFill>
          </p:spPr>
        </p:sp>
      </p:grpSp>
      <p:grpSp>
        <p:nvGrpSpPr>
          <p:cNvPr name="Group 62" id="62"/>
          <p:cNvGrpSpPr/>
          <p:nvPr/>
        </p:nvGrpSpPr>
        <p:grpSpPr>
          <a:xfrm rot="0">
            <a:off x="6646916" y="2550004"/>
            <a:ext cx="480060" cy="480060"/>
            <a:chOff x="0" y="0"/>
            <a:chExt cx="640080" cy="640080"/>
          </a:xfrm>
        </p:grpSpPr>
        <p:sp>
          <p:nvSpPr>
            <p:cNvPr name="Freeform 63" id="63"/>
            <p:cNvSpPr/>
            <p:nvPr/>
          </p:nvSpPr>
          <p:spPr>
            <a:xfrm flipH="false" flipV="false" rot="0">
              <a:off x="0" y="0"/>
              <a:ext cx="640080" cy="640080"/>
            </a:xfrm>
            <a:custGeom>
              <a:avLst/>
              <a:gdLst/>
              <a:ahLst/>
              <a:cxnLst/>
              <a:rect r="r" b="b" t="t" l="l"/>
              <a:pathLst>
                <a:path h="640080" w="640080">
                  <a:moveTo>
                    <a:pt x="0" y="320040"/>
                  </a:moveTo>
                  <a:cubicBezTo>
                    <a:pt x="0" y="143256"/>
                    <a:pt x="143256" y="0"/>
                    <a:pt x="320040" y="0"/>
                  </a:cubicBezTo>
                  <a:cubicBezTo>
                    <a:pt x="496824" y="0"/>
                    <a:pt x="640080" y="143256"/>
                    <a:pt x="640080" y="320040"/>
                  </a:cubicBezTo>
                  <a:cubicBezTo>
                    <a:pt x="640080" y="496824"/>
                    <a:pt x="496824" y="640080"/>
                    <a:pt x="320040" y="640080"/>
                  </a:cubicBezTo>
                  <a:cubicBezTo>
                    <a:pt x="143256" y="640080"/>
                    <a:pt x="0" y="496697"/>
                    <a:pt x="0" y="320040"/>
                  </a:cubicBezTo>
                  <a:close/>
                </a:path>
              </a:pathLst>
            </a:custGeom>
            <a:solidFill>
              <a:srgbClr val="737AE6"/>
            </a:solidFill>
          </p:spPr>
        </p:sp>
      </p:grpSp>
      <p:grpSp>
        <p:nvGrpSpPr>
          <p:cNvPr name="Group 64" id="64"/>
          <p:cNvGrpSpPr/>
          <p:nvPr/>
        </p:nvGrpSpPr>
        <p:grpSpPr>
          <a:xfrm rot="0">
            <a:off x="6762121" y="2665200"/>
            <a:ext cx="249555" cy="249555"/>
            <a:chOff x="0" y="0"/>
            <a:chExt cx="332740" cy="332740"/>
          </a:xfrm>
        </p:grpSpPr>
        <p:sp>
          <p:nvSpPr>
            <p:cNvPr name="Freeform 65" id="65"/>
            <p:cNvSpPr/>
            <p:nvPr/>
          </p:nvSpPr>
          <p:spPr>
            <a:xfrm flipH="false" flipV="false" rot="0">
              <a:off x="0" y="0"/>
              <a:ext cx="332740" cy="332740"/>
            </a:xfrm>
            <a:custGeom>
              <a:avLst/>
              <a:gdLst/>
              <a:ahLst/>
              <a:cxnLst/>
              <a:rect r="r" b="b" t="t" l="l"/>
              <a:pathLst>
                <a:path h="332740" w="332740">
                  <a:moveTo>
                    <a:pt x="0" y="0"/>
                  </a:moveTo>
                  <a:lnTo>
                    <a:pt x="332740" y="0"/>
                  </a:lnTo>
                  <a:lnTo>
                    <a:pt x="332740" y="332740"/>
                  </a:lnTo>
                  <a:lnTo>
                    <a:pt x="0" y="332740"/>
                  </a:lnTo>
                  <a:lnTo>
                    <a:pt x="0" y="0"/>
                  </a:lnTo>
                  <a:close/>
                </a:path>
              </a:pathLst>
            </a:custGeom>
            <a:blipFill>
              <a:blip r:embed="rId13"/>
              <a:stretch>
                <a:fillRect l="0" t="0" r="0" b="0"/>
              </a:stretch>
            </a:blipFill>
          </p:spPr>
        </p:sp>
      </p:grpSp>
      <p:grpSp>
        <p:nvGrpSpPr>
          <p:cNvPr name="Group 66" id="66"/>
          <p:cNvGrpSpPr/>
          <p:nvPr/>
        </p:nvGrpSpPr>
        <p:grpSpPr>
          <a:xfrm rot="0">
            <a:off x="7276919" y="2550004"/>
            <a:ext cx="4335056" cy="330003"/>
            <a:chOff x="0" y="0"/>
            <a:chExt cx="5780075" cy="440004"/>
          </a:xfrm>
        </p:grpSpPr>
        <p:sp>
          <p:nvSpPr>
            <p:cNvPr name="Freeform 67" id="67"/>
            <p:cNvSpPr/>
            <p:nvPr/>
          </p:nvSpPr>
          <p:spPr>
            <a:xfrm flipH="false" flipV="false" rot="0">
              <a:off x="0" y="0"/>
              <a:ext cx="5780024" cy="440055"/>
            </a:xfrm>
            <a:custGeom>
              <a:avLst/>
              <a:gdLst/>
              <a:ahLst/>
              <a:cxnLst/>
              <a:rect r="r" b="b" t="t" l="l"/>
              <a:pathLst>
                <a:path h="440055" w="5780024">
                  <a:moveTo>
                    <a:pt x="0" y="0"/>
                  </a:moveTo>
                  <a:lnTo>
                    <a:pt x="5780024" y="0"/>
                  </a:lnTo>
                  <a:lnTo>
                    <a:pt x="5780024" y="440055"/>
                  </a:lnTo>
                  <a:lnTo>
                    <a:pt x="0" y="440055"/>
                  </a:lnTo>
                  <a:close/>
                </a:path>
              </a:pathLst>
            </a:custGeom>
            <a:blipFill>
              <a:blip r:embed="rId4">
                <a:alphaModFix amt="0"/>
              </a:blip>
              <a:stretch>
                <a:fillRect l="0" t="-205763" r="0" b="-205748"/>
              </a:stretch>
            </a:blipFill>
          </p:spPr>
        </p:sp>
      </p:grpSp>
      <p:grpSp>
        <p:nvGrpSpPr>
          <p:cNvPr name="Group 68" id="68"/>
          <p:cNvGrpSpPr/>
          <p:nvPr/>
        </p:nvGrpSpPr>
        <p:grpSpPr>
          <a:xfrm rot="0">
            <a:off x="7276919" y="2528573"/>
            <a:ext cx="4335056" cy="351434"/>
            <a:chOff x="0" y="0"/>
            <a:chExt cx="5780075" cy="468579"/>
          </a:xfrm>
        </p:grpSpPr>
        <p:sp>
          <p:nvSpPr>
            <p:cNvPr name="Freeform 69" id="69"/>
            <p:cNvSpPr/>
            <p:nvPr/>
          </p:nvSpPr>
          <p:spPr>
            <a:xfrm flipH="false" flipV="false" rot="0">
              <a:off x="0" y="0"/>
              <a:ext cx="5780075" cy="468579"/>
            </a:xfrm>
            <a:custGeom>
              <a:avLst/>
              <a:gdLst/>
              <a:ahLst/>
              <a:cxnLst/>
              <a:rect r="r" b="b" t="t" l="l"/>
              <a:pathLst>
                <a:path h="468579" w="5780075">
                  <a:moveTo>
                    <a:pt x="0" y="0"/>
                  </a:moveTo>
                  <a:lnTo>
                    <a:pt x="5780075" y="0"/>
                  </a:lnTo>
                  <a:lnTo>
                    <a:pt x="5780075" y="468579"/>
                  </a:lnTo>
                  <a:lnTo>
                    <a:pt x="0" y="468579"/>
                  </a:lnTo>
                  <a:close/>
                </a:path>
              </a:pathLst>
            </a:custGeom>
            <a:blipFill>
              <a:blip r:embed="rId5">
                <a:alphaModFix amt="0"/>
              </a:blip>
              <a:stretch>
                <a:fillRect l="0" t="-190354" r="0" b="-190354"/>
              </a:stretch>
            </a:blipFill>
          </p:spPr>
        </p:sp>
        <p:sp>
          <p:nvSpPr>
            <p:cNvPr name="TextBox 70" id="70"/>
            <p:cNvSpPr txBox="true"/>
            <p:nvPr/>
          </p:nvSpPr>
          <p:spPr>
            <a:xfrm>
              <a:off x="0" y="-28575"/>
              <a:ext cx="5780075" cy="497154"/>
            </a:xfrm>
            <a:prstGeom prst="rect">
              <a:avLst/>
            </a:prstGeom>
          </p:spPr>
          <p:txBody>
            <a:bodyPr anchor="ctr" rtlCol="false" tIns="0" lIns="0" bIns="0" rIns="0"/>
            <a:lstStyle/>
            <a:p>
              <a:pPr algn="l">
                <a:lnSpc>
                  <a:spcPts val="2040"/>
                </a:lnSpc>
              </a:pPr>
              <a:r>
                <a:rPr lang="en-US" sz="1700" b="true">
                  <a:solidFill>
                    <a:srgbClr val="737AE6"/>
                  </a:solidFill>
                  <a:latin typeface="Poppins Bold"/>
                  <a:ea typeface="Poppins Bold"/>
                  <a:cs typeface="Poppins Bold"/>
                  <a:sym typeface="Poppins Bold"/>
                </a:rPr>
                <a:t>Recruiter</a:t>
              </a:r>
            </a:p>
          </p:txBody>
        </p:sp>
      </p:grpSp>
      <p:sp>
        <p:nvSpPr>
          <p:cNvPr name="AutoShape 71" id="71"/>
          <p:cNvSpPr/>
          <p:nvPr/>
        </p:nvSpPr>
        <p:spPr>
          <a:xfrm rot="89940">
            <a:off x="7252697" y="2880951"/>
            <a:ext cx="728453" cy="0"/>
          </a:xfrm>
          <a:prstGeom prst="line">
            <a:avLst/>
          </a:prstGeom>
          <a:ln cap="rnd" w="19050">
            <a:solidFill>
              <a:srgbClr val="737AE6"/>
            </a:solidFill>
            <a:prstDash val="solid"/>
            <a:headEnd type="none" len="sm" w="sm"/>
            <a:tailEnd type="none" len="sm" w="sm"/>
          </a:ln>
        </p:spPr>
      </p:sp>
      <p:grpSp>
        <p:nvGrpSpPr>
          <p:cNvPr name="Group 72" id="72"/>
          <p:cNvGrpSpPr/>
          <p:nvPr/>
        </p:nvGrpSpPr>
        <p:grpSpPr>
          <a:xfrm rot="0">
            <a:off x="6646916" y="3290002"/>
            <a:ext cx="300038" cy="300038"/>
            <a:chOff x="0" y="0"/>
            <a:chExt cx="400050" cy="400050"/>
          </a:xfrm>
        </p:grpSpPr>
        <p:sp>
          <p:nvSpPr>
            <p:cNvPr name="Freeform 73" id="73"/>
            <p:cNvSpPr/>
            <p:nvPr/>
          </p:nvSpPr>
          <p:spPr>
            <a:xfrm flipH="false" flipV="false" rot="0">
              <a:off x="0" y="0"/>
              <a:ext cx="400050" cy="400050"/>
            </a:xfrm>
            <a:custGeom>
              <a:avLst/>
              <a:gdLst/>
              <a:ahLst/>
              <a:cxnLst/>
              <a:rect r="r" b="b" t="t" l="l"/>
              <a:pathLst>
                <a:path h="400050" w="400050">
                  <a:moveTo>
                    <a:pt x="0" y="0"/>
                  </a:moveTo>
                  <a:lnTo>
                    <a:pt x="400050" y="0"/>
                  </a:lnTo>
                  <a:lnTo>
                    <a:pt x="400050" y="400050"/>
                  </a:lnTo>
                  <a:lnTo>
                    <a:pt x="0" y="400050"/>
                  </a:lnTo>
                  <a:lnTo>
                    <a:pt x="0" y="0"/>
                  </a:lnTo>
                  <a:close/>
                </a:path>
              </a:pathLst>
            </a:custGeom>
            <a:blipFill>
              <a:blip r:embed="rId14"/>
              <a:stretch>
                <a:fillRect l="0" t="0" r="0" b="0"/>
              </a:stretch>
            </a:blipFill>
          </p:spPr>
        </p:sp>
      </p:grpSp>
      <p:grpSp>
        <p:nvGrpSpPr>
          <p:cNvPr name="Group 74" id="74"/>
          <p:cNvGrpSpPr/>
          <p:nvPr/>
        </p:nvGrpSpPr>
        <p:grpSpPr>
          <a:xfrm rot="0">
            <a:off x="7096925" y="3290002"/>
            <a:ext cx="4515060" cy="299999"/>
            <a:chOff x="0" y="0"/>
            <a:chExt cx="6020079" cy="399999"/>
          </a:xfrm>
        </p:grpSpPr>
        <p:sp>
          <p:nvSpPr>
            <p:cNvPr name="Freeform 75" id="75"/>
            <p:cNvSpPr/>
            <p:nvPr/>
          </p:nvSpPr>
          <p:spPr>
            <a:xfrm flipH="false" flipV="false" rot="0">
              <a:off x="0" y="0"/>
              <a:ext cx="6020054" cy="400050"/>
            </a:xfrm>
            <a:custGeom>
              <a:avLst/>
              <a:gdLst/>
              <a:ahLst/>
              <a:cxnLst/>
              <a:rect r="r" b="b" t="t" l="l"/>
              <a:pathLst>
                <a:path h="400050" w="6020054">
                  <a:moveTo>
                    <a:pt x="0" y="0"/>
                  </a:moveTo>
                  <a:lnTo>
                    <a:pt x="6020054" y="0"/>
                  </a:lnTo>
                  <a:lnTo>
                    <a:pt x="6020054" y="400050"/>
                  </a:lnTo>
                  <a:lnTo>
                    <a:pt x="0" y="400050"/>
                  </a:lnTo>
                  <a:close/>
                </a:path>
              </a:pathLst>
            </a:custGeom>
            <a:blipFill>
              <a:blip r:embed="rId4">
                <a:alphaModFix amt="0"/>
              </a:blip>
              <a:stretch>
                <a:fillRect l="0" t="-243019" r="0" b="-243006"/>
              </a:stretch>
            </a:blipFill>
          </p:spPr>
        </p:sp>
      </p:grpSp>
      <p:grpSp>
        <p:nvGrpSpPr>
          <p:cNvPr name="Group 76" id="76"/>
          <p:cNvGrpSpPr/>
          <p:nvPr/>
        </p:nvGrpSpPr>
        <p:grpSpPr>
          <a:xfrm rot="0">
            <a:off x="7096925" y="3275714"/>
            <a:ext cx="4515060" cy="314287"/>
            <a:chOff x="0" y="0"/>
            <a:chExt cx="6020079" cy="419049"/>
          </a:xfrm>
        </p:grpSpPr>
        <p:sp>
          <p:nvSpPr>
            <p:cNvPr name="Freeform 77" id="77"/>
            <p:cNvSpPr/>
            <p:nvPr/>
          </p:nvSpPr>
          <p:spPr>
            <a:xfrm flipH="false" flipV="false" rot="0">
              <a:off x="0" y="0"/>
              <a:ext cx="6020080" cy="419049"/>
            </a:xfrm>
            <a:custGeom>
              <a:avLst/>
              <a:gdLst/>
              <a:ahLst/>
              <a:cxnLst/>
              <a:rect r="r" b="b" t="t" l="l"/>
              <a:pathLst>
                <a:path h="419049" w="6020080">
                  <a:moveTo>
                    <a:pt x="0" y="0"/>
                  </a:moveTo>
                  <a:lnTo>
                    <a:pt x="6020080" y="0"/>
                  </a:lnTo>
                  <a:lnTo>
                    <a:pt x="6020080" y="419049"/>
                  </a:lnTo>
                  <a:lnTo>
                    <a:pt x="0" y="419049"/>
                  </a:lnTo>
                  <a:close/>
                </a:path>
              </a:pathLst>
            </a:custGeom>
            <a:blipFill>
              <a:blip r:embed="rId5">
                <a:alphaModFix amt="0"/>
              </a:blip>
              <a:stretch>
                <a:fillRect l="0" t="-229923" r="0" b="-229923"/>
              </a:stretch>
            </a:blipFill>
          </p:spPr>
        </p:sp>
        <p:sp>
          <p:nvSpPr>
            <p:cNvPr name="TextBox 78" id="78"/>
            <p:cNvSpPr txBox="true"/>
            <p:nvPr/>
          </p:nvSpPr>
          <p:spPr>
            <a:xfrm>
              <a:off x="0" y="-19050"/>
              <a:ext cx="6020079" cy="438099"/>
            </a:xfrm>
            <a:prstGeom prst="rect">
              <a:avLst/>
            </a:prstGeom>
          </p:spPr>
          <p:txBody>
            <a:bodyPr anchor="ctr" rtlCol="false" tIns="0" lIns="0" bIns="0" rIns="0"/>
            <a:lstStyle/>
            <a:p>
              <a:pPr algn="l">
                <a:lnSpc>
                  <a:spcPts val="1399"/>
                </a:lnSpc>
              </a:pPr>
              <a:r>
                <a:rPr lang="en-US" sz="1100">
                  <a:solidFill>
                    <a:srgbClr val="2A3B3F"/>
                  </a:solidFill>
                  <a:latin typeface="Poppins"/>
                  <a:ea typeface="Poppins"/>
                  <a:cs typeface="Poppins"/>
                  <a:sym typeface="Poppins"/>
                </a:rPr>
                <a:t>Secure authentication and profile management.</a:t>
              </a:r>
            </a:p>
          </p:txBody>
        </p:sp>
      </p:grpSp>
      <p:grpSp>
        <p:nvGrpSpPr>
          <p:cNvPr name="Group 79" id="79"/>
          <p:cNvGrpSpPr/>
          <p:nvPr/>
        </p:nvGrpSpPr>
        <p:grpSpPr>
          <a:xfrm rot="0">
            <a:off x="6646916" y="3849995"/>
            <a:ext cx="300038" cy="300038"/>
            <a:chOff x="0" y="0"/>
            <a:chExt cx="400050" cy="400050"/>
          </a:xfrm>
        </p:grpSpPr>
        <p:sp>
          <p:nvSpPr>
            <p:cNvPr name="Freeform 80" id="80"/>
            <p:cNvSpPr/>
            <p:nvPr/>
          </p:nvSpPr>
          <p:spPr>
            <a:xfrm flipH="false" flipV="false" rot="0">
              <a:off x="0" y="0"/>
              <a:ext cx="400050" cy="400050"/>
            </a:xfrm>
            <a:custGeom>
              <a:avLst/>
              <a:gdLst/>
              <a:ahLst/>
              <a:cxnLst/>
              <a:rect r="r" b="b" t="t" l="l"/>
              <a:pathLst>
                <a:path h="400050" w="400050">
                  <a:moveTo>
                    <a:pt x="0" y="0"/>
                  </a:moveTo>
                  <a:lnTo>
                    <a:pt x="400050" y="0"/>
                  </a:lnTo>
                  <a:lnTo>
                    <a:pt x="400050" y="400050"/>
                  </a:lnTo>
                  <a:lnTo>
                    <a:pt x="0" y="400050"/>
                  </a:lnTo>
                  <a:lnTo>
                    <a:pt x="0" y="0"/>
                  </a:lnTo>
                  <a:close/>
                </a:path>
              </a:pathLst>
            </a:custGeom>
            <a:blipFill>
              <a:blip r:embed="rId15"/>
              <a:stretch>
                <a:fillRect l="0" t="0" r="0" b="0"/>
              </a:stretch>
            </a:blipFill>
          </p:spPr>
        </p:sp>
      </p:grpSp>
      <p:grpSp>
        <p:nvGrpSpPr>
          <p:cNvPr name="Group 81" id="81"/>
          <p:cNvGrpSpPr/>
          <p:nvPr/>
        </p:nvGrpSpPr>
        <p:grpSpPr>
          <a:xfrm rot="0">
            <a:off x="7096925" y="3849995"/>
            <a:ext cx="4515060" cy="299999"/>
            <a:chOff x="0" y="0"/>
            <a:chExt cx="6020079" cy="399999"/>
          </a:xfrm>
        </p:grpSpPr>
        <p:sp>
          <p:nvSpPr>
            <p:cNvPr name="Freeform 82" id="82"/>
            <p:cNvSpPr/>
            <p:nvPr/>
          </p:nvSpPr>
          <p:spPr>
            <a:xfrm flipH="false" flipV="false" rot="0">
              <a:off x="0" y="0"/>
              <a:ext cx="6020054" cy="400050"/>
            </a:xfrm>
            <a:custGeom>
              <a:avLst/>
              <a:gdLst/>
              <a:ahLst/>
              <a:cxnLst/>
              <a:rect r="r" b="b" t="t" l="l"/>
              <a:pathLst>
                <a:path h="400050" w="6020054">
                  <a:moveTo>
                    <a:pt x="0" y="0"/>
                  </a:moveTo>
                  <a:lnTo>
                    <a:pt x="6020054" y="0"/>
                  </a:lnTo>
                  <a:lnTo>
                    <a:pt x="6020054" y="400050"/>
                  </a:lnTo>
                  <a:lnTo>
                    <a:pt x="0" y="400050"/>
                  </a:lnTo>
                  <a:close/>
                </a:path>
              </a:pathLst>
            </a:custGeom>
            <a:blipFill>
              <a:blip r:embed="rId4">
                <a:alphaModFix amt="0"/>
              </a:blip>
              <a:stretch>
                <a:fillRect l="0" t="-243019" r="0" b="-243006"/>
              </a:stretch>
            </a:blipFill>
          </p:spPr>
        </p:sp>
      </p:grpSp>
      <p:grpSp>
        <p:nvGrpSpPr>
          <p:cNvPr name="Group 83" id="83"/>
          <p:cNvGrpSpPr/>
          <p:nvPr/>
        </p:nvGrpSpPr>
        <p:grpSpPr>
          <a:xfrm rot="0">
            <a:off x="7096925" y="3835708"/>
            <a:ext cx="4515060" cy="314287"/>
            <a:chOff x="0" y="0"/>
            <a:chExt cx="6020079" cy="419049"/>
          </a:xfrm>
        </p:grpSpPr>
        <p:sp>
          <p:nvSpPr>
            <p:cNvPr name="Freeform 84" id="84"/>
            <p:cNvSpPr/>
            <p:nvPr/>
          </p:nvSpPr>
          <p:spPr>
            <a:xfrm flipH="false" flipV="false" rot="0">
              <a:off x="0" y="0"/>
              <a:ext cx="6020080" cy="419049"/>
            </a:xfrm>
            <a:custGeom>
              <a:avLst/>
              <a:gdLst/>
              <a:ahLst/>
              <a:cxnLst/>
              <a:rect r="r" b="b" t="t" l="l"/>
              <a:pathLst>
                <a:path h="419049" w="6020080">
                  <a:moveTo>
                    <a:pt x="0" y="0"/>
                  </a:moveTo>
                  <a:lnTo>
                    <a:pt x="6020080" y="0"/>
                  </a:lnTo>
                  <a:lnTo>
                    <a:pt x="6020080" y="419049"/>
                  </a:lnTo>
                  <a:lnTo>
                    <a:pt x="0" y="419049"/>
                  </a:lnTo>
                  <a:close/>
                </a:path>
              </a:pathLst>
            </a:custGeom>
            <a:blipFill>
              <a:blip r:embed="rId5">
                <a:alphaModFix amt="0"/>
              </a:blip>
              <a:stretch>
                <a:fillRect l="0" t="-229923" r="0" b="-229923"/>
              </a:stretch>
            </a:blipFill>
          </p:spPr>
        </p:sp>
        <p:sp>
          <p:nvSpPr>
            <p:cNvPr name="TextBox 85" id="85"/>
            <p:cNvSpPr txBox="true"/>
            <p:nvPr/>
          </p:nvSpPr>
          <p:spPr>
            <a:xfrm>
              <a:off x="0" y="-19050"/>
              <a:ext cx="6020079" cy="438099"/>
            </a:xfrm>
            <a:prstGeom prst="rect">
              <a:avLst/>
            </a:prstGeom>
          </p:spPr>
          <p:txBody>
            <a:bodyPr anchor="ctr" rtlCol="false" tIns="0" lIns="0" bIns="0" rIns="0"/>
            <a:lstStyle/>
            <a:p>
              <a:pPr algn="l">
                <a:lnSpc>
                  <a:spcPts val="1399"/>
                </a:lnSpc>
              </a:pPr>
              <a:r>
                <a:rPr lang="en-US" sz="1100">
                  <a:solidFill>
                    <a:srgbClr val="2A3B3F"/>
                  </a:solidFill>
                  <a:latin typeface="Poppins"/>
                  <a:ea typeface="Poppins"/>
                  <a:cs typeface="Poppins"/>
                  <a:sym typeface="Poppins"/>
                </a:rPr>
                <a:t>Subscription plan, tier changes and billing history.</a:t>
              </a:r>
            </a:p>
          </p:txBody>
        </p:sp>
      </p:grpSp>
      <p:grpSp>
        <p:nvGrpSpPr>
          <p:cNvPr name="Group 86" id="86"/>
          <p:cNvGrpSpPr/>
          <p:nvPr/>
        </p:nvGrpSpPr>
        <p:grpSpPr>
          <a:xfrm rot="0">
            <a:off x="6646916" y="4409999"/>
            <a:ext cx="300038" cy="300038"/>
            <a:chOff x="0" y="0"/>
            <a:chExt cx="400050" cy="400050"/>
          </a:xfrm>
        </p:grpSpPr>
        <p:sp>
          <p:nvSpPr>
            <p:cNvPr name="Freeform 87" id="87"/>
            <p:cNvSpPr/>
            <p:nvPr/>
          </p:nvSpPr>
          <p:spPr>
            <a:xfrm flipH="false" flipV="false" rot="0">
              <a:off x="0" y="0"/>
              <a:ext cx="400050" cy="400050"/>
            </a:xfrm>
            <a:custGeom>
              <a:avLst/>
              <a:gdLst/>
              <a:ahLst/>
              <a:cxnLst/>
              <a:rect r="r" b="b" t="t" l="l"/>
              <a:pathLst>
                <a:path h="400050" w="400050">
                  <a:moveTo>
                    <a:pt x="0" y="0"/>
                  </a:moveTo>
                  <a:lnTo>
                    <a:pt x="400050" y="0"/>
                  </a:lnTo>
                  <a:lnTo>
                    <a:pt x="400050" y="400050"/>
                  </a:lnTo>
                  <a:lnTo>
                    <a:pt x="0" y="400050"/>
                  </a:lnTo>
                  <a:lnTo>
                    <a:pt x="0" y="0"/>
                  </a:lnTo>
                  <a:close/>
                </a:path>
              </a:pathLst>
            </a:custGeom>
            <a:blipFill>
              <a:blip r:embed="rId16"/>
              <a:stretch>
                <a:fillRect l="0" t="0" r="0" b="0"/>
              </a:stretch>
            </a:blipFill>
          </p:spPr>
        </p:sp>
      </p:grpSp>
      <p:grpSp>
        <p:nvGrpSpPr>
          <p:cNvPr name="Group 88" id="88"/>
          <p:cNvGrpSpPr/>
          <p:nvPr/>
        </p:nvGrpSpPr>
        <p:grpSpPr>
          <a:xfrm rot="0">
            <a:off x="7096925" y="4409999"/>
            <a:ext cx="4515060" cy="299999"/>
            <a:chOff x="0" y="0"/>
            <a:chExt cx="6020079" cy="399999"/>
          </a:xfrm>
        </p:grpSpPr>
        <p:sp>
          <p:nvSpPr>
            <p:cNvPr name="Freeform 89" id="89"/>
            <p:cNvSpPr/>
            <p:nvPr/>
          </p:nvSpPr>
          <p:spPr>
            <a:xfrm flipH="false" flipV="false" rot="0">
              <a:off x="0" y="0"/>
              <a:ext cx="6020054" cy="400050"/>
            </a:xfrm>
            <a:custGeom>
              <a:avLst/>
              <a:gdLst/>
              <a:ahLst/>
              <a:cxnLst/>
              <a:rect r="r" b="b" t="t" l="l"/>
              <a:pathLst>
                <a:path h="400050" w="6020054">
                  <a:moveTo>
                    <a:pt x="0" y="0"/>
                  </a:moveTo>
                  <a:lnTo>
                    <a:pt x="6020054" y="0"/>
                  </a:lnTo>
                  <a:lnTo>
                    <a:pt x="6020054" y="400050"/>
                  </a:lnTo>
                  <a:lnTo>
                    <a:pt x="0" y="400050"/>
                  </a:lnTo>
                  <a:close/>
                </a:path>
              </a:pathLst>
            </a:custGeom>
            <a:blipFill>
              <a:blip r:embed="rId4">
                <a:alphaModFix amt="0"/>
              </a:blip>
              <a:stretch>
                <a:fillRect l="0" t="-243019" r="0" b="-243006"/>
              </a:stretch>
            </a:blipFill>
          </p:spPr>
        </p:sp>
      </p:grpSp>
      <p:grpSp>
        <p:nvGrpSpPr>
          <p:cNvPr name="Group 90" id="90"/>
          <p:cNvGrpSpPr/>
          <p:nvPr/>
        </p:nvGrpSpPr>
        <p:grpSpPr>
          <a:xfrm rot="0">
            <a:off x="7096925" y="4395711"/>
            <a:ext cx="4515060" cy="314287"/>
            <a:chOff x="0" y="0"/>
            <a:chExt cx="6020079" cy="419049"/>
          </a:xfrm>
        </p:grpSpPr>
        <p:sp>
          <p:nvSpPr>
            <p:cNvPr name="Freeform 91" id="91"/>
            <p:cNvSpPr/>
            <p:nvPr/>
          </p:nvSpPr>
          <p:spPr>
            <a:xfrm flipH="false" flipV="false" rot="0">
              <a:off x="0" y="0"/>
              <a:ext cx="6020080" cy="419049"/>
            </a:xfrm>
            <a:custGeom>
              <a:avLst/>
              <a:gdLst/>
              <a:ahLst/>
              <a:cxnLst/>
              <a:rect r="r" b="b" t="t" l="l"/>
              <a:pathLst>
                <a:path h="419049" w="6020080">
                  <a:moveTo>
                    <a:pt x="0" y="0"/>
                  </a:moveTo>
                  <a:lnTo>
                    <a:pt x="6020080" y="0"/>
                  </a:lnTo>
                  <a:lnTo>
                    <a:pt x="6020080" y="419049"/>
                  </a:lnTo>
                  <a:lnTo>
                    <a:pt x="0" y="419049"/>
                  </a:lnTo>
                  <a:close/>
                </a:path>
              </a:pathLst>
            </a:custGeom>
            <a:blipFill>
              <a:blip r:embed="rId5">
                <a:alphaModFix amt="0"/>
              </a:blip>
              <a:stretch>
                <a:fillRect l="0" t="-229923" r="0" b="-229923"/>
              </a:stretch>
            </a:blipFill>
          </p:spPr>
        </p:sp>
        <p:sp>
          <p:nvSpPr>
            <p:cNvPr name="TextBox 92" id="92"/>
            <p:cNvSpPr txBox="true"/>
            <p:nvPr/>
          </p:nvSpPr>
          <p:spPr>
            <a:xfrm>
              <a:off x="0" y="-19050"/>
              <a:ext cx="6020079" cy="438099"/>
            </a:xfrm>
            <a:prstGeom prst="rect">
              <a:avLst/>
            </a:prstGeom>
          </p:spPr>
          <p:txBody>
            <a:bodyPr anchor="ctr" rtlCol="false" tIns="0" lIns="0" bIns="0" rIns="0"/>
            <a:lstStyle/>
            <a:p>
              <a:pPr algn="l">
                <a:lnSpc>
                  <a:spcPts val="1399"/>
                </a:lnSpc>
              </a:pPr>
              <a:r>
                <a:rPr lang="en-US" sz="1100">
                  <a:solidFill>
                    <a:srgbClr val="2A3B3F"/>
                  </a:solidFill>
                  <a:latin typeface="Poppins"/>
                  <a:ea typeface="Poppins"/>
                  <a:cs typeface="Poppins"/>
                  <a:sym typeface="Poppins"/>
                </a:rPr>
                <a:t>Remaining candidate-view quota.</a:t>
              </a:r>
            </a:p>
          </p:txBody>
        </p:sp>
      </p:grpSp>
      <p:grpSp>
        <p:nvGrpSpPr>
          <p:cNvPr name="Group 93" id="93"/>
          <p:cNvGrpSpPr/>
          <p:nvPr/>
        </p:nvGrpSpPr>
        <p:grpSpPr>
          <a:xfrm rot="0">
            <a:off x="6646916" y="4970002"/>
            <a:ext cx="300038" cy="300038"/>
            <a:chOff x="0" y="0"/>
            <a:chExt cx="400050" cy="400050"/>
          </a:xfrm>
        </p:grpSpPr>
        <p:sp>
          <p:nvSpPr>
            <p:cNvPr name="Freeform 94" id="94"/>
            <p:cNvSpPr/>
            <p:nvPr/>
          </p:nvSpPr>
          <p:spPr>
            <a:xfrm flipH="false" flipV="false" rot="0">
              <a:off x="0" y="0"/>
              <a:ext cx="400050" cy="400050"/>
            </a:xfrm>
            <a:custGeom>
              <a:avLst/>
              <a:gdLst/>
              <a:ahLst/>
              <a:cxnLst/>
              <a:rect r="r" b="b" t="t" l="l"/>
              <a:pathLst>
                <a:path h="400050" w="400050">
                  <a:moveTo>
                    <a:pt x="0" y="0"/>
                  </a:moveTo>
                  <a:lnTo>
                    <a:pt x="400050" y="0"/>
                  </a:lnTo>
                  <a:lnTo>
                    <a:pt x="400050" y="400050"/>
                  </a:lnTo>
                  <a:lnTo>
                    <a:pt x="0" y="400050"/>
                  </a:lnTo>
                  <a:lnTo>
                    <a:pt x="0" y="0"/>
                  </a:lnTo>
                  <a:close/>
                </a:path>
              </a:pathLst>
            </a:custGeom>
            <a:blipFill>
              <a:blip r:embed="rId17"/>
              <a:stretch>
                <a:fillRect l="0" t="0" r="0" b="0"/>
              </a:stretch>
            </a:blipFill>
          </p:spPr>
        </p:sp>
      </p:grpSp>
      <p:grpSp>
        <p:nvGrpSpPr>
          <p:cNvPr name="Group 95" id="95"/>
          <p:cNvGrpSpPr/>
          <p:nvPr/>
        </p:nvGrpSpPr>
        <p:grpSpPr>
          <a:xfrm rot="0">
            <a:off x="7096925" y="4970002"/>
            <a:ext cx="4515060" cy="299999"/>
            <a:chOff x="0" y="0"/>
            <a:chExt cx="6020079" cy="399999"/>
          </a:xfrm>
        </p:grpSpPr>
        <p:sp>
          <p:nvSpPr>
            <p:cNvPr name="Freeform 96" id="96"/>
            <p:cNvSpPr/>
            <p:nvPr/>
          </p:nvSpPr>
          <p:spPr>
            <a:xfrm flipH="false" flipV="false" rot="0">
              <a:off x="0" y="0"/>
              <a:ext cx="6020054" cy="400050"/>
            </a:xfrm>
            <a:custGeom>
              <a:avLst/>
              <a:gdLst/>
              <a:ahLst/>
              <a:cxnLst/>
              <a:rect r="r" b="b" t="t" l="l"/>
              <a:pathLst>
                <a:path h="400050" w="6020054">
                  <a:moveTo>
                    <a:pt x="0" y="0"/>
                  </a:moveTo>
                  <a:lnTo>
                    <a:pt x="6020054" y="0"/>
                  </a:lnTo>
                  <a:lnTo>
                    <a:pt x="6020054" y="400050"/>
                  </a:lnTo>
                  <a:lnTo>
                    <a:pt x="0" y="400050"/>
                  </a:lnTo>
                  <a:close/>
                </a:path>
              </a:pathLst>
            </a:custGeom>
            <a:blipFill>
              <a:blip r:embed="rId4">
                <a:alphaModFix amt="0"/>
              </a:blip>
              <a:stretch>
                <a:fillRect l="0" t="-243019" r="0" b="-243006"/>
              </a:stretch>
            </a:blipFill>
          </p:spPr>
        </p:sp>
      </p:grpSp>
      <p:grpSp>
        <p:nvGrpSpPr>
          <p:cNvPr name="Group 97" id="97"/>
          <p:cNvGrpSpPr/>
          <p:nvPr/>
        </p:nvGrpSpPr>
        <p:grpSpPr>
          <a:xfrm rot="0">
            <a:off x="7096925" y="4955715"/>
            <a:ext cx="4515060" cy="314287"/>
            <a:chOff x="0" y="0"/>
            <a:chExt cx="6020079" cy="419049"/>
          </a:xfrm>
        </p:grpSpPr>
        <p:sp>
          <p:nvSpPr>
            <p:cNvPr name="Freeform 98" id="98"/>
            <p:cNvSpPr/>
            <p:nvPr/>
          </p:nvSpPr>
          <p:spPr>
            <a:xfrm flipH="false" flipV="false" rot="0">
              <a:off x="0" y="0"/>
              <a:ext cx="6020080" cy="419049"/>
            </a:xfrm>
            <a:custGeom>
              <a:avLst/>
              <a:gdLst/>
              <a:ahLst/>
              <a:cxnLst/>
              <a:rect r="r" b="b" t="t" l="l"/>
              <a:pathLst>
                <a:path h="419049" w="6020080">
                  <a:moveTo>
                    <a:pt x="0" y="0"/>
                  </a:moveTo>
                  <a:lnTo>
                    <a:pt x="6020080" y="0"/>
                  </a:lnTo>
                  <a:lnTo>
                    <a:pt x="6020080" y="419049"/>
                  </a:lnTo>
                  <a:lnTo>
                    <a:pt x="0" y="419049"/>
                  </a:lnTo>
                  <a:close/>
                </a:path>
              </a:pathLst>
            </a:custGeom>
            <a:blipFill>
              <a:blip r:embed="rId5">
                <a:alphaModFix amt="0"/>
              </a:blip>
              <a:stretch>
                <a:fillRect l="0" t="-229923" r="0" b="-229923"/>
              </a:stretch>
            </a:blipFill>
          </p:spPr>
        </p:sp>
        <p:sp>
          <p:nvSpPr>
            <p:cNvPr name="TextBox 99" id="99"/>
            <p:cNvSpPr txBox="true"/>
            <p:nvPr/>
          </p:nvSpPr>
          <p:spPr>
            <a:xfrm>
              <a:off x="0" y="-19050"/>
              <a:ext cx="6020079" cy="438099"/>
            </a:xfrm>
            <a:prstGeom prst="rect">
              <a:avLst/>
            </a:prstGeom>
          </p:spPr>
          <p:txBody>
            <a:bodyPr anchor="ctr" rtlCol="false" tIns="0" lIns="0" bIns="0" rIns="0"/>
            <a:lstStyle/>
            <a:p>
              <a:pPr algn="l">
                <a:lnSpc>
                  <a:spcPts val="1399"/>
                </a:lnSpc>
              </a:pPr>
              <a:r>
                <a:rPr lang="en-US" sz="1100">
                  <a:solidFill>
                    <a:srgbClr val="2A3B3F"/>
                  </a:solidFill>
                  <a:latin typeface="Poppins"/>
                  <a:ea typeface="Poppins"/>
                  <a:cs typeface="Poppins"/>
                  <a:sym typeface="Poppins"/>
                </a:rPr>
                <a:t>Candidate search, filtering and profile consultation.</a:t>
              </a:r>
            </a:p>
          </p:txBody>
        </p:sp>
      </p:grpSp>
      <p:grpSp>
        <p:nvGrpSpPr>
          <p:cNvPr name="Group 100" id="100"/>
          <p:cNvGrpSpPr/>
          <p:nvPr/>
        </p:nvGrpSpPr>
        <p:grpSpPr>
          <a:xfrm rot="0">
            <a:off x="6646916" y="5529996"/>
            <a:ext cx="300038" cy="300038"/>
            <a:chOff x="0" y="0"/>
            <a:chExt cx="400050" cy="400050"/>
          </a:xfrm>
        </p:grpSpPr>
        <p:sp>
          <p:nvSpPr>
            <p:cNvPr name="Freeform 101" id="101"/>
            <p:cNvSpPr/>
            <p:nvPr/>
          </p:nvSpPr>
          <p:spPr>
            <a:xfrm flipH="false" flipV="false" rot="0">
              <a:off x="0" y="0"/>
              <a:ext cx="400050" cy="400050"/>
            </a:xfrm>
            <a:custGeom>
              <a:avLst/>
              <a:gdLst/>
              <a:ahLst/>
              <a:cxnLst/>
              <a:rect r="r" b="b" t="t" l="l"/>
              <a:pathLst>
                <a:path h="400050" w="400050">
                  <a:moveTo>
                    <a:pt x="0" y="0"/>
                  </a:moveTo>
                  <a:lnTo>
                    <a:pt x="400050" y="0"/>
                  </a:lnTo>
                  <a:lnTo>
                    <a:pt x="400050" y="400050"/>
                  </a:lnTo>
                  <a:lnTo>
                    <a:pt x="0" y="400050"/>
                  </a:lnTo>
                  <a:lnTo>
                    <a:pt x="0" y="0"/>
                  </a:lnTo>
                  <a:close/>
                </a:path>
              </a:pathLst>
            </a:custGeom>
            <a:blipFill>
              <a:blip r:embed="rId18"/>
              <a:stretch>
                <a:fillRect l="0" t="0" r="0" b="0"/>
              </a:stretch>
            </a:blipFill>
          </p:spPr>
        </p:sp>
      </p:grpSp>
      <p:grpSp>
        <p:nvGrpSpPr>
          <p:cNvPr name="Group 102" id="102"/>
          <p:cNvGrpSpPr/>
          <p:nvPr/>
        </p:nvGrpSpPr>
        <p:grpSpPr>
          <a:xfrm rot="0">
            <a:off x="7096925" y="5529996"/>
            <a:ext cx="4515060" cy="299999"/>
            <a:chOff x="0" y="0"/>
            <a:chExt cx="6020079" cy="399999"/>
          </a:xfrm>
        </p:grpSpPr>
        <p:sp>
          <p:nvSpPr>
            <p:cNvPr name="Freeform 103" id="103"/>
            <p:cNvSpPr/>
            <p:nvPr/>
          </p:nvSpPr>
          <p:spPr>
            <a:xfrm flipH="false" flipV="false" rot="0">
              <a:off x="0" y="0"/>
              <a:ext cx="6020054" cy="400050"/>
            </a:xfrm>
            <a:custGeom>
              <a:avLst/>
              <a:gdLst/>
              <a:ahLst/>
              <a:cxnLst/>
              <a:rect r="r" b="b" t="t" l="l"/>
              <a:pathLst>
                <a:path h="400050" w="6020054">
                  <a:moveTo>
                    <a:pt x="0" y="0"/>
                  </a:moveTo>
                  <a:lnTo>
                    <a:pt x="6020054" y="0"/>
                  </a:lnTo>
                  <a:lnTo>
                    <a:pt x="6020054" y="400050"/>
                  </a:lnTo>
                  <a:lnTo>
                    <a:pt x="0" y="400050"/>
                  </a:lnTo>
                  <a:close/>
                </a:path>
              </a:pathLst>
            </a:custGeom>
            <a:blipFill>
              <a:blip r:embed="rId4">
                <a:alphaModFix amt="0"/>
              </a:blip>
              <a:stretch>
                <a:fillRect l="0" t="-243019" r="0" b="-243006"/>
              </a:stretch>
            </a:blipFill>
          </p:spPr>
        </p:sp>
      </p:grpSp>
      <p:grpSp>
        <p:nvGrpSpPr>
          <p:cNvPr name="Group 104" id="104"/>
          <p:cNvGrpSpPr/>
          <p:nvPr/>
        </p:nvGrpSpPr>
        <p:grpSpPr>
          <a:xfrm rot="0">
            <a:off x="7096925" y="5515708"/>
            <a:ext cx="4515060" cy="314287"/>
            <a:chOff x="0" y="0"/>
            <a:chExt cx="6020079" cy="419049"/>
          </a:xfrm>
        </p:grpSpPr>
        <p:sp>
          <p:nvSpPr>
            <p:cNvPr name="Freeform 105" id="105"/>
            <p:cNvSpPr/>
            <p:nvPr/>
          </p:nvSpPr>
          <p:spPr>
            <a:xfrm flipH="false" flipV="false" rot="0">
              <a:off x="0" y="0"/>
              <a:ext cx="6020080" cy="419049"/>
            </a:xfrm>
            <a:custGeom>
              <a:avLst/>
              <a:gdLst/>
              <a:ahLst/>
              <a:cxnLst/>
              <a:rect r="r" b="b" t="t" l="l"/>
              <a:pathLst>
                <a:path h="419049" w="6020080">
                  <a:moveTo>
                    <a:pt x="0" y="0"/>
                  </a:moveTo>
                  <a:lnTo>
                    <a:pt x="6020080" y="0"/>
                  </a:lnTo>
                  <a:lnTo>
                    <a:pt x="6020080" y="419049"/>
                  </a:lnTo>
                  <a:lnTo>
                    <a:pt x="0" y="419049"/>
                  </a:lnTo>
                  <a:close/>
                </a:path>
              </a:pathLst>
            </a:custGeom>
            <a:blipFill>
              <a:blip r:embed="rId5">
                <a:alphaModFix amt="0"/>
              </a:blip>
              <a:stretch>
                <a:fillRect l="0" t="-229923" r="0" b="-229923"/>
              </a:stretch>
            </a:blipFill>
          </p:spPr>
        </p:sp>
        <p:sp>
          <p:nvSpPr>
            <p:cNvPr name="TextBox 106" id="106"/>
            <p:cNvSpPr txBox="true"/>
            <p:nvPr/>
          </p:nvSpPr>
          <p:spPr>
            <a:xfrm>
              <a:off x="0" y="-19050"/>
              <a:ext cx="6020079" cy="438099"/>
            </a:xfrm>
            <a:prstGeom prst="rect">
              <a:avLst/>
            </a:prstGeom>
          </p:spPr>
          <p:txBody>
            <a:bodyPr anchor="ctr" rtlCol="false" tIns="0" lIns="0" bIns="0" rIns="0"/>
            <a:lstStyle/>
            <a:p>
              <a:pPr algn="l">
                <a:lnSpc>
                  <a:spcPts val="1399"/>
                </a:lnSpc>
              </a:pPr>
              <a:r>
                <a:rPr lang="en-US" sz="1100">
                  <a:solidFill>
                    <a:srgbClr val="2A3B3F"/>
                  </a:solidFill>
                  <a:latin typeface="Poppins"/>
                  <a:ea typeface="Poppins"/>
                  <a:cs typeface="Poppins"/>
                  <a:sym typeface="Poppins"/>
                </a:rPr>
                <a:t>Saving candidates into named directories.</a:t>
              </a:r>
            </a:p>
          </p:txBody>
        </p:sp>
      </p:grpSp>
      <p:grpSp>
        <p:nvGrpSpPr>
          <p:cNvPr name="Group 107" id="107"/>
          <p:cNvGrpSpPr/>
          <p:nvPr/>
        </p:nvGrpSpPr>
        <p:grpSpPr>
          <a:xfrm rot="0">
            <a:off x="6646916" y="6089999"/>
            <a:ext cx="300038" cy="300038"/>
            <a:chOff x="0" y="0"/>
            <a:chExt cx="400050" cy="400050"/>
          </a:xfrm>
        </p:grpSpPr>
        <p:sp>
          <p:nvSpPr>
            <p:cNvPr name="Freeform 108" id="108"/>
            <p:cNvSpPr/>
            <p:nvPr/>
          </p:nvSpPr>
          <p:spPr>
            <a:xfrm flipH="false" flipV="false" rot="0">
              <a:off x="0" y="0"/>
              <a:ext cx="400050" cy="400050"/>
            </a:xfrm>
            <a:custGeom>
              <a:avLst/>
              <a:gdLst/>
              <a:ahLst/>
              <a:cxnLst/>
              <a:rect r="r" b="b" t="t" l="l"/>
              <a:pathLst>
                <a:path h="400050" w="400050">
                  <a:moveTo>
                    <a:pt x="0" y="0"/>
                  </a:moveTo>
                  <a:lnTo>
                    <a:pt x="400050" y="0"/>
                  </a:lnTo>
                  <a:lnTo>
                    <a:pt x="400050" y="400050"/>
                  </a:lnTo>
                  <a:lnTo>
                    <a:pt x="0" y="400050"/>
                  </a:lnTo>
                  <a:lnTo>
                    <a:pt x="0" y="0"/>
                  </a:lnTo>
                  <a:close/>
                </a:path>
              </a:pathLst>
            </a:custGeom>
            <a:blipFill>
              <a:blip r:embed="rId19"/>
              <a:stretch>
                <a:fillRect l="0" t="0" r="0" b="0"/>
              </a:stretch>
            </a:blipFill>
          </p:spPr>
        </p:sp>
      </p:grpSp>
      <p:grpSp>
        <p:nvGrpSpPr>
          <p:cNvPr name="Group 109" id="109"/>
          <p:cNvGrpSpPr/>
          <p:nvPr/>
        </p:nvGrpSpPr>
        <p:grpSpPr>
          <a:xfrm rot="0">
            <a:off x="7096925" y="6089999"/>
            <a:ext cx="4515060" cy="299999"/>
            <a:chOff x="0" y="0"/>
            <a:chExt cx="6020079" cy="399999"/>
          </a:xfrm>
        </p:grpSpPr>
        <p:sp>
          <p:nvSpPr>
            <p:cNvPr name="Freeform 110" id="110"/>
            <p:cNvSpPr/>
            <p:nvPr/>
          </p:nvSpPr>
          <p:spPr>
            <a:xfrm flipH="false" flipV="false" rot="0">
              <a:off x="0" y="0"/>
              <a:ext cx="6020054" cy="400050"/>
            </a:xfrm>
            <a:custGeom>
              <a:avLst/>
              <a:gdLst/>
              <a:ahLst/>
              <a:cxnLst/>
              <a:rect r="r" b="b" t="t" l="l"/>
              <a:pathLst>
                <a:path h="400050" w="6020054">
                  <a:moveTo>
                    <a:pt x="0" y="0"/>
                  </a:moveTo>
                  <a:lnTo>
                    <a:pt x="6020054" y="0"/>
                  </a:lnTo>
                  <a:lnTo>
                    <a:pt x="6020054" y="400050"/>
                  </a:lnTo>
                  <a:lnTo>
                    <a:pt x="0" y="400050"/>
                  </a:lnTo>
                  <a:close/>
                </a:path>
              </a:pathLst>
            </a:custGeom>
            <a:blipFill>
              <a:blip r:embed="rId4">
                <a:alphaModFix amt="0"/>
              </a:blip>
              <a:stretch>
                <a:fillRect l="0" t="-243019" r="0" b="-243006"/>
              </a:stretch>
            </a:blipFill>
          </p:spPr>
        </p:sp>
      </p:grpSp>
      <p:grpSp>
        <p:nvGrpSpPr>
          <p:cNvPr name="Group 111" id="111"/>
          <p:cNvGrpSpPr/>
          <p:nvPr/>
        </p:nvGrpSpPr>
        <p:grpSpPr>
          <a:xfrm rot="0">
            <a:off x="7096925" y="6075712"/>
            <a:ext cx="4515060" cy="314287"/>
            <a:chOff x="0" y="0"/>
            <a:chExt cx="6020079" cy="419049"/>
          </a:xfrm>
        </p:grpSpPr>
        <p:sp>
          <p:nvSpPr>
            <p:cNvPr name="Freeform 112" id="112"/>
            <p:cNvSpPr/>
            <p:nvPr/>
          </p:nvSpPr>
          <p:spPr>
            <a:xfrm flipH="false" flipV="false" rot="0">
              <a:off x="0" y="0"/>
              <a:ext cx="6020080" cy="419049"/>
            </a:xfrm>
            <a:custGeom>
              <a:avLst/>
              <a:gdLst/>
              <a:ahLst/>
              <a:cxnLst/>
              <a:rect r="r" b="b" t="t" l="l"/>
              <a:pathLst>
                <a:path h="419049" w="6020080">
                  <a:moveTo>
                    <a:pt x="0" y="0"/>
                  </a:moveTo>
                  <a:lnTo>
                    <a:pt x="6020080" y="0"/>
                  </a:lnTo>
                  <a:lnTo>
                    <a:pt x="6020080" y="419049"/>
                  </a:lnTo>
                  <a:lnTo>
                    <a:pt x="0" y="419049"/>
                  </a:lnTo>
                  <a:close/>
                </a:path>
              </a:pathLst>
            </a:custGeom>
            <a:blipFill>
              <a:blip r:embed="rId5">
                <a:alphaModFix amt="0"/>
              </a:blip>
              <a:stretch>
                <a:fillRect l="0" t="-229923" r="0" b="-229923"/>
              </a:stretch>
            </a:blipFill>
          </p:spPr>
        </p:sp>
        <p:sp>
          <p:nvSpPr>
            <p:cNvPr name="TextBox 113" id="113"/>
            <p:cNvSpPr txBox="true"/>
            <p:nvPr/>
          </p:nvSpPr>
          <p:spPr>
            <a:xfrm>
              <a:off x="0" y="-19050"/>
              <a:ext cx="6020079" cy="438099"/>
            </a:xfrm>
            <a:prstGeom prst="rect">
              <a:avLst/>
            </a:prstGeom>
          </p:spPr>
          <p:txBody>
            <a:bodyPr anchor="ctr" rtlCol="false" tIns="0" lIns="0" bIns="0" rIns="0"/>
            <a:lstStyle/>
            <a:p>
              <a:pPr algn="l">
                <a:lnSpc>
                  <a:spcPts val="1399"/>
                </a:lnSpc>
              </a:pPr>
              <a:r>
                <a:rPr lang="en-US" sz="1100">
                  <a:solidFill>
                    <a:srgbClr val="2A3B3F"/>
                  </a:solidFill>
                  <a:latin typeface="Poppins"/>
                  <a:ea typeface="Poppins"/>
                  <a:cs typeface="Poppins"/>
                  <a:sym typeface="Poppins"/>
                </a:rPr>
                <a:t>Candidate viewing history with advanced filtering.</a:t>
              </a:r>
            </a:p>
          </p:txBody>
        </p:sp>
      </p:grpSp>
      <p:grpSp>
        <p:nvGrpSpPr>
          <p:cNvPr name="Group 114" id="114"/>
          <p:cNvGrpSpPr/>
          <p:nvPr/>
        </p:nvGrpSpPr>
        <p:grpSpPr>
          <a:xfrm rot="0">
            <a:off x="6646916" y="6650003"/>
            <a:ext cx="300038" cy="300038"/>
            <a:chOff x="0" y="0"/>
            <a:chExt cx="400050" cy="400050"/>
          </a:xfrm>
        </p:grpSpPr>
        <p:sp>
          <p:nvSpPr>
            <p:cNvPr name="Freeform 115" id="115"/>
            <p:cNvSpPr/>
            <p:nvPr/>
          </p:nvSpPr>
          <p:spPr>
            <a:xfrm flipH="false" flipV="false" rot="0">
              <a:off x="0" y="0"/>
              <a:ext cx="400050" cy="400050"/>
            </a:xfrm>
            <a:custGeom>
              <a:avLst/>
              <a:gdLst/>
              <a:ahLst/>
              <a:cxnLst/>
              <a:rect r="r" b="b" t="t" l="l"/>
              <a:pathLst>
                <a:path h="400050" w="400050">
                  <a:moveTo>
                    <a:pt x="0" y="0"/>
                  </a:moveTo>
                  <a:lnTo>
                    <a:pt x="400050" y="0"/>
                  </a:lnTo>
                  <a:lnTo>
                    <a:pt x="400050" y="400050"/>
                  </a:lnTo>
                  <a:lnTo>
                    <a:pt x="0" y="400050"/>
                  </a:lnTo>
                  <a:lnTo>
                    <a:pt x="0" y="0"/>
                  </a:lnTo>
                  <a:close/>
                </a:path>
              </a:pathLst>
            </a:custGeom>
            <a:blipFill>
              <a:blip r:embed="rId20"/>
              <a:stretch>
                <a:fillRect l="0" t="0" r="0" b="0"/>
              </a:stretch>
            </a:blipFill>
          </p:spPr>
        </p:sp>
      </p:grpSp>
      <p:grpSp>
        <p:nvGrpSpPr>
          <p:cNvPr name="Group 116" id="116"/>
          <p:cNvGrpSpPr/>
          <p:nvPr/>
        </p:nvGrpSpPr>
        <p:grpSpPr>
          <a:xfrm rot="0">
            <a:off x="7096925" y="6650003"/>
            <a:ext cx="4515060" cy="299999"/>
            <a:chOff x="0" y="0"/>
            <a:chExt cx="6020079" cy="399999"/>
          </a:xfrm>
        </p:grpSpPr>
        <p:sp>
          <p:nvSpPr>
            <p:cNvPr name="Freeform 117" id="117"/>
            <p:cNvSpPr/>
            <p:nvPr/>
          </p:nvSpPr>
          <p:spPr>
            <a:xfrm flipH="false" flipV="false" rot="0">
              <a:off x="0" y="0"/>
              <a:ext cx="6020054" cy="400050"/>
            </a:xfrm>
            <a:custGeom>
              <a:avLst/>
              <a:gdLst/>
              <a:ahLst/>
              <a:cxnLst/>
              <a:rect r="r" b="b" t="t" l="l"/>
              <a:pathLst>
                <a:path h="400050" w="6020054">
                  <a:moveTo>
                    <a:pt x="0" y="0"/>
                  </a:moveTo>
                  <a:lnTo>
                    <a:pt x="6020054" y="0"/>
                  </a:lnTo>
                  <a:lnTo>
                    <a:pt x="6020054" y="400050"/>
                  </a:lnTo>
                  <a:lnTo>
                    <a:pt x="0" y="400050"/>
                  </a:lnTo>
                  <a:close/>
                </a:path>
              </a:pathLst>
            </a:custGeom>
            <a:blipFill>
              <a:blip r:embed="rId4">
                <a:alphaModFix amt="0"/>
              </a:blip>
              <a:stretch>
                <a:fillRect l="0" t="-243019" r="0" b="-243006"/>
              </a:stretch>
            </a:blipFill>
          </p:spPr>
        </p:sp>
      </p:grpSp>
      <p:grpSp>
        <p:nvGrpSpPr>
          <p:cNvPr name="Group 118" id="118"/>
          <p:cNvGrpSpPr/>
          <p:nvPr/>
        </p:nvGrpSpPr>
        <p:grpSpPr>
          <a:xfrm rot="0">
            <a:off x="7096925" y="6635715"/>
            <a:ext cx="4515060" cy="314287"/>
            <a:chOff x="0" y="0"/>
            <a:chExt cx="6020079" cy="419049"/>
          </a:xfrm>
        </p:grpSpPr>
        <p:sp>
          <p:nvSpPr>
            <p:cNvPr name="Freeform 119" id="119"/>
            <p:cNvSpPr/>
            <p:nvPr/>
          </p:nvSpPr>
          <p:spPr>
            <a:xfrm flipH="false" flipV="false" rot="0">
              <a:off x="0" y="0"/>
              <a:ext cx="6020080" cy="419049"/>
            </a:xfrm>
            <a:custGeom>
              <a:avLst/>
              <a:gdLst/>
              <a:ahLst/>
              <a:cxnLst/>
              <a:rect r="r" b="b" t="t" l="l"/>
              <a:pathLst>
                <a:path h="419049" w="6020080">
                  <a:moveTo>
                    <a:pt x="0" y="0"/>
                  </a:moveTo>
                  <a:lnTo>
                    <a:pt x="6020080" y="0"/>
                  </a:lnTo>
                  <a:lnTo>
                    <a:pt x="6020080" y="419049"/>
                  </a:lnTo>
                  <a:lnTo>
                    <a:pt x="0" y="419049"/>
                  </a:lnTo>
                  <a:close/>
                </a:path>
              </a:pathLst>
            </a:custGeom>
            <a:blipFill>
              <a:blip r:embed="rId5">
                <a:alphaModFix amt="0"/>
              </a:blip>
              <a:stretch>
                <a:fillRect l="0" t="-229923" r="0" b="-229923"/>
              </a:stretch>
            </a:blipFill>
          </p:spPr>
        </p:sp>
        <p:sp>
          <p:nvSpPr>
            <p:cNvPr name="TextBox 120" id="120"/>
            <p:cNvSpPr txBox="true"/>
            <p:nvPr/>
          </p:nvSpPr>
          <p:spPr>
            <a:xfrm>
              <a:off x="0" y="-19050"/>
              <a:ext cx="6020079" cy="438099"/>
            </a:xfrm>
            <a:prstGeom prst="rect">
              <a:avLst/>
            </a:prstGeom>
          </p:spPr>
          <p:txBody>
            <a:bodyPr anchor="ctr" rtlCol="false" tIns="0" lIns="0" bIns="0" rIns="0"/>
            <a:lstStyle/>
            <a:p>
              <a:pPr algn="l">
                <a:lnSpc>
                  <a:spcPts val="1399"/>
                </a:lnSpc>
              </a:pPr>
              <a:r>
                <a:rPr lang="en-US" sz="1100">
                  <a:solidFill>
                    <a:srgbClr val="2A3B3F"/>
                  </a:solidFill>
                  <a:latin typeface="Poppins"/>
                  <a:ea typeface="Poppins"/>
                  <a:cs typeface="Poppins"/>
                  <a:sym typeface="Poppins"/>
                </a:rPr>
                <a:t>Scores, reports, rankings and anti-cheating info.</a:t>
              </a:r>
            </a:p>
          </p:txBody>
        </p:sp>
      </p:grpSp>
      <p:grpSp>
        <p:nvGrpSpPr>
          <p:cNvPr name="Group 121" id="121"/>
          <p:cNvGrpSpPr/>
          <p:nvPr/>
        </p:nvGrpSpPr>
        <p:grpSpPr>
          <a:xfrm rot="0">
            <a:off x="6646916" y="7209996"/>
            <a:ext cx="300038" cy="300038"/>
            <a:chOff x="0" y="0"/>
            <a:chExt cx="400050" cy="400050"/>
          </a:xfrm>
        </p:grpSpPr>
        <p:sp>
          <p:nvSpPr>
            <p:cNvPr name="Freeform 122" id="122"/>
            <p:cNvSpPr/>
            <p:nvPr/>
          </p:nvSpPr>
          <p:spPr>
            <a:xfrm flipH="false" flipV="false" rot="0">
              <a:off x="0" y="0"/>
              <a:ext cx="400050" cy="400050"/>
            </a:xfrm>
            <a:custGeom>
              <a:avLst/>
              <a:gdLst/>
              <a:ahLst/>
              <a:cxnLst/>
              <a:rect r="r" b="b" t="t" l="l"/>
              <a:pathLst>
                <a:path h="400050" w="400050">
                  <a:moveTo>
                    <a:pt x="0" y="0"/>
                  </a:moveTo>
                  <a:lnTo>
                    <a:pt x="400050" y="0"/>
                  </a:lnTo>
                  <a:lnTo>
                    <a:pt x="400050" y="400050"/>
                  </a:lnTo>
                  <a:lnTo>
                    <a:pt x="0" y="400050"/>
                  </a:lnTo>
                  <a:lnTo>
                    <a:pt x="0" y="0"/>
                  </a:lnTo>
                  <a:close/>
                </a:path>
              </a:pathLst>
            </a:custGeom>
            <a:blipFill>
              <a:blip r:embed="rId21"/>
              <a:stretch>
                <a:fillRect l="0" t="0" r="0" b="0"/>
              </a:stretch>
            </a:blipFill>
          </p:spPr>
        </p:sp>
      </p:grpSp>
      <p:grpSp>
        <p:nvGrpSpPr>
          <p:cNvPr name="Group 123" id="123"/>
          <p:cNvGrpSpPr/>
          <p:nvPr/>
        </p:nvGrpSpPr>
        <p:grpSpPr>
          <a:xfrm rot="0">
            <a:off x="7096925" y="7209996"/>
            <a:ext cx="4515060" cy="299999"/>
            <a:chOff x="0" y="0"/>
            <a:chExt cx="6020079" cy="399999"/>
          </a:xfrm>
        </p:grpSpPr>
        <p:sp>
          <p:nvSpPr>
            <p:cNvPr name="Freeform 124" id="124"/>
            <p:cNvSpPr/>
            <p:nvPr/>
          </p:nvSpPr>
          <p:spPr>
            <a:xfrm flipH="false" flipV="false" rot="0">
              <a:off x="0" y="0"/>
              <a:ext cx="6020054" cy="400050"/>
            </a:xfrm>
            <a:custGeom>
              <a:avLst/>
              <a:gdLst/>
              <a:ahLst/>
              <a:cxnLst/>
              <a:rect r="r" b="b" t="t" l="l"/>
              <a:pathLst>
                <a:path h="400050" w="6020054">
                  <a:moveTo>
                    <a:pt x="0" y="0"/>
                  </a:moveTo>
                  <a:lnTo>
                    <a:pt x="6020054" y="0"/>
                  </a:lnTo>
                  <a:lnTo>
                    <a:pt x="6020054" y="400050"/>
                  </a:lnTo>
                  <a:lnTo>
                    <a:pt x="0" y="400050"/>
                  </a:lnTo>
                  <a:close/>
                </a:path>
              </a:pathLst>
            </a:custGeom>
            <a:blipFill>
              <a:blip r:embed="rId4">
                <a:alphaModFix amt="0"/>
              </a:blip>
              <a:stretch>
                <a:fillRect l="0" t="-243019" r="0" b="-243006"/>
              </a:stretch>
            </a:blipFill>
          </p:spPr>
        </p:sp>
      </p:grpSp>
      <p:grpSp>
        <p:nvGrpSpPr>
          <p:cNvPr name="Group 125" id="125"/>
          <p:cNvGrpSpPr/>
          <p:nvPr/>
        </p:nvGrpSpPr>
        <p:grpSpPr>
          <a:xfrm rot="0">
            <a:off x="7096925" y="7195709"/>
            <a:ext cx="4515060" cy="314287"/>
            <a:chOff x="0" y="0"/>
            <a:chExt cx="6020079" cy="419049"/>
          </a:xfrm>
        </p:grpSpPr>
        <p:sp>
          <p:nvSpPr>
            <p:cNvPr name="Freeform 126" id="126"/>
            <p:cNvSpPr/>
            <p:nvPr/>
          </p:nvSpPr>
          <p:spPr>
            <a:xfrm flipH="false" flipV="false" rot="0">
              <a:off x="0" y="0"/>
              <a:ext cx="6020080" cy="419049"/>
            </a:xfrm>
            <a:custGeom>
              <a:avLst/>
              <a:gdLst/>
              <a:ahLst/>
              <a:cxnLst/>
              <a:rect r="r" b="b" t="t" l="l"/>
              <a:pathLst>
                <a:path h="419049" w="6020080">
                  <a:moveTo>
                    <a:pt x="0" y="0"/>
                  </a:moveTo>
                  <a:lnTo>
                    <a:pt x="6020080" y="0"/>
                  </a:lnTo>
                  <a:lnTo>
                    <a:pt x="6020080" y="419049"/>
                  </a:lnTo>
                  <a:lnTo>
                    <a:pt x="0" y="419049"/>
                  </a:lnTo>
                  <a:close/>
                </a:path>
              </a:pathLst>
            </a:custGeom>
            <a:blipFill>
              <a:blip r:embed="rId5">
                <a:alphaModFix amt="0"/>
              </a:blip>
              <a:stretch>
                <a:fillRect l="0" t="-229923" r="0" b="-229923"/>
              </a:stretch>
            </a:blipFill>
          </p:spPr>
        </p:sp>
        <p:sp>
          <p:nvSpPr>
            <p:cNvPr name="TextBox 127" id="127"/>
            <p:cNvSpPr txBox="true"/>
            <p:nvPr/>
          </p:nvSpPr>
          <p:spPr>
            <a:xfrm>
              <a:off x="0" y="-19050"/>
              <a:ext cx="6020079" cy="438099"/>
            </a:xfrm>
            <a:prstGeom prst="rect">
              <a:avLst/>
            </a:prstGeom>
          </p:spPr>
          <p:txBody>
            <a:bodyPr anchor="ctr" rtlCol="false" tIns="0" lIns="0" bIns="0" rIns="0"/>
            <a:lstStyle/>
            <a:p>
              <a:pPr algn="l">
                <a:lnSpc>
                  <a:spcPts val="1399"/>
                </a:lnSpc>
              </a:pPr>
              <a:r>
                <a:rPr lang="en-US" sz="1100">
                  <a:solidFill>
                    <a:srgbClr val="2A3B3F"/>
                  </a:solidFill>
                  <a:latin typeface="Poppins"/>
                  <a:ea typeface="Poppins"/>
                  <a:cs typeface="Poppins"/>
                  <a:sym typeface="Poppins"/>
                </a:rPr>
                <a:t>Initiate and manage conversations with candidates.</a:t>
              </a:r>
            </a:p>
          </p:txBody>
        </p:sp>
      </p:grpSp>
      <p:sp>
        <p:nvSpPr>
          <p:cNvPr name="Freeform 128" id="128"/>
          <p:cNvSpPr/>
          <p:nvPr/>
        </p:nvSpPr>
        <p:spPr>
          <a:xfrm flipH="false" flipV="false" rot="0">
            <a:off x="12125506" y="2268884"/>
            <a:ext cx="5487257" cy="6922199"/>
          </a:xfrm>
          <a:custGeom>
            <a:avLst/>
            <a:gdLst/>
            <a:ahLst/>
            <a:cxnLst/>
            <a:rect r="r" b="b" t="t" l="l"/>
            <a:pathLst>
              <a:path h="6922199" w="5487257">
                <a:moveTo>
                  <a:pt x="0" y="0"/>
                </a:moveTo>
                <a:lnTo>
                  <a:pt x="5487257" y="0"/>
                </a:lnTo>
                <a:lnTo>
                  <a:pt x="5487257" y="6922198"/>
                </a:lnTo>
                <a:lnTo>
                  <a:pt x="0" y="69221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9" id="129"/>
          <p:cNvGrpSpPr/>
          <p:nvPr/>
        </p:nvGrpSpPr>
        <p:grpSpPr>
          <a:xfrm rot="0">
            <a:off x="12136622" y="2279999"/>
            <a:ext cx="5465064" cy="82582"/>
            <a:chOff x="0" y="0"/>
            <a:chExt cx="7286752" cy="110109"/>
          </a:xfrm>
        </p:grpSpPr>
        <p:sp>
          <p:nvSpPr>
            <p:cNvPr name="Freeform 130" id="130"/>
            <p:cNvSpPr/>
            <p:nvPr/>
          </p:nvSpPr>
          <p:spPr>
            <a:xfrm flipH="false" flipV="false" rot="0">
              <a:off x="0" y="0"/>
              <a:ext cx="7286752" cy="110109"/>
            </a:xfrm>
            <a:custGeom>
              <a:avLst/>
              <a:gdLst/>
              <a:ahLst/>
              <a:cxnLst/>
              <a:rect r="r" b="b" t="t" l="l"/>
              <a:pathLst>
                <a:path h="110109" w="7286752">
                  <a:moveTo>
                    <a:pt x="27559" y="0"/>
                  </a:moveTo>
                  <a:lnTo>
                    <a:pt x="7259193" y="0"/>
                  </a:lnTo>
                  <a:cubicBezTo>
                    <a:pt x="7274433" y="0"/>
                    <a:pt x="7286752" y="12319"/>
                    <a:pt x="7286752" y="27559"/>
                  </a:cubicBezTo>
                  <a:lnTo>
                    <a:pt x="7286752" y="82550"/>
                  </a:lnTo>
                  <a:cubicBezTo>
                    <a:pt x="7286752" y="97790"/>
                    <a:pt x="7274433" y="110109"/>
                    <a:pt x="7259193" y="110109"/>
                  </a:cubicBezTo>
                  <a:lnTo>
                    <a:pt x="27559" y="110109"/>
                  </a:lnTo>
                  <a:cubicBezTo>
                    <a:pt x="12319" y="110109"/>
                    <a:pt x="0" y="97790"/>
                    <a:pt x="0" y="82550"/>
                  </a:cubicBezTo>
                  <a:lnTo>
                    <a:pt x="0" y="27559"/>
                  </a:lnTo>
                  <a:cubicBezTo>
                    <a:pt x="0" y="12319"/>
                    <a:pt x="12319" y="0"/>
                    <a:pt x="27559" y="0"/>
                  </a:cubicBezTo>
                  <a:close/>
                </a:path>
              </a:pathLst>
            </a:custGeom>
            <a:solidFill>
              <a:srgbClr val="2A3B3F"/>
            </a:solidFill>
          </p:spPr>
        </p:sp>
      </p:grpSp>
      <p:grpSp>
        <p:nvGrpSpPr>
          <p:cNvPr name="Group 131" id="131"/>
          <p:cNvGrpSpPr/>
          <p:nvPr/>
        </p:nvGrpSpPr>
        <p:grpSpPr>
          <a:xfrm rot="0">
            <a:off x="12386615" y="2550004"/>
            <a:ext cx="480060" cy="480060"/>
            <a:chOff x="0" y="0"/>
            <a:chExt cx="640080" cy="640080"/>
          </a:xfrm>
        </p:grpSpPr>
        <p:sp>
          <p:nvSpPr>
            <p:cNvPr name="Freeform 132" id="132"/>
            <p:cNvSpPr/>
            <p:nvPr/>
          </p:nvSpPr>
          <p:spPr>
            <a:xfrm flipH="false" flipV="false" rot="0">
              <a:off x="0" y="0"/>
              <a:ext cx="640080" cy="640080"/>
            </a:xfrm>
            <a:custGeom>
              <a:avLst/>
              <a:gdLst/>
              <a:ahLst/>
              <a:cxnLst/>
              <a:rect r="r" b="b" t="t" l="l"/>
              <a:pathLst>
                <a:path h="640080" w="640080">
                  <a:moveTo>
                    <a:pt x="0" y="320040"/>
                  </a:moveTo>
                  <a:cubicBezTo>
                    <a:pt x="0" y="143256"/>
                    <a:pt x="143256" y="0"/>
                    <a:pt x="320040" y="0"/>
                  </a:cubicBezTo>
                  <a:cubicBezTo>
                    <a:pt x="496824" y="0"/>
                    <a:pt x="640080" y="143256"/>
                    <a:pt x="640080" y="320040"/>
                  </a:cubicBezTo>
                  <a:cubicBezTo>
                    <a:pt x="640080" y="496824"/>
                    <a:pt x="496824" y="640080"/>
                    <a:pt x="320040" y="640080"/>
                  </a:cubicBezTo>
                  <a:cubicBezTo>
                    <a:pt x="143256" y="640080"/>
                    <a:pt x="0" y="496697"/>
                    <a:pt x="0" y="320040"/>
                  </a:cubicBezTo>
                  <a:close/>
                </a:path>
              </a:pathLst>
            </a:custGeom>
            <a:solidFill>
              <a:srgbClr val="2A3B3F"/>
            </a:solidFill>
          </p:spPr>
        </p:sp>
      </p:grpSp>
      <p:grpSp>
        <p:nvGrpSpPr>
          <p:cNvPr name="Group 133" id="133"/>
          <p:cNvGrpSpPr/>
          <p:nvPr/>
        </p:nvGrpSpPr>
        <p:grpSpPr>
          <a:xfrm rot="0">
            <a:off x="12501820" y="2665200"/>
            <a:ext cx="249555" cy="249555"/>
            <a:chOff x="0" y="0"/>
            <a:chExt cx="332740" cy="332740"/>
          </a:xfrm>
        </p:grpSpPr>
        <p:sp>
          <p:nvSpPr>
            <p:cNvPr name="Freeform 134" id="134"/>
            <p:cNvSpPr/>
            <p:nvPr/>
          </p:nvSpPr>
          <p:spPr>
            <a:xfrm flipH="false" flipV="false" rot="0">
              <a:off x="0" y="0"/>
              <a:ext cx="332740" cy="332740"/>
            </a:xfrm>
            <a:custGeom>
              <a:avLst/>
              <a:gdLst/>
              <a:ahLst/>
              <a:cxnLst/>
              <a:rect r="r" b="b" t="t" l="l"/>
              <a:pathLst>
                <a:path h="332740" w="332740">
                  <a:moveTo>
                    <a:pt x="0" y="0"/>
                  </a:moveTo>
                  <a:lnTo>
                    <a:pt x="332740" y="0"/>
                  </a:lnTo>
                  <a:lnTo>
                    <a:pt x="332740" y="332740"/>
                  </a:lnTo>
                  <a:lnTo>
                    <a:pt x="0" y="332740"/>
                  </a:lnTo>
                  <a:lnTo>
                    <a:pt x="0" y="0"/>
                  </a:lnTo>
                  <a:close/>
                </a:path>
              </a:pathLst>
            </a:custGeom>
            <a:blipFill>
              <a:blip r:embed="rId22"/>
              <a:stretch>
                <a:fillRect l="0" t="0" r="0" b="0"/>
              </a:stretch>
            </a:blipFill>
          </p:spPr>
        </p:sp>
      </p:grpSp>
      <p:grpSp>
        <p:nvGrpSpPr>
          <p:cNvPr name="Group 135" id="135"/>
          <p:cNvGrpSpPr/>
          <p:nvPr/>
        </p:nvGrpSpPr>
        <p:grpSpPr>
          <a:xfrm rot="0">
            <a:off x="13016617" y="2550004"/>
            <a:ext cx="4335056" cy="330003"/>
            <a:chOff x="0" y="0"/>
            <a:chExt cx="5780075" cy="440004"/>
          </a:xfrm>
        </p:grpSpPr>
        <p:sp>
          <p:nvSpPr>
            <p:cNvPr name="Freeform 136" id="136"/>
            <p:cNvSpPr/>
            <p:nvPr/>
          </p:nvSpPr>
          <p:spPr>
            <a:xfrm flipH="false" flipV="false" rot="0">
              <a:off x="0" y="0"/>
              <a:ext cx="5780024" cy="440055"/>
            </a:xfrm>
            <a:custGeom>
              <a:avLst/>
              <a:gdLst/>
              <a:ahLst/>
              <a:cxnLst/>
              <a:rect r="r" b="b" t="t" l="l"/>
              <a:pathLst>
                <a:path h="440055" w="5780024">
                  <a:moveTo>
                    <a:pt x="0" y="0"/>
                  </a:moveTo>
                  <a:lnTo>
                    <a:pt x="5780024" y="0"/>
                  </a:lnTo>
                  <a:lnTo>
                    <a:pt x="5780024" y="440055"/>
                  </a:lnTo>
                  <a:lnTo>
                    <a:pt x="0" y="440055"/>
                  </a:lnTo>
                  <a:close/>
                </a:path>
              </a:pathLst>
            </a:custGeom>
            <a:blipFill>
              <a:blip r:embed="rId4">
                <a:alphaModFix amt="0"/>
              </a:blip>
              <a:stretch>
                <a:fillRect l="0" t="-205763" r="0" b="-205748"/>
              </a:stretch>
            </a:blipFill>
          </p:spPr>
        </p:sp>
      </p:grpSp>
      <p:grpSp>
        <p:nvGrpSpPr>
          <p:cNvPr name="Group 137" id="137"/>
          <p:cNvGrpSpPr/>
          <p:nvPr/>
        </p:nvGrpSpPr>
        <p:grpSpPr>
          <a:xfrm rot="0">
            <a:off x="13016617" y="2528573"/>
            <a:ext cx="4335056" cy="351434"/>
            <a:chOff x="0" y="0"/>
            <a:chExt cx="5780075" cy="468579"/>
          </a:xfrm>
        </p:grpSpPr>
        <p:sp>
          <p:nvSpPr>
            <p:cNvPr name="Freeform 138" id="138"/>
            <p:cNvSpPr/>
            <p:nvPr/>
          </p:nvSpPr>
          <p:spPr>
            <a:xfrm flipH="false" flipV="false" rot="0">
              <a:off x="0" y="0"/>
              <a:ext cx="5780075" cy="468579"/>
            </a:xfrm>
            <a:custGeom>
              <a:avLst/>
              <a:gdLst/>
              <a:ahLst/>
              <a:cxnLst/>
              <a:rect r="r" b="b" t="t" l="l"/>
              <a:pathLst>
                <a:path h="468579" w="5780075">
                  <a:moveTo>
                    <a:pt x="0" y="0"/>
                  </a:moveTo>
                  <a:lnTo>
                    <a:pt x="5780075" y="0"/>
                  </a:lnTo>
                  <a:lnTo>
                    <a:pt x="5780075" y="468579"/>
                  </a:lnTo>
                  <a:lnTo>
                    <a:pt x="0" y="468579"/>
                  </a:lnTo>
                  <a:close/>
                </a:path>
              </a:pathLst>
            </a:custGeom>
            <a:blipFill>
              <a:blip r:embed="rId5">
                <a:alphaModFix amt="0"/>
              </a:blip>
              <a:stretch>
                <a:fillRect l="0" t="-190354" r="0" b="-190354"/>
              </a:stretch>
            </a:blipFill>
          </p:spPr>
        </p:sp>
        <p:sp>
          <p:nvSpPr>
            <p:cNvPr name="TextBox 139" id="139"/>
            <p:cNvSpPr txBox="true"/>
            <p:nvPr/>
          </p:nvSpPr>
          <p:spPr>
            <a:xfrm>
              <a:off x="0" y="-28575"/>
              <a:ext cx="5780075" cy="497154"/>
            </a:xfrm>
            <a:prstGeom prst="rect">
              <a:avLst/>
            </a:prstGeom>
          </p:spPr>
          <p:txBody>
            <a:bodyPr anchor="ctr" rtlCol="false" tIns="0" lIns="0" bIns="0" rIns="0"/>
            <a:lstStyle/>
            <a:p>
              <a:pPr algn="l">
                <a:lnSpc>
                  <a:spcPts val="2040"/>
                </a:lnSpc>
              </a:pPr>
              <a:r>
                <a:rPr lang="en-US" sz="1700" b="true">
                  <a:solidFill>
                    <a:srgbClr val="2A3B3F"/>
                  </a:solidFill>
                  <a:latin typeface="Poppins Bold"/>
                  <a:ea typeface="Poppins Bold"/>
                  <a:cs typeface="Poppins Bold"/>
                  <a:sym typeface="Poppins Bold"/>
                </a:rPr>
                <a:t>Candidate</a:t>
              </a:r>
            </a:p>
          </p:txBody>
        </p:sp>
      </p:grpSp>
      <p:sp>
        <p:nvSpPr>
          <p:cNvPr name="AutoShape 140" id="140"/>
          <p:cNvSpPr/>
          <p:nvPr/>
        </p:nvSpPr>
        <p:spPr>
          <a:xfrm rot="89940">
            <a:off x="12992395" y="2880951"/>
            <a:ext cx="728453" cy="0"/>
          </a:xfrm>
          <a:prstGeom prst="line">
            <a:avLst/>
          </a:prstGeom>
          <a:ln cap="rnd" w="19050">
            <a:solidFill>
              <a:srgbClr val="2A3B3F"/>
            </a:solidFill>
            <a:prstDash val="solid"/>
            <a:headEnd type="none" len="sm" w="sm"/>
            <a:tailEnd type="none" len="sm" w="sm"/>
          </a:ln>
        </p:spPr>
      </p:sp>
      <p:grpSp>
        <p:nvGrpSpPr>
          <p:cNvPr name="Group 141" id="141"/>
          <p:cNvGrpSpPr/>
          <p:nvPr/>
        </p:nvGrpSpPr>
        <p:grpSpPr>
          <a:xfrm rot="0">
            <a:off x="12386615" y="3290002"/>
            <a:ext cx="270034" cy="270034"/>
            <a:chOff x="0" y="0"/>
            <a:chExt cx="360045" cy="360045"/>
          </a:xfrm>
        </p:grpSpPr>
        <p:sp>
          <p:nvSpPr>
            <p:cNvPr name="Freeform 142" id="142"/>
            <p:cNvSpPr/>
            <p:nvPr/>
          </p:nvSpPr>
          <p:spPr>
            <a:xfrm flipH="false" flipV="false" rot="0">
              <a:off x="0" y="0"/>
              <a:ext cx="360045" cy="360045"/>
            </a:xfrm>
            <a:custGeom>
              <a:avLst/>
              <a:gdLst/>
              <a:ahLst/>
              <a:cxnLst/>
              <a:rect r="r" b="b" t="t" l="l"/>
              <a:pathLst>
                <a:path h="360045" w="360045">
                  <a:moveTo>
                    <a:pt x="0" y="0"/>
                  </a:moveTo>
                  <a:lnTo>
                    <a:pt x="360045" y="0"/>
                  </a:lnTo>
                  <a:lnTo>
                    <a:pt x="360045" y="360045"/>
                  </a:lnTo>
                  <a:lnTo>
                    <a:pt x="0" y="360045"/>
                  </a:lnTo>
                  <a:lnTo>
                    <a:pt x="0" y="0"/>
                  </a:lnTo>
                  <a:close/>
                </a:path>
              </a:pathLst>
            </a:custGeom>
            <a:blipFill>
              <a:blip r:embed="rId23"/>
              <a:stretch>
                <a:fillRect l="0" t="0" r="0" b="0"/>
              </a:stretch>
            </a:blipFill>
          </p:spPr>
        </p:sp>
      </p:grpSp>
      <p:grpSp>
        <p:nvGrpSpPr>
          <p:cNvPr name="Group 143" id="143"/>
          <p:cNvGrpSpPr/>
          <p:nvPr/>
        </p:nvGrpSpPr>
        <p:grpSpPr>
          <a:xfrm rot="0">
            <a:off x="12806620" y="3290002"/>
            <a:ext cx="4545054" cy="270005"/>
            <a:chOff x="0" y="0"/>
            <a:chExt cx="6060072" cy="360007"/>
          </a:xfrm>
        </p:grpSpPr>
        <p:sp>
          <p:nvSpPr>
            <p:cNvPr name="Freeform 144" id="144"/>
            <p:cNvSpPr/>
            <p:nvPr/>
          </p:nvSpPr>
          <p:spPr>
            <a:xfrm flipH="false" flipV="false" rot="0">
              <a:off x="0" y="0"/>
              <a:ext cx="6060059" cy="360045"/>
            </a:xfrm>
            <a:custGeom>
              <a:avLst/>
              <a:gdLst/>
              <a:ahLst/>
              <a:cxnLst/>
              <a:rect r="r" b="b" t="t" l="l"/>
              <a:pathLst>
                <a:path h="360045" w="6060059">
                  <a:moveTo>
                    <a:pt x="0" y="0"/>
                  </a:moveTo>
                  <a:lnTo>
                    <a:pt x="6060059" y="0"/>
                  </a:lnTo>
                  <a:lnTo>
                    <a:pt x="6060059" y="360045"/>
                  </a:lnTo>
                  <a:lnTo>
                    <a:pt x="0" y="360045"/>
                  </a:lnTo>
                  <a:close/>
                </a:path>
              </a:pathLst>
            </a:custGeom>
            <a:blipFill>
              <a:blip r:embed="rId4">
                <a:alphaModFix amt="0"/>
              </a:blip>
              <a:stretch>
                <a:fillRect l="0" t="-277738" r="0" b="-277728"/>
              </a:stretch>
            </a:blipFill>
          </p:spPr>
        </p:sp>
      </p:grpSp>
      <p:grpSp>
        <p:nvGrpSpPr>
          <p:cNvPr name="Group 145" id="145"/>
          <p:cNvGrpSpPr/>
          <p:nvPr/>
        </p:nvGrpSpPr>
        <p:grpSpPr>
          <a:xfrm rot="0">
            <a:off x="12806620" y="3282858"/>
            <a:ext cx="4545054" cy="277139"/>
            <a:chOff x="0" y="0"/>
            <a:chExt cx="6060072" cy="369519"/>
          </a:xfrm>
        </p:grpSpPr>
        <p:sp>
          <p:nvSpPr>
            <p:cNvPr name="Freeform 146" id="146"/>
            <p:cNvSpPr/>
            <p:nvPr/>
          </p:nvSpPr>
          <p:spPr>
            <a:xfrm flipH="false" flipV="false" rot="0">
              <a:off x="0" y="0"/>
              <a:ext cx="6060072" cy="369520"/>
            </a:xfrm>
            <a:custGeom>
              <a:avLst/>
              <a:gdLst/>
              <a:ahLst/>
              <a:cxnLst/>
              <a:rect r="r" b="b" t="t" l="l"/>
              <a:pathLst>
                <a:path h="369520" w="6060072">
                  <a:moveTo>
                    <a:pt x="0" y="0"/>
                  </a:moveTo>
                  <a:lnTo>
                    <a:pt x="6060072" y="0"/>
                  </a:lnTo>
                  <a:lnTo>
                    <a:pt x="6060072" y="369520"/>
                  </a:lnTo>
                  <a:lnTo>
                    <a:pt x="0" y="369520"/>
                  </a:lnTo>
                  <a:close/>
                </a:path>
              </a:pathLst>
            </a:custGeom>
            <a:blipFill>
              <a:blip r:embed="rId5">
                <a:alphaModFix amt="0"/>
              </a:blip>
              <a:stretch>
                <a:fillRect l="0" t="-269551" r="0" b="-269551"/>
              </a:stretch>
            </a:blipFill>
          </p:spPr>
        </p:sp>
        <p:sp>
          <p:nvSpPr>
            <p:cNvPr name="TextBox 147" id="147"/>
            <p:cNvSpPr txBox="true"/>
            <p:nvPr/>
          </p:nvSpPr>
          <p:spPr>
            <a:xfrm>
              <a:off x="0" y="-9525"/>
              <a:ext cx="6060072" cy="379044"/>
            </a:xfrm>
            <a:prstGeom prst="rect">
              <a:avLst/>
            </a:prstGeom>
          </p:spPr>
          <p:txBody>
            <a:bodyPr anchor="ctr" rtlCol="false" tIns="0" lIns="0" bIns="0" rIns="0"/>
            <a:lstStyle/>
            <a:p>
              <a:pPr algn="l">
                <a:lnSpc>
                  <a:spcPts val="1246"/>
                </a:lnSpc>
              </a:pPr>
              <a:r>
                <a:rPr lang="en-US" sz="980">
                  <a:solidFill>
                    <a:srgbClr val="2A3B3F"/>
                  </a:solidFill>
                  <a:latin typeface="Poppins"/>
                  <a:ea typeface="Poppins"/>
                  <a:cs typeface="Poppins"/>
                  <a:sym typeface="Poppins"/>
                </a:rPr>
                <a:t>Account creation and secure authentication (email/SSO).</a:t>
              </a:r>
            </a:p>
          </p:txBody>
        </p:sp>
      </p:grpSp>
      <p:grpSp>
        <p:nvGrpSpPr>
          <p:cNvPr name="Group 148" id="148"/>
          <p:cNvGrpSpPr/>
          <p:nvPr/>
        </p:nvGrpSpPr>
        <p:grpSpPr>
          <a:xfrm rot="0">
            <a:off x="12386615" y="3820001"/>
            <a:ext cx="270034" cy="270034"/>
            <a:chOff x="0" y="0"/>
            <a:chExt cx="360045" cy="360045"/>
          </a:xfrm>
        </p:grpSpPr>
        <p:sp>
          <p:nvSpPr>
            <p:cNvPr name="Freeform 149" id="149"/>
            <p:cNvSpPr/>
            <p:nvPr/>
          </p:nvSpPr>
          <p:spPr>
            <a:xfrm flipH="false" flipV="false" rot="0">
              <a:off x="0" y="0"/>
              <a:ext cx="360045" cy="360045"/>
            </a:xfrm>
            <a:custGeom>
              <a:avLst/>
              <a:gdLst/>
              <a:ahLst/>
              <a:cxnLst/>
              <a:rect r="r" b="b" t="t" l="l"/>
              <a:pathLst>
                <a:path h="360045" w="360045">
                  <a:moveTo>
                    <a:pt x="0" y="0"/>
                  </a:moveTo>
                  <a:lnTo>
                    <a:pt x="360045" y="0"/>
                  </a:lnTo>
                  <a:lnTo>
                    <a:pt x="360045" y="360045"/>
                  </a:lnTo>
                  <a:lnTo>
                    <a:pt x="0" y="360045"/>
                  </a:lnTo>
                  <a:lnTo>
                    <a:pt x="0" y="0"/>
                  </a:lnTo>
                  <a:close/>
                </a:path>
              </a:pathLst>
            </a:custGeom>
            <a:blipFill>
              <a:blip r:embed="rId24"/>
              <a:stretch>
                <a:fillRect l="0" t="0" r="0" b="0"/>
              </a:stretch>
            </a:blipFill>
          </p:spPr>
        </p:sp>
      </p:grpSp>
      <p:grpSp>
        <p:nvGrpSpPr>
          <p:cNvPr name="Group 150" id="150"/>
          <p:cNvGrpSpPr/>
          <p:nvPr/>
        </p:nvGrpSpPr>
        <p:grpSpPr>
          <a:xfrm rot="0">
            <a:off x="12806620" y="3820001"/>
            <a:ext cx="4545054" cy="270005"/>
            <a:chOff x="0" y="0"/>
            <a:chExt cx="6060072" cy="360007"/>
          </a:xfrm>
        </p:grpSpPr>
        <p:sp>
          <p:nvSpPr>
            <p:cNvPr name="Freeform 151" id="151"/>
            <p:cNvSpPr/>
            <p:nvPr/>
          </p:nvSpPr>
          <p:spPr>
            <a:xfrm flipH="false" flipV="false" rot="0">
              <a:off x="0" y="0"/>
              <a:ext cx="6060059" cy="360045"/>
            </a:xfrm>
            <a:custGeom>
              <a:avLst/>
              <a:gdLst/>
              <a:ahLst/>
              <a:cxnLst/>
              <a:rect r="r" b="b" t="t" l="l"/>
              <a:pathLst>
                <a:path h="360045" w="6060059">
                  <a:moveTo>
                    <a:pt x="0" y="0"/>
                  </a:moveTo>
                  <a:lnTo>
                    <a:pt x="6060059" y="0"/>
                  </a:lnTo>
                  <a:lnTo>
                    <a:pt x="6060059" y="360045"/>
                  </a:lnTo>
                  <a:lnTo>
                    <a:pt x="0" y="360045"/>
                  </a:lnTo>
                  <a:close/>
                </a:path>
              </a:pathLst>
            </a:custGeom>
            <a:blipFill>
              <a:blip r:embed="rId4">
                <a:alphaModFix amt="0"/>
              </a:blip>
              <a:stretch>
                <a:fillRect l="0" t="-277738" r="0" b="-277728"/>
              </a:stretch>
            </a:blipFill>
          </p:spPr>
        </p:sp>
      </p:grpSp>
      <p:grpSp>
        <p:nvGrpSpPr>
          <p:cNvPr name="Group 152" id="152"/>
          <p:cNvGrpSpPr/>
          <p:nvPr/>
        </p:nvGrpSpPr>
        <p:grpSpPr>
          <a:xfrm rot="0">
            <a:off x="12806620" y="3812858"/>
            <a:ext cx="4545054" cy="277139"/>
            <a:chOff x="0" y="0"/>
            <a:chExt cx="6060072" cy="369519"/>
          </a:xfrm>
        </p:grpSpPr>
        <p:sp>
          <p:nvSpPr>
            <p:cNvPr name="Freeform 153" id="153"/>
            <p:cNvSpPr/>
            <p:nvPr/>
          </p:nvSpPr>
          <p:spPr>
            <a:xfrm flipH="false" flipV="false" rot="0">
              <a:off x="0" y="0"/>
              <a:ext cx="6060072" cy="369520"/>
            </a:xfrm>
            <a:custGeom>
              <a:avLst/>
              <a:gdLst/>
              <a:ahLst/>
              <a:cxnLst/>
              <a:rect r="r" b="b" t="t" l="l"/>
              <a:pathLst>
                <a:path h="369520" w="6060072">
                  <a:moveTo>
                    <a:pt x="0" y="0"/>
                  </a:moveTo>
                  <a:lnTo>
                    <a:pt x="6060072" y="0"/>
                  </a:lnTo>
                  <a:lnTo>
                    <a:pt x="6060072" y="369520"/>
                  </a:lnTo>
                  <a:lnTo>
                    <a:pt x="0" y="369520"/>
                  </a:lnTo>
                  <a:close/>
                </a:path>
              </a:pathLst>
            </a:custGeom>
            <a:blipFill>
              <a:blip r:embed="rId5">
                <a:alphaModFix amt="0"/>
              </a:blip>
              <a:stretch>
                <a:fillRect l="0" t="-269551" r="0" b="-269551"/>
              </a:stretch>
            </a:blipFill>
          </p:spPr>
        </p:sp>
        <p:sp>
          <p:nvSpPr>
            <p:cNvPr name="TextBox 154" id="154"/>
            <p:cNvSpPr txBox="true"/>
            <p:nvPr/>
          </p:nvSpPr>
          <p:spPr>
            <a:xfrm>
              <a:off x="0" y="-9525"/>
              <a:ext cx="6060072" cy="379044"/>
            </a:xfrm>
            <a:prstGeom prst="rect">
              <a:avLst/>
            </a:prstGeom>
          </p:spPr>
          <p:txBody>
            <a:bodyPr anchor="ctr" rtlCol="false" tIns="0" lIns="0" bIns="0" rIns="0"/>
            <a:lstStyle/>
            <a:p>
              <a:pPr algn="l">
                <a:lnSpc>
                  <a:spcPts val="1246"/>
                </a:lnSpc>
              </a:pPr>
              <a:r>
                <a:rPr lang="en-US" sz="980">
                  <a:solidFill>
                    <a:srgbClr val="2A3B3F"/>
                  </a:solidFill>
                  <a:latin typeface="Poppins"/>
                  <a:ea typeface="Poppins"/>
                  <a:cs typeface="Poppins"/>
                  <a:sym typeface="Poppins"/>
                </a:rPr>
                <a:t>CV upload in PDF format.</a:t>
              </a:r>
            </a:p>
          </p:txBody>
        </p:sp>
      </p:grpSp>
      <p:grpSp>
        <p:nvGrpSpPr>
          <p:cNvPr name="Group 155" id="155"/>
          <p:cNvGrpSpPr/>
          <p:nvPr/>
        </p:nvGrpSpPr>
        <p:grpSpPr>
          <a:xfrm rot="0">
            <a:off x="12386615" y="4350001"/>
            <a:ext cx="270034" cy="270034"/>
            <a:chOff x="0" y="0"/>
            <a:chExt cx="360045" cy="360045"/>
          </a:xfrm>
        </p:grpSpPr>
        <p:sp>
          <p:nvSpPr>
            <p:cNvPr name="Freeform 156" id="156"/>
            <p:cNvSpPr/>
            <p:nvPr/>
          </p:nvSpPr>
          <p:spPr>
            <a:xfrm flipH="false" flipV="false" rot="0">
              <a:off x="0" y="0"/>
              <a:ext cx="360045" cy="360045"/>
            </a:xfrm>
            <a:custGeom>
              <a:avLst/>
              <a:gdLst/>
              <a:ahLst/>
              <a:cxnLst/>
              <a:rect r="r" b="b" t="t" l="l"/>
              <a:pathLst>
                <a:path h="360045" w="360045">
                  <a:moveTo>
                    <a:pt x="0" y="0"/>
                  </a:moveTo>
                  <a:lnTo>
                    <a:pt x="360045" y="0"/>
                  </a:lnTo>
                  <a:lnTo>
                    <a:pt x="360045" y="360045"/>
                  </a:lnTo>
                  <a:lnTo>
                    <a:pt x="0" y="360045"/>
                  </a:lnTo>
                  <a:lnTo>
                    <a:pt x="0" y="0"/>
                  </a:lnTo>
                  <a:close/>
                </a:path>
              </a:pathLst>
            </a:custGeom>
            <a:blipFill>
              <a:blip r:embed="rId25"/>
              <a:stretch>
                <a:fillRect l="0" t="0" r="0" b="0"/>
              </a:stretch>
            </a:blipFill>
          </p:spPr>
        </p:sp>
      </p:grpSp>
      <p:grpSp>
        <p:nvGrpSpPr>
          <p:cNvPr name="Group 157" id="157"/>
          <p:cNvGrpSpPr/>
          <p:nvPr/>
        </p:nvGrpSpPr>
        <p:grpSpPr>
          <a:xfrm rot="0">
            <a:off x="12806620" y="4350001"/>
            <a:ext cx="4545054" cy="270005"/>
            <a:chOff x="0" y="0"/>
            <a:chExt cx="6060072" cy="360007"/>
          </a:xfrm>
        </p:grpSpPr>
        <p:sp>
          <p:nvSpPr>
            <p:cNvPr name="Freeform 158" id="158"/>
            <p:cNvSpPr/>
            <p:nvPr/>
          </p:nvSpPr>
          <p:spPr>
            <a:xfrm flipH="false" flipV="false" rot="0">
              <a:off x="0" y="0"/>
              <a:ext cx="6060059" cy="360045"/>
            </a:xfrm>
            <a:custGeom>
              <a:avLst/>
              <a:gdLst/>
              <a:ahLst/>
              <a:cxnLst/>
              <a:rect r="r" b="b" t="t" l="l"/>
              <a:pathLst>
                <a:path h="360045" w="6060059">
                  <a:moveTo>
                    <a:pt x="0" y="0"/>
                  </a:moveTo>
                  <a:lnTo>
                    <a:pt x="6060059" y="0"/>
                  </a:lnTo>
                  <a:lnTo>
                    <a:pt x="6060059" y="360045"/>
                  </a:lnTo>
                  <a:lnTo>
                    <a:pt x="0" y="360045"/>
                  </a:lnTo>
                  <a:close/>
                </a:path>
              </a:pathLst>
            </a:custGeom>
            <a:blipFill>
              <a:blip r:embed="rId4">
                <a:alphaModFix amt="0"/>
              </a:blip>
              <a:stretch>
                <a:fillRect l="0" t="-277738" r="0" b="-277728"/>
              </a:stretch>
            </a:blipFill>
          </p:spPr>
        </p:sp>
      </p:grpSp>
      <p:grpSp>
        <p:nvGrpSpPr>
          <p:cNvPr name="Group 159" id="159"/>
          <p:cNvGrpSpPr/>
          <p:nvPr/>
        </p:nvGrpSpPr>
        <p:grpSpPr>
          <a:xfrm rot="0">
            <a:off x="12806620" y="4342857"/>
            <a:ext cx="4545054" cy="277139"/>
            <a:chOff x="0" y="0"/>
            <a:chExt cx="6060072" cy="369519"/>
          </a:xfrm>
        </p:grpSpPr>
        <p:sp>
          <p:nvSpPr>
            <p:cNvPr name="Freeform 160" id="160"/>
            <p:cNvSpPr/>
            <p:nvPr/>
          </p:nvSpPr>
          <p:spPr>
            <a:xfrm flipH="false" flipV="false" rot="0">
              <a:off x="0" y="0"/>
              <a:ext cx="6060072" cy="369520"/>
            </a:xfrm>
            <a:custGeom>
              <a:avLst/>
              <a:gdLst/>
              <a:ahLst/>
              <a:cxnLst/>
              <a:rect r="r" b="b" t="t" l="l"/>
              <a:pathLst>
                <a:path h="369520" w="6060072">
                  <a:moveTo>
                    <a:pt x="0" y="0"/>
                  </a:moveTo>
                  <a:lnTo>
                    <a:pt x="6060072" y="0"/>
                  </a:lnTo>
                  <a:lnTo>
                    <a:pt x="6060072" y="369520"/>
                  </a:lnTo>
                  <a:lnTo>
                    <a:pt x="0" y="369520"/>
                  </a:lnTo>
                  <a:close/>
                </a:path>
              </a:pathLst>
            </a:custGeom>
            <a:blipFill>
              <a:blip r:embed="rId5">
                <a:alphaModFix amt="0"/>
              </a:blip>
              <a:stretch>
                <a:fillRect l="0" t="-269551" r="0" b="-269551"/>
              </a:stretch>
            </a:blipFill>
          </p:spPr>
        </p:sp>
        <p:sp>
          <p:nvSpPr>
            <p:cNvPr name="TextBox 161" id="161"/>
            <p:cNvSpPr txBox="true"/>
            <p:nvPr/>
          </p:nvSpPr>
          <p:spPr>
            <a:xfrm>
              <a:off x="0" y="-9525"/>
              <a:ext cx="6060072" cy="379044"/>
            </a:xfrm>
            <a:prstGeom prst="rect">
              <a:avLst/>
            </a:prstGeom>
          </p:spPr>
          <p:txBody>
            <a:bodyPr anchor="ctr" rtlCol="false" tIns="0" lIns="0" bIns="0" rIns="0"/>
            <a:lstStyle/>
            <a:p>
              <a:pPr algn="l">
                <a:lnSpc>
                  <a:spcPts val="1246"/>
                </a:lnSpc>
              </a:pPr>
              <a:r>
                <a:rPr lang="en-US" sz="980">
                  <a:solidFill>
                    <a:srgbClr val="2A3B3F"/>
                  </a:solidFill>
                  <a:latin typeface="Poppins"/>
                  <a:ea typeface="Poppins"/>
                  <a:cs typeface="Poppins"/>
                  <a:sym typeface="Poppins"/>
                </a:rPr>
                <a:t>Automated CV processing and skill extraction.</a:t>
              </a:r>
            </a:p>
          </p:txBody>
        </p:sp>
      </p:grpSp>
      <p:grpSp>
        <p:nvGrpSpPr>
          <p:cNvPr name="Group 162" id="162"/>
          <p:cNvGrpSpPr/>
          <p:nvPr/>
        </p:nvGrpSpPr>
        <p:grpSpPr>
          <a:xfrm rot="0">
            <a:off x="12386615" y="4880000"/>
            <a:ext cx="270034" cy="270034"/>
            <a:chOff x="0" y="0"/>
            <a:chExt cx="360045" cy="360045"/>
          </a:xfrm>
        </p:grpSpPr>
        <p:sp>
          <p:nvSpPr>
            <p:cNvPr name="Freeform 163" id="163"/>
            <p:cNvSpPr/>
            <p:nvPr/>
          </p:nvSpPr>
          <p:spPr>
            <a:xfrm flipH="false" flipV="false" rot="0">
              <a:off x="0" y="0"/>
              <a:ext cx="360045" cy="360045"/>
            </a:xfrm>
            <a:custGeom>
              <a:avLst/>
              <a:gdLst/>
              <a:ahLst/>
              <a:cxnLst/>
              <a:rect r="r" b="b" t="t" l="l"/>
              <a:pathLst>
                <a:path h="360045" w="360045">
                  <a:moveTo>
                    <a:pt x="0" y="0"/>
                  </a:moveTo>
                  <a:lnTo>
                    <a:pt x="360045" y="0"/>
                  </a:lnTo>
                  <a:lnTo>
                    <a:pt x="360045" y="360045"/>
                  </a:lnTo>
                  <a:lnTo>
                    <a:pt x="0" y="360045"/>
                  </a:lnTo>
                  <a:lnTo>
                    <a:pt x="0" y="0"/>
                  </a:lnTo>
                  <a:close/>
                </a:path>
              </a:pathLst>
            </a:custGeom>
            <a:blipFill>
              <a:blip r:embed="rId26"/>
              <a:stretch>
                <a:fillRect l="0" t="0" r="0" b="0"/>
              </a:stretch>
            </a:blipFill>
          </p:spPr>
        </p:sp>
      </p:grpSp>
      <p:grpSp>
        <p:nvGrpSpPr>
          <p:cNvPr name="Group 164" id="164"/>
          <p:cNvGrpSpPr/>
          <p:nvPr/>
        </p:nvGrpSpPr>
        <p:grpSpPr>
          <a:xfrm rot="0">
            <a:off x="12806620" y="4880000"/>
            <a:ext cx="4545054" cy="270005"/>
            <a:chOff x="0" y="0"/>
            <a:chExt cx="6060072" cy="360007"/>
          </a:xfrm>
        </p:grpSpPr>
        <p:sp>
          <p:nvSpPr>
            <p:cNvPr name="Freeform 165" id="165"/>
            <p:cNvSpPr/>
            <p:nvPr/>
          </p:nvSpPr>
          <p:spPr>
            <a:xfrm flipH="false" flipV="false" rot="0">
              <a:off x="0" y="0"/>
              <a:ext cx="6060059" cy="360045"/>
            </a:xfrm>
            <a:custGeom>
              <a:avLst/>
              <a:gdLst/>
              <a:ahLst/>
              <a:cxnLst/>
              <a:rect r="r" b="b" t="t" l="l"/>
              <a:pathLst>
                <a:path h="360045" w="6060059">
                  <a:moveTo>
                    <a:pt x="0" y="0"/>
                  </a:moveTo>
                  <a:lnTo>
                    <a:pt x="6060059" y="0"/>
                  </a:lnTo>
                  <a:lnTo>
                    <a:pt x="6060059" y="360045"/>
                  </a:lnTo>
                  <a:lnTo>
                    <a:pt x="0" y="360045"/>
                  </a:lnTo>
                  <a:close/>
                </a:path>
              </a:pathLst>
            </a:custGeom>
            <a:blipFill>
              <a:blip r:embed="rId4">
                <a:alphaModFix amt="0"/>
              </a:blip>
              <a:stretch>
                <a:fillRect l="0" t="-277738" r="0" b="-277728"/>
              </a:stretch>
            </a:blipFill>
          </p:spPr>
        </p:sp>
      </p:grpSp>
      <p:grpSp>
        <p:nvGrpSpPr>
          <p:cNvPr name="Group 166" id="166"/>
          <p:cNvGrpSpPr/>
          <p:nvPr/>
        </p:nvGrpSpPr>
        <p:grpSpPr>
          <a:xfrm rot="0">
            <a:off x="12806620" y="4872857"/>
            <a:ext cx="4545054" cy="277139"/>
            <a:chOff x="0" y="0"/>
            <a:chExt cx="6060072" cy="369519"/>
          </a:xfrm>
        </p:grpSpPr>
        <p:sp>
          <p:nvSpPr>
            <p:cNvPr name="Freeform 167" id="167"/>
            <p:cNvSpPr/>
            <p:nvPr/>
          </p:nvSpPr>
          <p:spPr>
            <a:xfrm flipH="false" flipV="false" rot="0">
              <a:off x="0" y="0"/>
              <a:ext cx="6060072" cy="369520"/>
            </a:xfrm>
            <a:custGeom>
              <a:avLst/>
              <a:gdLst/>
              <a:ahLst/>
              <a:cxnLst/>
              <a:rect r="r" b="b" t="t" l="l"/>
              <a:pathLst>
                <a:path h="369520" w="6060072">
                  <a:moveTo>
                    <a:pt x="0" y="0"/>
                  </a:moveTo>
                  <a:lnTo>
                    <a:pt x="6060072" y="0"/>
                  </a:lnTo>
                  <a:lnTo>
                    <a:pt x="6060072" y="369520"/>
                  </a:lnTo>
                  <a:lnTo>
                    <a:pt x="0" y="369520"/>
                  </a:lnTo>
                  <a:close/>
                </a:path>
              </a:pathLst>
            </a:custGeom>
            <a:blipFill>
              <a:blip r:embed="rId5">
                <a:alphaModFix amt="0"/>
              </a:blip>
              <a:stretch>
                <a:fillRect l="0" t="-269551" r="0" b="-269551"/>
              </a:stretch>
            </a:blipFill>
          </p:spPr>
        </p:sp>
        <p:sp>
          <p:nvSpPr>
            <p:cNvPr name="TextBox 168" id="168"/>
            <p:cNvSpPr txBox="true"/>
            <p:nvPr/>
          </p:nvSpPr>
          <p:spPr>
            <a:xfrm>
              <a:off x="0" y="-9525"/>
              <a:ext cx="6060072" cy="379044"/>
            </a:xfrm>
            <a:prstGeom prst="rect">
              <a:avLst/>
            </a:prstGeom>
          </p:spPr>
          <p:txBody>
            <a:bodyPr anchor="ctr" rtlCol="false" tIns="0" lIns="0" bIns="0" rIns="0"/>
            <a:lstStyle/>
            <a:p>
              <a:pPr algn="l">
                <a:lnSpc>
                  <a:spcPts val="1246"/>
                </a:lnSpc>
              </a:pPr>
              <a:r>
                <a:rPr lang="en-US" sz="980">
                  <a:solidFill>
                    <a:srgbClr val="2A3B3F"/>
                  </a:solidFill>
                  <a:latin typeface="Poppins"/>
                  <a:ea typeface="Poppins"/>
                  <a:cs typeface="Poppins"/>
                  <a:sym typeface="Poppins"/>
                </a:rPr>
                <a:t>Profile review, correction and modification.</a:t>
              </a:r>
            </a:p>
          </p:txBody>
        </p:sp>
      </p:grpSp>
      <p:grpSp>
        <p:nvGrpSpPr>
          <p:cNvPr name="Group 169" id="169"/>
          <p:cNvGrpSpPr/>
          <p:nvPr/>
        </p:nvGrpSpPr>
        <p:grpSpPr>
          <a:xfrm rot="0">
            <a:off x="12386615" y="5410000"/>
            <a:ext cx="270034" cy="270034"/>
            <a:chOff x="0" y="0"/>
            <a:chExt cx="360045" cy="360045"/>
          </a:xfrm>
        </p:grpSpPr>
        <p:sp>
          <p:nvSpPr>
            <p:cNvPr name="Freeform 170" id="170"/>
            <p:cNvSpPr/>
            <p:nvPr/>
          </p:nvSpPr>
          <p:spPr>
            <a:xfrm flipH="false" flipV="false" rot="0">
              <a:off x="0" y="0"/>
              <a:ext cx="360045" cy="360045"/>
            </a:xfrm>
            <a:custGeom>
              <a:avLst/>
              <a:gdLst/>
              <a:ahLst/>
              <a:cxnLst/>
              <a:rect r="r" b="b" t="t" l="l"/>
              <a:pathLst>
                <a:path h="360045" w="360045">
                  <a:moveTo>
                    <a:pt x="0" y="0"/>
                  </a:moveTo>
                  <a:lnTo>
                    <a:pt x="360045" y="0"/>
                  </a:lnTo>
                  <a:lnTo>
                    <a:pt x="360045" y="360045"/>
                  </a:lnTo>
                  <a:lnTo>
                    <a:pt x="0" y="360045"/>
                  </a:lnTo>
                  <a:lnTo>
                    <a:pt x="0" y="0"/>
                  </a:lnTo>
                  <a:close/>
                </a:path>
              </a:pathLst>
            </a:custGeom>
            <a:blipFill>
              <a:blip r:embed="rId27"/>
              <a:stretch>
                <a:fillRect l="0" t="0" r="0" b="0"/>
              </a:stretch>
            </a:blipFill>
          </p:spPr>
        </p:sp>
      </p:grpSp>
      <p:grpSp>
        <p:nvGrpSpPr>
          <p:cNvPr name="Group 171" id="171"/>
          <p:cNvGrpSpPr/>
          <p:nvPr/>
        </p:nvGrpSpPr>
        <p:grpSpPr>
          <a:xfrm rot="0">
            <a:off x="12806620" y="5410000"/>
            <a:ext cx="4545054" cy="270005"/>
            <a:chOff x="0" y="0"/>
            <a:chExt cx="6060072" cy="360007"/>
          </a:xfrm>
        </p:grpSpPr>
        <p:sp>
          <p:nvSpPr>
            <p:cNvPr name="Freeform 172" id="172"/>
            <p:cNvSpPr/>
            <p:nvPr/>
          </p:nvSpPr>
          <p:spPr>
            <a:xfrm flipH="false" flipV="false" rot="0">
              <a:off x="0" y="0"/>
              <a:ext cx="6060059" cy="360045"/>
            </a:xfrm>
            <a:custGeom>
              <a:avLst/>
              <a:gdLst/>
              <a:ahLst/>
              <a:cxnLst/>
              <a:rect r="r" b="b" t="t" l="l"/>
              <a:pathLst>
                <a:path h="360045" w="6060059">
                  <a:moveTo>
                    <a:pt x="0" y="0"/>
                  </a:moveTo>
                  <a:lnTo>
                    <a:pt x="6060059" y="0"/>
                  </a:lnTo>
                  <a:lnTo>
                    <a:pt x="6060059" y="360045"/>
                  </a:lnTo>
                  <a:lnTo>
                    <a:pt x="0" y="360045"/>
                  </a:lnTo>
                  <a:close/>
                </a:path>
              </a:pathLst>
            </a:custGeom>
            <a:blipFill>
              <a:blip r:embed="rId4">
                <a:alphaModFix amt="0"/>
              </a:blip>
              <a:stretch>
                <a:fillRect l="0" t="-277738" r="0" b="-277728"/>
              </a:stretch>
            </a:blipFill>
          </p:spPr>
        </p:sp>
      </p:grpSp>
      <p:grpSp>
        <p:nvGrpSpPr>
          <p:cNvPr name="Group 173" id="173"/>
          <p:cNvGrpSpPr/>
          <p:nvPr/>
        </p:nvGrpSpPr>
        <p:grpSpPr>
          <a:xfrm rot="0">
            <a:off x="12806620" y="5402856"/>
            <a:ext cx="4545054" cy="277139"/>
            <a:chOff x="0" y="0"/>
            <a:chExt cx="6060072" cy="369519"/>
          </a:xfrm>
        </p:grpSpPr>
        <p:sp>
          <p:nvSpPr>
            <p:cNvPr name="Freeform 174" id="174"/>
            <p:cNvSpPr/>
            <p:nvPr/>
          </p:nvSpPr>
          <p:spPr>
            <a:xfrm flipH="false" flipV="false" rot="0">
              <a:off x="0" y="0"/>
              <a:ext cx="6060072" cy="369520"/>
            </a:xfrm>
            <a:custGeom>
              <a:avLst/>
              <a:gdLst/>
              <a:ahLst/>
              <a:cxnLst/>
              <a:rect r="r" b="b" t="t" l="l"/>
              <a:pathLst>
                <a:path h="369520" w="6060072">
                  <a:moveTo>
                    <a:pt x="0" y="0"/>
                  </a:moveTo>
                  <a:lnTo>
                    <a:pt x="6060072" y="0"/>
                  </a:lnTo>
                  <a:lnTo>
                    <a:pt x="6060072" y="369520"/>
                  </a:lnTo>
                  <a:lnTo>
                    <a:pt x="0" y="369520"/>
                  </a:lnTo>
                  <a:close/>
                </a:path>
              </a:pathLst>
            </a:custGeom>
            <a:blipFill>
              <a:blip r:embed="rId5">
                <a:alphaModFix amt="0"/>
              </a:blip>
              <a:stretch>
                <a:fillRect l="0" t="-269551" r="0" b="-269551"/>
              </a:stretch>
            </a:blipFill>
          </p:spPr>
        </p:sp>
        <p:sp>
          <p:nvSpPr>
            <p:cNvPr name="TextBox 175" id="175"/>
            <p:cNvSpPr txBox="true"/>
            <p:nvPr/>
          </p:nvSpPr>
          <p:spPr>
            <a:xfrm>
              <a:off x="0" y="-9525"/>
              <a:ext cx="6060072" cy="379044"/>
            </a:xfrm>
            <a:prstGeom prst="rect">
              <a:avLst/>
            </a:prstGeom>
          </p:spPr>
          <p:txBody>
            <a:bodyPr anchor="ctr" rtlCol="false" tIns="0" lIns="0" bIns="0" rIns="0"/>
            <a:lstStyle/>
            <a:p>
              <a:pPr algn="l">
                <a:lnSpc>
                  <a:spcPts val="1246"/>
                </a:lnSpc>
              </a:pPr>
              <a:r>
                <a:rPr lang="en-US" sz="980">
                  <a:solidFill>
                    <a:srgbClr val="2A3B3F"/>
                  </a:solidFill>
                  <a:latin typeface="Poppins"/>
                  <a:ea typeface="Poppins"/>
                  <a:cs typeface="Poppins"/>
                  <a:sym typeface="Poppins"/>
                </a:rPr>
                <a:t>Annual profile update to stay active.</a:t>
              </a:r>
            </a:p>
          </p:txBody>
        </p:sp>
      </p:grpSp>
      <p:grpSp>
        <p:nvGrpSpPr>
          <p:cNvPr name="Group 176" id="176"/>
          <p:cNvGrpSpPr/>
          <p:nvPr/>
        </p:nvGrpSpPr>
        <p:grpSpPr>
          <a:xfrm rot="0">
            <a:off x="12386615" y="5940000"/>
            <a:ext cx="270034" cy="270034"/>
            <a:chOff x="0" y="0"/>
            <a:chExt cx="360045" cy="360045"/>
          </a:xfrm>
        </p:grpSpPr>
        <p:sp>
          <p:nvSpPr>
            <p:cNvPr name="Freeform 177" id="177"/>
            <p:cNvSpPr/>
            <p:nvPr/>
          </p:nvSpPr>
          <p:spPr>
            <a:xfrm flipH="false" flipV="false" rot="0">
              <a:off x="0" y="0"/>
              <a:ext cx="360045" cy="360045"/>
            </a:xfrm>
            <a:custGeom>
              <a:avLst/>
              <a:gdLst/>
              <a:ahLst/>
              <a:cxnLst/>
              <a:rect r="r" b="b" t="t" l="l"/>
              <a:pathLst>
                <a:path h="360045" w="360045">
                  <a:moveTo>
                    <a:pt x="0" y="0"/>
                  </a:moveTo>
                  <a:lnTo>
                    <a:pt x="360045" y="0"/>
                  </a:lnTo>
                  <a:lnTo>
                    <a:pt x="360045" y="360045"/>
                  </a:lnTo>
                  <a:lnTo>
                    <a:pt x="0" y="360045"/>
                  </a:lnTo>
                  <a:lnTo>
                    <a:pt x="0" y="0"/>
                  </a:lnTo>
                  <a:close/>
                </a:path>
              </a:pathLst>
            </a:custGeom>
            <a:blipFill>
              <a:blip r:embed="rId28"/>
              <a:stretch>
                <a:fillRect l="0" t="0" r="0" b="0"/>
              </a:stretch>
            </a:blipFill>
          </p:spPr>
        </p:sp>
      </p:grpSp>
      <p:grpSp>
        <p:nvGrpSpPr>
          <p:cNvPr name="Group 178" id="178"/>
          <p:cNvGrpSpPr/>
          <p:nvPr/>
        </p:nvGrpSpPr>
        <p:grpSpPr>
          <a:xfrm rot="0">
            <a:off x="12806620" y="5940000"/>
            <a:ext cx="4545054" cy="270005"/>
            <a:chOff x="0" y="0"/>
            <a:chExt cx="6060072" cy="360007"/>
          </a:xfrm>
        </p:grpSpPr>
        <p:sp>
          <p:nvSpPr>
            <p:cNvPr name="Freeform 179" id="179"/>
            <p:cNvSpPr/>
            <p:nvPr/>
          </p:nvSpPr>
          <p:spPr>
            <a:xfrm flipH="false" flipV="false" rot="0">
              <a:off x="0" y="0"/>
              <a:ext cx="6060059" cy="360045"/>
            </a:xfrm>
            <a:custGeom>
              <a:avLst/>
              <a:gdLst/>
              <a:ahLst/>
              <a:cxnLst/>
              <a:rect r="r" b="b" t="t" l="l"/>
              <a:pathLst>
                <a:path h="360045" w="6060059">
                  <a:moveTo>
                    <a:pt x="0" y="0"/>
                  </a:moveTo>
                  <a:lnTo>
                    <a:pt x="6060059" y="0"/>
                  </a:lnTo>
                  <a:lnTo>
                    <a:pt x="6060059" y="360045"/>
                  </a:lnTo>
                  <a:lnTo>
                    <a:pt x="0" y="360045"/>
                  </a:lnTo>
                  <a:close/>
                </a:path>
              </a:pathLst>
            </a:custGeom>
            <a:blipFill>
              <a:blip r:embed="rId4">
                <a:alphaModFix amt="0"/>
              </a:blip>
              <a:stretch>
                <a:fillRect l="0" t="-277738" r="0" b="-277728"/>
              </a:stretch>
            </a:blipFill>
          </p:spPr>
        </p:sp>
      </p:grpSp>
      <p:grpSp>
        <p:nvGrpSpPr>
          <p:cNvPr name="Group 180" id="180"/>
          <p:cNvGrpSpPr/>
          <p:nvPr/>
        </p:nvGrpSpPr>
        <p:grpSpPr>
          <a:xfrm rot="0">
            <a:off x="12806620" y="5932856"/>
            <a:ext cx="4545054" cy="277139"/>
            <a:chOff x="0" y="0"/>
            <a:chExt cx="6060072" cy="369519"/>
          </a:xfrm>
        </p:grpSpPr>
        <p:sp>
          <p:nvSpPr>
            <p:cNvPr name="Freeform 181" id="181"/>
            <p:cNvSpPr/>
            <p:nvPr/>
          </p:nvSpPr>
          <p:spPr>
            <a:xfrm flipH="false" flipV="false" rot="0">
              <a:off x="0" y="0"/>
              <a:ext cx="6060072" cy="369520"/>
            </a:xfrm>
            <a:custGeom>
              <a:avLst/>
              <a:gdLst/>
              <a:ahLst/>
              <a:cxnLst/>
              <a:rect r="r" b="b" t="t" l="l"/>
              <a:pathLst>
                <a:path h="369520" w="6060072">
                  <a:moveTo>
                    <a:pt x="0" y="0"/>
                  </a:moveTo>
                  <a:lnTo>
                    <a:pt x="6060072" y="0"/>
                  </a:lnTo>
                  <a:lnTo>
                    <a:pt x="6060072" y="369520"/>
                  </a:lnTo>
                  <a:lnTo>
                    <a:pt x="0" y="369520"/>
                  </a:lnTo>
                  <a:close/>
                </a:path>
              </a:pathLst>
            </a:custGeom>
            <a:blipFill>
              <a:blip r:embed="rId5">
                <a:alphaModFix amt="0"/>
              </a:blip>
              <a:stretch>
                <a:fillRect l="0" t="-269551" r="0" b="-269551"/>
              </a:stretch>
            </a:blipFill>
          </p:spPr>
        </p:sp>
        <p:sp>
          <p:nvSpPr>
            <p:cNvPr name="TextBox 182" id="182"/>
            <p:cNvSpPr txBox="true"/>
            <p:nvPr/>
          </p:nvSpPr>
          <p:spPr>
            <a:xfrm>
              <a:off x="0" y="-9525"/>
              <a:ext cx="6060072" cy="379044"/>
            </a:xfrm>
            <a:prstGeom prst="rect">
              <a:avLst/>
            </a:prstGeom>
          </p:spPr>
          <p:txBody>
            <a:bodyPr anchor="ctr" rtlCol="false" tIns="0" lIns="0" bIns="0" rIns="0"/>
            <a:lstStyle/>
            <a:p>
              <a:pPr algn="l">
                <a:lnSpc>
                  <a:spcPts val="1246"/>
                </a:lnSpc>
              </a:pPr>
              <a:r>
                <a:rPr lang="en-US" sz="980">
                  <a:solidFill>
                    <a:srgbClr val="2A3B3F"/>
                  </a:solidFill>
                  <a:latin typeface="Poppins"/>
                  <a:ea typeface="Poppins"/>
                  <a:cs typeface="Poppins"/>
                  <a:sym typeface="Poppins"/>
                </a:rPr>
                <a:t>Automatic assignment of skill-based assessments.</a:t>
              </a:r>
            </a:p>
          </p:txBody>
        </p:sp>
      </p:grpSp>
      <p:grpSp>
        <p:nvGrpSpPr>
          <p:cNvPr name="Group 183" id="183"/>
          <p:cNvGrpSpPr/>
          <p:nvPr/>
        </p:nvGrpSpPr>
        <p:grpSpPr>
          <a:xfrm rot="0">
            <a:off x="12386615" y="6469999"/>
            <a:ext cx="270034" cy="270034"/>
            <a:chOff x="0" y="0"/>
            <a:chExt cx="360045" cy="360045"/>
          </a:xfrm>
        </p:grpSpPr>
        <p:sp>
          <p:nvSpPr>
            <p:cNvPr name="Freeform 184" id="184"/>
            <p:cNvSpPr/>
            <p:nvPr/>
          </p:nvSpPr>
          <p:spPr>
            <a:xfrm flipH="false" flipV="false" rot="0">
              <a:off x="0" y="0"/>
              <a:ext cx="360045" cy="360045"/>
            </a:xfrm>
            <a:custGeom>
              <a:avLst/>
              <a:gdLst/>
              <a:ahLst/>
              <a:cxnLst/>
              <a:rect r="r" b="b" t="t" l="l"/>
              <a:pathLst>
                <a:path h="360045" w="360045">
                  <a:moveTo>
                    <a:pt x="0" y="0"/>
                  </a:moveTo>
                  <a:lnTo>
                    <a:pt x="360045" y="0"/>
                  </a:lnTo>
                  <a:lnTo>
                    <a:pt x="360045" y="360045"/>
                  </a:lnTo>
                  <a:lnTo>
                    <a:pt x="0" y="360045"/>
                  </a:lnTo>
                  <a:lnTo>
                    <a:pt x="0" y="0"/>
                  </a:lnTo>
                  <a:close/>
                </a:path>
              </a:pathLst>
            </a:custGeom>
            <a:blipFill>
              <a:blip r:embed="rId29"/>
              <a:stretch>
                <a:fillRect l="0" t="0" r="0" b="0"/>
              </a:stretch>
            </a:blipFill>
          </p:spPr>
        </p:sp>
      </p:grpSp>
      <p:grpSp>
        <p:nvGrpSpPr>
          <p:cNvPr name="Group 185" id="185"/>
          <p:cNvGrpSpPr/>
          <p:nvPr/>
        </p:nvGrpSpPr>
        <p:grpSpPr>
          <a:xfrm rot="0">
            <a:off x="12806620" y="6469999"/>
            <a:ext cx="4545054" cy="270005"/>
            <a:chOff x="0" y="0"/>
            <a:chExt cx="6060072" cy="360007"/>
          </a:xfrm>
        </p:grpSpPr>
        <p:sp>
          <p:nvSpPr>
            <p:cNvPr name="Freeform 186" id="186"/>
            <p:cNvSpPr/>
            <p:nvPr/>
          </p:nvSpPr>
          <p:spPr>
            <a:xfrm flipH="false" flipV="false" rot="0">
              <a:off x="0" y="0"/>
              <a:ext cx="6060059" cy="360045"/>
            </a:xfrm>
            <a:custGeom>
              <a:avLst/>
              <a:gdLst/>
              <a:ahLst/>
              <a:cxnLst/>
              <a:rect r="r" b="b" t="t" l="l"/>
              <a:pathLst>
                <a:path h="360045" w="6060059">
                  <a:moveTo>
                    <a:pt x="0" y="0"/>
                  </a:moveTo>
                  <a:lnTo>
                    <a:pt x="6060059" y="0"/>
                  </a:lnTo>
                  <a:lnTo>
                    <a:pt x="6060059" y="360045"/>
                  </a:lnTo>
                  <a:lnTo>
                    <a:pt x="0" y="360045"/>
                  </a:lnTo>
                  <a:close/>
                </a:path>
              </a:pathLst>
            </a:custGeom>
            <a:blipFill>
              <a:blip r:embed="rId4">
                <a:alphaModFix amt="0"/>
              </a:blip>
              <a:stretch>
                <a:fillRect l="0" t="-277738" r="0" b="-277728"/>
              </a:stretch>
            </a:blipFill>
          </p:spPr>
        </p:sp>
      </p:grpSp>
      <p:grpSp>
        <p:nvGrpSpPr>
          <p:cNvPr name="Group 187" id="187"/>
          <p:cNvGrpSpPr/>
          <p:nvPr/>
        </p:nvGrpSpPr>
        <p:grpSpPr>
          <a:xfrm rot="0">
            <a:off x="12806620" y="6462855"/>
            <a:ext cx="4545054" cy="277139"/>
            <a:chOff x="0" y="0"/>
            <a:chExt cx="6060072" cy="369519"/>
          </a:xfrm>
        </p:grpSpPr>
        <p:sp>
          <p:nvSpPr>
            <p:cNvPr name="Freeform 188" id="188"/>
            <p:cNvSpPr/>
            <p:nvPr/>
          </p:nvSpPr>
          <p:spPr>
            <a:xfrm flipH="false" flipV="false" rot="0">
              <a:off x="0" y="0"/>
              <a:ext cx="6060072" cy="369520"/>
            </a:xfrm>
            <a:custGeom>
              <a:avLst/>
              <a:gdLst/>
              <a:ahLst/>
              <a:cxnLst/>
              <a:rect r="r" b="b" t="t" l="l"/>
              <a:pathLst>
                <a:path h="369520" w="6060072">
                  <a:moveTo>
                    <a:pt x="0" y="0"/>
                  </a:moveTo>
                  <a:lnTo>
                    <a:pt x="6060072" y="0"/>
                  </a:lnTo>
                  <a:lnTo>
                    <a:pt x="6060072" y="369520"/>
                  </a:lnTo>
                  <a:lnTo>
                    <a:pt x="0" y="369520"/>
                  </a:lnTo>
                  <a:close/>
                </a:path>
              </a:pathLst>
            </a:custGeom>
            <a:blipFill>
              <a:blip r:embed="rId5">
                <a:alphaModFix amt="0"/>
              </a:blip>
              <a:stretch>
                <a:fillRect l="0" t="-269551" r="0" b="-269551"/>
              </a:stretch>
            </a:blipFill>
          </p:spPr>
        </p:sp>
        <p:sp>
          <p:nvSpPr>
            <p:cNvPr name="TextBox 189" id="189"/>
            <p:cNvSpPr txBox="true"/>
            <p:nvPr/>
          </p:nvSpPr>
          <p:spPr>
            <a:xfrm>
              <a:off x="0" y="-9525"/>
              <a:ext cx="6060072" cy="379044"/>
            </a:xfrm>
            <a:prstGeom prst="rect">
              <a:avLst/>
            </a:prstGeom>
          </p:spPr>
          <p:txBody>
            <a:bodyPr anchor="ctr" rtlCol="false" tIns="0" lIns="0" bIns="0" rIns="0"/>
            <a:lstStyle/>
            <a:p>
              <a:pPr algn="l">
                <a:lnSpc>
                  <a:spcPts val="1246"/>
                </a:lnSpc>
              </a:pPr>
              <a:r>
                <a:rPr lang="en-US" sz="980">
                  <a:solidFill>
                    <a:srgbClr val="2A3B3F"/>
                  </a:solidFill>
                  <a:latin typeface="Poppins"/>
                  <a:ea typeface="Poppins"/>
                  <a:cs typeface="Poppins"/>
                  <a:sym typeface="Poppins"/>
                </a:rPr>
                <a:t>Proctored assessments adapted to skill and seniority.</a:t>
              </a:r>
            </a:p>
          </p:txBody>
        </p:sp>
      </p:grpSp>
      <p:grpSp>
        <p:nvGrpSpPr>
          <p:cNvPr name="Group 190" id="190"/>
          <p:cNvGrpSpPr/>
          <p:nvPr/>
        </p:nvGrpSpPr>
        <p:grpSpPr>
          <a:xfrm rot="0">
            <a:off x="12386615" y="6999999"/>
            <a:ext cx="270034" cy="270034"/>
            <a:chOff x="0" y="0"/>
            <a:chExt cx="360045" cy="360045"/>
          </a:xfrm>
        </p:grpSpPr>
        <p:sp>
          <p:nvSpPr>
            <p:cNvPr name="Freeform 191" id="191"/>
            <p:cNvSpPr/>
            <p:nvPr/>
          </p:nvSpPr>
          <p:spPr>
            <a:xfrm flipH="false" flipV="false" rot="0">
              <a:off x="0" y="0"/>
              <a:ext cx="360045" cy="360045"/>
            </a:xfrm>
            <a:custGeom>
              <a:avLst/>
              <a:gdLst/>
              <a:ahLst/>
              <a:cxnLst/>
              <a:rect r="r" b="b" t="t" l="l"/>
              <a:pathLst>
                <a:path h="360045" w="360045">
                  <a:moveTo>
                    <a:pt x="0" y="0"/>
                  </a:moveTo>
                  <a:lnTo>
                    <a:pt x="360045" y="0"/>
                  </a:lnTo>
                  <a:lnTo>
                    <a:pt x="360045" y="360045"/>
                  </a:lnTo>
                  <a:lnTo>
                    <a:pt x="0" y="360045"/>
                  </a:lnTo>
                  <a:lnTo>
                    <a:pt x="0" y="0"/>
                  </a:lnTo>
                  <a:close/>
                </a:path>
              </a:pathLst>
            </a:custGeom>
            <a:blipFill>
              <a:blip r:embed="rId30"/>
              <a:stretch>
                <a:fillRect l="0" t="0" r="0" b="0"/>
              </a:stretch>
            </a:blipFill>
          </p:spPr>
        </p:sp>
      </p:grpSp>
      <p:grpSp>
        <p:nvGrpSpPr>
          <p:cNvPr name="Group 192" id="192"/>
          <p:cNvGrpSpPr/>
          <p:nvPr/>
        </p:nvGrpSpPr>
        <p:grpSpPr>
          <a:xfrm rot="0">
            <a:off x="12806620" y="6999999"/>
            <a:ext cx="4545054" cy="270005"/>
            <a:chOff x="0" y="0"/>
            <a:chExt cx="6060072" cy="360007"/>
          </a:xfrm>
        </p:grpSpPr>
        <p:sp>
          <p:nvSpPr>
            <p:cNvPr name="Freeform 193" id="193"/>
            <p:cNvSpPr/>
            <p:nvPr/>
          </p:nvSpPr>
          <p:spPr>
            <a:xfrm flipH="false" flipV="false" rot="0">
              <a:off x="0" y="0"/>
              <a:ext cx="6060059" cy="360045"/>
            </a:xfrm>
            <a:custGeom>
              <a:avLst/>
              <a:gdLst/>
              <a:ahLst/>
              <a:cxnLst/>
              <a:rect r="r" b="b" t="t" l="l"/>
              <a:pathLst>
                <a:path h="360045" w="6060059">
                  <a:moveTo>
                    <a:pt x="0" y="0"/>
                  </a:moveTo>
                  <a:lnTo>
                    <a:pt x="6060059" y="0"/>
                  </a:lnTo>
                  <a:lnTo>
                    <a:pt x="6060059" y="360045"/>
                  </a:lnTo>
                  <a:lnTo>
                    <a:pt x="0" y="360045"/>
                  </a:lnTo>
                  <a:close/>
                </a:path>
              </a:pathLst>
            </a:custGeom>
            <a:blipFill>
              <a:blip r:embed="rId4">
                <a:alphaModFix amt="0"/>
              </a:blip>
              <a:stretch>
                <a:fillRect l="0" t="-277738" r="0" b="-277728"/>
              </a:stretch>
            </a:blipFill>
          </p:spPr>
        </p:sp>
      </p:grpSp>
      <p:grpSp>
        <p:nvGrpSpPr>
          <p:cNvPr name="Group 194" id="194"/>
          <p:cNvGrpSpPr/>
          <p:nvPr/>
        </p:nvGrpSpPr>
        <p:grpSpPr>
          <a:xfrm rot="0">
            <a:off x="12806620" y="6992855"/>
            <a:ext cx="4545054" cy="277139"/>
            <a:chOff x="0" y="0"/>
            <a:chExt cx="6060072" cy="369519"/>
          </a:xfrm>
        </p:grpSpPr>
        <p:sp>
          <p:nvSpPr>
            <p:cNvPr name="Freeform 195" id="195"/>
            <p:cNvSpPr/>
            <p:nvPr/>
          </p:nvSpPr>
          <p:spPr>
            <a:xfrm flipH="false" flipV="false" rot="0">
              <a:off x="0" y="0"/>
              <a:ext cx="6060072" cy="369520"/>
            </a:xfrm>
            <a:custGeom>
              <a:avLst/>
              <a:gdLst/>
              <a:ahLst/>
              <a:cxnLst/>
              <a:rect r="r" b="b" t="t" l="l"/>
              <a:pathLst>
                <a:path h="369520" w="6060072">
                  <a:moveTo>
                    <a:pt x="0" y="0"/>
                  </a:moveTo>
                  <a:lnTo>
                    <a:pt x="6060072" y="0"/>
                  </a:lnTo>
                  <a:lnTo>
                    <a:pt x="6060072" y="369520"/>
                  </a:lnTo>
                  <a:lnTo>
                    <a:pt x="0" y="369520"/>
                  </a:lnTo>
                  <a:close/>
                </a:path>
              </a:pathLst>
            </a:custGeom>
            <a:blipFill>
              <a:blip r:embed="rId5">
                <a:alphaModFix amt="0"/>
              </a:blip>
              <a:stretch>
                <a:fillRect l="0" t="-269551" r="0" b="-269551"/>
              </a:stretch>
            </a:blipFill>
          </p:spPr>
        </p:sp>
        <p:sp>
          <p:nvSpPr>
            <p:cNvPr name="TextBox 196" id="196"/>
            <p:cNvSpPr txBox="true"/>
            <p:nvPr/>
          </p:nvSpPr>
          <p:spPr>
            <a:xfrm>
              <a:off x="0" y="-9525"/>
              <a:ext cx="6060072" cy="379044"/>
            </a:xfrm>
            <a:prstGeom prst="rect">
              <a:avLst/>
            </a:prstGeom>
          </p:spPr>
          <p:txBody>
            <a:bodyPr anchor="ctr" rtlCol="false" tIns="0" lIns="0" bIns="0" rIns="0"/>
            <a:lstStyle/>
            <a:p>
              <a:pPr algn="l">
                <a:lnSpc>
                  <a:spcPts val="1246"/>
                </a:lnSpc>
              </a:pPr>
              <a:r>
                <a:rPr lang="en-US" sz="980">
                  <a:solidFill>
                    <a:srgbClr val="2A3B3F"/>
                  </a:solidFill>
                  <a:latin typeface="Poppins"/>
                  <a:ea typeface="Poppins"/>
                  <a:cs typeface="Poppins"/>
                  <a:sym typeface="Poppins"/>
                </a:rPr>
                <a:t>Assessment scores and detailed reports.</a:t>
              </a:r>
            </a:p>
          </p:txBody>
        </p:sp>
      </p:grpSp>
      <p:grpSp>
        <p:nvGrpSpPr>
          <p:cNvPr name="Group 197" id="197"/>
          <p:cNvGrpSpPr/>
          <p:nvPr/>
        </p:nvGrpSpPr>
        <p:grpSpPr>
          <a:xfrm rot="0">
            <a:off x="12386615" y="7529998"/>
            <a:ext cx="270034" cy="270034"/>
            <a:chOff x="0" y="0"/>
            <a:chExt cx="360045" cy="360045"/>
          </a:xfrm>
        </p:grpSpPr>
        <p:sp>
          <p:nvSpPr>
            <p:cNvPr name="Freeform 198" id="198"/>
            <p:cNvSpPr/>
            <p:nvPr/>
          </p:nvSpPr>
          <p:spPr>
            <a:xfrm flipH="false" flipV="false" rot="0">
              <a:off x="0" y="0"/>
              <a:ext cx="360045" cy="360045"/>
            </a:xfrm>
            <a:custGeom>
              <a:avLst/>
              <a:gdLst/>
              <a:ahLst/>
              <a:cxnLst/>
              <a:rect r="r" b="b" t="t" l="l"/>
              <a:pathLst>
                <a:path h="360045" w="360045">
                  <a:moveTo>
                    <a:pt x="0" y="0"/>
                  </a:moveTo>
                  <a:lnTo>
                    <a:pt x="360045" y="0"/>
                  </a:lnTo>
                  <a:lnTo>
                    <a:pt x="360045" y="360045"/>
                  </a:lnTo>
                  <a:lnTo>
                    <a:pt x="0" y="360045"/>
                  </a:lnTo>
                  <a:lnTo>
                    <a:pt x="0" y="0"/>
                  </a:lnTo>
                  <a:close/>
                </a:path>
              </a:pathLst>
            </a:custGeom>
            <a:blipFill>
              <a:blip r:embed="rId31"/>
              <a:stretch>
                <a:fillRect l="0" t="0" r="0" b="0"/>
              </a:stretch>
            </a:blipFill>
          </p:spPr>
        </p:sp>
      </p:grpSp>
      <p:grpSp>
        <p:nvGrpSpPr>
          <p:cNvPr name="Group 199" id="199"/>
          <p:cNvGrpSpPr/>
          <p:nvPr/>
        </p:nvGrpSpPr>
        <p:grpSpPr>
          <a:xfrm rot="0">
            <a:off x="12806620" y="7529998"/>
            <a:ext cx="4545054" cy="270005"/>
            <a:chOff x="0" y="0"/>
            <a:chExt cx="6060072" cy="360007"/>
          </a:xfrm>
        </p:grpSpPr>
        <p:sp>
          <p:nvSpPr>
            <p:cNvPr name="Freeform 200" id="200"/>
            <p:cNvSpPr/>
            <p:nvPr/>
          </p:nvSpPr>
          <p:spPr>
            <a:xfrm flipH="false" flipV="false" rot="0">
              <a:off x="0" y="0"/>
              <a:ext cx="6060059" cy="360045"/>
            </a:xfrm>
            <a:custGeom>
              <a:avLst/>
              <a:gdLst/>
              <a:ahLst/>
              <a:cxnLst/>
              <a:rect r="r" b="b" t="t" l="l"/>
              <a:pathLst>
                <a:path h="360045" w="6060059">
                  <a:moveTo>
                    <a:pt x="0" y="0"/>
                  </a:moveTo>
                  <a:lnTo>
                    <a:pt x="6060059" y="0"/>
                  </a:lnTo>
                  <a:lnTo>
                    <a:pt x="6060059" y="360045"/>
                  </a:lnTo>
                  <a:lnTo>
                    <a:pt x="0" y="360045"/>
                  </a:lnTo>
                  <a:close/>
                </a:path>
              </a:pathLst>
            </a:custGeom>
            <a:blipFill>
              <a:blip r:embed="rId4">
                <a:alphaModFix amt="0"/>
              </a:blip>
              <a:stretch>
                <a:fillRect l="0" t="-277738" r="0" b="-277728"/>
              </a:stretch>
            </a:blipFill>
          </p:spPr>
        </p:sp>
      </p:grpSp>
      <p:grpSp>
        <p:nvGrpSpPr>
          <p:cNvPr name="Group 201" id="201"/>
          <p:cNvGrpSpPr/>
          <p:nvPr/>
        </p:nvGrpSpPr>
        <p:grpSpPr>
          <a:xfrm rot="0">
            <a:off x="12806620" y="7522855"/>
            <a:ext cx="4545054" cy="277139"/>
            <a:chOff x="0" y="0"/>
            <a:chExt cx="6060072" cy="369519"/>
          </a:xfrm>
        </p:grpSpPr>
        <p:sp>
          <p:nvSpPr>
            <p:cNvPr name="Freeform 202" id="202"/>
            <p:cNvSpPr/>
            <p:nvPr/>
          </p:nvSpPr>
          <p:spPr>
            <a:xfrm flipH="false" flipV="false" rot="0">
              <a:off x="0" y="0"/>
              <a:ext cx="6060072" cy="369520"/>
            </a:xfrm>
            <a:custGeom>
              <a:avLst/>
              <a:gdLst/>
              <a:ahLst/>
              <a:cxnLst/>
              <a:rect r="r" b="b" t="t" l="l"/>
              <a:pathLst>
                <a:path h="369520" w="6060072">
                  <a:moveTo>
                    <a:pt x="0" y="0"/>
                  </a:moveTo>
                  <a:lnTo>
                    <a:pt x="6060072" y="0"/>
                  </a:lnTo>
                  <a:lnTo>
                    <a:pt x="6060072" y="369520"/>
                  </a:lnTo>
                  <a:lnTo>
                    <a:pt x="0" y="369520"/>
                  </a:lnTo>
                  <a:close/>
                </a:path>
              </a:pathLst>
            </a:custGeom>
            <a:blipFill>
              <a:blip r:embed="rId5">
                <a:alphaModFix amt="0"/>
              </a:blip>
              <a:stretch>
                <a:fillRect l="0" t="-269551" r="0" b="-269551"/>
              </a:stretch>
            </a:blipFill>
          </p:spPr>
        </p:sp>
        <p:sp>
          <p:nvSpPr>
            <p:cNvPr name="TextBox 203" id="203"/>
            <p:cNvSpPr txBox="true"/>
            <p:nvPr/>
          </p:nvSpPr>
          <p:spPr>
            <a:xfrm>
              <a:off x="0" y="-9525"/>
              <a:ext cx="6060072" cy="379044"/>
            </a:xfrm>
            <a:prstGeom prst="rect">
              <a:avLst/>
            </a:prstGeom>
          </p:spPr>
          <p:txBody>
            <a:bodyPr anchor="ctr" rtlCol="false" tIns="0" lIns="0" bIns="0" rIns="0"/>
            <a:lstStyle/>
            <a:p>
              <a:pPr algn="l">
                <a:lnSpc>
                  <a:spcPts val="1246"/>
                </a:lnSpc>
              </a:pPr>
              <a:r>
                <a:rPr lang="en-US" sz="980">
                  <a:solidFill>
                    <a:srgbClr val="2A3B3F"/>
                  </a:solidFill>
                  <a:latin typeface="Poppins"/>
                  <a:ea typeface="Poppins"/>
                  <a:cs typeface="Poppins"/>
                  <a:sym typeface="Poppins"/>
                </a:rPr>
                <a:t>Personal rankings — regional, national, international.</a:t>
              </a:r>
            </a:p>
          </p:txBody>
        </p:sp>
      </p:grpSp>
      <p:grpSp>
        <p:nvGrpSpPr>
          <p:cNvPr name="Group 204" id="204"/>
          <p:cNvGrpSpPr/>
          <p:nvPr/>
        </p:nvGrpSpPr>
        <p:grpSpPr>
          <a:xfrm rot="0">
            <a:off x="12386615" y="8059998"/>
            <a:ext cx="270034" cy="270034"/>
            <a:chOff x="0" y="0"/>
            <a:chExt cx="360045" cy="360045"/>
          </a:xfrm>
        </p:grpSpPr>
        <p:sp>
          <p:nvSpPr>
            <p:cNvPr name="Freeform 205" id="205"/>
            <p:cNvSpPr/>
            <p:nvPr/>
          </p:nvSpPr>
          <p:spPr>
            <a:xfrm flipH="false" flipV="false" rot="0">
              <a:off x="0" y="0"/>
              <a:ext cx="360045" cy="360045"/>
            </a:xfrm>
            <a:custGeom>
              <a:avLst/>
              <a:gdLst/>
              <a:ahLst/>
              <a:cxnLst/>
              <a:rect r="r" b="b" t="t" l="l"/>
              <a:pathLst>
                <a:path h="360045" w="360045">
                  <a:moveTo>
                    <a:pt x="0" y="0"/>
                  </a:moveTo>
                  <a:lnTo>
                    <a:pt x="360045" y="0"/>
                  </a:lnTo>
                  <a:lnTo>
                    <a:pt x="360045" y="360045"/>
                  </a:lnTo>
                  <a:lnTo>
                    <a:pt x="0" y="360045"/>
                  </a:lnTo>
                  <a:lnTo>
                    <a:pt x="0" y="0"/>
                  </a:lnTo>
                  <a:close/>
                </a:path>
              </a:pathLst>
            </a:custGeom>
            <a:blipFill>
              <a:blip r:embed="rId32"/>
              <a:stretch>
                <a:fillRect l="0" t="0" r="0" b="0"/>
              </a:stretch>
            </a:blipFill>
          </p:spPr>
        </p:sp>
      </p:grpSp>
      <p:grpSp>
        <p:nvGrpSpPr>
          <p:cNvPr name="Group 206" id="206"/>
          <p:cNvGrpSpPr/>
          <p:nvPr/>
        </p:nvGrpSpPr>
        <p:grpSpPr>
          <a:xfrm rot="0">
            <a:off x="12806620" y="8059998"/>
            <a:ext cx="4545054" cy="270005"/>
            <a:chOff x="0" y="0"/>
            <a:chExt cx="6060072" cy="360007"/>
          </a:xfrm>
        </p:grpSpPr>
        <p:sp>
          <p:nvSpPr>
            <p:cNvPr name="Freeform 207" id="207"/>
            <p:cNvSpPr/>
            <p:nvPr/>
          </p:nvSpPr>
          <p:spPr>
            <a:xfrm flipH="false" flipV="false" rot="0">
              <a:off x="0" y="0"/>
              <a:ext cx="6060059" cy="360045"/>
            </a:xfrm>
            <a:custGeom>
              <a:avLst/>
              <a:gdLst/>
              <a:ahLst/>
              <a:cxnLst/>
              <a:rect r="r" b="b" t="t" l="l"/>
              <a:pathLst>
                <a:path h="360045" w="6060059">
                  <a:moveTo>
                    <a:pt x="0" y="0"/>
                  </a:moveTo>
                  <a:lnTo>
                    <a:pt x="6060059" y="0"/>
                  </a:lnTo>
                  <a:lnTo>
                    <a:pt x="6060059" y="360045"/>
                  </a:lnTo>
                  <a:lnTo>
                    <a:pt x="0" y="360045"/>
                  </a:lnTo>
                  <a:close/>
                </a:path>
              </a:pathLst>
            </a:custGeom>
            <a:blipFill>
              <a:blip r:embed="rId4">
                <a:alphaModFix amt="0"/>
              </a:blip>
              <a:stretch>
                <a:fillRect l="0" t="-277738" r="0" b="-277728"/>
              </a:stretch>
            </a:blipFill>
          </p:spPr>
        </p:sp>
      </p:grpSp>
      <p:grpSp>
        <p:nvGrpSpPr>
          <p:cNvPr name="Group 208" id="208"/>
          <p:cNvGrpSpPr/>
          <p:nvPr/>
        </p:nvGrpSpPr>
        <p:grpSpPr>
          <a:xfrm rot="0">
            <a:off x="12806620" y="8052854"/>
            <a:ext cx="4545054" cy="277139"/>
            <a:chOff x="0" y="0"/>
            <a:chExt cx="6060072" cy="369519"/>
          </a:xfrm>
        </p:grpSpPr>
        <p:sp>
          <p:nvSpPr>
            <p:cNvPr name="Freeform 209" id="209"/>
            <p:cNvSpPr/>
            <p:nvPr/>
          </p:nvSpPr>
          <p:spPr>
            <a:xfrm flipH="false" flipV="false" rot="0">
              <a:off x="0" y="0"/>
              <a:ext cx="6060072" cy="369520"/>
            </a:xfrm>
            <a:custGeom>
              <a:avLst/>
              <a:gdLst/>
              <a:ahLst/>
              <a:cxnLst/>
              <a:rect r="r" b="b" t="t" l="l"/>
              <a:pathLst>
                <a:path h="369520" w="6060072">
                  <a:moveTo>
                    <a:pt x="0" y="0"/>
                  </a:moveTo>
                  <a:lnTo>
                    <a:pt x="6060072" y="0"/>
                  </a:lnTo>
                  <a:lnTo>
                    <a:pt x="6060072" y="369520"/>
                  </a:lnTo>
                  <a:lnTo>
                    <a:pt x="0" y="369520"/>
                  </a:lnTo>
                  <a:close/>
                </a:path>
              </a:pathLst>
            </a:custGeom>
            <a:blipFill>
              <a:blip r:embed="rId5">
                <a:alphaModFix amt="0"/>
              </a:blip>
              <a:stretch>
                <a:fillRect l="0" t="-269551" r="0" b="-269551"/>
              </a:stretch>
            </a:blipFill>
          </p:spPr>
        </p:sp>
        <p:sp>
          <p:nvSpPr>
            <p:cNvPr name="TextBox 210" id="210"/>
            <p:cNvSpPr txBox="true"/>
            <p:nvPr/>
          </p:nvSpPr>
          <p:spPr>
            <a:xfrm>
              <a:off x="0" y="-9525"/>
              <a:ext cx="6060072" cy="379044"/>
            </a:xfrm>
            <a:prstGeom prst="rect">
              <a:avLst/>
            </a:prstGeom>
          </p:spPr>
          <p:txBody>
            <a:bodyPr anchor="ctr" rtlCol="false" tIns="0" lIns="0" bIns="0" rIns="0"/>
            <a:lstStyle/>
            <a:p>
              <a:pPr algn="l">
                <a:lnSpc>
                  <a:spcPts val="1246"/>
                </a:lnSpc>
              </a:pPr>
              <a:r>
                <a:rPr lang="en-US" sz="980">
                  <a:solidFill>
                    <a:srgbClr val="2A3B3F"/>
                  </a:solidFill>
                  <a:latin typeface="Poppins"/>
                  <a:ea typeface="Poppins"/>
                  <a:cs typeface="Poppins"/>
                  <a:sym typeface="Poppins"/>
                </a:rPr>
                <a:t>Earn and share badges from performance thresholds.</a:t>
              </a:r>
            </a:p>
          </p:txBody>
        </p:sp>
      </p:grpSp>
      <p:grpSp>
        <p:nvGrpSpPr>
          <p:cNvPr name="Group 211" id="211"/>
          <p:cNvGrpSpPr/>
          <p:nvPr/>
        </p:nvGrpSpPr>
        <p:grpSpPr>
          <a:xfrm rot="0">
            <a:off x="12386615" y="8589997"/>
            <a:ext cx="270034" cy="270034"/>
            <a:chOff x="0" y="0"/>
            <a:chExt cx="360045" cy="360045"/>
          </a:xfrm>
        </p:grpSpPr>
        <p:sp>
          <p:nvSpPr>
            <p:cNvPr name="Freeform 212" id="212"/>
            <p:cNvSpPr/>
            <p:nvPr/>
          </p:nvSpPr>
          <p:spPr>
            <a:xfrm flipH="false" flipV="false" rot="0">
              <a:off x="0" y="0"/>
              <a:ext cx="360045" cy="360045"/>
            </a:xfrm>
            <a:custGeom>
              <a:avLst/>
              <a:gdLst/>
              <a:ahLst/>
              <a:cxnLst/>
              <a:rect r="r" b="b" t="t" l="l"/>
              <a:pathLst>
                <a:path h="360045" w="360045">
                  <a:moveTo>
                    <a:pt x="0" y="0"/>
                  </a:moveTo>
                  <a:lnTo>
                    <a:pt x="360045" y="0"/>
                  </a:lnTo>
                  <a:lnTo>
                    <a:pt x="360045" y="360045"/>
                  </a:lnTo>
                  <a:lnTo>
                    <a:pt x="0" y="360045"/>
                  </a:lnTo>
                  <a:lnTo>
                    <a:pt x="0" y="0"/>
                  </a:lnTo>
                  <a:close/>
                </a:path>
              </a:pathLst>
            </a:custGeom>
            <a:blipFill>
              <a:blip r:embed="rId33"/>
              <a:stretch>
                <a:fillRect l="0" t="0" r="0" b="0"/>
              </a:stretch>
            </a:blipFill>
          </p:spPr>
        </p:sp>
      </p:grpSp>
      <p:grpSp>
        <p:nvGrpSpPr>
          <p:cNvPr name="Group 213" id="213"/>
          <p:cNvGrpSpPr/>
          <p:nvPr/>
        </p:nvGrpSpPr>
        <p:grpSpPr>
          <a:xfrm rot="0">
            <a:off x="12806620" y="8589997"/>
            <a:ext cx="4545054" cy="270005"/>
            <a:chOff x="0" y="0"/>
            <a:chExt cx="6060072" cy="360007"/>
          </a:xfrm>
        </p:grpSpPr>
        <p:sp>
          <p:nvSpPr>
            <p:cNvPr name="Freeform 214" id="214"/>
            <p:cNvSpPr/>
            <p:nvPr/>
          </p:nvSpPr>
          <p:spPr>
            <a:xfrm flipH="false" flipV="false" rot="0">
              <a:off x="0" y="0"/>
              <a:ext cx="6060059" cy="360045"/>
            </a:xfrm>
            <a:custGeom>
              <a:avLst/>
              <a:gdLst/>
              <a:ahLst/>
              <a:cxnLst/>
              <a:rect r="r" b="b" t="t" l="l"/>
              <a:pathLst>
                <a:path h="360045" w="6060059">
                  <a:moveTo>
                    <a:pt x="0" y="0"/>
                  </a:moveTo>
                  <a:lnTo>
                    <a:pt x="6060059" y="0"/>
                  </a:lnTo>
                  <a:lnTo>
                    <a:pt x="6060059" y="360045"/>
                  </a:lnTo>
                  <a:lnTo>
                    <a:pt x="0" y="360045"/>
                  </a:lnTo>
                  <a:close/>
                </a:path>
              </a:pathLst>
            </a:custGeom>
            <a:blipFill>
              <a:blip r:embed="rId4">
                <a:alphaModFix amt="0"/>
              </a:blip>
              <a:stretch>
                <a:fillRect l="0" t="-277738" r="0" b="-277728"/>
              </a:stretch>
            </a:blipFill>
          </p:spPr>
        </p:sp>
      </p:grpSp>
      <p:grpSp>
        <p:nvGrpSpPr>
          <p:cNvPr name="Group 215" id="215"/>
          <p:cNvGrpSpPr/>
          <p:nvPr/>
        </p:nvGrpSpPr>
        <p:grpSpPr>
          <a:xfrm rot="0">
            <a:off x="12806620" y="8582854"/>
            <a:ext cx="4545054" cy="277139"/>
            <a:chOff x="0" y="0"/>
            <a:chExt cx="6060072" cy="369519"/>
          </a:xfrm>
        </p:grpSpPr>
        <p:sp>
          <p:nvSpPr>
            <p:cNvPr name="Freeform 216" id="216"/>
            <p:cNvSpPr/>
            <p:nvPr/>
          </p:nvSpPr>
          <p:spPr>
            <a:xfrm flipH="false" flipV="false" rot="0">
              <a:off x="0" y="0"/>
              <a:ext cx="6060072" cy="369520"/>
            </a:xfrm>
            <a:custGeom>
              <a:avLst/>
              <a:gdLst/>
              <a:ahLst/>
              <a:cxnLst/>
              <a:rect r="r" b="b" t="t" l="l"/>
              <a:pathLst>
                <a:path h="369520" w="6060072">
                  <a:moveTo>
                    <a:pt x="0" y="0"/>
                  </a:moveTo>
                  <a:lnTo>
                    <a:pt x="6060072" y="0"/>
                  </a:lnTo>
                  <a:lnTo>
                    <a:pt x="6060072" y="369520"/>
                  </a:lnTo>
                  <a:lnTo>
                    <a:pt x="0" y="369520"/>
                  </a:lnTo>
                  <a:close/>
                </a:path>
              </a:pathLst>
            </a:custGeom>
            <a:blipFill>
              <a:blip r:embed="rId5">
                <a:alphaModFix amt="0"/>
              </a:blip>
              <a:stretch>
                <a:fillRect l="0" t="-269551" r="0" b="-269551"/>
              </a:stretch>
            </a:blipFill>
          </p:spPr>
        </p:sp>
        <p:sp>
          <p:nvSpPr>
            <p:cNvPr name="TextBox 217" id="217"/>
            <p:cNvSpPr txBox="true"/>
            <p:nvPr/>
          </p:nvSpPr>
          <p:spPr>
            <a:xfrm>
              <a:off x="0" y="-9525"/>
              <a:ext cx="6060072" cy="379044"/>
            </a:xfrm>
            <a:prstGeom prst="rect">
              <a:avLst/>
            </a:prstGeom>
          </p:spPr>
          <p:txBody>
            <a:bodyPr anchor="ctr" rtlCol="false" tIns="0" lIns="0" bIns="0" rIns="0"/>
            <a:lstStyle/>
            <a:p>
              <a:pPr algn="l">
                <a:lnSpc>
                  <a:spcPts val="1246"/>
                </a:lnSpc>
              </a:pPr>
              <a:r>
                <a:rPr lang="en-US" sz="980">
                  <a:solidFill>
                    <a:srgbClr val="2A3B3F"/>
                  </a:solidFill>
                  <a:latin typeface="Poppins"/>
                  <a:ea typeface="Poppins"/>
                  <a:cs typeface="Poppins"/>
                  <a:sym typeface="Poppins"/>
                </a:rPr>
                <a:t>Reply to recruiters via integrated communication.</a:t>
              </a:r>
            </a:p>
          </p:txBody>
        </p:sp>
      </p:grpSp>
      <p:grpSp>
        <p:nvGrpSpPr>
          <p:cNvPr name="Group 218" id="218"/>
          <p:cNvGrpSpPr/>
          <p:nvPr/>
        </p:nvGrpSpPr>
        <p:grpSpPr>
          <a:xfrm rot="0">
            <a:off x="686333" y="9718519"/>
            <a:ext cx="8236077" cy="411766"/>
            <a:chOff x="0" y="0"/>
            <a:chExt cx="10981436" cy="549021"/>
          </a:xfrm>
        </p:grpSpPr>
        <p:sp>
          <p:nvSpPr>
            <p:cNvPr name="Freeform 219" id="219"/>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65" r="0" b="-339465"/>
              </a:stretch>
            </a:blipFill>
          </p:spPr>
        </p:sp>
      </p:grpSp>
      <p:grpSp>
        <p:nvGrpSpPr>
          <p:cNvPr name="Group 220" id="220"/>
          <p:cNvGrpSpPr/>
          <p:nvPr/>
        </p:nvGrpSpPr>
        <p:grpSpPr>
          <a:xfrm rot="0">
            <a:off x="686333" y="9704232"/>
            <a:ext cx="8236039" cy="426091"/>
            <a:chOff x="0" y="0"/>
            <a:chExt cx="10981385" cy="568122"/>
          </a:xfrm>
        </p:grpSpPr>
        <p:sp>
          <p:nvSpPr>
            <p:cNvPr name="Freeform 221" id="221"/>
            <p:cNvSpPr/>
            <p:nvPr/>
          </p:nvSpPr>
          <p:spPr>
            <a:xfrm flipH="false" flipV="false" rot="0">
              <a:off x="0" y="0"/>
              <a:ext cx="10981436" cy="568071"/>
            </a:xfrm>
            <a:custGeom>
              <a:avLst/>
              <a:gdLst/>
              <a:ahLst/>
              <a:cxnLst/>
              <a:rect r="r" b="b" t="t" l="l"/>
              <a:pathLst>
                <a:path h="568071" w="10981436">
                  <a:moveTo>
                    <a:pt x="0" y="0"/>
                  </a:moveTo>
                  <a:lnTo>
                    <a:pt x="10981436" y="0"/>
                  </a:lnTo>
                  <a:lnTo>
                    <a:pt x="10981436" y="568071"/>
                  </a:lnTo>
                  <a:lnTo>
                    <a:pt x="0" y="568071"/>
                  </a:lnTo>
                  <a:close/>
                </a:path>
              </a:pathLst>
            </a:custGeom>
            <a:blipFill>
              <a:blip r:embed="rId4">
                <a:alphaModFix amt="0"/>
              </a:blip>
              <a:stretch>
                <a:fillRect l="0" t="-326398" r="0" b="-326409"/>
              </a:stretch>
            </a:blipFill>
          </p:spPr>
        </p:sp>
      </p:grpSp>
      <p:grpSp>
        <p:nvGrpSpPr>
          <p:cNvPr name="Group 222" id="222"/>
          <p:cNvGrpSpPr/>
          <p:nvPr/>
        </p:nvGrpSpPr>
        <p:grpSpPr>
          <a:xfrm rot="0">
            <a:off x="686333" y="9689944"/>
            <a:ext cx="8236039" cy="440379"/>
            <a:chOff x="0" y="0"/>
            <a:chExt cx="10981385" cy="587172"/>
          </a:xfrm>
        </p:grpSpPr>
        <p:sp>
          <p:nvSpPr>
            <p:cNvPr name="Freeform 223" id="223"/>
            <p:cNvSpPr/>
            <p:nvPr/>
          </p:nvSpPr>
          <p:spPr>
            <a:xfrm flipH="false" flipV="false" rot="0">
              <a:off x="0" y="0"/>
              <a:ext cx="10981386" cy="587171"/>
            </a:xfrm>
            <a:custGeom>
              <a:avLst/>
              <a:gdLst/>
              <a:ahLst/>
              <a:cxnLst/>
              <a:rect r="r" b="b" t="t" l="l"/>
              <a:pathLst>
                <a:path h="587171" w="10981386">
                  <a:moveTo>
                    <a:pt x="0" y="0"/>
                  </a:moveTo>
                  <a:lnTo>
                    <a:pt x="10981386" y="0"/>
                  </a:lnTo>
                  <a:lnTo>
                    <a:pt x="10981386" y="587171"/>
                  </a:lnTo>
                  <a:lnTo>
                    <a:pt x="0" y="587171"/>
                  </a:lnTo>
                  <a:close/>
                </a:path>
              </a:pathLst>
            </a:custGeom>
            <a:blipFill>
              <a:blip r:embed="rId5">
                <a:alphaModFix amt="0"/>
              </a:blip>
              <a:stretch>
                <a:fillRect l="0" t="-314412" r="0" b="-314412"/>
              </a:stretch>
            </a:blipFill>
          </p:spPr>
        </p:sp>
        <p:sp>
          <p:nvSpPr>
            <p:cNvPr name="TextBox 224" id="224"/>
            <p:cNvSpPr txBox="true"/>
            <p:nvPr/>
          </p:nvSpPr>
          <p:spPr>
            <a:xfrm>
              <a:off x="0" y="-19050"/>
              <a:ext cx="10981385" cy="60622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225" id="225"/>
          <p:cNvGrpSpPr/>
          <p:nvPr/>
        </p:nvGrpSpPr>
        <p:grpSpPr>
          <a:xfrm rot="0">
            <a:off x="16242830" y="9718519"/>
            <a:ext cx="1372648" cy="411766"/>
            <a:chOff x="0" y="0"/>
            <a:chExt cx="1830197" cy="549021"/>
          </a:xfrm>
        </p:grpSpPr>
        <p:sp>
          <p:nvSpPr>
            <p:cNvPr name="Freeform 226" id="226"/>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8" r="0" b="-14910"/>
              </a:stretch>
            </a:blipFill>
          </p:spPr>
        </p:sp>
      </p:grpSp>
      <p:grpSp>
        <p:nvGrpSpPr>
          <p:cNvPr name="Group 227" id="227"/>
          <p:cNvGrpSpPr/>
          <p:nvPr/>
        </p:nvGrpSpPr>
        <p:grpSpPr>
          <a:xfrm rot="0">
            <a:off x="16242830" y="9704232"/>
            <a:ext cx="1372676" cy="426091"/>
            <a:chOff x="0" y="0"/>
            <a:chExt cx="1830235" cy="568122"/>
          </a:xfrm>
        </p:grpSpPr>
        <p:sp>
          <p:nvSpPr>
            <p:cNvPr name="Freeform 228" id="228"/>
            <p:cNvSpPr/>
            <p:nvPr/>
          </p:nvSpPr>
          <p:spPr>
            <a:xfrm flipH="false" flipV="false" rot="0">
              <a:off x="0" y="0"/>
              <a:ext cx="1830197" cy="568071"/>
            </a:xfrm>
            <a:custGeom>
              <a:avLst/>
              <a:gdLst/>
              <a:ahLst/>
              <a:cxnLst/>
              <a:rect r="r" b="b" t="t" l="l"/>
              <a:pathLst>
                <a:path h="568071" w="1830197">
                  <a:moveTo>
                    <a:pt x="0" y="0"/>
                  </a:moveTo>
                  <a:lnTo>
                    <a:pt x="1830197" y="0"/>
                  </a:lnTo>
                  <a:lnTo>
                    <a:pt x="1830197" y="568071"/>
                  </a:lnTo>
                  <a:lnTo>
                    <a:pt x="0" y="568071"/>
                  </a:lnTo>
                  <a:close/>
                </a:path>
              </a:pathLst>
            </a:custGeom>
            <a:blipFill>
              <a:blip r:embed="rId4">
                <a:alphaModFix amt="0"/>
              </a:blip>
              <a:stretch>
                <a:fillRect l="0" t="-12729" r="-2" b="-12738"/>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509" cy="1235392"/>
            <a:chOff x="0" y="0"/>
            <a:chExt cx="2379345" cy="1647190"/>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4" t="0" r="-38884" b="0"/>
              </a:stretch>
            </a:blipFill>
          </p:spPr>
        </p:sp>
      </p:grpSp>
      <p:grpSp>
        <p:nvGrpSpPr>
          <p:cNvPr name="Group 6" id="6"/>
          <p:cNvGrpSpPr/>
          <p:nvPr/>
        </p:nvGrpSpPr>
        <p:grpSpPr>
          <a:xfrm rot="0">
            <a:off x="686333" y="643471"/>
            <a:ext cx="1784509" cy="1278255"/>
            <a:chOff x="0" y="0"/>
            <a:chExt cx="2379345" cy="1704340"/>
          </a:xfrm>
        </p:grpSpPr>
        <p:sp>
          <p:nvSpPr>
            <p:cNvPr name="Freeform 7" id="7"/>
            <p:cNvSpPr/>
            <p:nvPr/>
          </p:nvSpPr>
          <p:spPr>
            <a:xfrm flipH="false" flipV="false" rot="0">
              <a:off x="0" y="0"/>
              <a:ext cx="2379345" cy="1704340"/>
            </a:xfrm>
            <a:custGeom>
              <a:avLst/>
              <a:gdLst/>
              <a:ahLst/>
              <a:cxnLst/>
              <a:rect r="r" b="b" t="t" l="l"/>
              <a:pathLst>
                <a:path h="1704340" w="2379345">
                  <a:moveTo>
                    <a:pt x="0" y="0"/>
                  </a:moveTo>
                  <a:lnTo>
                    <a:pt x="2379345" y="0"/>
                  </a:lnTo>
                  <a:lnTo>
                    <a:pt x="2379345" y="1704340"/>
                  </a:lnTo>
                  <a:lnTo>
                    <a:pt x="0" y="1704340"/>
                  </a:lnTo>
                  <a:close/>
                </a:path>
              </a:pathLst>
            </a:custGeom>
            <a:blipFill>
              <a:blip r:embed="rId4">
                <a:alphaModFix amt="0"/>
              </a:blip>
              <a:stretch>
                <a:fillRect l="-41968" t="0" r="-41968" b="0"/>
              </a:stretch>
            </a:blipFill>
          </p:spPr>
        </p:sp>
      </p:grpSp>
      <p:grpSp>
        <p:nvGrpSpPr>
          <p:cNvPr name="Group 8" id="8"/>
          <p:cNvGrpSpPr/>
          <p:nvPr/>
        </p:nvGrpSpPr>
        <p:grpSpPr>
          <a:xfrm rot="0">
            <a:off x="686333" y="607752"/>
            <a:ext cx="1784471" cy="1495282"/>
            <a:chOff x="0" y="0"/>
            <a:chExt cx="2379294" cy="1993710"/>
          </a:xfrm>
        </p:grpSpPr>
        <p:sp>
          <p:nvSpPr>
            <p:cNvPr name="Freeform 9" id="9"/>
            <p:cNvSpPr/>
            <p:nvPr/>
          </p:nvSpPr>
          <p:spPr>
            <a:xfrm flipH="false" flipV="false" rot="0">
              <a:off x="0" y="0"/>
              <a:ext cx="2379345" cy="1993646"/>
            </a:xfrm>
            <a:custGeom>
              <a:avLst/>
              <a:gdLst/>
              <a:ahLst/>
              <a:cxnLst/>
              <a:rect r="r" b="b" t="t" l="l"/>
              <a:pathLst>
                <a:path h="1993646" w="2379345">
                  <a:moveTo>
                    <a:pt x="0" y="0"/>
                  </a:moveTo>
                  <a:lnTo>
                    <a:pt x="2379345" y="0"/>
                  </a:lnTo>
                  <a:lnTo>
                    <a:pt x="2379345" y="1993646"/>
                  </a:lnTo>
                  <a:lnTo>
                    <a:pt x="0" y="1993646"/>
                  </a:lnTo>
                  <a:close/>
                </a:path>
              </a:pathLst>
            </a:custGeom>
            <a:blipFill>
              <a:blip r:embed="rId5">
                <a:alphaModFix amt="0"/>
              </a:blip>
              <a:stretch>
                <a:fillRect l="-57584" t="0" r="-57582" b="-3"/>
              </a:stretch>
            </a:blipFill>
          </p:spPr>
        </p:sp>
      </p:grpSp>
      <p:grpSp>
        <p:nvGrpSpPr>
          <p:cNvPr name="Group 10" id="10"/>
          <p:cNvGrpSpPr/>
          <p:nvPr/>
        </p:nvGrpSpPr>
        <p:grpSpPr>
          <a:xfrm rot="0">
            <a:off x="2127647" y="796147"/>
            <a:ext cx="14413040" cy="1235392"/>
            <a:chOff x="0" y="0"/>
            <a:chExt cx="19217386" cy="1647190"/>
          </a:xfrm>
        </p:grpSpPr>
        <p:sp>
          <p:nvSpPr>
            <p:cNvPr name="Freeform 11" id="11"/>
            <p:cNvSpPr/>
            <p:nvPr/>
          </p:nvSpPr>
          <p:spPr>
            <a:xfrm flipH="false" flipV="false" rot="0">
              <a:off x="0" y="0"/>
              <a:ext cx="19217387" cy="1647190"/>
            </a:xfrm>
            <a:custGeom>
              <a:avLst/>
              <a:gdLst/>
              <a:ahLst/>
              <a:cxnLst/>
              <a:rect r="r" b="b" t="t" l="l"/>
              <a:pathLst>
                <a:path h="1647190" w="19217387">
                  <a:moveTo>
                    <a:pt x="0" y="0"/>
                  </a:moveTo>
                  <a:lnTo>
                    <a:pt x="19217387" y="0"/>
                  </a:lnTo>
                  <a:lnTo>
                    <a:pt x="19217387" y="1647190"/>
                  </a:lnTo>
                  <a:lnTo>
                    <a:pt x="0" y="1647190"/>
                  </a:lnTo>
                  <a:close/>
                </a:path>
              </a:pathLst>
            </a:custGeom>
            <a:blipFill>
              <a:blip r:embed="rId3">
                <a:alphaModFix amt="0"/>
              </a:blip>
              <a:stretch>
                <a:fillRect l="0" t="-177169" r="0" b="-177168"/>
              </a:stretch>
            </a:blipFill>
          </p:spPr>
        </p:sp>
      </p:grpSp>
      <p:grpSp>
        <p:nvGrpSpPr>
          <p:cNvPr name="Group 12" id="12"/>
          <p:cNvGrpSpPr/>
          <p:nvPr/>
        </p:nvGrpSpPr>
        <p:grpSpPr>
          <a:xfrm rot="0">
            <a:off x="2127647" y="767572"/>
            <a:ext cx="14413040" cy="1263968"/>
            <a:chOff x="0" y="0"/>
            <a:chExt cx="19217386" cy="1685290"/>
          </a:xfrm>
        </p:grpSpPr>
        <p:sp>
          <p:nvSpPr>
            <p:cNvPr name="Freeform 13" id="13"/>
            <p:cNvSpPr/>
            <p:nvPr/>
          </p:nvSpPr>
          <p:spPr>
            <a:xfrm flipH="false" flipV="false" rot="0">
              <a:off x="0" y="0"/>
              <a:ext cx="19217387" cy="1685290"/>
            </a:xfrm>
            <a:custGeom>
              <a:avLst/>
              <a:gdLst/>
              <a:ahLst/>
              <a:cxnLst/>
              <a:rect r="r" b="b" t="t" l="l"/>
              <a:pathLst>
                <a:path h="1685290" w="19217387">
                  <a:moveTo>
                    <a:pt x="0" y="0"/>
                  </a:moveTo>
                  <a:lnTo>
                    <a:pt x="19217387" y="0"/>
                  </a:lnTo>
                  <a:lnTo>
                    <a:pt x="19217387" y="1685290"/>
                  </a:lnTo>
                  <a:lnTo>
                    <a:pt x="0" y="1685290"/>
                  </a:lnTo>
                  <a:close/>
                </a:path>
              </a:pathLst>
            </a:custGeom>
            <a:blipFill>
              <a:blip r:embed="rId4">
                <a:alphaModFix amt="0"/>
              </a:blip>
              <a:stretch>
                <a:fillRect l="0" t="-172033" r="0" b="-172033"/>
              </a:stretch>
            </a:blipFill>
          </p:spPr>
        </p:sp>
      </p:grpSp>
      <p:grpSp>
        <p:nvGrpSpPr>
          <p:cNvPr name="Group 14" id="14"/>
          <p:cNvGrpSpPr/>
          <p:nvPr/>
        </p:nvGrpSpPr>
        <p:grpSpPr>
          <a:xfrm rot="0">
            <a:off x="719452" y="585807"/>
            <a:ext cx="14413059" cy="1292552"/>
            <a:chOff x="0" y="0"/>
            <a:chExt cx="19217411" cy="1723403"/>
          </a:xfrm>
        </p:grpSpPr>
        <p:sp>
          <p:nvSpPr>
            <p:cNvPr name="Freeform 15" id="15"/>
            <p:cNvSpPr/>
            <p:nvPr/>
          </p:nvSpPr>
          <p:spPr>
            <a:xfrm flipH="false" flipV="false" rot="0">
              <a:off x="0" y="0"/>
              <a:ext cx="19217387" cy="1723390"/>
            </a:xfrm>
            <a:custGeom>
              <a:avLst/>
              <a:gdLst/>
              <a:ahLst/>
              <a:cxnLst/>
              <a:rect r="r" b="b" t="t" l="l"/>
              <a:pathLst>
                <a:path h="1723390" w="19217387">
                  <a:moveTo>
                    <a:pt x="0" y="0"/>
                  </a:moveTo>
                  <a:lnTo>
                    <a:pt x="19217387" y="0"/>
                  </a:lnTo>
                  <a:lnTo>
                    <a:pt x="19217387" y="1723390"/>
                  </a:lnTo>
                  <a:lnTo>
                    <a:pt x="0" y="1723390"/>
                  </a:lnTo>
                  <a:close/>
                </a:path>
              </a:pathLst>
            </a:custGeom>
            <a:blipFill>
              <a:blip r:embed="rId5">
                <a:alphaModFix amt="0"/>
              </a:blip>
              <a:stretch>
                <a:fillRect l="0" t="-167125" r="0" b="-167125"/>
              </a:stretch>
            </a:blipFill>
          </p:spPr>
        </p:sp>
      </p:grpSp>
      <p:grpSp>
        <p:nvGrpSpPr>
          <p:cNvPr name="Group 16" id="16"/>
          <p:cNvGrpSpPr/>
          <p:nvPr/>
        </p:nvGrpSpPr>
        <p:grpSpPr>
          <a:xfrm rot="0">
            <a:off x="719452" y="557232"/>
            <a:ext cx="14413059" cy="1321127"/>
            <a:chOff x="0" y="0"/>
            <a:chExt cx="19217411" cy="1761503"/>
          </a:xfrm>
        </p:grpSpPr>
        <p:sp>
          <p:nvSpPr>
            <p:cNvPr name="Freeform 17" id="17"/>
            <p:cNvSpPr/>
            <p:nvPr/>
          </p:nvSpPr>
          <p:spPr>
            <a:xfrm flipH="false" flipV="false" rot="0">
              <a:off x="0" y="0"/>
              <a:ext cx="19217411" cy="1761503"/>
            </a:xfrm>
            <a:custGeom>
              <a:avLst/>
              <a:gdLst/>
              <a:ahLst/>
              <a:cxnLst/>
              <a:rect r="r" b="b" t="t" l="l"/>
              <a:pathLst>
                <a:path h="1761503" w="19217411">
                  <a:moveTo>
                    <a:pt x="0" y="0"/>
                  </a:moveTo>
                  <a:lnTo>
                    <a:pt x="19217411" y="0"/>
                  </a:lnTo>
                  <a:lnTo>
                    <a:pt x="19217411" y="1761503"/>
                  </a:lnTo>
                  <a:lnTo>
                    <a:pt x="0" y="1761503"/>
                  </a:lnTo>
                  <a:close/>
                </a:path>
              </a:pathLst>
            </a:custGeom>
            <a:blipFill>
              <a:blip r:embed="rId6">
                <a:alphaModFix amt="0"/>
              </a:blip>
              <a:stretch>
                <a:fillRect l="0" t="-162575" r="0" b="-162575"/>
              </a:stretch>
            </a:blipFill>
          </p:spPr>
        </p:sp>
        <p:sp>
          <p:nvSpPr>
            <p:cNvPr name="TextBox 18" id="18"/>
            <p:cNvSpPr txBox="true"/>
            <p:nvPr/>
          </p:nvSpPr>
          <p:spPr>
            <a:xfrm>
              <a:off x="0" y="-38100"/>
              <a:ext cx="19217411" cy="1799603"/>
            </a:xfrm>
            <a:prstGeom prst="rect">
              <a:avLst/>
            </a:prstGeom>
          </p:spPr>
          <p:txBody>
            <a:bodyPr anchor="ctr" rtlCol="false" tIns="0" lIns="0" bIns="0" rIns="0"/>
            <a:lstStyle/>
            <a:p>
              <a:pPr algn="l">
                <a:lnSpc>
                  <a:spcPts val="4683"/>
                </a:lnSpc>
              </a:pPr>
              <a:r>
                <a:rPr lang="en-US" sz="3903" b="true">
                  <a:solidFill>
                    <a:srgbClr val="000000"/>
                  </a:solidFill>
                  <a:latin typeface="Poppins Bold"/>
                  <a:ea typeface="Poppins Bold"/>
                  <a:cs typeface="Poppins Bold"/>
                  <a:sym typeface="Poppins Bold"/>
                </a:rPr>
                <a:t>Non-Functional Requirements</a:t>
              </a:r>
            </a:p>
          </p:txBody>
        </p:sp>
      </p:grpSp>
      <p:sp>
        <p:nvSpPr>
          <p:cNvPr name="Freeform 19" id="19"/>
          <p:cNvSpPr/>
          <p:nvPr/>
        </p:nvSpPr>
        <p:spPr>
          <a:xfrm flipH="false" flipV="false" rot="0">
            <a:off x="4175436" y="2279999"/>
            <a:ext cx="3882199" cy="3022187"/>
          </a:xfrm>
          <a:custGeom>
            <a:avLst/>
            <a:gdLst/>
            <a:ahLst/>
            <a:cxnLst/>
            <a:rect r="r" b="b" t="t" l="l"/>
            <a:pathLst>
              <a:path h="3022187" w="3882199">
                <a:moveTo>
                  <a:pt x="0" y="0"/>
                </a:moveTo>
                <a:lnTo>
                  <a:pt x="3882200" y="0"/>
                </a:lnTo>
                <a:lnTo>
                  <a:pt x="3882200" y="3022187"/>
                </a:lnTo>
                <a:lnTo>
                  <a:pt x="0" y="3022187"/>
                </a:lnTo>
                <a:lnTo>
                  <a:pt x="0" y="0"/>
                </a:lnTo>
                <a:close/>
              </a:path>
            </a:pathLst>
          </a:custGeom>
          <a:blipFill>
            <a:blip r:embed="rId7">
              <a:extLst>
                <a:ext uri="{96DAC541-7B7A-43D3-8B79-37D633B846F1}">
                  <asvg:svgBlip xmlns:asvg="http://schemas.microsoft.com/office/drawing/2016/SVG/main" r:embed="rId8"/>
                </a:ext>
              </a:extLst>
            </a:blip>
            <a:stretch>
              <a:fillRect l="0" t="-60" r="0" b="-60"/>
            </a:stretch>
          </a:blipFill>
        </p:spPr>
      </p:sp>
      <p:grpSp>
        <p:nvGrpSpPr>
          <p:cNvPr name="Group 20" id="20"/>
          <p:cNvGrpSpPr/>
          <p:nvPr/>
        </p:nvGrpSpPr>
        <p:grpSpPr>
          <a:xfrm rot="0">
            <a:off x="4186552" y="2291115"/>
            <a:ext cx="3860006" cy="82582"/>
            <a:chOff x="0" y="0"/>
            <a:chExt cx="5146675" cy="110109"/>
          </a:xfrm>
        </p:grpSpPr>
        <p:sp>
          <p:nvSpPr>
            <p:cNvPr name="Freeform 21" id="21"/>
            <p:cNvSpPr/>
            <p:nvPr/>
          </p:nvSpPr>
          <p:spPr>
            <a:xfrm flipH="false" flipV="false" rot="0">
              <a:off x="0" y="0"/>
              <a:ext cx="5146675" cy="110109"/>
            </a:xfrm>
            <a:custGeom>
              <a:avLst/>
              <a:gdLst/>
              <a:ahLst/>
              <a:cxnLst/>
              <a:rect r="r" b="b" t="t" l="l"/>
              <a:pathLst>
                <a:path h="110109" w="5146675">
                  <a:moveTo>
                    <a:pt x="27559" y="0"/>
                  </a:moveTo>
                  <a:lnTo>
                    <a:pt x="5119116" y="0"/>
                  </a:lnTo>
                  <a:cubicBezTo>
                    <a:pt x="5134356" y="0"/>
                    <a:pt x="5146675" y="12319"/>
                    <a:pt x="5146675" y="27559"/>
                  </a:cubicBezTo>
                  <a:lnTo>
                    <a:pt x="5146675" y="82550"/>
                  </a:lnTo>
                  <a:cubicBezTo>
                    <a:pt x="5146675" y="97790"/>
                    <a:pt x="5134356" y="110109"/>
                    <a:pt x="5119116" y="110109"/>
                  </a:cubicBezTo>
                  <a:lnTo>
                    <a:pt x="27559" y="110109"/>
                  </a:lnTo>
                  <a:cubicBezTo>
                    <a:pt x="12319" y="110109"/>
                    <a:pt x="0" y="97790"/>
                    <a:pt x="0" y="82550"/>
                  </a:cubicBezTo>
                  <a:lnTo>
                    <a:pt x="0" y="27559"/>
                  </a:lnTo>
                  <a:cubicBezTo>
                    <a:pt x="0" y="12319"/>
                    <a:pt x="12319" y="0"/>
                    <a:pt x="27559" y="0"/>
                  </a:cubicBezTo>
                  <a:close/>
                </a:path>
              </a:pathLst>
            </a:custGeom>
            <a:solidFill>
              <a:srgbClr val="3D6874"/>
            </a:solidFill>
          </p:spPr>
        </p:sp>
      </p:grpSp>
      <p:grpSp>
        <p:nvGrpSpPr>
          <p:cNvPr name="Group 22" id="22"/>
          <p:cNvGrpSpPr/>
          <p:nvPr/>
        </p:nvGrpSpPr>
        <p:grpSpPr>
          <a:xfrm rot="0">
            <a:off x="5666546" y="2551119"/>
            <a:ext cx="900017" cy="900017"/>
            <a:chOff x="0" y="0"/>
            <a:chExt cx="1200023" cy="1200023"/>
          </a:xfrm>
        </p:grpSpPr>
        <p:sp>
          <p:nvSpPr>
            <p:cNvPr name="Freeform 23" id="23"/>
            <p:cNvSpPr/>
            <p:nvPr/>
          </p:nvSpPr>
          <p:spPr>
            <a:xfrm flipH="false" flipV="false" rot="0">
              <a:off x="0" y="0"/>
              <a:ext cx="1200023" cy="1200023"/>
            </a:xfrm>
            <a:custGeom>
              <a:avLst/>
              <a:gdLst/>
              <a:ahLst/>
              <a:cxnLst/>
              <a:rect r="r" b="b" t="t" l="l"/>
              <a:pathLst>
                <a:path h="1200023" w="1200023">
                  <a:moveTo>
                    <a:pt x="0" y="599948"/>
                  </a:moveTo>
                  <a:cubicBezTo>
                    <a:pt x="0" y="268605"/>
                    <a:pt x="268605" y="0"/>
                    <a:pt x="599948" y="0"/>
                  </a:cubicBezTo>
                  <a:cubicBezTo>
                    <a:pt x="931291" y="0"/>
                    <a:pt x="1200023" y="268605"/>
                    <a:pt x="1200023" y="599948"/>
                  </a:cubicBezTo>
                  <a:cubicBezTo>
                    <a:pt x="1200023" y="931291"/>
                    <a:pt x="931418" y="1200023"/>
                    <a:pt x="599948" y="1200023"/>
                  </a:cubicBezTo>
                  <a:cubicBezTo>
                    <a:pt x="268478" y="1200023"/>
                    <a:pt x="0" y="931418"/>
                    <a:pt x="0" y="599948"/>
                  </a:cubicBezTo>
                  <a:close/>
                </a:path>
              </a:pathLst>
            </a:custGeom>
            <a:solidFill>
              <a:srgbClr val="3D6874"/>
            </a:solidFill>
          </p:spPr>
        </p:sp>
      </p:grpSp>
      <p:grpSp>
        <p:nvGrpSpPr>
          <p:cNvPr name="Group 24" id="24"/>
          <p:cNvGrpSpPr/>
          <p:nvPr/>
        </p:nvGrpSpPr>
        <p:grpSpPr>
          <a:xfrm rot="0">
            <a:off x="5866552" y="2751115"/>
            <a:ext cx="499967" cy="499967"/>
            <a:chOff x="0" y="0"/>
            <a:chExt cx="666623" cy="666623"/>
          </a:xfrm>
        </p:grpSpPr>
        <p:sp>
          <p:nvSpPr>
            <p:cNvPr name="Freeform 25" id="25"/>
            <p:cNvSpPr/>
            <p:nvPr/>
          </p:nvSpPr>
          <p:spPr>
            <a:xfrm flipH="false" flipV="false" rot="0">
              <a:off x="0" y="0"/>
              <a:ext cx="666623" cy="666623"/>
            </a:xfrm>
            <a:custGeom>
              <a:avLst/>
              <a:gdLst/>
              <a:ahLst/>
              <a:cxnLst/>
              <a:rect r="r" b="b" t="t" l="l"/>
              <a:pathLst>
                <a:path h="666623" w="666623">
                  <a:moveTo>
                    <a:pt x="0" y="0"/>
                  </a:moveTo>
                  <a:lnTo>
                    <a:pt x="666623" y="0"/>
                  </a:lnTo>
                  <a:lnTo>
                    <a:pt x="666623" y="666623"/>
                  </a:lnTo>
                  <a:lnTo>
                    <a:pt x="0" y="666623"/>
                  </a:lnTo>
                  <a:lnTo>
                    <a:pt x="0" y="0"/>
                  </a:lnTo>
                  <a:close/>
                </a:path>
              </a:pathLst>
            </a:custGeom>
            <a:blipFill>
              <a:blip r:embed="rId9"/>
              <a:stretch>
                <a:fillRect l="0" t="0" r="0" b="0"/>
              </a:stretch>
            </a:blipFill>
          </p:spPr>
        </p:sp>
      </p:grpSp>
      <p:grpSp>
        <p:nvGrpSpPr>
          <p:cNvPr name="Group 26" id="26"/>
          <p:cNvGrpSpPr/>
          <p:nvPr/>
        </p:nvGrpSpPr>
        <p:grpSpPr>
          <a:xfrm rot="0">
            <a:off x="4186552" y="3641112"/>
            <a:ext cx="3860006" cy="360045"/>
            <a:chOff x="0" y="0"/>
            <a:chExt cx="5146675" cy="480060"/>
          </a:xfrm>
        </p:grpSpPr>
        <p:sp>
          <p:nvSpPr>
            <p:cNvPr name="Freeform 27" id="27"/>
            <p:cNvSpPr/>
            <p:nvPr/>
          </p:nvSpPr>
          <p:spPr>
            <a:xfrm flipH="false" flipV="false" rot="0">
              <a:off x="0" y="0"/>
              <a:ext cx="5146675" cy="480060"/>
            </a:xfrm>
            <a:custGeom>
              <a:avLst/>
              <a:gdLst/>
              <a:ahLst/>
              <a:cxnLst/>
              <a:rect r="r" b="b" t="t" l="l"/>
              <a:pathLst>
                <a:path h="480060" w="5146675">
                  <a:moveTo>
                    <a:pt x="0" y="0"/>
                  </a:moveTo>
                  <a:lnTo>
                    <a:pt x="5146675" y="0"/>
                  </a:lnTo>
                  <a:lnTo>
                    <a:pt x="5146675" y="480060"/>
                  </a:lnTo>
                  <a:lnTo>
                    <a:pt x="0" y="480060"/>
                  </a:lnTo>
                  <a:close/>
                </a:path>
              </a:pathLst>
            </a:custGeom>
            <a:blipFill>
              <a:blip r:embed="rId4">
                <a:alphaModFix amt="0"/>
              </a:blip>
              <a:stretch>
                <a:fillRect l="0" t="-158751" r="0" b="-158751"/>
              </a:stretch>
            </a:blipFill>
          </p:spPr>
        </p:sp>
      </p:grpSp>
      <p:grpSp>
        <p:nvGrpSpPr>
          <p:cNvPr name="Group 28" id="28"/>
          <p:cNvGrpSpPr/>
          <p:nvPr/>
        </p:nvGrpSpPr>
        <p:grpSpPr>
          <a:xfrm rot="0">
            <a:off x="4186552" y="3626825"/>
            <a:ext cx="3859997" cy="374285"/>
            <a:chOff x="0" y="0"/>
            <a:chExt cx="5146662" cy="499046"/>
          </a:xfrm>
        </p:grpSpPr>
        <p:sp>
          <p:nvSpPr>
            <p:cNvPr name="Freeform 29" id="29"/>
            <p:cNvSpPr/>
            <p:nvPr/>
          </p:nvSpPr>
          <p:spPr>
            <a:xfrm flipH="false" flipV="false" rot="0">
              <a:off x="0" y="0"/>
              <a:ext cx="5146675" cy="499110"/>
            </a:xfrm>
            <a:custGeom>
              <a:avLst/>
              <a:gdLst/>
              <a:ahLst/>
              <a:cxnLst/>
              <a:rect r="r" b="b" t="t" l="l"/>
              <a:pathLst>
                <a:path h="499110" w="5146675">
                  <a:moveTo>
                    <a:pt x="0" y="0"/>
                  </a:moveTo>
                  <a:lnTo>
                    <a:pt x="5146675" y="0"/>
                  </a:lnTo>
                  <a:lnTo>
                    <a:pt x="5146675" y="499110"/>
                  </a:lnTo>
                  <a:lnTo>
                    <a:pt x="0" y="499110"/>
                  </a:lnTo>
                  <a:close/>
                </a:path>
              </a:pathLst>
            </a:custGeom>
            <a:blipFill>
              <a:blip r:embed="rId5">
                <a:alphaModFix amt="0"/>
              </a:blip>
              <a:stretch>
                <a:fillRect l="0" t="-150791" r="0" b="-150776"/>
              </a:stretch>
            </a:blipFill>
          </p:spPr>
        </p:sp>
      </p:grpSp>
      <p:grpSp>
        <p:nvGrpSpPr>
          <p:cNvPr name="Group 30" id="30"/>
          <p:cNvGrpSpPr/>
          <p:nvPr/>
        </p:nvGrpSpPr>
        <p:grpSpPr>
          <a:xfrm rot="0">
            <a:off x="4186552" y="3612537"/>
            <a:ext cx="3859997" cy="388572"/>
            <a:chOff x="0" y="0"/>
            <a:chExt cx="5146662" cy="518096"/>
          </a:xfrm>
        </p:grpSpPr>
        <p:sp>
          <p:nvSpPr>
            <p:cNvPr name="Freeform 31" id="31"/>
            <p:cNvSpPr/>
            <p:nvPr/>
          </p:nvSpPr>
          <p:spPr>
            <a:xfrm flipH="false" flipV="false" rot="0">
              <a:off x="0" y="0"/>
              <a:ext cx="5146663" cy="518097"/>
            </a:xfrm>
            <a:custGeom>
              <a:avLst/>
              <a:gdLst/>
              <a:ahLst/>
              <a:cxnLst/>
              <a:rect r="r" b="b" t="t" l="l"/>
              <a:pathLst>
                <a:path h="518097" w="5146663">
                  <a:moveTo>
                    <a:pt x="0" y="0"/>
                  </a:moveTo>
                  <a:lnTo>
                    <a:pt x="5146663" y="0"/>
                  </a:lnTo>
                  <a:lnTo>
                    <a:pt x="5146663" y="518097"/>
                  </a:lnTo>
                  <a:lnTo>
                    <a:pt x="0" y="518097"/>
                  </a:lnTo>
                  <a:close/>
                </a:path>
              </a:pathLst>
            </a:custGeom>
            <a:blipFill>
              <a:blip r:embed="rId6">
                <a:alphaModFix amt="0"/>
              </a:blip>
              <a:stretch>
                <a:fillRect l="0" t="-143560" r="0" b="-143560"/>
              </a:stretch>
            </a:blipFill>
          </p:spPr>
        </p:sp>
        <p:sp>
          <p:nvSpPr>
            <p:cNvPr name="TextBox 32" id="32"/>
            <p:cNvSpPr txBox="true"/>
            <p:nvPr/>
          </p:nvSpPr>
          <p:spPr>
            <a:xfrm>
              <a:off x="0" y="-19050"/>
              <a:ext cx="5146662" cy="537146"/>
            </a:xfrm>
            <a:prstGeom prst="rect">
              <a:avLst/>
            </a:prstGeom>
          </p:spPr>
          <p:txBody>
            <a:bodyPr anchor="ctr" rtlCol="false" tIns="0" lIns="0" bIns="0" rIns="0"/>
            <a:lstStyle/>
            <a:p>
              <a:pPr algn="ctr">
                <a:lnSpc>
                  <a:spcPts val="1919"/>
                </a:lnSpc>
              </a:pPr>
              <a:r>
                <a:rPr lang="en-US" sz="1599" b="true">
                  <a:solidFill>
                    <a:srgbClr val="2A3B3F"/>
                  </a:solidFill>
                  <a:latin typeface="Poppins Bold"/>
                  <a:ea typeface="Poppins Bold"/>
                  <a:cs typeface="Poppins Bold"/>
                  <a:sym typeface="Poppins Bold"/>
                </a:rPr>
                <a:t>Performance</a:t>
              </a:r>
            </a:p>
          </p:txBody>
        </p:sp>
      </p:grpSp>
      <p:sp>
        <p:nvSpPr>
          <p:cNvPr name="TextBox 33" id="33"/>
          <p:cNvSpPr txBox="true"/>
          <p:nvPr/>
        </p:nvSpPr>
        <p:spPr>
          <a:xfrm rot="0">
            <a:off x="4406551" y="3975392"/>
            <a:ext cx="3419999" cy="1115720"/>
          </a:xfrm>
          <a:prstGeom prst="rect">
            <a:avLst/>
          </a:prstGeom>
        </p:spPr>
        <p:txBody>
          <a:bodyPr anchor="t" rtlCol="false" tIns="0" lIns="0" bIns="0" rIns="0">
            <a:spAutoFit/>
          </a:bodyPr>
          <a:lstStyle/>
          <a:p>
            <a:pPr algn="ctr">
              <a:lnSpc>
                <a:spcPts val="1448"/>
              </a:lnSpc>
            </a:pPr>
            <a:r>
              <a:rPr lang="en-US" sz="1050">
                <a:solidFill>
                  <a:srgbClr val="5C6B70"/>
                </a:solidFill>
                <a:latin typeface="Poppins"/>
                <a:ea typeface="Poppins"/>
                <a:cs typeface="Poppins"/>
                <a:sym typeface="Poppins"/>
              </a:rPr>
              <a:t>CV parsing under 1s • search under 3s for 50k records</a:t>
            </a:r>
          </a:p>
        </p:txBody>
      </p:sp>
      <p:grpSp>
        <p:nvGrpSpPr>
          <p:cNvPr name="Group 34" id="34"/>
          <p:cNvGrpSpPr/>
          <p:nvPr/>
        </p:nvGrpSpPr>
        <p:grpSpPr>
          <a:xfrm rot="0">
            <a:off x="6719449" y="2740000"/>
            <a:ext cx="499967" cy="499967"/>
            <a:chOff x="0" y="0"/>
            <a:chExt cx="666623" cy="666623"/>
          </a:xfrm>
        </p:grpSpPr>
        <p:sp>
          <p:nvSpPr>
            <p:cNvPr name="Freeform 35" id="35"/>
            <p:cNvSpPr/>
            <p:nvPr/>
          </p:nvSpPr>
          <p:spPr>
            <a:xfrm flipH="false" flipV="false" rot="0">
              <a:off x="0" y="0"/>
              <a:ext cx="666623" cy="666623"/>
            </a:xfrm>
            <a:custGeom>
              <a:avLst/>
              <a:gdLst/>
              <a:ahLst/>
              <a:cxnLst/>
              <a:rect r="r" b="b" t="t" l="l"/>
              <a:pathLst>
                <a:path h="666623" w="666623">
                  <a:moveTo>
                    <a:pt x="0" y="0"/>
                  </a:moveTo>
                  <a:lnTo>
                    <a:pt x="666623" y="0"/>
                  </a:lnTo>
                  <a:lnTo>
                    <a:pt x="666623" y="666623"/>
                  </a:lnTo>
                  <a:lnTo>
                    <a:pt x="0" y="666623"/>
                  </a:lnTo>
                  <a:lnTo>
                    <a:pt x="0" y="0"/>
                  </a:lnTo>
                  <a:close/>
                </a:path>
              </a:pathLst>
            </a:custGeom>
            <a:blipFill>
              <a:blip r:embed="rId10"/>
              <a:stretch>
                <a:fillRect l="0" t="0" r="0" b="0"/>
              </a:stretch>
            </a:blipFill>
          </p:spPr>
        </p:sp>
      </p:grpSp>
      <p:sp>
        <p:nvSpPr>
          <p:cNvPr name="Freeform 36" id="36"/>
          <p:cNvSpPr/>
          <p:nvPr/>
        </p:nvSpPr>
        <p:spPr>
          <a:xfrm flipH="false" flipV="false" rot="0">
            <a:off x="9348340" y="2268884"/>
            <a:ext cx="3882200" cy="3022187"/>
          </a:xfrm>
          <a:custGeom>
            <a:avLst/>
            <a:gdLst/>
            <a:ahLst/>
            <a:cxnLst/>
            <a:rect r="r" b="b" t="t" l="l"/>
            <a:pathLst>
              <a:path h="3022187" w="3882200">
                <a:moveTo>
                  <a:pt x="0" y="0"/>
                </a:moveTo>
                <a:lnTo>
                  <a:pt x="3882199" y="0"/>
                </a:lnTo>
                <a:lnTo>
                  <a:pt x="3882199" y="3022187"/>
                </a:lnTo>
                <a:lnTo>
                  <a:pt x="0" y="3022187"/>
                </a:lnTo>
                <a:lnTo>
                  <a:pt x="0" y="0"/>
                </a:lnTo>
                <a:close/>
              </a:path>
            </a:pathLst>
          </a:custGeom>
          <a:blipFill>
            <a:blip r:embed="rId7">
              <a:extLst>
                <a:ext uri="{96DAC541-7B7A-43D3-8B79-37D633B846F1}">
                  <asvg:svgBlip xmlns:asvg="http://schemas.microsoft.com/office/drawing/2016/SVG/main" r:embed="rId8"/>
                </a:ext>
              </a:extLst>
            </a:blip>
            <a:stretch>
              <a:fillRect l="0" t="-60" r="0" b="-60"/>
            </a:stretch>
          </a:blipFill>
        </p:spPr>
      </p:sp>
      <p:grpSp>
        <p:nvGrpSpPr>
          <p:cNvPr name="Group 37" id="37"/>
          <p:cNvGrpSpPr/>
          <p:nvPr/>
        </p:nvGrpSpPr>
        <p:grpSpPr>
          <a:xfrm rot="0">
            <a:off x="9359446" y="2279999"/>
            <a:ext cx="3860006" cy="82582"/>
            <a:chOff x="0" y="0"/>
            <a:chExt cx="5146675" cy="110109"/>
          </a:xfrm>
        </p:grpSpPr>
        <p:sp>
          <p:nvSpPr>
            <p:cNvPr name="Freeform 38" id="38"/>
            <p:cNvSpPr/>
            <p:nvPr/>
          </p:nvSpPr>
          <p:spPr>
            <a:xfrm flipH="false" flipV="false" rot="0">
              <a:off x="0" y="0"/>
              <a:ext cx="5146675" cy="110109"/>
            </a:xfrm>
            <a:custGeom>
              <a:avLst/>
              <a:gdLst/>
              <a:ahLst/>
              <a:cxnLst/>
              <a:rect r="r" b="b" t="t" l="l"/>
              <a:pathLst>
                <a:path h="110109" w="5146675">
                  <a:moveTo>
                    <a:pt x="27559" y="0"/>
                  </a:moveTo>
                  <a:lnTo>
                    <a:pt x="5119116" y="0"/>
                  </a:lnTo>
                  <a:cubicBezTo>
                    <a:pt x="5134356" y="0"/>
                    <a:pt x="5146675" y="12319"/>
                    <a:pt x="5146675" y="27559"/>
                  </a:cubicBezTo>
                  <a:lnTo>
                    <a:pt x="5146675" y="82550"/>
                  </a:lnTo>
                  <a:cubicBezTo>
                    <a:pt x="5146675" y="97790"/>
                    <a:pt x="5134356" y="110109"/>
                    <a:pt x="5119116" y="110109"/>
                  </a:cubicBezTo>
                  <a:lnTo>
                    <a:pt x="27559" y="110109"/>
                  </a:lnTo>
                  <a:cubicBezTo>
                    <a:pt x="12319" y="110109"/>
                    <a:pt x="0" y="97790"/>
                    <a:pt x="0" y="82550"/>
                  </a:cubicBezTo>
                  <a:lnTo>
                    <a:pt x="0" y="27559"/>
                  </a:lnTo>
                  <a:cubicBezTo>
                    <a:pt x="0" y="12319"/>
                    <a:pt x="12319" y="0"/>
                    <a:pt x="27559" y="0"/>
                  </a:cubicBezTo>
                  <a:close/>
                </a:path>
              </a:pathLst>
            </a:custGeom>
            <a:solidFill>
              <a:srgbClr val="2A3B3F"/>
            </a:solidFill>
          </p:spPr>
        </p:sp>
      </p:grpSp>
      <p:grpSp>
        <p:nvGrpSpPr>
          <p:cNvPr name="Group 39" id="39"/>
          <p:cNvGrpSpPr/>
          <p:nvPr/>
        </p:nvGrpSpPr>
        <p:grpSpPr>
          <a:xfrm rot="0">
            <a:off x="10839450" y="2540003"/>
            <a:ext cx="900017" cy="900017"/>
            <a:chOff x="0" y="0"/>
            <a:chExt cx="1200023" cy="1200023"/>
          </a:xfrm>
        </p:grpSpPr>
        <p:sp>
          <p:nvSpPr>
            <p:cNvPr name="Freeform 40" id="40"/>
            <p:cNvSpPr/>
            <p:nvPr/>
          </p:nvSpPr>
          <p:spPr>
            <a:xfrm flipH="false" flipV="false" rot="0">
              <a:off x="0" y="0"/>
              <a:ext cx="1200023" cy="1200023"/>
            </a:xfrm>
            <a:custGeom>
              <a:avLst/>
              <a:gdLst/>
              <a:ahLst/>
              <a:cxnLst/>
              <a:rect r="r" b="b" t="t" l="l"/>
              <a:pathLst>
                <a:path h="1200023" w="1200023">
                  <a:moveTo>
                    <a:pt x="0" y="599948"/>
                  </a:moveTo>
                  <a:cubicBezTo>
                    <a:pt x="0" y="268605"/>
                    <a:pt x="268605" y="0"/>
                    <a:pt x="599948" y="0"/>
                  </a:cubicBezTo>
                  <a:cubicBezTo>
                    <a:pt x="931291" y="0"/>
                    <a:pt x="1200023" y="268605"/>
                    <a:pt x="1200023" y="599948"/>
                  </a:cubicBezTo>
                  <a:cubicBezTo>
                    <a:pt x="1200023" y="931291"/>
                    <a:pt x="931418" y="1200023"/>
                    <a:pt x="599948" y="1200023"/>
                  </a:cubicBezTo>
                  <a:cubicBezTo>
                    <a:pt x="268478" y="1200023"/>
                    <a:pt x="0" y="931418"/>
                    <a:pt x="0" y="599948"/>
                  </a:cubicBezTo>
                  <a:close/>
                </a:path>
              </a:pathLst>
            </a:custGeom>
            <a:solidFill>
              <a:srgbClr val="2A3B3F"/>
            </a:solidFill>
          </p:spPr>
        </p:sp>
      </p:grpSp>
      <p:grpSp>
        <p:nvGrpSpPr>
          <p:cNvPr name="Group 41" id="41"/>
          <p:cNvGrpSpPr/>
          <p:nvPr/>
        </p:nvGrpSpPr>
        <p:grpSpPr>
          <a:xfrm rot="0">
            <a:off x="11039446" y="2740000"/>
            <a:ext cx="499967" cy="499967"/>
            <a:chOff x="0" y="0"/>
            <a:chExt cx="666623" cy="666623"/>
          </a:xfrm>
        </p:grpSpPr>
        <p:sp>
          <p:nvSpPr>
            <p:cNvPr name="Freeform 42" id="42"/>
            <p:cNvSpPr/>
            <p:nvPr/>
          </p:nvSpPr>
          <p:spPr>
            <a:xfrm flipH="false" flipV="false" rot="0">
              <a:off x="0" y="0"/>
              <a:ext cx="666623" cy="666623"/>
            </a:xfrm>
            <a:custGeom>
              <a:avLst/>
              <a:gdLst/>
              <a:ahLst/>
              <a:cxnLst/>
              <a:rect r="r" b="b" t="t" l="l"/>
              <a:pathLst>
                <a:path h="666623" w="666623">
                  <a:moveTo>
                    <a:pt x="0" y="0"/>
                  </a:moveTo>
                  <a:lnTo>
                    <a:pt x="666623" y="0"/>
                  </a:lnTo>
                  <a:lnTo>
                    <a:pt x="666623" y="666623"/>
                  </a:lnTo>
                  <a:lnTo>
                    <a:pt x="0" y="666623"/>
                  </a:lnTo>
                  <a:lnTo>
                    <a:pt x="0" y="0"/>
                  </a:lnTo>
                  <a:close/>
                </a:path>
              </a:pathLst>
            </a:custGeom>
            <a:blipFill>
              <a:blip r:embed="rId11"/>
              <a:stretch>
                <a:fillRect l="0" t="0" r="0" b="0"/>
              </a:stretch>
            </a:blipFill>
          </p:spPr>
        </p:sp>
      </p:grpSp>
      <p:grpSp>
        <p:nvGrpSpPr>
          <p:cNvPr name="Group 43" id="43"/>
          <p:cNvGrpSpPr/>
          <p:nvPr/>
        </p:nvGrpSpPr>
        <p:grpSpPr>
          <a:xfrm rot="0">
            <a:off x="9359446" y="3629997"/>
            <a:ext cx="3860006" cy="360045"/>
            <a:chOff x="0" y="0"/>
            <a:chExt cx="5146675" cy="480060"/>
          </a:xfrm>
        </p:grpSpPr>
        <p:sp>
          <p:nvSpPr>
            <p:cNvPr name="Freeform 44" id="44"/>
            <p:cNvSpPr/>
            <p:nvPr/>
          </p:nvSpPr>
          <p:spPr>
            <a:xfrm flipH="false" flipV="false" rot="0">
              <a:off x="0" y="0"/>
              <a:ext cx="5146675" cy="480060"/>
            </a:xfrm>
            <a:custGeom>
              <a:avLst/>
              <a:gdLst/>
              <a:ahLst/>
              <a:cxnLst/>
              <a:rect r="r" b="b" t="t" l="l"/>
              <a:pathLst>
                <a:path h="480060" w="5146675">
                  <a:moveTo>
                    <a:pt x="0" y="0"/>
                  </a:moveTo>
                  <a:lnTo>
                    <a:pt x="5146675" y="0"/>
                  </a:lnTo>
                  <a:lnTo>
                    <a:pt x="5146675" y="480060"/>
                  </a:lnTo>
                  <a:lnTo>
                    <a:pt x="0" y="480060"/>
                  </a:lnTo>
                  <a:close/>
                </a:path>
              </a:pathLst>
            </a:custGeom>
            <a:blipFill>
              <a:blip r:embed="rId4">
                <a:alphaModFix amt="0"/>
              </a:blip>
              <a:stretch>
                <a:fillRect l="0" t="-158751" r="0" b="-158751"/>
              </a:stretch>
            </a:blipFill>
          </p:spPr>
        </p:sp>
      </p:grpSp>
      <p:grpSp>
        <p:nvGrpSpPr>
          <p:cNvPr name="Group 45" id="45"/>
          <p:cNvGrpSpPr/>
          <p:nvPr/>
        </p:nvGrpSpPr>
        <p:grpSpPr>
          <a:xfrm rot="0">
            <a:off x="9359446" y="3615709"/>
            <a:ext cx="3859997" cy="374285"/>
            <a:chOff x="0" y="0"/>
            <a:chExt cx="5146662" cy="499046"/>
          </a:xfrm>
        </p:grpSpPr>
        <p:sp>
          <p:nvSpPr>
            <p:cNvPr name="Freeform 46" id="46"/>
            <p:cNvSpPr/>
            <p:nvPr/>
          </p:nvSpPr>
          <p:spPr>
            <a:xfrm flipH="false" flipV="false" rot="0">
              <a:off x="0" y="0"/>
              <a:ext cx="5146675" cy="499110"/>
            </a:xfrm>
            <a:custGeom>
              <a:avLst/>
              <a:gdLst/>
              <a:ahLst/>
              <a:cxnLst/>
              <a:rect r="r" b="b" t="t" l="l"/>
              <a:pathLst>
                <a:path h="499110" w="5146675">
                  <a:moveTo>
                    <a:pt x="0" y="0"/>
                  </a:moveTo>
                  <a:lnTo>
                    <a:pt x="5146675" y="0"/>
                  </a:lnTo>
                  <a:lnTo>
                    <a:pt x="5146675" y="499110"/>
                  </a:lnTo>
                  <a:lnTo>
                    <a:pt x="0" y="499110"/>
                  </a:lnTo>
                  <a:close/>
                </a:path>
              </a:pathLst>
            </a:custGeom>
            <a:blipFill>
              <a:blip r:embed="rId5">
                <a:alphaModFix amt="0"/>
              </a:blip>
              <a:stretch>
                <a:fillRect l="0" t="-150791" r="0" b="-150776"/>
              </a:stretch>
            </a:blipFill>
          </p:spPr>
        </p:sp>
      </p:grpSp>
      <p:grpSp>
        <p:nvGrpSpPr>
          <p:cNvPr name="Group 47" id="47"/>
          <p:cNvGrpSpPr/>
          <p:nvPr/>
        </p:nvGrpSpPr>
        <p:grpSpPr>
          <a:xfrm rot="0">
            <a:off x="9359446" y="3601422"/>
            <a:ext cx="3859997" cy="388572"/>
            <a:chOff x="0" y="0"/>
            <a:chExt cx="5146662" cy="518096"/>
          </a:xfrm>
        </p:grpSpPr>
        <p:sp>
          <p:nvSpPr>
            <p:cNvPr name="Freeform 48" id="48"/>
            <p:cNvSpPr/>
            <p:nvPr/>
          </p:nvSpPr>
          <p:spPr>
            <a:xfrm flipH="false" flipV="false" rot="0">
              <a:off x="0" y="0"/>
              <a:ext cx="5146663" cy="518097"/>
            </a:xfrm>
            <a:custGeom>
              <a:avLst/>
              <a:gdLst/>
              <a:ahLst/>
              <a:cxnLst/>
              <a:rect r="r" b="b" t="t" l="l"/>
              <a:pathLst>
                <a:path h="518097" w="5146663">
                  <a:moveTo>
                    <a:pt x="0" y="0"/>
                  </a:moveTo>
                  <a:lnTo>
                    <a:pt x="5146663" y="0"/>
                  </a:lnTo>
                  <a:lnTo>
                    <a:pt x="5146663" y="518097"/>
                  </a:lnTo>
                  <a:lnTo>
                    <a:pt x="0" y="518097"/>
                  </a:lnTo>
                  <a:close/>
                </a:path>
              </a:pathLst>
            </a:custGeom>
            <a:blipFill>
              <a:blip r:embed="rId6">
                <a:alphaModFix amt="0"/>
              </a:blip>
              <a:stretch>
                <a:fillRect l="0" t="-143560" r="0" b="-143560"/>
              </a:stretch>
            </a:blipFill>
          </p:spPr>
        </p:sp>
        <p:sp>
          <p:nvSpPr>
            <p:cNvPr name="TextBox 49" id="49"/>
            <p:cNvSpPr txBox="true"/>
            <p:nvPr/>
          </p:nvSpPr>
          <p:spPr>
            <a:xfrm>
              <a:off x="0" y="-19050"/>
              <a:ext cx="5146662" cy="537146"/>
            </a:xfrm>
            <a:prstGeom prst="rect">
              <a:avLst/>
            </a:prstGeom>
          </p:spPr>
          <p:txBody>
            <a:bodyPr anchor="ctr" rtlCol="false" tIns="0" lIns="0" bIns="0" rIns="0"/>
            <a:lstStyle/>
            <a:p>
              <a:pPr algn="ctr">
                <a:lnSpc>
                  <a:spcPts val="1919"/>
                </a:lnSpc>
              </a:pPr>
              <a:r>
                <a:rPr lang="en-US" sz="1599" b="true">
                  <a:solidFill>
                    <a:srgbClr val="2A3B3F"/>
                  </a:solidFill>
                  <a:latin typeface="Poppins Bold"/>
                  <a:ea typeface="Poppins Bold"/>
                  <a:cs typeface="Poppins Bold"/>
                  <a:sym typeface="Poppins Bold"/>
                </a:rPr>
                <a:t>Security</a:t>
              </a:r>
            </a:p>
          </p:txBody>
        </p:sp>
      </p:grpSp>
      <p:sp>
        <p:nvSpPr>
          <p:cNvPr name="TextBox 50" id="50"/>
          <p:cNvSpPr txBox="true"/>
          <p:nvPr/>
        </p:nvSpPr>
        <p:spPr>
          <a:xfrm rot="0">
            <a:off x="9579454" y="3964276"/>
            <a:ext cx="3419999" cy="214246"/>
          </a:xfrm>
          <a:prstGeom prst="rect">
            <a:avLst/>
          </a:prstGeom>
        </p:spPr>
        <p:txBody>
          <a:bodyPr anchor="t" rtlCol="false" tIns="0" lIns="0" bIns="0" rIns="0">
            <a:spAutoFit/>
          </a:bodyPr>
          <a:lstStyle/>
          <a:p>
            <a:pPr algn="ctr">
              <a:lnSpc>
                <a:spcPts val="1448"/>
              </a:lnSpc>
            </a:pPr>
            <a:r>
              <a:rPr lang="en-US" sz="1050">
                <a:solidFill>
                  <a:srgbClr val="5C6B70"/>
                </a:solidFill>
                <a:latin typeface="Poppins"/>
                <a:ea typeface="Poppins"/>
                <a:cs typeface="Poppins"/>
                <a:sym typeface="Poppins"/>
              </a:rPr>
              <a:t>HTTPS/TLS 1.2+, bcrypt, RBAC</a:t>
            </a:r>
          </a:p>
        </p:txBody>
      </p:sp>
      <p:sp>
        <p:nvSpPr>
          <p:cNvPr name="Freeform 51" id="51"/>
          <p:cNvSpPr/>
          <p:nvPr/>
        </p:nvSpPr>
        <p:spPr>
          <a:xfrm flipH="false" flipV="false" rot="0">
            <a:off x="2868339" y="5768883"/>
            <a:ext cx="3882200" cy="3022187"/>
          </a:xfrm>
          <a:custGeom>
            <a:avLst/>
            <a:gdLst/>
            <a:ahLst/>
            <a:cxnLst/>
            <a:rect r="r" b="b" t="t" l="l"/>
            <a:pathLst>
              <a:path h="3022187" w="3882200">
                <a:moveTo>
                  <a:pt x="0" y="0"/>
                </a:moveTo>
                <a:lnTo>
                  <a:pt x="3882200" y="0"/>
                </a:lnTo>
                <a:lnTo>
                  <a:pt x="3882200" y="3022187"/>
                </a:lnTo>
                <a:lnTo>
                  <a:pt x="0" y="3022187"/>
                </a:lnTo>
                <a:lnTo>
                  <a:pt x="0" y="0"/>
                </a:lnTo>
                <a:close/>
              </a:path>
            </a:pathLst>
          </a:custGeom>
          <a:blipFill>
            <a:blip r:embed="rId7">
              <a:extLst>
                <a:ext uri="{96DAC541-7B7A-43D3-8B79-37D633B846F1}">
                  <asvg:svgBlip xmlns:asvg="http://schemas.microsoft.com/office/drawing/2016/SVG/main" r:embed="rId8"/>
                </a:ext>
              </a:extLst>
            </a:blip>
            <a:stretch>
              <a:fillRect l="0" t="-60" r="0" b="-60"/>
            </a:stretch>
          </a:blipFill>
        </p:spPr>
      </p:sp>
      <p:grpSp>
        <p:nvGrpSpPr>
          <p:cNvPr name="Group 52" id="52"/>
          <p:cNvGrpSpPr/>
          <p:nvPr/>
        </p:nvGrpSpPr>
        <p:grpSpPr>
          <a:xfrm rot="0">
            <a:off x="2879446" y="5779999"/>
            <a:ext cx="3860006" cy="82582"/>
            <a:chOff x="0" y="0"/>
            <a:chExt cx="5146675" cy="110109"/>
          </a:xfrm>
        </p:grpSpPr>
        <p:sp>
          <p:nvSpPr>
            <p:cNvPr name="Freeform 53" id="53"/>
            <p:cNvSpPr/>
            <p:nvPr/>
          </p:nvSpPr>
          <p:spPr>
            <a:xfrm flipH="false" flipV="false" rot="0">
              <a:off x="0" y="0"/>
              <a:ext cx="5146675" cy="110109"/>
            </a:xfrm>
            <a:custGeom>
              <a:avLst/>
              <a:gdLst/>
              <a:ahLst/>
              <a:cxnLst/>
              <a:rect r="r" b="b" t="t" l="l"/>
              <a:pathLst>
                <a:path h="110109" w="5146675">
                  <a:moveTo>
                    <a:pt x="27559" y="0"/>
                  </a:moveTo>
                  <a:lnTo>
                    <a:pt x="5119116" y="0"/>
                  </a:lnTo>
                  <a:cubicBezTo>
                    <a:pt x="5134356" y="0"/>
                    <a:pt x="5146675" y="12319"/>
                    <a:pt x="5146675" y="27559"/>
                  </a:cubicBezTo>
                  <a:lnTo>
                    <a:pt x="5146675" y="82550"/>
                  </a:lnTo>
                  <a:cubicBezTo>
                    <a:pt x="5146675" y="97790"/>
                    <a:pt x="5134356" y="110109"/>
                    <a:pt x="5119116" y="110109"/>
                  </a:cubicBezTo>
                  <a:lnTo>
                    <a:pt x="27559" y="110109"/>
                  </a:lnTo>
                  <a:cubicBezTo>
                    <a:pt x="12319" y="110109"/>
                    <a:pt x="0" y="97790"/>
                    <a:pt x="0" y="82550"/>
                  </a:cubicBezTo>
                  <a:lnTo>
                    <a:pt x="0" y="27559"/>
                  </a:lnTo>
                  <a:cubicBezTo>
                    <a:pt x="0" y="12319"/>
                    <a:pt x="12319" y="0"/>
                    <a:pt x="27559" y="0"/>
                  </a:cubicBezTo>
                  <a:close/>
                </a:path>
              </a:pathLst>
            </a:custGeom>
            <a:solidFill>
              <a:srgbClr val="737AE6"/>
            </a:solidFill>
          </p:spPr>
        </p:sp>
      </p:grpSp>
      <p:grpSp>
        <p:nvGrpSpPr>
          <p:cNvPr name="Group 54" id="54"/>
          <p:cNvGrpSpPr/>
          <p:nvPr/>
        </p:nvGrpSpPr>
        <p:grpSpPr>
          <a:xfrm rot="0">
            <a:off x="4359450" y="6040003"/>
            <a:ext cx="900017" cy="900017"/>
            <a:chOff x="0" y="0"/>
            <a:chExt cx="1200023" cy="1200023"/>
          </a:xfrm>
        </p:grpSpPr>
        <p:sp>
          <p:nvSpPr>
            <p:cNvPr name="Freeform 55" id="55"/>
            <p:cNvSpPr/>
            <p:nvPr/>
          </p:nvSpPr>
          <p:spPr>
            <a:xfrm flipH="false" flipV="false" rot="0">
              <a:off x="0" y="0"/>
              <a:ext cx="1200023" cy="1200023"/>
            </a:xfrm>
            <a:custGeom>
              <a:avLst/>
              <a:gdLst/>
              <a:ahLst/>
              <a:cxnLst/>
              <a:rect r="r" b="b" t="t" l="l"/>
              <a:pathLst>
                <a:path h="1200023" w="1200023">
                  <a:moveTo>
                    <a:pt x="0" y="599948"/>
                  </a:moveTo>
                  <a:cubicBezTo>
                    <a:pt x="0" y="268605"/>
                    <a:pt x="268605" y="0"/>
                    <a:pt x="599948" y="0"/>
                  </a:cubicBezTo>
                  <a:cubicBezTo>
                    <a:pt x="931291" y="0"/>
                    <a:pt x="1200023" y="268605"/>
                    <a:pt x="1200023" y="599948"/>
                  </a:cubicBezTo>
                  <a:cubicBezTo>
                    <a:pt x="1200023" y="931291"/>
                    <a:pt x="931418" y="1200023"/>
                    <a:pt x="599948" y="1200023"/>
                  </a:cubicBezTo>
                  <a:cubicBezTo>
                    <a:pt x="268478" y="1200023"/>
                    <a:pt x="0" y="931418"/>
                    <a:pt x="0" y="599948"/>
                  </a:cubicBezTo>
                  <a:close/>
                </a:path>
              </a:pathLst>
            </a:custGeom>
            <a:solidFill>
              <a:srgbClr val="737AE6"/>
            </a:solidFill>
          </p:spPr>
        </p:sp>
      </p:grpSp>
      <p:grpSp>
        <p:nvGrpSpPr>
          <p:cNvPr name="Group 56" id="56"/>
          <p:cNvGrpSpPr/>
          <p:nvPr/>
        </p:nvGrpSpPr>
        <p:grpSpPr>
          <a:xfrm rot="0">
            <a:off x="4559446" y="6239999"/>
            <a:ext cx="499967" cy="499967"/>
            <a:chOff x="0" y="0"/>
            <a:chExt cx="666623" cy="666623"/>
          </a:xfrm>
        </p:grpSpPr>
        <p:sp>
          <p:nvSpPr>
            <p:cNvPr name="Freeform 57" id="57"/>
            <p:cNvSpPr/>
            <p:nvPr/>
          </p:nvSpPr>
          <p:spPr>
            <a:xfrm flipH="false" flipV="false" rot="0">
              <a:off x="0" y="0"/>
              <a:ext cx="666623" cy="666623"/>
            </a:xfrm>
            <a:custGeom>
              <a:avLst/>
              <a:gdLst/>
              <a:ahLst/>
              <a:cxnLst/>
              <a:rect r="r" b="b" t="t" l="l"/>
              <a:pathLst>
                <a:path h="666623" w="666623">
                  <a:moveTo>
                    <a:pt x="0" y="0"/>
                  </a:moveTo>
                  <a:lnTo>
                    <a:pt x="666623" y="0"/>
                  </a:lnTo>
                  <a:lnTo>
                    <a:pt x="666623" y="666623"/>
                  </a:lnTo>
                  <a:lnTo>
                    <a:pt x="0" y="666623"/>
                  </a:lnTo>
                  <a:lnTo>
                    <a:pt x="0" y="0"/>
                  </a:lnTo>
                  <a:close/>
                </a:path>
              </a:pathLst>
            </a:custGeom>
            <a:blipFill>
              <a:blip r:embed="rId12"/>
              <a:stretch>
                <a:fillRect l="0" t="0" r="0" b="0"/>
              </a:stretch>
            </a:blipFill>
          </p:spPr>
        </p:sp>
      </p:grpSp>
      <p:grpSp>
        <p:nvGrpSpPr>
          <p:cNvPr name="Group 58" id="58"/>
          <p:cNvGrpSpPr/>
          <p:nvPr/>
        </p:nvGrpSpPr>
        <p:grpSpPr>
          <a:xfrm rot="0">
            <a:off x="2879446" y="7129996"/>
            <a:ext cx="3860006" cy="360045"/>
            <a:chOff x="0" y="0"/>
            <a:chExt cx="5146675" cy="480060"/>
          </a:xfrm>
        </p:grpSpPr>
        <p:sp>
          <p:nvSpPr>
            <p:cNvPr name="Freeform 59" id="59"/>
            <p:cNvSpPr/>
            <p:nvPr/>
          </p:nvSpPr>
          <p:spPr>
            <a:xfrm flipH="false" flipV="false" rot="0">
              <a:off x="0" y="0"/>
              <a:ext cx="5146675" cy="480060"/>
            </a:xfrm>
            <a:custGeom>
              <a:avLst/>
              <a:gdLst/>
              <a:ahLst/>
              <a:cxnLst/>
              <a:rect r="r" b="b" t="t" l="l"/>
              <a:pathLst>
                <a:path h="480060" w="5146675">
                  <a:moveTo>
                    <a:pt x="0" y="0"/>
                  </a:moveTo>
                  <a:lnTo>
                    <a:pt x="5146675" y="0"/>
                  </a:lnTo>
                  <a:lnTo>
                    <a:pt x="5146675" y="480060"/>
                  </a:lnTo>
                  <a:lnTo>
                    <a:pt x="0" y="480060"/>
                  </a:lnTo>
                  <a:close/>
                </a:path>
              </a:pathLst>
            </a:custGeom>
            <a:blipFill>
              <a:blip r:embed="rId4">
                <a:alphaModFix amt="0"/>
              </a:blip>
              <a:stretch>
                <a:fillRect l="0" t="-158751" r="0" b="-158751"/>
              </a:stretch>
            </a:blipFill>
          </p:spPr>
        </p:sp>
      </p:grpSp>
      <p:grpSp>
        <p:nvGrpSpPr>
          <p:cNvPr name="Group 60" id="60"/>
          <p:cNvGrpSpPr/>
          <p:nvPr/>
        </p:nvGrpSpPr>
        <p:grpSpPr>
          <a:xfrm rot="0">
            <a:off x="2879446" y="7115708"/>
            <a:ext cx="3859997" cy="374285"/>
            <a:chOff x="0" y="0"/>
            <a:chExt cx="5146662" cy="499046"/>
          </a:xfrm>
        </p:grpSpPr>
        <p:sp>
          <p:nvSpPr>
            <p:cNvPr name="Freeform 61" id="61"/>
            <p:cNvSpPr/>
            <p:nvPr/>
          </p:nvSpPr>
          <p:spPr>
            <a:xfrm flipH="false" flipV="false" rot="0">
              <a:off x="0" y="0"/>
              <a:ext cx="5146675" cy="499110"/>
            </a:xfrm>
            <a:custGeom>
              <a:avLst/>
              <a:gdLst/>
              <a:ahLst/>
              <a:cxnLst/>
              <a:rect r="r" b="b" t="t" l="l"/>
              <a:pathLst>
                <a:path h="499110" w="5146675">
                  <a:moveTo>
                    <a:pt x="0" y="0"/>
                  </a:moveTo>
                  <a:lnTo>
                    <a:pt x="5146675" y="0"/>
                  </a:lnTo>
                  <a:lnTo>
                    <a:pt x="5146675" y="499110"/>
                  </a:lnTo>
                  <a:lnTo>
                    <a:pt x="0" y="499110"/>
                  </a:lnTo>
                  <a:close/>
                </a:path>
              </a:pathLst>
            </a:custGeom>
            <a:blipFill>
              <a:blip r:embed="rId5">
                <a:alphaModFix amt="0"/>
              </a:blip>
              <a:stretch>
                <a:fillRect l="0" t="-150791" r="0" b="-150776"/>
              </a:stretch>
            </a:blipFill>
          </p:spPr>
        </p:sp>
      </p:grpSp>
      <p:grpSp>
        <p:nvGrpSpPr>
          <p:cNvPr name="Group 62" id="62"/>
          <p:cNvGrpSpPr/>
          <p:nvPr/>
        </p:nvGrpSpPr>
        <p:grpSpPr>
          <a:xfrm rot="0">
            <a:off x="2879446" y="7101421"/>
            <a:ext cx="3859997" cy="388572"/>
            <a:chOff x="0" y="0"/>
            <a:chExt cx="5146662" cy="518096"/>
          </a:xfrm>
        </p:grpSpPr>
        <p:sp>
          <p:nvSpPr>
            <p:cNvPr name="Freeform 63" id="63"/>
            <p:cNvSpPr/>
            <p:nvPr/>
          </p:nvSpPr>
          <p:spPr>
            <a:xfrm flipH="false" flipV="false" rot="0">
              <a:off x="0" y="0"/>
              <a:ext cx="5146663" cy="518097"/>
            </a:xfrm>
            <a:custGeom>
              <a:avLst/>
              <a:gdLst/>
              <a:ahLst/>
              <a:cxnLst/>
              <a:rect r="r" b="b" t="t" l="l"/>
              <a:pathLst>
                <a:path h="518097" w="5146663">
                  <a:moveTo>
                    <a:pt x="0" y="0"/>
                  </a:moveTo>
                  <a:lnTo>
                    <a:pt x="5146663" y="0"/>
                  </a:lnTo>
                  <a:lnTo>
                    <a:pt x="5146663" y="518097"/>
                  </a:lnTo>
                  <a:lnTo>
                    <a:pt x="0" y="518097"/>
                  </a:lnTo>
                  <a:close/>
                </a:path>
              </a:pathLst>
            </a:custGeom>
            <a:blipFill>
              <a:blip r:embed="rId6">
                <a:alphaModFix amt="0"/>
              </a:blip>
              <a:stretch>
                <a:fillRect l="0" t="-143560" r="0" b="-143560"/>
              </a:stretch>
            </a:blipFill>
          </p:spPr>
        </p:sp>
        <p:sp>
          <p:nvSpPr>
            <p:cNvPr name="TextBox 64" id="64"/>
            <p:cNvSpPr txBox="true"/>
            <p:nvPr/>
          </p:nvSpPr>
          <p:spPr>
            <a:xfrm>
              <a:off x="0" y="-19050"/>
              <a:ext cx="5146662" cy="537146"/>
            </a:xfrm>
            <a:prstGeom prst="rect">
              <a:avLst/>
            </a:prstGeom>
          </p:spPr>
          <p:txBody>
            <a:bodyPr anchor="ctr" rtlCol="false" tIns="0" lIns="0" bIns="0" rIns="0"/>
            <a:lstStyle/>
            <a:p>
              <a:pPr algn="ctr">
                <a:lnSpc>
                  <a:spcPts val="1919"/>
                </a:lnSpc>
              </a:pPr>
              <a:r>
                <a:rPr lang="en-US" sz="1599" b="true">
                  <a:solidFill>
                    <a:srgbClr val="2A3B3F"/>
                  </a:solidFill>
                  <a:latin typeface="Poppins Bold"/>
                  <a:ea typeface="Poppins Bold"/>
                  <a:cs typeface="Poppins Bold"/>
                  <a:sym typeface="Poppins Bold"/>
                </a:rPr>
                <a:t>Usability</a:t>
              </a:r>
            </a:p>
          </p:txBody>
        </p:sp>
      </p:grpSp>
      <p:sp>
        <p:nvSpPr>
          <p:cNvPr name="TextBox 65" id="65"/>
          <p:cNvSpPr txBox="true"/>
          <p:nvPr/>
        </p:nvSpPr>
        <p:spPr>
          <a:xfrm rot="0">
            <a:off x="3099454" y="7464276"/>
            <a:ext cx="3419999" cy="1115720"/>
          </a:xfrm>
          <a:prstGeom prst="rect">
            <a:avLst/>
          </a:prstGeom>
        </p:spPr>
        <p:txBody>
          <a:bodyPr anchor="t" rtlCol="false" tIns="0" lIns="0" bIns="0" rIns="0">
            <a:spAutoFit/>
          </a:bodyPr>
          <a:lstStyle/>
          <a:p>
            <a:pPr algn="ctr">
              <a:lnSpc>
                <a:spcPts val="1448"/>
              </a:lnSpc>
            </a:pPr>
            <a:r>
              <a:rPr lang="en-US" sz="1050">
                <a:solidFill>
                  <a:srgbClr val="5C6B70"/>
                </a:solidFill>
                <a:latin typeface="Poppins"/>
                <a:ea typeface="Poppins"/>
                <a:cs typeface="Poppins"/>
                <a:sym typeface="Poppins"/>
              </a:rPr>
              <a:t>Registration &amp; CV upload under 5 min</a:t>
            </a:r>
          </a:p>
        </p:txBody>
      </p:sp>
      <p:sp>
        <p:nvSpPr>
          <p:cNvPr name="Freeform 66" id="66"/>
          <p:cNvSpPr/>
          <p:nvPr/>
        </p:nvSpPr>
        <p:spPr>
          <a:xfrm flipH="false" flipV="false" rot="0">
            <a:off x="7188337" y="5768883"/>
            <a:ext cx="3882200" cy="3022187"/>
          </a:xfrm>
          <a:custGeom>
            <a:avLst/>
            <a:gdLst/>
            <a:ahLst/>
            <a:cxnLst/>
            <a:rect r="r" b="b" t="t" l="l"/>
            <a:pathLst>
              <a:path h="3022187" w="3882200">
                <a:moveTo>
                  <a:pt x="0" y="0"/>
                </a:moveTo>
                <a:lnTo>
                  <a:pt x="3882199" y="0"/>
                </a:lnTo>
                <a:lnTo>
                  <a:pt x="3882199" y="3022187"/>
                </a:lnTo>
                <a:lnTo>
                  <a:pt x="0" y="3022187"/>
                </a:lnTo>
                <a:lnTo>
                  <a:pt x="0" y="0"/>
                </a:lnTo>
                <a:close/>
              </a:path>
            </a:pathLst>
          </a:custGeom>
          <a:blipFill>
            <a:blip r:embed="rId7">
              <a:extLst>
                <a:ext uri="{96DAC541-7B7A-43D3-8B79-37D633B846F1}">
                  <asvg:svgBlip xmlns:asvg="http://schemas.microsoft.com/office/drawing/2016/SVG/main" r:embed="rId8"/>
                </a:ext>
              </a:extLst>
            </a:blip>
            <a:stretch>
              <a:fillRect l="0" t="-60" r="0" b="-60"/>
            </a:stretch>
          </a:blipFill>
        </p:spPr>
      </p:sp>
      <p:grpSp>
        <p:nvGrpSpPr>
          <p:cNvPr name="Group 67" id="67"/>
          <p:cNvGrpSpPr/>
          <p:nvPr/>
        </p:nvGrpSpPr>
        <p:grpSpPr>
          <a:xfrm rot="0">
            <a:off x="7199452" y="5779999"/>
            <a:ext cx="3860006" cy="82582"/>
            <a:chOff x="0" y="0"/>
            <a:chExt cx="5146675" cy="110109"/>
          </a:xfrm>
        </p:grpSpPr>
        <p:sp>
          <p:nvSpPr>
            <p:cNvPr name="Freeform 68" id="68"/>
            <p:cNvSpPr/>
            <p:nvPr/>
          </p:nvSpPr>
          <p:spPr>
            <a:xfrm flipH="false" flipV="false" rot="0">
              <a:off x="0" y="0"/>
              <a:ext cx="5146675" cy="110109"/>
            </a:xfrm>
            <a:custGeom>
              <a:avLst/>
              <a:gdLst/>
              <a:ahLst/>
              <a:cxnLst/>
              <a:rect r="r" b="b" t="t" l="l"/>
              <a:pathLst>
                <a:path h="110109" w="5146675">
                  <a:moveTo>
                    <a:pt x="27559" y="0"/>
                  </a:moveTo>
                  <a:lnTo>
                    <a:pt x="5119116" y="0"/>
                  </a:lnTo>
                  <a:cubicBezTo>
                    <a:pt x="5134356" y="0"/>
                    <a:pt x="5146675" y="12319"/>
                    <a:pt x="5146675" y="27559"/>
                  </a:cubicBezTo>
                  <a:lnTo>
                    <a:pt x="5146675" y="82550"/>
                  </a:lnTo>
                  <a:cubicBezTo>
                    <a:pt x="5146675" y="97790"/>
                    <a:pt x="5134356" y="110109"/>
                    <a:pt x="5119116" y="110109"/>
                  </a:cubicBezTo>
                  <a:lnTo>
                    <a:pt x="27559" y="110109"/>
                  </a:lnTo>
                  <a:cubicBezTo>
                    <a:pt x="12319" y="110109"/>
                    <a:pt x="0" y="97790"/>
                    <a:pt x="0" y="82550"/>
                  </a:cubicBezTo>
                  <a:lnTo>
                    <a:pt x="0" y="27559"/>
                  </a:lnTo>
                  <a:cubicBezTo>
                    <a:pt x="0" y="12319"/>
                    <a:pt x="12319" y="0"/>
                    <a:pt x="27559" y="0"/>
                  </a:cubicBezTo>
                  <a:close/>
                </a:path>
              </a:pathLst>
            </a:custGeom>
            <a:solidFill>
              <a:srgbClr val="2A3B3F"/>
            </a:solidFill>
          </p:spPr>
        </p:sp>
      </p:grpSp>
      <p:grpSp>
        <p:nvGrpSpPr>
          <p:cNvPr name="Group 69" id="69"/>
          <p:cNvGrpSpPr/>
          <p:nvPr/>
        </p:nvGrpSpPr>
        <p:grpSpPr>
          <a:xfrm rot="0">
            <a:off x="8679447" y="6040003"/>
            <a:ext cx="900017" cy="900017"/>
            <a:chOff x="0" y="0"/>
            <a:chExt cx="1200023" cy="1200023"/>
          </a:xfrm>
        </p:grpSpPr>
        <p:sp>
          <p:nvSpPr>
            <p:cNvPr name="Freeform 70" id="70"/>
            <p:cNvSpPr/>
            <p:nvPr/>
          </p:nvSpPr>
          <p:spPr>
            <a:xfrm flipH="false" flipV="false" rot="0">
              <a:off x="0" y="0"/>
              <a:ext cx="1200023" cy="1200023"/>
            </a:xfrm>
            <a:custGeom>
              <a:avLst/>
              <a:gdLst/>
              <a:ahLst/>
              <a:cxnLst/>
              <a:rect r="r" b="b" t="t" l="l"/>
              <a:pathLst>
                <a:path h="1200023" w="1200023">
                  <a:moveTo>
                    <a:pt x="0" y="599948"/>
                  </a:moveTo>
                  <a:cubicBezTo>
                    <a:pt x="0" y="268605"/>
                    <a:pt x="268605" y="0"/>
                    <a:pt x="599948" y="0"/>
                  </a:cubicBezTo>
                  <a:cubicBezTo>
                    <a:pt x="931291" y="0"/>
                    <a:pt x="1200023" y="268605"/>
                    <a:pt x="1200023" y="599948"/>
                  </a:cubicBezTo>
                  <a:cubicBezTo>
                    <a:pt x="1200023" y="931291"/>
                    <a:pt x="931418" y="1200023"/>
                    <a:pt x="599948" y="1200023"/>
                  </a:cubicBezTo>
                  <a:cubicBezTo>
                    <a:pt x="268478" y="1200023"/>
                    <a:pt x="0" y="931418"/>
                    <a:pt x="0" y="599948"/>
                  </a:cubicBezTo>
                  <a:close/>
                </a:path>
              </a:pathLst>
            </a:custGeom>
            <a:solidFill>
              <a:srgbClr val="2A3B3F"/>
            </a:solidFill>
          </p:spPr>
        </p:sp>
      </p:grpSp>
      <p:grpSp>
        <p:nvGrpSpPr>
          <p:cNvPr name="Group 71" id="71"/>
          <p:cNvGrpSpPr/>
          <p:nvPr/>
        </p:nvGrpSpPr>
        <p:grpSpPr>
          <a:xfrm rot="0">
            <a:off x="8879453" y="6239999"/>
            <a:ext cx="499967" cy="499967"/>
            <a:chOff x="0" y="0"/>
            <a:chExt cx="666623" cy="666623"/>
          </a:xfrm>
        </p:grpSpPr>
        <p:sp>
          <p:nvSpPr>
            <p:cNvPr name="Freeform 72" id="72"/>
            <p:cNvSpPr/>
            <p:nvPr/>
          </p:nvSpPr>
          <p:spPr>
            <a:xfrm flipH="false" flipV="false" rot="0">
              <a:off x="0" y="0"/>
              <a:ext cx="666623" cy="666623"/>
            </a:xfrm>
            <a:custGeom>
              <a:avLst/>
              <a:gdLst/>
              <a:ahLst/>
              <a:cxnLst/>
              <a:rect r="r" b="b" t="t" l="l"/>
              <a:pathLst>
                <a:path h="666623" w="666623">
                  <a:moveTo>
                    <a:pt x="0" y="0"/>
                  </a:moveTo>
                  <a:lnTo>
                    <a:pt x="666623" y="0"/>
                  </a:lnTo>
                  <a:lnTo>
                    <a:pt x="666623" y="666623"/>
                  </a:lnTo>
                  <a:lnTo>
                    <a:pt x="0" y="666623"/>
                  </a:lnTo>
                  <a:lnTo>
                    <a:pt x="0" y="0"/>
                  </a:lnTo>
                  <a:close/>
                </a:path>
              </a:pathLst>
            </a:custGeom>
            <a:blipFill>
              <a:blip r:embed="rId13"/>
              <a:stretch>
                <a:fillRect l="0" t="0" r="0" b="0"/>
              </a:stretch>
            </a:blipFill>
          </p:spPr>
        </p:sp>
      </p:grpSp>
      <p:grpSp>
        <p:nvGrpSpPr>
          <p:cNvPr name="Group 73" id="73"/>
          <p:cNvGrpSpPr/>
          <p:nvPr/>
        </p:nvGrpSpPr>
        <p:grpSpPr>
          <a:xfrm rot="0">
            <a:off x="7199452" y="7129996"/>
            <a:ext cx="3860006" cy="360045"/>
            <a:chOff x="0" y="0"/>
            <a:chExt cx="5146675" cy="480060"/>
          </a:xfrm>
        </p:grpSpPr>
        <p:sp>
          <p:nvSpPr>
            <p:cNvPr name="Freeform 74" id="74"/>
            <p:cNvSpPr/>
            <p:nvPr/>
          </p:nvSpPr>
          <p:spPr>
            <a:xfrm flipH="false" flipV="false" rot="0">
              <a:off x="0" y="0"/>
              <a:ext cx="5146675" cy="480060"/>
            </a:xfrm>
            <a:custGeom>
              <a:avLst/>
              <a:gdLst/>
              <a:ahLst/>
              <a:cxnLst/>
              <a:rect r="r" b="b" t="t" l="l"/>
              <a:pathLst>
                <a:path h="480060" w="5146675">
                  <a:moveTo>
                    <a:pt x="0" y="0"/>
                  </a:moveTo>
                  <a:lnTo>
                    <a:pt x="5146675" y="0"/>
                  </a:lnTo>
                  <a:lnTo>
                    <a:pt x="5146675" y="480060"/>
                  </a:lnTo>
                  <a:lnTo>
                    <a:pt x="0" y="480060"/>
                  </a:lnTo>
                  <a:close/>
                </a:path>
              </a:pathLst>
            </a:custGeom>
            <a:blipFill>
              <a:blip r:embed="rId4">
                <a:alphaModFix amt="0"/>
              </a:blip>
              <a:stretch>
                <a:fillRect l="0" t="-158751" r="0" b="-158751"/>
              </a:stretch>
            </a:blipFill>
          </p:spPr>
        </p:sp>
      </p:grpSp>
      <p:grpSp>
        <p:nvGrpSpPr>
          <p:cNvPr name="Group 75" id="75"/>
          <p:cNvGrpSpPr/>
          <p:nvPr/>
        </p:nvGrpSpPr>
        <p:grpSpPr>
          <a:xfrm rot="0">
            <a:off x="7199452" y="7115708"/>
            <a:ext cx="3859997" cy="374285"/>
            <a:chOff x="0" y="0"/>
            <a:chExt cx="5146662" cy="499046"/>
          </a:xfrm>
        </p:grpSpPr>
        <p:sp>
          <p:nvSpPr>
            <p:cNvPr name="Freeform 76" id="76"/>
            <p:cNvSpPr/>
            <p:nvPr/>
          </p:nvSpPr>
          <p:spPr>
            <a:xfrm flipH="false" flipV="false" rot="0">
              <a:off x="0" y="0"/>
              <a:ext cx="5146675" cy="499110"/>
            </a:xfrm>
            <a:custGeom>
              <a:avLst/>
              <a:gdLst/>
              <a:ahLst/>
              <a:cxnLst/>
              <a:rect r="r" b="b" t="t" l="l"/>
              <a:pathLst>
                <a:path h="499110" w="5146675">
                  <a:moveTo>
                    <a:pt x="0" y="0"/>
                  </a:moveTo>
                  <a:lnTo>
                    <a:pt x="5146675" y="0"/>
                  </a:lnTo>
                  <a:lnTo>
                    <a:pt x="5146675" y="499110"/>
                  </a:lnTo>
                  <a:lnTo>
                    <a:pt x="0" y="499110"/>
                  </a:lnTo>
                  <a:close/>
                </a:path>
              </a:pathLst>
            </a:custGeom>
            <a:blipFill>
              <a:blip r:embed="rId5">
                <a:alphaModFix amt="0"/>
              </a:blip>
              <a:stretch>
                <a:fillRect l="0" t="-150791" r="0" b="-150776"/>
              </a:stretch>
            </a:blipFill>
          </p:spPr>
        </p:sp>
      </p:grpSp>
      <p:grpSp>
        <p:nvGrpSpPr>
          <p:cNvPr name="Group 77" id="77"/>
          <p:cNvGrpSpPr/>
          <p:nvPr/>
        </p:nvGrpSpPr>
        <p:grpSpPr>
          <a:xfrm rot="0">
            <a:off x="7199452" y="7101421"/>
            <a:ext cx="3859997" cy="388572"/>
            <a:chOff x="0" y="0"/>
            <a:chExt cx="5146662" cy="518096"/>
          </a:xfrm>
        </p:grpSpPr>
        <p:sp>
          <p:nvSpPr>
            <p:cNvPr name="Freeform 78" id="78"/>
            <p:cNvSpPr/>
            <p:nvPr/>
          </p:nvSpPr>
          <p:spPr>
            <a:xfrm flipH="false" flipV="false" rot="0">
              <a:off x="0" y="0"/>
              <a:ext cx="5146663" cy="518097"/>
            </a:xfrm>
            <a:custGeom>
              <a:avLst/>
              <a:gdLst/>
              <a:ahLst/>
              <a:cxnLst/>
              <a:rect r="r" b="b" t="t" l="l"/>
              <a:pathLst>
                <a:path h="518097" w="5146663">
                  <a:moveTo>
                    <a:pt x="0" y="0"/>
                  </a:moveTo>
                  <a:lnTo>
                    <a:pt x="5146663" y="0"/>
                  </a:lnTo>
                  <a:lnTo>
                    <a:pt x="5146663" y="518097"/>
                  </a:lnTo>
                  <a:lnTo>
                    <a:pt x="0" y="518097"/>
                  </a:lnTo>
                  <a:close/>
                </a:path>
              </a:pathLst>
            </a:custGeom>
            <a:blipFill>
              <a:blip r:embed="rId6">
                <a:alphaModFix amt="0"/>
              </a:blip>
              <a:stretch>
                <a:fillRect l="0" t="-143560" r="0" b="-143560"/>
              </a:stretch>
            </a:blipFill>
          </p:spPr>
        </p:sp>
        <p:sp>
          <p:nvSpPr>
            <p:cNvPr name="TextBox 79" id="79"/>
            <p:cNvSpPr txBox="true"/>
            <p:nvPr/>
          </p:nvSpPr>
          <p:spPr>
            <a:xfrm>
              <a:off x="0" y="-19050"/>
              <a:ext cx="5146662" cy="537146"/>
            </a:xfrm>
            <a:prstGeom prst="rect">
              <a:avLst/>
            </a:prstGeom>
          </p:spPr>
          <p:txBody>
            <a:bodyPr anchor="ctr" rtlCol="false" tIns="0" lIns="0" bIns="0" rIns="0"/>
            <a:lstStyle/>
            <a:p>
              <a:pPr algn="ctr">
                <a:lnSpc>
                  <a:spcPts val="1919"/>
                </a:lnSpc>
              </a:pPr>
              <a:r>
                <a:rPr lang="en-US" sz="1599" b="true">
                  <a:solidFill>
                    <a:srgbClr val="2A3B3F"/>
                  </a:solidFill>
                  <a:latin typeface="Poppins Bold"/>
                  <a:ea typeface="Poppins Bold"/>
                  <a:cs typeface="Poppins Bold"/>
                  <a:sym typeface="Poppins Bold"/>
                </a:rPr>
                <a:t>Maintainability</a:t>
              </a:r>
            </a:p>
          </p:txBody>
        </p:sp>
      </p:grpSp>
      <p:sp>
        <p:nvSpPr>
          <p:cNvPr name="TextBox 80" id="80"/>
          <p:cNvSpPr txBox="true"/>
          <p:nvPr/>
        </p:nvSpPr>
        <p:spPr>
          <a:xfrm rot="0">
            <a:off x="7419451" y="7464276"/>
            <a:ext cx="3419999" cy="214246"/>
          </a:xfrm>
          <a:prstGeom prst="rect">
            <a:avLst/>
          </a:prstGeom>
        </p:spPr>
        <p:txBody>
          <a:bodyPr anchor="t" rtlCol="false" tIns="0" lIns="0" bIns="0" rIns="0">
            <a:spAutoFit/>
          </a:bodyPr>
          <a:lstStyle/>
          <a:p>
            <a:pPr algn="ctr">
              <a:lnSpc>
                <a:spcPts val="1448"/>
              </a:lnSpc>
            </a:pPr>
            <a:r>
              <a:rPr lang="en-US" sz="1050">
                <a:solidFill>
                  <a:srgbClr val="5C6B70"/>
                </a:solidFill>
                <a:latin typeface="Poppins"/>
                <a:ea typeface="Poppins"/>
                <a:cs typeface="Poppins"/>
                <a:sym typeface="Poppins"/>
              </a:rPr>
              <a:t>Modular features</a:t>
            </a:r>
          </a:p>
        </p:txBody>
      </p:sp>
      <p:sp>
        <p:nvSpPr>
          <p:cNvPr name="Freeform 81" id="81"/>
          <p:cNvSpPr/>
          <p:nvPr/>
        </p:nvSpPr>
        <p:spPr>
          <a:xfrm flipH="false" flipV="false" rot="0">
            <a:off x="11508334" y="5768883"/>
            <a:ext cx="3882199" cy="3022187"/>
          </a:xfrm>
          <a:custGeom>
            <a:avLst/>
            <a:gdLst/>
            <a:ahLst/>
            <a:cxnLst/>
            <a:rect r="r" b="b" t="t" l="l"/>
            <a:pathLst>
              <a:path h="3022187" w="3882199">
                <a:moveTo>
                  <a:pt x="0" y="0"/>
                </a:moveTo>
                <a:lnTo>
                  <a:pt x="3882199" y="0"/>
                </a:lnTo>
                <a:lnTo>
                  <a:pt x="3882199" y="3022187"/>
                </a:lnTo>
                <a:lnTo>
                  <a:pt x="0" y="3022187"/>
                </a:lnTo>
                <a:lnTo>
                  <a:pt x="0" y="0"/>
                </a:lnTo>
                <a:close/>
              </a:path>
            </a:pathLst>
          </a:custGeom>
          <a:blipFill>
            <a:blip r:embed="rId7">
              <a:extLst>
                <a:ext uri="{96DAC541-7B7A-43D3-8B79-37D633B846F1}">
                  <asvg:svgBlip xmlns:asvg="http://schemas.microsoft.com/office/drawing/2016/SVG/main" r:embed="rId8"/>
                </a:ext>
              </a:extLst>
            </a:blip>
            <a:stretch>
              <a:fillRect l="0" t="-60" r="0" b="-60"/>
            </a:stretch>
          </a:blipFill>
        </p:spPr>
      </p:sp>
      <p:grpSp>
        <p:nvGrpSpPr>
          <p:cNvPr name="Group 82" id="82"/>
          <p:cNvGrpSpPr/>
          <p:nvPr/>
        </p:nvGrpSpPr>
        <p:grpSpPr>
          <a:xfrm rot="0">
            <a:off x="11519449" y="5779999"/>
            <a:ext cx="3860006" cy="82582"/>
            <a:chOff x="0" y="0"/>
            <a:chExt cx="5146675" cy="110109"/>
          </a:xfrm>
        </p:grpSpPr>
        <p:sp>
          <p:nvSpPr>
            <p:cNvPr name="Freeform 83" id="83"/>
            <p:cNvSpPr/>
            <p:nvPr/>
          </p:nvSpPr>
          <p:spPr>
            <a:xfrm flipH="false" flipV="false" rot="0">
              <a:off x="0" y="0"/>
              <a:ext cx="5146675" cy="110109"/>
            </a:xfrm>
            <a:custGeom>
              <a:avLst/>
              <a:gdLst/>
              <a:ahLst/>
              <a:cxnLst/>
              <a:rect r="r" b="b" t="t" l="l"/>
              <a:pathLst>
                <a:path h="110109" w="5146675">
                  <a:moveTo>
                    <a:pt x="27559" y="0"/>
                  </a:moveTo>
                  <a:lnTo>
                    <a:pt x="5119116" y="0"/>
                  </a:lnTo>
                  <a:cubicBezTo>
                    <a:pt x="5134356" y="0"/>
                    <a:pt x="5146675" y="12319"/>
                    <a:pt x="5146675" y="27559"/>
                  </a:cubicBezTo>
                  <a:lnTo>
                    <a:pt x="5146675" y="82550"/>
                  </a:lnTo>
                  <a:cubicBezTo>
                    <a:pt x="5146675" y="97790"/>
                    <a:pt x="5134356" y="110109"/>
                    <a:pt x="5119116" y="110109"/>
                  </a:cubicBezTo>
                  <a:lnTo>
                    <a:pt x="27559" y="110109"/>
                  </a:lnTo>
                  <a:cubicBezTo>
                    <a:pt x="12319" y="110109"/>
                    <a:pt x="0" y="97790"/>
                    <a:pt x="0" y="82550"/>
                  </a:cubicBezTo>
                  <a:lnTo>
                    <a:pt x="0" y="27559"/>
                  </a:lnTo>
                  <a:cubicBezTo>
                    <a:pt x="0" y="12319"/>
                    <a:pt x="12319" y="0"/>
                    <a:pt x="27559" y="0"/>
                  </a:cubicBezTo>
                  <a:close/>
                </a:path>
              </a:pathLst>
            </a:custGeom>
            <a:solidFill>
              <a:srgbClr val="3D6874"/>
            </a:solidFill>
          </p:spPr>
        </p:sp>
      </p:grpSp>
      <p:grpSp>
        <p:nvGrpSpPr>
          <p:cNvPr name="Group 84" id="84"/>
          <p:cNvGrpSpPr/>
          <p:nvPr/>
        </p:nvGrpSpPr>
        <p:grpSpPr>
          <a:xfrm rot="0">
            <a:off x="12999453" y="6040003"/>
            <a:ext cx="900017" cy="900017"/>
            <a:chOff x="0" y="0"/>
            <a:chExt cx="1200023" cy="1200023"/>
          </a:xfrm>
        </p:grpSpPr>
        <p:sp>
          <p:nvSpPr>
            <p:cNvPr name="Freeform 85" id="85"/>
            <p:cNvSpPr/>
            <p:nvPr/>
          </p:nvSpPr>
          <p:spPr>
            <a:xfrm flipH="false" flipV="false" rot="0">
              <a:off x="0" y="0"/>
              <a:ext cx="1200023" cy="1200023"/>
            </a:xfrm>
            <a:custGeom>
              <a:avLst/>
              <a:gdLst/>
              <a:ahLst/>
              <a:cxnLst/>
              <a:rect r="r" b="b" t="t" l="l"/>
              <a:pathLst>
                <a:path h="1200023" w="1200023">
                  <a:moveTo>
                    <a:pt x="0" y="599948"/>
                  </a:moveTo>
                  <a:cubicBezTo>
                    <a:pt x="0" y="268605"/>
                    <a:pt x="268605" y="0"/>
                    <a:pt x="599948" y="0"/>
                  </a:cubicBezTo>
                  <a:cubicBezTo>
                    <a:pt x="931291" y="0"/>
                    <a:pt x="1200023" y="268605"/>
                    <a:pt x="1200023" y="599948"/>
                  </a:cubicBezTo>
                  <a:cubicBezTo>
                    <a:pt x="1200023" y="931291"/>
                    <a:pt x="931418" y="1200023"/>
                    <a:pt x="599948" y="1200023"/>
                  </a:cubicBezTo>
                  <a:cubicBezTo>
                    <a:pt x="268478" y="1200023"/>
                    <a:pt x="0" y="931418"/>
                    <a:pt x="0" y="599948"/>
                  </a:cubicBezTo>
                  <a:close/>
                </a:path>
              </a:pathLst>
            </a:custGeom>
            <a:solidFill>
              <a:srgbClr val="3D6874"/>
            </a:solidFill>
          </p:spPr>
        </p:sp>
      </p:grpSp>
      <p:grpSp>
        <p:nvGrpSpPr>
          <p:cNvPr name="Group 86" id="86"/>
          <p:cNvGrpSpPr/>
          <p:nvPr/>
        </p:nvGrpSpPr>
        <p:grpSpPr>
          <a:xfrm rot="0">
            <a:off x="13199450" y="6239999"/>
            <a:ext cx="499967" cy="499967"/>
            <a:chOff x="0" y="0"/>
            <a:chExt cx="666623" cy="666623"/>
          </a:xfrm>
        </p:grpSpPr>
        <p:sp>
          <p:nvSpPr>
            <p:cNvPr name="Freeform 87" id="87"/>
            <p:cNvSpPr/>
            <p:nvPr/>
          </p:nvSpPr>
          <p:spPr>
            <a:xfrm flipH="false" flipV="false" rot="0">
              <a:off x="0" y="0"/>
              <a:ext cx="666623" cy="666623"/>
            </a:xfrm>
            <a:custGeom>
              <a:avLst/>
              <a:gdLst/>
              <a:ahLst/>
              <a:cxnLst/>
              <a:rect r="r" b="b" t="t" l="l"/>
              <a:pathLst>
                <a:path h="666623" w="666623">
                  <a:moveTo>
                    <a:pt x="0" y="0"/>
                  </a:moveTo>
                  <a:lnTo>
                    <a:pt x="666623" y="0"/>
                  </a:lnTo>
                  <a:lnTo>
                    <a:pt x="666623" y="666623"/>
                  </a:lnTo>
                  <a:lnTo>
                    <a:pt x="0" y="666623"/>
                  </a:lnTo>
                  <a:lnTo>
                    <a:pt x="0" y="0"/>
                  </a:lnTo>
                  <a:close/>
                </a:path>
              </a:pathLst>
            </a:custGeom>
            <a:blipFill>
              <a:blip r:embed="rId14"/>
              <a:stretch>
                <a:fillRect l="0" t="0" r="0" b="0"/>
              </a:stretch>
            </a:blipFill>
          </p:spPr>
        </p:sp>
      </p:grpSp>
      <p:grpSp>
        <p:nvGrpSpPr>
          <p:cNvPr name="Group 88" id="88"/>
          <p:cNvGrpSpPr/>
          <p:nvPr/>
        </p:nvGrpSpPr>
        <p:grpSpPr>
          <a:xfrm rot="0">
            <a:off x="11519449" y="7129996"/>
            <a:ext cx="3860006" cy="360045"/>
            <a:chOff x="0" y="0"/>
            <a:chExt cx="5146675" cy="480060"/>
          </a:xfrm>
        </p:grpSpPr>
        <p:sp>
          <p:nvSpPr>
            <p:cNvPr name="Freeform 89" id="89"/>
            <p:cNvSpPr/>
            <p:nvPr/>
          </p:nvSpPr>
          <p:spPr>
            <a:xfrm flipH="false" flipV="false" rot="0">
              <a:off x="0" y="0"/>
              <a:ext cx="5146675" cy="480060"/>
            </a:xfrm>
            <a:custGeom>
              <a:avLst/>
              <a:gdLst/>
              <a:ahLst/>
              <a:cxnLst/>
              <a:rect r="r" b="b" t="t" l="l"/>
              <a:pathLst>
                <a:path h="480060" w="5146675">
                  <a:moveTo>
                    <a:pt x="0" y="0"/>
                  </a:moveTo>
                  <a:lnTo>
                    <a:pt x="5146675" y="0"/>
                  </a:lnTo>
                  <a:lnTo>
                    <a:pt x="5146675" y="480060"/>
                  </a:lnTo>
                  <a:lnTo>
                    <a:pt x="0" y="480060"/>
                  </a:lnTo>
                  <a:close/>
                </a:path>
              </a:pathLst>
            </a:custGeom>
            <a:blipFill>
              <a:blip r:embed="rId4">
                <a:alphaModFix amt="0"/>
              </a:blip>
              <a:stretch>
                <a:fillRect l="0" t="-158751" r="0" b="-158751"/>
              </a:stretch>
            </a:blipFill>
          </p:spPr>
        </p:sp>
      </p:grpSp>
      <p:grpSp>
        <p:nvGrpSpPr>
          <p:cNvPr name="Group 90" id="90"/>
          <p:cNvGrpSpPr/>
          <p:nvPr/>
        </p:nvGrpSpPr>
        <p:grpSpPr>
          <a:xfrm rot="0">
            <a:off x="11519449" y="7115708"/>
            <a:ext cx="3859997" cy="374285"/>
            <a:chOff x="0" y="0"/>
            <a:chExt cx="5146662" cy="499046"/>
          </a:xfrm>
        </p:grpSpPr>
        <p:sp>
          <p:nvSpPr>
            <p:cNvPr name="Freeform 91" id="91"/>
            <p:cNvSpPr/>
            <p:nvPr/>
          </p:nvSpPr>
          <p:spPr>
            <a:xfrm flipH="false" flipV="false" rot="0">
              <a:off x="0" y="0"/>
              <a:ext cx="5146675" cy="499110"/>
            </a:xfrm>
            <a:custGeom>
              <a:avLst/>
              <a:gdLst/>
              <a:ahLst/>
              <a:cxnLst/>
              <a:rect r="r" b="b" t="t" l="l"/>
              <a:pathLst>
                <a:path h="499110" w="5146675">
                  <a:moveTo>
                    <a:pt x="0" y="0"/>
                  </a:moveTo>
                  <a:lnTo>
                    <a:pt x="5146675" y="0"/>
                  </a:lnTo>
                  <a:lnTo>
                    <a:pt x="5146675" y="499110"/>
                  </a:lnTo>
                  <a:lnTo>
                    <a:pt x="0" y="499110"/>
                  </a:lnTo>
                  <a:close/>
                </a:path>
              </a:pathLst>
            </a:custGeom>
            <a:blipFill>
              <a:blip r:embed="rId5">
                <a:alphaModFix amt="0"/>
              </a:blip>
              <a:stretch>
                <a:fillRect l="0" t="-150791" r="0" b="-150776"/>
              </a:stretch>
            </a:blipFill>
          </p:spPr>
        </p:sp>
      </p:grpSp>
      <p:grpSp>
        <p:nvGrpSpPr>
          <p:cNvPr name="Group 92" id="92"/>
          <p:cNvGrpSpPr/>
          <p:nvPr/>
        </p:nvGrpSpPr>
        <p:grpSpPr>
          <a:xfrm rot="0">
            <a:off x="11519449" y="7101421"/>
            <a:ext cx="3859997" cy="388572"/>
            <a:chOff x="0" y="0"/>
            <a:chExt cx="5146662" cy="518096"/>
          </a:xfrm>
        </p:grpSpPr>
        <p:sp>
          <p:nvSpPr>
            <p:cNvPr name="Freeform 93" id="93"/>
            <p:cNvSpPr/>
            <p:nvPr/>
          </p:nvSpPr>
          <p:spPr>
            <a:xfrm flipH="false" flipV="false" rot="0">
              <a:off x="0" y="0"/>
              <a:ext cx="5146663" cy="518097"/>
            </a:xfrm>
            <a:custGeom>
              <a:avLst/>
              <a:gdLst/>
              <a:ahLst/>
              <a:cxnLst/>
              <a:rect r="r" b="b" t="t" l="l"/>
              <a:pathLst>
                <a:path h="518097" w="5146663">
                  <a:moveTo>
                    <a:pt x="0" y="0"/>
                  </a:moveTo>
                  <a:lnTo>
                    <a:pt x="5146663" y="0"/>
                  </a:lnTo>
                  <a:lnTo>
                    <a:pt x="5146663" y="518097"/>
                  </a:lnTo>
                  <a:lnTo>
                    <a:pt x="0" y="518097"/>
                  </a:lnTo>
                  <a:close/>
                </a:path>
              </a:pathLst>
            </a:custGeom>
            <a:blipFill>
              <a:blip r:embed="rId6">
                <a:alphaModFix amt="0"/>
              </a:blip>
              <a:stretch>
                <a:fillRect l="0" t="-143560" r="0" b="-143560"/>
              </a:stretch>
            </a:blipFill>
          </p:spPr>
        </p:sp>
        <p:sp>
          <p:nvSpPr>
            <p:cNvPr name="TextBox 94" id="94"/>
            <p:cNvSpPr txBox="true"/>
            <p:nvPr/>
          </p:nvSpPr>
          <p:spPr>
            <a:xfrm>
              <a:off x="0" y="-19050"/>
              <a:ext cx="5146662" cy="537146"/>
            </a:xfrm>
            <a:prstGeom prst="rect">
              <a:avLst/>
            </a:prstGeom>
          </p:spPr>
          <p:txBody>
            <a:bodyPr anchor="ctr" rtlCol="false" tIns="0" lIns="0" bIns="0" rIns="0"/>
            <a:lstStyle/>
            <a:p>
              <a:pPr algn="ctr">
                <a:lnSpc>
                  <a:spcPts val="1919"/>
                </a:lnSpc>
              </a:pPr>
              <a:r>
                <a:rPr lang="en-US" sz="1599" b="true">
                  <a:solidFill>
                    <a:srgbClr val="2A3B3F"/>
                  </a:solidFill>
                  <a:latin typeface="Poppins Bold"/>
                  <a:ea typeface="Poppins Bold"/>
                  <a:cs typeface="Poppins Bold"/>
                  <a:sym typeface="Poppins Bold"/>
                </a:rPr>
                <a:t>Traceability</a:t>
              </a:r>
            </a:p>
          </p:txBody>
        </p:sp>
      </p:grpSp>
      <p:sp>
        <p:nvSpPr>
          <p:cNvPr name="TextBox 95" id="95"/>
          <p:cNvSpPr txBox="true"/>
          <p:nvPr/>
        </p:nvSpPr>
        <p:spPr>
          <a:xfrm rot="0">
            <a:off x="11739448" y="7464276"/>
            <a:ext cx="3419999" cy="185674"/>
          </a:xfrm>
          <a:prstGeom prst="rect">
            <a:avLst/>
          </a:prstGeom>
        </p:spPr>
        <p:txBody>
          <a:bodyPr anchor="t" rtlCol="false" tIns="0" lIns="0" bIns="0" rIns="0">
            <a:spAutoFit/>
          </a:bodyPr>
          <a:lstStyle/>
          <a:p>
            <a:pPr algn="ctr">
              <a:lnSpc>
                <a:spcPts val="1448"/>
              </a:lnSpc>
            </a:pPr>
            <a:r>
              <a:rPr lang="en-US" sz="1050">
                <a:solidFill>
                  <a:srgbClr val="5C6B70"/>
                </a:solidFill>
                <a:latin typeface="Poppins"/>
                <a:ea typeface="Poppins"/>
                <a:cs typeface="Poppins"/>
                <a:sym typeface="Poppins"/>
              </a:rPr>
              <a:t>Every  assessment action logged &amp; timestamped</a:t>
            </a:r>
          </a:p>
        </p:txBody>
      </p:sp>
      <p:grpSp>
        <p:nvGrpSpPr>
          <p:cNvPr name="Group 96" id="96"/>
          <p:cNvGrpSpPr/>
          <p:nvPr/>
        </p:nvGrpSpPr>
        <p:grpSpPr>
          <a:xfrm rot="0">
            <a:off x="686333" y="9718519"/>
            <a:ext cx="8236077" cy="411766"/>
            <a:chOff x="0" y="0"/>
            <a:chExt cx="10981436" cy="549021"/>
          </a:xfrm>
        </p:grpSpPr>
        <p:sp>
          <p:nvSpPr>
            <p:cNvPr name="Freeform 97" id="97"/>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65" r="0" b="-339465"/>
              </a:stretch>
            </a:blipFill>
          </p:spPr>
        </p:sp>
      </p:grpSp>
      <p:grpSp>
        <p:nvGrpSpPr>
          <p:cNvPr name="Group 98" id="98"/>
          <p:cNvGrpSpPr/>
          <p:nvPr/>
        </p:nvGrpSpPr>
        <p:grpSpPr>
          <a:xfrm rot="0">
            <a:off x="686333" y="9704232"/>
            <a:ext cx="8236077" cy="426053"/>
            <a:chOff x="0" y="0"/>
            <a:chExt cx="10981436" cy="568071"/>
          </a:xfrm>
        </p:grpSpPr>
        <p:sp>
          <p:nvSpPr>
            <p:cNvPr name="Freeform 99" id="99"/>
            <p:cNvSpPr/>
            <p:nvPr/>
          </p:nvSpPr>
          <p:spPr>
            <a:xfrm flipH="false" flipV="false" rot="0">
              <a:off x="0" y="0"/>
              <a:ext cx="10981436" cy="568071"/>
            </a:xfrm>
            <a:custGeom>
              <a:avLst/>
              <a:gdLst/>
              <a:ahLst/>
              <a:cxnLst/>
              <a:rect r="r" b="b" t="t" l="l"/>
              <a:pathLst>
                <a:path h="568071" w="10981436">
                  <a:moveTo>
                    <a:pt x="0" y="0"/>
                  </a:moveTo>
                  <a:lnTo>
                    <a:pt x="10981436" y="0"/>
                  </a:lnTo>
                  <a:lnTo>
                    <a:pt x="10981436" y="568071"/>
                  </a:lnTo>
                  <a:lnTo>
                    <a:pt x="0" y="568071"/>
                  </a:lnTo>
                  <a:close/>
                </a:path>
              </a:pathLst>
            </a:custGeom>
            <a:blipFill>
              <a:blip r:embed="rId4">
                <a:alphaModFix amt="0"/>
              </a:blip>
              <a:stretch>
                <a:fillRect l="0" t="-326405" r="0" b="-326405"/>
              </a:stretch>
            </a:blipFill>
          </p:spPr>
        </p:sp>
      </p:grpSp>
      <p:grpSp>
        <p:nvGrpSpPr>
          <p:cNvPr name="Group 100" id="100"/>
          <p:cNvGrpSpPr/>
          <p:nvPr/>
        </p:nvGrpSpPr>
        <p:grpSpPr>
          <a:xfrm rot="0">
            <a:off x="686333" y="9689944"/>
            <a:ext cx="8236039" cy="440379"/>
            <a:chOff x="0" y="0"/>
            <a:chExt cx="10981385" cy="587172"/>
          </a:xfrm>
        </p:grpSpPr>
        <p:sp>
          <p:nvSpPr>
            <p:cNvPr name="Freeform 101" id="101"/>
            <p:cNvSpPr/>
            <p:nvPr/>
          </p:nvSpPr>
          <p:spPr>
            <a:xfrm flipH="false" flipV="false" rot="0">
              <a:off x="0" y="0"/>
              <a:ext cx="10981436" cy="587121"/>
            </a:xfrm>
            <a:custGeom>
              <a:avLst/>
              <a:gdLst/>
              <a:ahLst/>
              <a:cxnLst/>
              <a:rect r="r" b="b" t="t" l="l"/>
              <a:pathLst>
                <a:path h="587121" w="10981436">
                  <a:moveTo>
                    <a:pt x="0" y="0"/>
                  </a:moveTo>
                  <a:lnTo>
                    <a:pt x="10981436" y="0"/>
                  </a:lnTo>
                  <a:lnTo>
                    <a:pt x="10981436" y="587121"/>
                  </a:lnTo>
                  <a:lnTo>
                    <a:pt x="0" y="587121"/>
                  </a:lnTo>
                  <a:close/>
                </a:path>
              </a:pathLst>
            </a:custGeom>
            <a:blipFill>
              <a:blip r:embed="rId5">
                <a:alphaModFix amt="0"/>
              </a:blip>
              <a:stretch>
                <a:fillRect l="0" t="-314185" r="0" b="-314196"/>
              </a:stretch>
            </a:blipFill>
          </p:spPr>
        </p:sp>
      </p:grpSp>
      <p:grpSp>
        <p:nvGrpSpPr>
          <p:cNvPr name="Group 102" id="102"/>
          <p:cNvGrpSpPr/>
          <p:nvPr/>
        </p:nvGrpSpPr>
        <p:grpSpPr>
          <a:xfrm rot="0">
            <a:off x="686333" y="9675657"/>
            <a:ext cx="8236039" cy="454666"/>
            <a:chOff x="0" y="0"/>
            <a:chExt cx="10981385" cy="606222"/>
          </a:xfrm>
        </p:grpSpPr>
        <p:sp>
          <p:nvSpPr>
            <p:cNvPr name="Freeform 103" id="103"/>
            <p:cNvSpPr/>
            <p:nvPr/>
          </p:nvSpPr>
          <p:spPr>
            <a:xfrm flipH="false" flipV="false" rot="0">
              <a:off x="0" y="0"/>
              <a:ext cx="10981386" cy="606222"/>
            </a:xfrm>
            <a:custGeom>
              <a:avLst/>
              <a:gdLst/>
              <a:ahLst/>
              <a:cxnLst/>
              <a:rect r="r" b="b" t="t" l="l"/>
              <a:pathLst>
                <a:path h="606222" w="10981386">
                  <a:moveTo>
                    <a:pt x="0" y="0"/>
                  </a:moveTo>
                  <a:lnTo>
                    <a:pt x="10981386" y="0"/>
                  </a:lnTo>
                  <a:lnTo>
                    <a:pt x="10981386" y="606222"/>
                  </a:lnTo>
                  <a:lnTo>
                    <a:pt x="0" y="606222"/>
                  </a:lnTo>
                  <a:close/>
                </a:path>
              </a:pathLst>
            </a:custGeom>
            <a:blipFill>
              <a:blip r:embed="rId6">
                <a:alphaModFix amt="0"/>
              </a:blip>
              <a:stretch>
                <a:fillRect l="0" t="-302960" r="0" b="-302960"/>
              </a:stretch>
            </a:blipFill>
          </p:spPr>
        </p:sp>
        <p:sp>
          <p:nvSpPr>
            <p:cNvPr name="TextBox 104" id="104"/>
            <p:cNvSpPr txBox="true"/>
            <p:nvPr/>
          </p:nvSpPr>
          <p:spPr>
            <a:xfrm>
              <a:off x="0" y="-19050"/>
              <a:ext cx="10981385" cy="6252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05" id="105"/>
          <p:cNvGrpSpPr/>
          <p:nvPr/>
        </p:nvGrpSpPr>
        <p:grpSpPr>
          <a:xfrm rot="0">
            <a:off x="16242830" y="9718519"/>
            <a:ext cx="1372648" cy="411766"/>
            <a:chOff x="0" y="0"/>
            <a:chExt cx="1830197" cy="549021"/>
          </a:xfrm>
        </p:grpSpPr>
        <p:sp>
          <p:nvSpPr>
            <p:cNvPr name="Freeform 106" id="106"/>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8" r="0" b="-14910"/>
              </a:stretch>
            </a:blipFill>
          </p:spPr>
        </p:sp>
      </p:grpSp>
      <p:grpSp>
        <p:nvGrpSpPr>
          <p:cNvPr name="Group 107" id="107"/>
          <p:cNvGrpSpPr/>
          <p:nvPr/>
        </p:nvGrpSpPr>
        <p:grpSpPr>
          <a:xfrm rot="0">
            <a:off x="16242830" y="9704232"/>
            <a:ext cx="1372648" cy="426053"/>
            <a:chOff x="0" y="0"/>
            <a:chExt cx="1830197" cy="568071"/>
          </a:xfrm>
        </p:grpSpPr>
        <p:sp>
          <p:nvSpPr>
            <p:cNvPr name="Freeform 108" id="108"/>
            <p:cNvSpPr/>
            <p:nvPr/>
          </p:nvSpPr>
          <p:spPr>
            <a:xfrm flipH="false" flipV="false" rot="0">
              <a:off x="0" y="0"/>
              <a:ext cx="1830197" cy="568071"/>
            </a:xfrm>
            <a:custGeom>
              <a:avLst/>
              <a:gdLst/>
              <a:ahLst/>
              <a:cxnLst/>
              <a:rect r="r" b="b" t="t" l="l"/>
              <a:pathLst>
                <a:path h="568071" w="1830197">
                  <a:moveTo>
                    <a:pt x="0" y="0"/>
                  </a:moveTo>
                  <a:lnTo>
                    <a:pt x="1830197" y="0"/>
                  </a:lnTo>
                  <a:lnTo>
                    <a:pt x="1830197" y="568071"/>
                  </a:lnTo>
                  <a:lnTo>
                    <a:pt x="0" y="568071"/>
                  </a:lnTo>
                  <a:close/>
                </a:path>
              </a:pathLst>
            </a:custGeom>
            <a:blipFill>
              <a:blip r:embed="rId4">
                <a:alphaModFix amt="0"/>
              </a:blip>
              <a:stretch>
                <a:fillRect l="0" t="-12731" r="0" b="-12734"/>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686333" y="643471"/>
            <a:ext cx="1784471" cy="1495408"/>
            <a:chOff x="0" y="0"/>
            <a:chExt cx="2379294" cy="1993877"/>
          </a:xfrm>
        </p:grpSpPr>
        <p:sp>
          <p:nvSpPr>
            <p:cNvPr name="Freeform 7" id="7"/>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4">
                <a:alphaModFix amt="0"/>
              </a:blip>
              <a:stretch>
                <a:fillRect l="-41907" t="0" r="-41907" b="14520"/>
              </a:stretch>
            </a:blipFill>
          </p:spPr>
        </p:sp>
        <p:sp>
          <p:nvSpPr>
            <p:cNvPr name="TextBox 8" id="8"/>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9" id="9"/>
          <p:cNvGrpSpPr/>
          <p:nvPr/>
        </p:nvGrpSpPr>
        <p:grpSpPr>
          <a:xfrm rot="0">
            <a:off x="2127647" y="796147"/>
            <a:ext cx="14413059" cy="1235402"/>
            <a:chOff x="0" y="0"/>
            <a:chExt cx="19217411" cy="1647203"/>
          </a:xfrm>
        </p:grpSpPr>
        <p:sp>
          <p:nvSpPr>
            <p:cNvPr name="Freeform 10" id="10"/>
            <p:cNvSpPr/>
            <p:nvPr/>
          </p:nvSpPr>
          <p:spPr>
            <a:xfrm flipH="false" flipV="false" rot="0">
              <a:off x="0" y="0"/>
              <a:ext cx="19217387" cy="1647190"/>
            </a:xfrm>
            <a:custGeom>
              <a:avLst/>
              <a:gdLst/>
              <a:ahLst/>
              <a:cxnLst/>
              <a:rect r="r" b="b" t="t" l="l"/>
              <a:pathLst>
                <a:path h="1647190" w="19217387">
                  <a:moveTo>
                    <a:pt x="0" y="0"/>
                  </a:moveTo>
                  <a:lnTo>
                    <a:pt x="19217387" y="0"/>
                  </a:lnTo>
                  <a:lnTo>
                    <a:pt x="19217387" y="1647190"/>
                  </a:lnTo>
                  <a:lnTo>
                    <a:pt x="0" y="1647190"/>
                  </a:lnTo>
                  <a:close/>
                </a:path>
              </a:pathLst>
            </a:custGeom>
            <a:blipFill>
              <a:blip r:embed="rId3">
                <a:alphaModFix amt="0"/>
              </a:blip>
              <a:stretch>
                <a:fillRect l="0" t="-177168" r="0" b="-177170"/>
              </a:stretch>
            </a:blipFill>
          </p:spPr>
        </p:sp>
      </p:grpSp>
      <p:grpSp>
        <p:nvGrpSpPr>
          <p:cNvPr name="Group 11" id="11"/>
          <p:cNvGrpSpPr/>
          <p:nvPr/>
        </p:nvGrpSpPr>
        <p:grpSpPr>
          <a:xfrm rot="0">
            <a:off x="807305" y="507673"/>
            <a:ext cx="14413059" cy="1263977"/>
            <a:chOff x="0" y="0"/>
            <a:chExt cx="19217411" cy="1685303"/>
          </a:xfrm>
        </p:grpSpPr>
        <p:sp>
          <p:nvSpPr>
            <p:cNvPr name="Freeform 12" id="12"/>
            <p:cNvSpPr/>
            <p:nvPr/>
          </p:nvSpPr>
          <p:spPr>
            <a:xfrm flipH="false" flipV="false" rot="0">
              <a:off x="0" y="0"/>
              <a:ext cx="19217411" cy="1685303"/>
            </a:xfrm>
            <a:custGeom>
              <a:avLst/>
              <a:gdLst/>
              <a:ahLst/>
              <a:cxnLst/>
              <a:rect r="r" b="b" t="t" l="l"/>
              <a:pathLst>
                <a:path h="1685303" w="19217411">
                  <a:moveTo>
                    <a:pt x="0" y="0"/>
                  </a:moveTo>
                  <a:lnTo>
                    <a:pt x="19217411" y="0"/>
                  </a:lnTo>
                  <a:lnTo>
                    <a:pt x="19217411" y="1685303"/>
                  </a:lnTo>
                  <a:lnTo>
                    <a:pt x="0" y="1685303"/>
                  </a:lnTo>
                  <a:close/>
                </a:path>
              </a:pathLst>
            </a:custGeom>
            <a:blipFill>
              <a:blip r:embed="rId4">
                <a:alphaModFix amt="0"/>
              </a:blip>
              <a:stretch>
                <a:fillRect l="0" t="-172186" r="0" b="-172186"/>
              </a:stretch>
            </a:blipFill>
          </p:spPr>
        </p:sp>
        <p:sp>
          <p:nvSpPr>
            <p:cNvPr name="TextBox 13" id="13"/>
            <p:cNvSpPr txBox="true"/>
            <p:nvPr/>
          </p:nvSpPr>
          <p:spPr>
            <a:xfrm>
              <a:off x="0" y="-38100"/>
              <a:ext cx="19217411" cy="1723403"/>
            </a:xfrm>
            <a:prstGeom prst="rect">
              <a:avLst/>
            </a:prstGeom>
          </p:spPr>
          <p:txBody>
            <a:bodyPr anchor="ctr" rtlCol="false" tIns="0" lIns="0" bIns="0" rIns="0"/>
            <a:lstStyle/>
            <a:p>
              <a:pPr algn="l">
                <a:lnSpc>
                  <a:spcPts val="4683"/>
                </a:lnSpc>
              </a:pPr>
              <a:r>
                <a:rPr lang="en-US" sz="3903" b="true">
                  <a:solidFill>
                    <a:srgbClr val="000000"/>
                  </a:solidFill>
                  <a:latin typeface="Poppins Bold"/>
                  <a:ea typeface="Poppins Bold"/>
                  <a:cs typeface="Poppins Bold"/>
                  <a:sym typeface="Poppins Bold"/>
                </a:rPr>
                <a:t>System Architecture &amp; Technology Stack</a:t>
              </a:r>
            </a:p>
          </p:txBody>
        </p:sp>
      </p:grpSp>
      <p:grpSp>
        <p:nvGrpSpPr>
          <p:cNvPr name="Group 14" id="14"/>
          <p:cNvGrpSpPr/>
          <p:nvPr/>
        </p:nvGrpSpPr>
        <p:grpSpPr>
          <a:xfrm rot="0">
            <a:off x="686333" y="9718519"/>
            <a:ext cx="8236039" cy="411804"/>
            <a:chOff x="0" y="0"/>
            <a:chExt cx="10981385" cy="549072"/>
          </a:xfrm>
        </p:grpSpPr>
        <p:sp>
          <p:nvSpPr>
            <p:cNvPr name="Freeform 15" id="15"/>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6" id="16"/>
          <p:cNvGrpSpPr/>
          <p:nvPr/>
        </p:nvGrpSpPr>
        <p:grpSpPr>
          <a:xfrm rot="0">
            <a:off x="686333" y="9704232"/>
            <a:ext cx="8236039" cy="426091"/>
            <a:chOff x="0" y="0"/>
            <a:chExt cx="10981385" cy="568122"/>
          </a:xfrm>
        </p:grpSpPr>
        <p:sp>
          <p:nvSpPr>
            <p:cNvPr name="Freeform 17" id="17"/>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8" id="18"/>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9" id="19"/>
          <p:cNvGrpSpPr/>
          <p:nvPr/>
        </p:nvGrpSpPr>
        <p:grpSpPr>
          <a:xfrm rot="0">
            <a:off x="16242830" y="9718519"/>
            <a:ext cx="1372676" cy="411804"/>
            <a:chOff x="0" y="0"/>
            <a:chExt cx="1830235" cy="549072"/>
          </a:xfrm>
        </p:grpSpPr>
        <p:sp>
          <p:nvSpPr>
            <p:cNvPr name="Freeform 20" id="20"/>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grpSp>
        <p:nvGrpSpPr>
          <p:cNvPr name="Group 21" id="21"/>
          <p:cNvGrpSpPr/>
          <p:nvPr/>
        </p:nvGrpSpPr>
        <p:grpSpPr>
          <a:xfrm rot="0">
            <a:off x="685800" y="2057400"/>
            <a:ext cx="16916400" cy="7360920"/>
            <a:chOff x="0" y="0"/>
            <a:chExt cx="22555200" cy="9814560"/>
          </a:xfrm>
        </p:grpSpPr>
        <p:sp>
          <p:nvSpPr>
            <p:cNvPr name="Freeform 22" id="22" descr="slide8_architecture_visual.png"/>
            <p:cNvSpPr/>
            <p:nvPr/>
          </p:nvSpPr>
          <p:spPr>
            <a:xfrm flipH="false" flipV="false" rot="0">
              <a:off x="0" y="0"/>
              <a:ext cx="22555200" cy="9814560"/>
            </a:xfrm>
            <a:custGeom>
              <a:avLst/>
              <a:gdLst/>
              <a:ahLst/>
              <a:cxnLst/>
              <a:rect r="r" b="b" t="t" l="l"/>
              <a:pathLst>
                <a:path h="9814560" w="22555200">
                  <a:moveTo>
                    <a:pt x="0" y="0"/>
                  </a:moveTo>
                  <a:lnTo>
                    <a:pt x="22555200" y="0"/>
                  </a:lnTo>
                  <a:lnTo>
                    <a:pt x="22555200" y="9814560"/>
                  </a:lnTo>
                  <a:lnTo>
                    <a:pt x="0" y="9814560"/>
                  </a:lnTo>
                  <a:lnTo>
                    <a:pt x="0" y="0"/>
                  </a:lnTo>
                  <a:close/>
                </a:path>
              </a:pathLst>
            </a:custGeom>
            <a:blipFill>
              <a:blip r:embed="rId5"/>
              <a:stretch>
                <a:fillRect l="-15" t="0" r="-15"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685800" y="502920"/>
            <a:ext cx="2011680" cy="1495044"/>
            <a:chOff x="0" y="0"/>
            <a:chExt cx="2682240" cy="1993392"/>
          </a:xfrm>
        </p:grpSpPr>
        <p:sp>
          <p:nvSpPr>
            <p:cNvPr name="Freeform 3" id="3"/>
            <p:cNvSpPr/>
            <p:nvPr/>
          </p:nvSpPr>
          <p:spPr>
            <a:xfrm flipH="false" flipV="false" rot="0">
              <a:off x="0" y="0"/>
              <a:ext cx="2682240" cy="1993392"/>
            </a:xfrm>
            <a:custGeom>
              <a:avLst/>
              <a:gdLst/>
              <a:ahLst/>
              <a:cxnLst/>
              <a:rect r="r" b="b" t="t" l="l"/>
              <a:pathLst>
                <a:path h="1993392" w="2682240">
                  <a:moveTo>
                    <a:pt x="0" y="0"/>
                  </a:moveTo>
                  <a:lnTo>
                    <a:pt x="2682240" y="0"/>
                  </a:lnTo>
                  <a:lnTo>
                    <a:pt x="2682240" y="1993392"/>
                  </a:lnTo>
                  <a:lnTo>
                    <a:pt x="0" y="1993392"/>
                  </a:lnTo>
                  <a:close/>
                </a:path>
              </a:pathLst>
            </a:custGeom>
            <a:blipFill>
              <a:blip r:embed="rId2">
                <a:alphaModFix amt="0"/>
              </a:blip>
              <a:stretch>
                <a:fillRect l="-28731" t="0" r="-28731" b="17431"/>
              </a:stretch>
            </a:blipFill>
          </p:spPr>
        </p:sp>
        <p:sp>
          <p:nvSpPr>
            <p:cNvPr name="TextBox 4" id="4"/>
            <p:cNvSpPr txBox="true"/>
            <p:nvPr/>
          </p:nvSpPr>
          <p:spPr>
            <a:xfrm>
              <a:off x="0" y="-66675"/>
              <a:ext cx="2682240" cy="2060067"/>
            </a:xfrm>
            <a:prstGeom prst="rect">
              <a:avLst/>
            </a:prstGeom>
          </p:spPr>
          <p:txBody>
            <a:bodyPr anchor="ctr" rtlCol="false" tIns="0" lIns="0" bIns="0" rIns="0"/>
            <a:lstStyle/>
            <a:p>
              <a:pPr algn="l">
                <a:lnSpc>
                  <a:spcPts val="7200"/>
                </a:lnSpc>
              </a:pPr>
            </a:p>
          </p:txBody>
        </p:sp>
      </p:grpSp>
      <p:grpSp>
        <p:nvGrpSpPr>
          <p:cNvPr name="Group 5" id="5"/>
          <p:cNvGrpSpPr/>
          <p:nvPr/>
        </p:nvGrpSpPr>
        <p:grpSpPr>
          <a:xfrm rot="0">
            <a:off x="561592" y="502920"/>
            <a:ext cx="13350240" cy="1097280"/>
            <a:chOff x="0" y="0"/>
            <a:chExt cx="17800320" cy="1463040"/>
          </a:xfrm>
        </p:grpSpPr>
        <p:sp>
          <p:nvSpPr>
            <p:cNvPr name="Freeform 6" id="6"/>
            <p:cNvSpPr/>
            <p:nvPr/>
          </p:nvSpPr>
          <p:spPr>
            <a:xfrm flipH="false" flipV="false" rot="0">
              <a:off x="0" y="0"/>
              <a:ext cx="17800320" cy="1463040"/>
            </a:xfrm>
            <a:custGeom>
              <a:avLst/>
              <a:gdLst/>
              <a:ahLst/>
              <a:cxnLst/>
              <a:rect r="r" b="b" t="t" l="l"/>
              <a:pathLst>
                <a:path h="1463040" w="17800320">
                  <a:moveTo>
                    <a:pt x="0" y="0"/>
                  </a:moveTo>
                  <a:lnTo>
                    <a:pt x="17800320" y="0"/>
                  </a:lnTo>
                  <a:lnTo>
                    <a:pt x="17800320" y="1463040"/>
                  </a:lnTo>
                  <a:lnTo>
                    <a:pt x="0" y="1463040"/>
                  </a:lnTo>
                  <a:close/>
                </a:path>
              </a:pathLst>
            </a:custGeom>
            <a:blipFill>
              <a:blip r:embed="rId2">
                <a:alphaModFix amt="0"/>
              </a:blip>
              <a:stretch>
                <a:fillRect l="0" t="-187067" r="0" b="-187067"/>
              </a:stretch>
            </a:blipFill>
          </p:spPr>
        </p:sp>
        <p:sp>
          <p:nvSpPr>
            <p:cNvPr name="TextBox 7" id="7"/>
            <p:cNvSpPr txBox="true"/>
            <p:nvPr/>
          </p:nvSpPr>
          <p:spPr>
            <a:xfrm>
              <a:off x="0" y="-38100"/>
              <a:ext cx="17800320" cy="1501140"/>
            </a:xfrm>
            <a:prstGeom prst="rect">
              <a:avLst/>
            </a:prstGeom>
          </p:spPr>
          <p:txBody>
            <a:bodyPr anchor="ctr" rtlCol="false" tIns="0" lIns="0" bIns="0" rIns="0"/>
            <a:lstStyle/>
            <a:p>
              <a:pPr algn="l">
                <a:lnSpc>
                  <a:spcPts val="4079"/>
                </a:lnSpc>
              </a:pPr>
              <a:r>
                <a:rPr lang="en-US" sz="3399" b="true">
                  <a:solidFill>
                    <a:srgbClr val="1F3338"/>
                  </a:solidFill>
                  <a:latin typeface="Poppins Bold"/>
                  <a:ea typeface="Poppins Bold"/>
                  <a:cs typeface="Poppins Bold"/>
                  <a:sym typeface="Poppins Bold"/>
                </a:rPr>
                <a:t> Framework: Scrum</a:t>
              </a:r>
            </a:p>
          </p:txBody>
        </p:sp>
      </p:grpSp>
      <p:grpSp>
        <p:nvGrpSpPr>
          <p:cNvPr name="Group 8" id="8"/>
          <p:cNvGrpSpPr/>
          <p:nvPr/>
        </p:nvGrpSpPr>
        <p:grpSpPr>
          <a:xfrm rot="0">
            <a:off x="16779240" y="667512"/>
            <a:ext cx="777240" cy="777240"/>
            <a:chOff x="0" y="0"/>
            <a:chExt cx="1036320" cy="1036320"/>
          </a:xfrm>
        </p:grpSpPr>
        <p:sp>
          <p:nvSpPr>
            <p:cNvPr name="Freeform 9" id="9"/>
            <p:cNvSpPr/>
            <p:nvPr/>
          </p:nvSpPr>
          <p:spPr>
            <a:xfrm flipH="false" flipV="false" rot="0">
              <a:off x="0" y="0"/>
              <a:ext cx="1036320" cy="1036320"/>
            </a:xfrm>
            <a:custGeom>
              <a:avLst/>
              <a:gdLst/>
              <a:ahLst/>
              <a:cxnLst/>
              <a:rect r="r" b="b" t="t" l="l"/>
              <a:pathLst>
                <a:path h="1036320" w="1036320">
                  <a:moveTo>
                    <a:pt x="0" y="0"/>
                  </a:moveTo>
                  <a:lnTo>
                    <a:pt x="1036320" y="0"/>
                  </a:lnTo>
                  <a:lnTo>
                    <a:pt x="1036320" y="1036320"/>
                  </a:lnTo>
                  <a:lnTo>
                    <a:pt x="0" y="1036320"/>
                  </a:lnTo>
                  <a:lnTo>
                    <a:pt x="0" y="0"/>
                  </a:lnTo>
                  <a:close/>
                </a:path>
              </a:pathLst>
            </a:custGeom>
            <a:blipFill>
              <a:blip r:embed="rId3"/>
              <a:stretch>
                <a:fillRect l="0" t="0" r="0" b="0"/>
              </a:stretch>
            </a:blipFill>
          </p:spPr>
        </p:sp>
      </p:grpSp>
      <p:grpSp>
        <p:nvGrpSpPr>
          <p:cNvPr name="Group 10" id="10"/>
          <p:cNvGrpSpPr/>
          <p:nvPr/>
        </p:nvGrpSpPr>
        <p:grpSpPr>
          <a:xfrm rot="0">
            <a:off x="685800" y="9646920"/>
            <a:ext cx="8229600" cy="411480"/>
            <a:chOff x="0" y="0"/>
            <a:chExt cx="10972800" cy="548640"/>
          </a:xfrm>
        </p:grpSpPr>
        <p:sp>
          <p:nvSpPr>
            <p:cNvPr name="Freeform 11" id="11"/>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2" id="12"/>
            <p:cNvSpPr txBox="true"/>
            <p:nvPr/>
          </p:nvSpPr>
          <p:spPr>
            <a:xfrm>
              <a:off x="0" y="-19050"/>
              <a:ext cx="10972800" cy="567690"/>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sp>
        <p:nvSpPr>
          <p:cNvPr name="TextBox 13" id="13"/>
          <p:cNvSpPr txBox="true"/>
          <p:nvPr/>
        </p:nvSpPr>
        <p:spPr>
          <a:xfrm rot="0">
            <a:off x="685800" y="1956435"/>
            <a:ext cx="7955280" cy="329565"/>
          </a:xfrm>
          <a:prstGeom prst="rect">
            <a:avLst/>
          </a:prstGeom>
        </p:spPr>
        <p:txBody>
          <a:bodyPr anchor="t" rtlCol="false" tIns="0" lIns="0" bIns="0" rIns="0">
            <a:spAutoFit/>
          </a:bodyPr>
          <a:lstStyle/>
          <a:p>
            <a:pPr algn="l">
              <a:lnSpc>
                <a:spcPts val="1439"/>
              </a:lnSpc>
            </a:pPr>
            <a:r>
              <a:rPr lang="en-US" sz="1200" b="true">
                <a:solidFill>
                  <a:srgbClr val="3D6874"/>
                </a:solidFill>
                <a:latin typeface="Poppins Bold"/>
                <a:ea typeface="Poppins Bold"/>
                <a:cs typeface="Poppins Bold"/>
                <a:sym typeface="Poppins Bold"/>
              </a:rPr>
              <a:t>STANDARD SCRUM CYCLE</a:t>
            </a:r>
          </a:p>
        </p:txBody>
      </p:sp>
      <p:grpSp>
        <p:nvGrpSpPr>
          <p:cNvPr name="Group 14" id="14"/>
          <p:cNvGrpSpPr/>
          <p:nvPr/>
        </p:nvGrpSpPr>
        <p:grpSpPr>
          <a:xfrm rot="0">
            <a:off x="685800" y="2331720"/>
            <a:ext cx="7955280" cy="4163016"/>
            <a:chOff x="0" y="0"/>
            <a:chExt cx="10607040" cy="5550687"/>
          </a:xfrm>
        </p:grpSpPr>
        <p:sp>
          <p:nvSpPr>
            <p:cNvPr name="Freeform 15" id="15"/>
            <p:cNvSpPr/>
            <p:nvPr/>
          </p:nvSpPr>
          <p:spPr>
            <a:xfrm flipH="false" flipV="false" rot="0">
              <a:off x="0" y="0"/>
              <a:ext cx="10607039" cy="5550662"/>
            </a:xfrm>
            <a:custGeom>
              <a:avLst/>
              <a:gdLst/>
              <a:ahLst/>
              <a:cxnLst/>
              <a:rect r="r" b="b" t="t" l="l"/>
              <a:pathLst>
                <a:path h="5550662" w="10607039">
                  <a:moveTo>
                    <a:pt x="0" y="332994"/>
                  </a:moveTo>
                  <a:cubicBezTo>
                    <a:pt x="0" y="149098"/>
                    <a:pt x="149098" y="0"/>
                    <a:pt x="332994" y="0"/>
                  </a:cubicBezTo>
                  <a:lnTo>
                    <a:pt x="10274046" y="0"/>
                  </a:lnTo>
                  <a:cubicBezTo>
                    <a:pt x="10457942" y="0"/>
                    <a:pt x="10607039" y="149098"/>
                    <a:pt x="10607039" y="332994"/>
                  </a:cubicBezTo>
                  <a:lnTo>
                    <a:pt x="10607039" y="5217668"/>
                  </a:lnTo>
                  <a:cubicBezTo>
                    <a:pt x="10607039" y="5401564"/>
                    <a:pt x="10457942" y="5550662"/>
                    <a:pt x="10274046" y="5550662"/>
                  </a:cubicBezTo>
                  <a:lnTo>
                    <a:pt x="332994" y="5550662"/>
                  </a:lnTo>
                  <a:cubicBezTo>
                    <a:pt x="149098" y="5550662"/>
                    <a:pt x="0" y="5401564"/>
                    <a:pt x="0" y="5217668"/>
                  </a:cubicBezTo>
                  <a:close/>
                </a:path>
              </a:pathLst>
            </a:custGeom>
            <a:solidFill>
              <a:srgbClr val="FFFFFF"/>
            </a:solidFill>
          </p:spPr>
        </p:sp>
      </p:grpSp>
      <p:grpSp>
        <p:nvGrpSpPr>
          <p:cNvPr name="Group 16" id="16"/>
          <p:cNvGrpSpPr/>
          <p:nvPr/>
        </p:nvGrpSpPr>
        <p:grpSpPr>
          <a:xfrm rot="0">
            <a:off x="868680" y="2560320"/>
            <a:ext cx="7589520" cy="3705816"/>
            <a:chOff x="0" y="0"/>
            <a:chExt cx="10119360" cy="4941087"/>
          </a:xfrm>
        </p:grpSpPr>
        <p:sp>
          <p:nvSpPr>
            <p:cNvPr name="Freeform 17" id="17"/>
            <p:cNvSpPr/>
            <p:nvPr/>
          </p:nvSpPr>
          <p:spPr>
            <a:xfrm flipH="false" flipV="false" rot="0">
              <a:off x="0" y="0"/>
              <a:ext cx="10119360" cy="4941062"/>
            </a:xfrm>
            <a:custGeom>
              <a:avLst/>
              <a:gdLst/>
              <a:ahLst/>
              <a:cxnLst/>
              <a:rect r="r" b="b" t="t" l="l"/>
              <a:pathLst>
                <a:path h="4941062" w="10119360">
                  <a:moveTo>
                    <a:pt x="0" y="0"/>
                  </a:moveTo>
                  <a:lnTo>
                    <a:pt x="10119360" y="0"/>
                  </a:lnTo>
                  <a:lnTo>
                    <a:pt x="10119360" y="4941062"/>
                  </a:lnTo>
                  <a:lnTo>
                    <a:pt x="0" y="4941062"/>
                  </a:lnTo>
                  <a:lnTo>
                    <a:pt x="0" y="0"/>
                  </a:lnTo>
                  <a:close/>
                </a:path>
              </a:pathLst>
            </a:custGeom>
            <a:blipFill>
              <a:blip r:embed="rId4"/>
              <a:stretch>
                <a:fillRect l="0" t="0" r="0" b="0"/>
              </a:stretch>
            </a:blipFill>
          </p:spPr>
        </p:sp>
      </p:grpSp>
      <p:sp>
        <p:nvSpPr>
          <p:cNvPr name="TextBox 18" id="18"/>
          <p:cNvSpPr txBox="true"/>
          <p:nvPr/>
        </p:nvSpPr>
        <p:spPr>
          <a:xfrm rot="0">
            <a:off x="9006840" y="1956435"/>
            <a:ext cx="8595360" cy="329565"/>
          </a:xfrm>
          <a:prstGeom prst="rect">
            <a:avLst/>
          </a:prstGeom>
        </p:spPr>
        <p:txBody>
          <a:bodyPr anchor="t" rtlCol="false" tIns="0" lIns="0" bIns="0" rIns="0">
            <a:spAutoFit/>
          </a:bodyPr>
          <a:lstStyle/>
          <a:p>
            <a:pPr algn="l">
              <a:lnSpc>
                <a:spcPts val="1439"/>
              </a:lnSpc>
            </a:pPr>
            <a:r>
              <a:rPr lang="en-US" sz="1200" b="true">
                <a:solidFill>
                  <a:srgbClr val="3D6874"/>
                </a:solidFill>
                <a:latin typeface="Poppins Bold"/>
                <a:ea typeface="Poppins Bold"/>
                <a:cs typeface="Poppins Bold"/>
                <a:sym typeface="Poppins Bold"/>
              </a:rPr>
              <a:t>WHY SCRUM</a:t>
            </a:r>
          </a:p>
        </p:txBody>
      </p:sp>
      <p:sp>
        <p:nvSpPr>
          <p:cNvPr name="TextBox 19" id="19"/>
          <p:cNvSpPr txBox="true"/>
          <p:nvPr/>
        </p:nvSpPr>
        <p:spPr>
          <a:xfrm rot="0">
            <a:off x="9006840" y="2257425"/>
            <a:ext cx="8595360" cy="897255"/>
          </a:xfrm>
          <a:prstGeom prst="rect">
            <a:avLst/>
          </a:prstGeom>
        </p:spPr>
        <p:txBody>
          <a:bodyPr anchor="t" rtlCol="false" tIns="0" lIns="0" bIns="0" rIns="0">
            <a:spAutoFit/>
          </a:bodyPr>
          <a:lstStyle/>
          <a:p>
            <a:pPr algn="l">
              <a:lnSpc>
                <a:spcPts val="2393"/>
              </a:lnSpc>
            </a:pPr>
            <a:r>
              <a:rPr lang="en-US" sz="1899" b="true">
                <a:solidFill>
                  <a:srgbClr val="1F3338"/>
                </a:solidFill>
                <a:latin typeface="Poppins Bold"/>
                <a:ea typeface="Poppins Bold"/>
                <a:cs typeface="Poppins Bold"/>
                <a:sym typeface="Poppins Bold"/>
              </a:rPr>
              <a:t>A fit for an incremental, multi-domain platform</a:t>
            </a:r>
          </a:p>
        </p:txBody>
      </p:sp>
      <p:grpSp>
        <p:nvGrpSpPr>
          <p:cNvPr name="Group 20" id="20"/>
          <p:cNvGrpSpPr/>
          <p:nvPr/>
        </p:nvGrpSpPr>
        <p:grpSpPr>
          <a:xfrm rot="0">
            <a:off x="9006840" y="3300984"/>
            <a:ext cx="146304" cy="146304"/>
            <a:chOff x="0" y="0"/>
            <a:chExt cx="195072" cy="195072"/>
          </a:xfrm>
        </p:grpSpPr>
        <p:sp>
          <p:nvSpPr>
            <p:cNvPr name="Freeform 21" id="21"/>
            <p:cNvSpPr/>
            <p:nvPr/>
          </p:nvSpPr>
          <p:spPr>
            <a:xfrm flipH="false" flipV="false" rot="0">
              <a:off x="0" y="0"/>
              <a:ext cx="195072" cy="195072"/>
            </a:xfrm>
            <a:custGeom>
              <a:avLst/>
              <a:gdLst/>
              <a:ahLst/>
              <a:cxnLst/>
              <a:rect r="r" b="b" t="t" l="l"/>
              <a:pathLst>
                <a:path h="195072" w="195072">
                  <a:moveTo>
                    <a:pt x="0" y="97536"/>
                  </a:moveTo>
                  <a:cubicBezTo>
                    <a:pt x="0" y="43688"/>
                    <a:pt x="43688" y="0"/>
                    <a:pt x="97536" y="0"/>
                  </a:cubicBezTo>
                  <a:cubicBezTo>
                    <a:pt x="151384" y="0"/>
                    <a:pt x="195072" y="43688"/>
                    <a:pt x="195072" y="97536"/>
                  </a:cubicBezTo>
                  <a:cubicBezTo>
                    <a:pt x="195072" y="151384"/>
                    <a:pt x="151384" y="195072"/>
                    <a:pt x="97536" y="195072"/>
                  </a:cubicBezTo>
                  <a:cubicBezTo>
                    <a:pt x="43688" y="195072"/>
                    <a:pt x="0" y="151384"/>
                    <a:pt x="0" y="97536"/>
                  </a:cubicBezTo>
                  <a:close/>
                </a:path>
              </a:pathLst>
            </a:custGeom>
            <a:solidFill>
              <a:srgbClr val="737AE6"/>
            </a:solidFill>
          </p:spPr>
        </p:sp>
      </p:grpSp>
      <p:sp>
        <p:nvSpPr>
          <p:cNvPr name="TextBox 22" id="22"/>
          <p:cNvSpPr txBox="true"/>
          <p:nvPr/>
        </p:nvSpPr>
        <p:spPr>
          <a:xfrm rot="0">
            <a:off x="9326880" y="3125343"/>
            <a:ext cx="8275320" cy="916305"/>
          </a:xfrm>
          <a:prstGeom prst="rect">
            <a:avLst/>
          </a:prstGeom>
        </p:spPr>
        <p:txBody>
          <a:bodyPr anchor="t" rtlCol="false" tIns="0" lIns="0" bIns="0" rIns="0">
            <a:spAutoFit/>
          </a:bodyPr>
          <a:lstStyle/>
          <a:p>
            <a:pPr algn="l">
              <a:lnSpc>
                <a:spcPts val="2124"/>
              </a:lnSpc>
            </a:pPr>
            <a:r>
              <a:rPr lang="en-US" sz="1500" b="true">
                <a:solidFill>
                  <a:srgbClr val="1F3338"/>
                </a:solidFill>
                <a:latin typeface="Poppins Bold"/>
                <a:ea typeface="Poppins Bold"/>
                <a:cs typeface="Poppins Bold"/>
                <a:sym typeface="Poppins Bold"/>
              </a:rPr>
              <a:t>Incremental delivery</a:t>
            </a:r>
          </a:p>
          <a:p>
            <a:pPr algn="l">
              <a:lnSpc>
                <a:spcPts val="1911"/>
              </a:lnSpc>
            </a:pPr>
            <a:r>
              <a:rPr lang="en-US" sz="1350">
                <a:solidFill>
                  <a:srgbClr val="2A3B3F"/>
                </a:solidFill>
                <a:latin typeface="Poppins"/>
                <a:ea typeface="Poppins"/>
                <a:cs typeface="Poppins"/>
                <a:sym typeface="Poppins"/>
              </a:rPr>
              <a:t>Multiple functional domains could be implemented and released one at a time.</a:t>
            </a:r>
          </a:p>
        </p:txBody>
      </p:sp>
      <p:grpSp>
        <p:nvGrpSpPr>
          <p:cNvPr name="Group 23" id="23"/>
          <p:cNvGrpSpPr/>
          <p:nvPr/>
        </p:nvGrpSpPr>
        <p:grpSpPr>
          <a:xfrm rot="0">
            <a:off x="9006840" y="4288536"/>
            <a:ext cx="146304" cy="146304"/>
            <a:chOff x="0" y="0"/>
            <a:chExt cx="195072" cy="195072"/>
          </a:xfrm>
        </p:grpSpPr>
        <p:sp>
          <p:nvSpPr>
            <p:cNvPr name="Freeform 24" id="24"/>
            <p:cNvSpPr/>
            <p:nvPr/>
          </p:nvSpPr>
          <p:spPr>
            <a:xfrm flipH="false" flipV="false" rot="0">
              <a:off x="0" y="0"/>
              <a:ext cx="195072" cy="195072"/>
            </a:xfrm>
            <a:custGeom>
              <a:avLst/>
              <a:gdLst/>
              <a:ahLst/>
              <a:cxnLst/>
              <a:rect r="r" b="b" t="t" l="l"/>
              <a:pathLst>
                <a:path h="195072" w="195072">
                  <a:moveTo>
                    <a:pt x="0" y="97536"/>
                  </a:moveTo>
                  <a:cubicBezTo>
                    <a:pt x="0" y="43688"/>
                    <a:pt x="43688" y="0"/>
                    <a:pt x="97536" y="0"/>
                  </a:cubicBezTo>
                  <a:cubicBezTo>
                    <a:pt x="151384" y="0"/>
                    <a:pt x="195072" y="43688"/>
                    <a:pt x="195072" y="97536"/>
                  </a:cubicBezTo>
                  <a:cubicBezTo>
                    <a:pt x="195072" y="151384"/>
                    <a:pt x="151384" y="195072"/>
                    <a:pt x="97536" y="195072"/>
                  </a:cubicBezTo>
                  <a:cubicBezTo>
                    <a:pt x="43688" y="195072"/>
                    <a:pt x="0" y="151384"/>
                    <a:pt x="0" y="97536"/>
                  </a:cubicBezTo>
                  <a:close/>
                </a:path>
              </a:pathLst>
            </a:custGeom>
            <a:solidFill>
              <a:srgbClr val="737AE6"/>
            </a:solidFill>
          </p:spPr>
        </p:sp>
      </p:grpSp>
      <p:sp>
        <p:nvSpPr>
          <p:cNvPr name="TextBox 25" id="25"/>
          <p:cNvSpPr txBox="true"/>
          <p:nvPr/>
        </p:nvSpPr>
        <p:spPr>
          <a:xfrm rot="0">
            <a:off x="9326880" y="4112895"/>
            <a:ext cx="8275320" cy="916305"/>
          </a:xfrm>
          <a:prstGeom prst="rect">
            <a:avLst/>
          </a:prstGeom>
        </p:spPr>
        <p:txBody>
          <a:bodyPr anchor="t" rtlCol="false" tIns="0" lIns="0" bIns="0" rIns="0">
            <a:spAutoFit/>
          </a:bodyPr>
          <a:lstStyle/>
          <a:p>
            <a:pPr algn="l">
              <a:lnSpc>
                <a:spcPts val="2124"/>
              </a:lnSpc>
            </a:pPr>
            <a:r>
              <a:rPr lang="en-US" sz="1500" b="true">
                <a:solidFill>
                  <a:srgbClr val="1F3338"/>
                </a:solidFill>
                <a:latin typeface="Poppins Bold"/>
                <a:ea typeface="Poppins Bold"/>
                <a:cs typeface="Poppins Bold"/>
                <a:sym typeface="Poppins Bold"/>
              </a:rPr>
              <a:t>Predictable cadence</a:t>
            </a:r>
          </a:p>
          <a:p>
            <a:pPr algn="l">
              <a:lnSpc>
                <a:spcPts val="1911"/>
              </a:lnSpc>
            </a:pPr>
            <a:r>
              <a:rPr lang="en-US" sz="1350">
                <a:solidFill>
                  <a:srgbClr val="2A3B3F"/>
                </a:solidFill>
                <a:latin typeface="Poppins"/>
                <a:ea typeface="Poppins"/>
                <a:cs typeface="Poppins"/>
                <a:sym typeface="Poppins"/>
              </a:rPr>
              <a:t>Fixed sprint cycles kept progress easy to monitor throughout the PFE period.</a:t>
            </a:r>
          </a:p>
        </p:txBody>
      </p:sp>
      <p:grpSp>
        <p:nvGrpSpPr>
          <p:cNvPr name="Group 26" id="26"/>
          <p:cNvGrpSpPr/>
          <p:nvPr/>
        </p:nvGrpSpPr>
        <p:grpSpPr>
          <a:xfrm rot="0">
            <a:off x="9006840" y="5276088"/>
            <a:ext cx="146304" cy="146304"/>
            <a:chOff x="0" y="0"/>
            <a:chExt cx="195072" cy="195072"/>
          </a:xfrm>
        </p:grpSpPr>
        <p:sp>
          <p:nvSpPr>
            <p:cNvPr name="Freeform 27" id="27"/>
            <p:cNvSpPr/>
            <p:nvPr/>
          </p:nvSpPr>
          <p:spPr>
            <a:xfrm flipH="false" flipV="false" rot="0">
              <a:off x="0" y="0"/>
              <a:ext cx="195072" cy="195072"/>
            </a:xfrm>
            <a:custGeom>
              <a:avLst/>
              <a:gdLst/>
              <a:ahLst/>
              <a:cxnLst/>
              <a:rect r="r" b="b" t="t" l="l"/>
              <a:pathLst>
                <a:path h="195072" w="195072">
                  <a:moveTo>
                    <a:pt x="0" y="97536"/>
                  </a:moveTo>
                  <a:cubicBezTo>
                    <a:pt x="0" y="43688"/>
                    <a:pt x="43688" y="0"/>
                    <a:pt x="97536" y="0"/>
                  </a:cubicBezTo>
                  <a:cubicBezTo>
                    <a:pt x="151384" y="0"/>
                    <a:pt x="195072" y="43688"/>
                    <a:pt x="195072" y="97536"/>
                  </a:cubicBezTo>
                  <a:cubicBezTo>
                    <a:pt x="195072" y="151384"/>
                    <a:pt x="151384" y="195072"/>
                    <a:pt x="97536" y="195072"/>
                  </a:cubicBezTo>
                  <a:cubicBezTo>
                    <a:pt x="43688" y="195072"/>
                    <a:pt x="0" y="151384"/>
                    <a:pt x="0" y="97536"/>
                  </a:cubicBezTo>
                  <a:close/>
                </a:path>
              </a:pathLst>
            </a:custGeom>
            <a:solidFill>
              <a:srgbClr val="737AE6"/>
            </a:solidFill>
          </p:spPr>
        </p:sp>
      </p:grpSp>
      <p:sp>
        <p:nvSpPr>
          <p:cNvPr name="TextBox 28" id="28"/>
          <p:cNvSpPr txBox="true"/>
          <p:nvPr/>
        </p:nvSpPr>
        <p:spPr>
          <a:xfrm rot="0">
            <a:off x="9326880" y="5100447"/>
            <a:ext cx="8275320" cy="916305"/>
          </a:xfrm>
          <a:prstGeom prst="rect">
            <a:avLst/>
          </a:prstGeom>
        </p:spPr>
        <p:txBody>
          <a:bodyPr anchor="t" rtlCol="false" tIns="0" lIns="0" bIns="0" rIns="0">
            <a:spAutoFit/>
          </a:bodyPr>
          <a:lstStyle/>
          <a:p>
            <a:pPr algn="l">
              <a:lnSpc>
                <a:spcPts val="2124"/>
              </a:lnSpc>
            </a:pPr>
            <a:r>
              <a:rPr lang="en-US" sz="1500" b="true">
                <a:solidFill>
                  <a:srgbClr val="1F3338"/>
                </a:solidFill>
                <a:latin typeface="Poppins Bold"/>
                <a:ea typeface="Poppins Bold"/>
                <a:cs typeface="Poppins Bold"/>
                <a:sym typeface="Poppins Bold"/>
              </a:rPr>
              <a:t>Validated increments</a:t>
            </a:r>
          </a:p>
          <a:p>
            <a:pPr algn="l">
              <a:lnSpc>
                <a:spcPts val="1911"/>
              </a:lnSpc>
            </a:pPr>
            <a:r>
              <a:rPr lang="en-US" sz="1350">
                <a:solidFill>
                  <a:srgbClr val="2A3B3F"/>
                </a:solidFill>
                <a:latin typeface="Poppins"/>
                <a:ea typeface="Poppins"/>
                <a:cs typeface="Poppins"/>
                <a:sym typeface="Poppins"/>
              </a:rPr>
              <a:t>Each sprint closed with a review before the next set of features began.</a:t>
            </a:r>
          </a:p>
        </p:txBody>
      </p:sp>
      <p:sp>
        <p:nvSpPr>
          <p:cNvPr name="TextBox 29" id="29"/>
          <p:cNvSpPr txBox="true"/>
          <p:nvPr/>
        </p:nvSpPr>
        <p:spPr>
          <a:xfrm rot="0">
            <a:off x="9006840" y="6244971"/>
            <a:ext cx="8595360" cy="329565"/>
          </a:xfrm>
          <a:prstGeom prst="rect">
            <a:avLst/>
          </a:prstGeom>
        </p:spPr>
        <p:txBody>
          <a:bodyPr anchor="t" rtlCol="false" tIns="0" lIns="0" bIns="0" rIns="0">
            <a:spAutoFit/>
          </a:bodyPr>
          <a:lstStyle/>
          <a:p>
            <a:pPr algn="l">
              <a:lnSpc>
                <a:spcPts val="1439"/>
              </a:lnSpc>
            </a:pPr>
            <a:r>
              <a:rPr lang="en-US" sz="1200" b="true">
                <a:solidFill>
                  <a:srgbClr val="3D6874"/>
                </a:solidFill>
                <a:latin typeface="Poppins Bold"/>
                <a:ea typeface="Poppins Bold"/>
                <a:cs typeface="Poppins Bold"/>
                <a:sym typeface="Poppins Bold"/>
              </a:rPr>
              <a:t>SCRUM TEAM ON HIRE ON DEMAND</a:t>
            </a:r>
          </a:p>
        </p:txBody>
      </p:sp>
      <p:grpSp>
        <p:nvGrpSpPr>
          <p:cNvPr name="Group 30" id="30"/>
          <p:cNvGrpSpPr/>
          <p:nvPr/>
        </p:nvGrpSpPr>
        <p:grpSpPr>
          <a:xfrm rot="0">
            <a:off x="9006840" y="6665976"/>
            <a:ext cx="8595360" cy="1024128"/>
            <a:chOff x="0" y="0"/>
            <a:chExt cx="11460480" cy="1365504"/>
          </a:xfrm>
        </p:grpSpPr>
        <p:sp>
          <p:nvSpPr>
            <p:cNvPr name="Freeform 31" id="31"/>
            <p:cNvSpPr/>
            <p:nvPr/>
          </p:nvSpPr>
          <p:spPr>
            <a:xfrm flipH="false" flipV="false" rot="0">
              <a:off x="0" y="0"/>
              <a:ext cx="11460480" cy="1365631"/>
            </a:xfrm>
            <a:custGeom>
              <a:avLst/>
              <a:gdLst/>
              <a:ahLst/>
              <a:cxnLst/>
              <a:rect r="r" b="b" t="t" l="l"/>
              <a:pathLst>
                <a:path h="1365631" w="11460480">
                  <a:moveTo>
                    <a:pt x="0" y="68326"/>
                  </a:moveTo>
                  <a:cubicBezTo>
                    <a:pt x="0" y="30607"/>
                    <a:pt x="30607" y="0"/>
                    <a:pt x="68326" y="0"/>
                  </a:cubicBezTo>
                  <a:lnTo>
                    <a:pt x="11392154" y="0"/>
                  </a:lnTo>
                  <a:cubicBezTo>
                    <a:pt x="11429873" y="0"/>
                    <a:pt x="11460480" y="30607"/>
                    <a:pt x="11460480" y="68326"/>
                  </a:cubicBezTo>
                  <a:lnTo>
                    <a:pt x="11460480" y="1297305"/>
                  </a:lnTo>
                  <a:cubicBezTo>
                    <a:pt x="11460480" y="1335024"/>
                    <a:pt x="11429873" y="1365631"/>
                    <a:pt x="11392154" y="1365631"/>
                  </a:cubicBezTo>
                  <a:lnTo>
                    <a:pt x="68326" y="1365631"/>
                  </a:lnTo>
                  <a:cubicBezTo>
                    <a:pt x="30607" y="1365631"/>
                    <a:pt x="0" y="1335024"/>
                    <a:pt x="0" y="1297305"/>
                  </a:cubicBezTo>
                  <a:close/>
                </a:path>
              </a:pathLst>
            </a:custGeom>
            <a:solidFill>
              <a:srgbClr val="FFFFFF"/>
            </a:solidFill>
          </p:spPr>
        </p:sp>
      </p:grpSp>
      <p:sp>
        <p:nvSpPr>
          <p:cNvPr name="TextBox 32" id="32"/>
          <p:cNvSpPr txBox="true"/>
          <p:nvPr/>
        </p:nvSpPr>
        <p:spPr>
          <a:xfrm rot="0">
            <a:off x="9281160" y="6746367"/>
            <a:ext cx="8046720" cy="474535"/>
          </a:xfrm>
          <a:prstGeom prst="rect">
            <a:avLst/>
          </a:prstGeom>
        </p:spPr>
        <p:txBody>
          <a:bodyPr anchor="t" rtlCol="false" tIns="0" lIns="0" bIns="0" rIns="0">
            <a:spAutoFit/>
          </a:bodyPr>
          <a:lstStyle/>
          <a:p>
            <a:pPr algn="l">
              <a:lnSpc>
                <a:spcPts val="1932"/>
              </a:lnSpc>
            </a:pPr>
            <a:r>
              <a:rPr lang="en-US" sz="1400" b="true">
                <a:solidFill>
                  <a:srgbClr val="1F3338"/>
                </a:solidFill>
                <a:latin typeface="Poppins Bold"/>
                <a:ea typeface="Poppins Bold"/>
                <a:cs typeface="Poppins Bold"/>
                <a:sym typeface="Poppins Bold"/>
              </a:rPr>
              <a:t>Product Owner &amp; Scrum Master</a:t>
            </a:r>
          </a:p>
          <a:p>
            <a:pPr algn="l">
              <a:lnSpc>
                <a:spcPts val="1725"/>
              </a:lnSpc>
            </a:pPr>
            <a:r>
              <a:rPr lang="en-US" sz="1250">
                <a:solidFill>
                  <a:srgbClr val="2A3B3F"/>
                </a:solidFill>
                <a:latin typeface="Poppins"/>
                <a:ea typeface="Poppins"/>
                <a:cs typeface="Poppins"/>
                <a:sym typeface="Poppins"/>
              </a:rPr>
              <a:t>Enterprise supervisor (dual role) : defines and prioritises the backlog, validates sprint increments.</a:t>
            </a:r>
          </a:p>
        </p:txBody>
      </p:sp>
      <p:grpSp>
        <p:nvGrpSpPr>
          <p:cNvPr name="Group 33" id="33"/>
          <p:cNvGrpSpPr/>
          <p:nvPr/>
        </p:nvGrpSpPr>
        <p:grpSpPr>
          <a:xfrm rot="0">
            <a:off x="9006840" y="7836408"/>
            <a:ext cx="8595360" cy="1024128"/>
            <a:chOff x="0" y="0"/>
            <a:chExt cx="11460480" cy="1365504"/>
          </a:xfrm>
        </p:grpSpPr>
        <p:sp>
          <p:nvSpPr>
            <p:cNvPr name="Freeform 34" id="34"/>
            <p:cNvSpPr/>
            <p:nvPr/>
          </p:nvSpPr>
          <p:spPr>
            <a:xfrm flipH="false" flipV="false" rot="0">
              <a:off x="0" y="0"/>
              <a:ext cx="11460480" cy="1365631"/>
            </a:xfrm>
            <a:custGeom>
              <a:avLst/>
              <a:gdLst/>
              <a:ahLst/>
              <a:cxnLst/>
              <a:rect r="r" b="b" t="t" l="l"/>
              <a:pathLst>
                <a:path h="1365631" w="11460480">
                  <a:moveTo>
                    <a:pt x="0" y="68326"/>
                  </a:moveTo>
                  <a:cubicBezTo>
                    <a:pt x="0" y="30607"/>
                    <a:pt x="30607" y="0"/>
                    <a:pt x="68326" y="0"/>
                  </a:cubicBezTo>
                  <a:lnTo>
                    <a:pt x="11392154" y="0"/>
                  </a:lnTo>
                  <a:cubicBezTo>
                    <a:pt x="11429873" y="0"/>
                    <a:pt x="11460480" y="30607"/>
                    <a:pt x="11460480" y="68326"/>
                  </a:cubicBezTo>
                  <a:lnTo>
                    <a:pt x="11460480" y="1297305"/>
                  </a:lnTo>
                  <a:cubicBezTo>
                    <a:pt x="11460480" y="1335024"/>
                    <a:pt x="11429873" y="1365631"/>
                    <a:pt x="11392154" y="1365631"/>
                  </a:cubicBezTo>
                  <a:lnTo>
                    <a:pt x="68326" y="1365631"/>
                  </a:lnTo>
                  <a:cubicBezTo>
                    <a:pt x="30607" y="1365631"/>
                    <a:pt x="0" y="1335024"/>
                    <a:pt x="0" y="1297305"/>
                  </a:cubicBezTo>
                  <a:close/>
                </a:path>
              </a:pathLst>
            </a:custGeom>
            <a:solidFill>
              <a:srgbClr val="FFFFFF"/>
            </a:solidFill>
          </p:spPr>
        </p:sp>
      </p:grpSp>
      <p:sp>
        <p:nvSpPr>
          <p:cNvPr name="TextBox 35" id="35"/>
          <p:cNvSpPr txBox="true"/>
          <p:nvPr/>
        </p:nvSpPr>
        <p:spPr>
          <a:xfrm rot="0">
            <a:off x="9281160" y="7916799"/>
            <a:ext cx="8046720" cy="693610"/>
          </a:xfrm>
          <a:prstGeom prst="rect">
            <a:avLst/>
          </a:prstGeom>
        </p:spPr>
        <p:txBody>
          <a:bodyPr anchor="t" rtlCol="false" tIns="0" lIns="0" bIns="0" rIns="0">
            <a:spAutoFit/>
          </a:bodyPr>
          <a:lstStyle/>
          <a:p>
            <a:pPr algn="l">
              <a:lnSpc>
                <a:spcPts val="1932"/>
              </a:lnSpc>
            </a:pPr>
            <a:r>
              <a:rPr lang="en-US" sz="1400" b="true">
                <a:solidFill>
                  <a:srgbClr val="1F3338"/>
                </a:solidFill>
                <a:latin typeface="Poppins Bold"/>
                <a:ea typeface="Poppins Bold"/>
                <a:cs typeface="Poppins Bold"/>
                <a:sym typeface="Poppins Bold"/>
              </a:rPr>
              <a:t>Development Team</a:t>
            </a:r>
          </a:p>
          <a:p>
            <a:pPr algn="l">
              <a:lnSpc>
                <a:spcPts val="1725"/>
              </a:lnSpc>
            </a:pPr>
            <a:r>
              <a:rPr lang="en-US" sz="1250">
                <a:solidFill>
                  <a:srgbClr val="2A3B3F"/>
                </a:solidFill>
                <a:latin typeface="Poppins"/>
                <a:ea typeface="Poppins"/>
                <a:cs typeface="Poppins"/>
                <a:sym typeface="Poppins"/>
              </a:rPr>
              <a:t>Project student, lead developer : designs, implements, tests and integrates every sprint, across front-end, back-end and AI.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685800" y="502920"/>
            <a:ext cx="2011680" cy="1495044"/>
            <a:chOff x="0" y="0"/>
            <a:chExt cx="2682240" cy="1993392"/>
          </a:xfrm>
        </p:grpSpPr>
        <p:sp>
          <p:nvSpPr>
            <p:cNvPr name="Freeform 3" id="3"/>
            <p:cNvSpPr/>
            <p:nvPr/>
          </p:nvSpPr>
          <p:spPr>
            <a:xfrm flipH="false" flipV="false" rot="0">
              <a:off x="0" y="0"/>
              <a:ext cx="2682240" cy="1993392"/>
            </a:xfrm>
            <a:custGeom>
              <a:avLst/>
              <a:gdLst/>
              <a:ahLst/>
              <a:cxnLst/>
              <a:rect r="r" b="b" t="t" l="l"/>
              <a:pathLst>
                <a:path h="1993392" w="2682240">
                  <a:moveTo>
                    <a:pt x="0" y="0"/>
                  </a:moveTo>
                  <a:lnTo>
                    <a:pt x="2682240" y="0"/>
                  </a:lnTo>
                  <a:lnTo>
                    <a:pt x="2682240" y="1993392"/>
                  </a:lnTo>
                  <a:lnTo>
                    <a:pt x="0" y="1993392"/>
                  </a:lnTo>
                  <a:close/>
                </a:path>
              </a:pathLst>
            </a:custGeom>
            <a:blipFill>
              <a:blip r:embed="rId2">
                <a:alphaModFix amt="0"/>
              </a:blip>
              <a:stretch>
                <a:fillRect l="-28731" t="0" r="-28731" b="17431"/>
              </a:stretch>
            </a:blipFill>
          </p:spPr>
        </p:sp>
        <p:sp>
          <p:nvSpPr>
            <p:cNvPr name="TextBox 4" id="4"/>
            <p:cNvSpPr txBox="true"/>
            <p:nvPr/>
          </p:nvSpPr>
          <p:spPr>
            <a:xfrm>
              <a:off x="0" y="-66675"/>
              <a:ext cx="2682240" cy="2060067"/>
            </a:xfrm>
            <a:prstGeom prst="rect">
              <a:avLst/>
            </a:prstGeom>
          </p:spPr>
          <p:txBody>
            <a:bodyPr anchor="ctr" rtlCol="false" tIns="0" lIns="0" bIns="0" rIns="0"/>
            <a:lstStyle/>
            <a:p>
              <a:pPr algn="l">
                <a:lnSpc>
                  <a:spcPts val="7200"/>
                </a:lnSpc>
              </a:pPr>
            </a:p>
          </p:txBody>
        </p:sp>
      </p:grpSp>
      <p:grpSp>
        <p:nvGrpSpPr>
          <p:cNvPr name="Group 5" id="5"/>
          <p:cNvGrpSpPr/>
          <p:nvPr/>
        </p:nvGrpSpPr>
        <p:grpSpPr>
          <a:xfrm rot="0">
            <a:off x="503555" y="480060"/>
            <a:ext cx="13350240" cy="1097280"/>
            <a:chOff x="0" y="0"/>
            <a:chExt cx="17800320" cy="1463040"/>
          </a:xfrm>
        </p:grpSpPr>
        <p:sp>
          <p:nvSpPr>
            <p:cNvPr name="Freeform 6" id="6"/>
            <p:cNvSpPr/>
            <p:nvPr/>
          </p:nvSpPr>
          <p:spPr>
            <a:xfrm flipH="false" flipV="false" rot="0">
              <a:off x="0" y="0"/>
              <a:ext cx="17800320" cy="1463040"/>
            </a:xfrm>
            <a:custGeom>
              <a:avLst/>
              <a:gdLst/>
              <a:ahLst/>
              <a:cxnLst/>
              <a:rect r="r" b="b" t="t" l="l"/>
              <a:pathLst>
                <a:path h="1463040" w="17800320">
                  <a:moveTo>
                    <a:pt x="0" y="0"/>
                  </a:moveTo>
                  <a:lnTo>
                    <a:pt x="17800320" y="0"/>
                  </a:lnTo>
                  <a:lnTo>
                    <a:pt x="17800320" y="1463040"/>
                  </a:lnTo>
                  <a:lnTo>
                    <a:pt x="0" y="1463040"/>
                  </a:lnTo>
                  <a:close/>
                </a:path>
              </a:pathLst>
            </a:custGeom>
            <a:blipFill>
              <a:blip r:embed="rId2">
                <a:alphaModFix amt="0"/>
              </a:blip>
              <a:stretch>
                <a:fillRect l="0" t="-187067" r="0" b="-187067"/>
              </a:stretch>
            </a:blipFill>
          </p:spPr>
        </p:sp>
        <p:sp>
          <p:nvSpPr>
            <p:cNvPr name="TextBox 7" id="7"/>
            <p:cNvSpPr txBox="true"/>
            <p:nvPr/>
          </p:nvSpPr>
          <p:spPr>
            <a:xfrm>
              <a:off x="0" y="-38100"/>
              <a:ext cx="17800320" cy="1501140"/>
            </a:xfrm>
            <a:prstGeom prst="rect">
              <a:avLst/>
            </a:prstGeom>
          </p:spPr>
          <p:txBody>
            <a:bodyPr anchor="ctr" rtlCol="false" tIns="0" lIns="0" bIns="0" rIns="0"/>
            <a:lstStyle/>
            <a:p>
              <a:pPr algn="l">
                <a:lnSpc>
                  <a:spcPts val="4079"/>
                </a:lnSpc>
              </a:pPr>
              <a:r>
                <a:rPr lang="en-US" sz="3399" b="true">
                  <a:solidFill>
                    <a:srgbClr val="1F3338"/>
                  </a:solidFill>
                  <a:latin typeface="Poppins Bold"/>
                  <a:ea typeface="Poppins Bold"/>
                  <a:cs typeface="Poppins Bold"/>
                  <a:sym typeface="Poppins Bold"/>
                </a:rPr>
                <a:t>Sprint Timeline</a:t>
              </a:r>
            </a:p>
          </p:txBody>
        </p:sp>
      </p:grpSp>
      <p:grpSp>
        <p:nvGrpSpPr>
          <p:cNvPr name="Group 8" id="8"/>
          <p:cNvGrpSpPr/>
          <p:nvPr/>
        </p:nvGrpSpPr>
        <p:grpSpPr>
          <a:xfrm rot="0">
            <a:off x="16779240" y="667512"/>
            <a:ext cx="777240" cy="777240"/>
            <a:chOff x="0" y="0"/>
            <a:chExt cx="1036320" cy="1036320"/>
          </a:xfrm>
        </p:grpSpPr>
        <p:sp>
          <p:nvSpPr>
            <p:cNvPr name="Freeform 9" id="9"/>
            <p:cNvSpPr/>
            <p:nvPr/>
          </p:nvSpPr>
          <p:spPr>
            <a:xfrm flipH="false" flipV="false" rot="0">
              <a:off x="0" y="0"/>
              <a:ext cx="1036320" cy="1036320"/>
            </a:xfrm>
            <a:custGeom>
              <a:avLst/>
              <a:gdLst/>
              <a:ahLst/>
              <a:cxnLst/>
              <a:rect r="r" b="b" t="t" l="l"/>
              <a:pathLst>
                <a:path h="1036320" w="1036320">
                  <a:moveTo>
                    <a:pt x="0" y="0"/>
                  </a:moveTo>
                  <a:lnTo>
                    <a:pt x="1036320" y="0"/>
                  </a:lnTo>
                  <a:lnTo>
                    <a:pt x="1036320" y="1036320"/>
                  </a:lnTo>
                  <a:lnTo>
                    <a:pt x="0" y="1036320"/>
                  </a:lnTo>
                  <a:lnTo>
                    <a:pt x="0" y="0"/>
                  </a:lnTo>
                  <a:close/>
                </a:path>
              </a:pathLst>
            </a:custGeom>
            <a:blipFill>
              <a:blip r:embed="rId3"/>
              <a:stretch>
                <a:fillRect l="0" t="0" r="0" b="0"/>
              </a:stretch>
            </a:blipFill>
          </p:spPr>
        </p:sp>
      </p:grpSp>
      <p:grpSp>
        <p:nvGrpSpPr>
          <p:cNvPr name="Group 10" id="10"/>
          <p:cNvGrpSpPr/>
          <p:nvPr/>
        </p:nvGrpSpPr>
        <p:grpSpPr>
          <a:xfrm rot="0">
            <a:off x="685800" y="9646920"/>
            <a:ext cx="8229600" cy="411480"/>
            <a:chOff x="0" y="0"/>
            <a:chExt cx="10972800" cy="548640"/>
          </a:xfrm>
        </p:grpSpPr>
        <p:sp>
          <p:nvSpPr>
            <p:cNvPr name="Freeform 11" id="11"/>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700" r="0" b="-339700"/>
              </a:stretch>
            </a:blipFill>
          </p:spPr>
        </p:sp>
        <p:sp>
          <p:nvSpPr>
            <p:cNvPr name="TextBox 12" id="12"/>
            <p:cNvSpPr txBox="true"/>
            <p:nvPr/>
          </p:nvSpPr>
          <p:spPr>
            <a:xfrm>
              <a:off x="0" y="-19050"/>
              <a:ext cx="10972800" cy="567690"/>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sp>
        <p:nvSpPr>
          <p:cNvPr name="TextBox 13" id="13"/>
          <p:cNvSpPr txBox="true"/>
          <p:nvPr/>
        </p:nvSpPr>
        <p:spPr>
          <a:xfrm rot="0">
            <a:off x="685800" y="1918335"/>
            <a:ext cx="8229600" cy="641985"/>
          </a:xfrm>
          <a:prstGeom prst="rect">
            <a:avLst/>
          </a:prstGeom>
        </p:spPr>
        <p:txBody>
          <a:bodyPr anchor="t" rtlCol="false" tIns="0" lIns="0" bIns="0" rIns="0">
            <a:spAutoFit/>
          </a:bodyPr>
          <a:lstStyle/>
          <a:p>
            <a:pPr algn="l">
              <a:lnSpc>
                <a:spcPts val="2124"/>
              </a:lnSpc>
            </a:pPr>
            <a:r>
              <a:rPr lang="en-US" sz="1500">
                <a:solidFill>
                  <a:srgbClr val="2A3B3F"/>
                </a:solidFill>
                <a:latin typeface="Poppins"/>
                <a:ea typeface="Poppins"/>
                <a:cs typeface="Poppins"/>
                <a:sym typeface="Poppins"/>
              </a:rPr>
              <a:t>Seven Scrum sprints delivered the platform's features incrementally between 01 Feb and 13 Aug 2026.</a:t>
            </a:r>
          </a:p>
        </p:txBody>
      </p:sp>
      <p:grpSp>
        <p:nvGrpSpPr>
          <p:cNvPr name="Group 14" id="14"/>
          <p:cNvGrpSpPr/>
          <p:nvPr/>
        </p:nvGrpSpPr>
        <p:grpSpPr>
          <a:xfrm rot="0">
            <a:off x="685800" y="2697480"/>
            <a:ext cx="2621280" cy="960120"/>
            <a:chOff x="0" y="0"/>
            <a:chExt cx="3495040" cy="1280160"/>
          </a:xfrm>
        </p:grpSpPr>
        <p:sp>
          <p:nvSpPr>
            <p:cNvPr name="Freeform 15" id="15"/>
            <p:cNvSpPr/>
            <p:nvPr/>
          </p:nvSpPr>
          <p:spPr>
            <a:xfrm flipH="false" flipV="false" rot="0">
              <a:off x="0" y="0"/>
              <a:ext cx="3495040" cy="1280160"/>
            </a:xfrm>
            <a:custGeom>
              <a:avLst/>
              <a:gdLst/>
              <a:ahLst/>
              <a:cxnLst/>
              <a:rect r="r" b="b" t="t" l="l"/>
              <a:pathLst>
                <a:path h="1280160" w="3495040">
                  <a:moveTo>
                    <a:pt x="0" y="76835"/>
                  </a:moveTo>
                  <a:cubicBezTo>
                    <a:pt x="0" y="34417"/>
                    <a:pt x="34417" y="0"/>
                    <a:pt x="76835" y="0"/>
                  </a:cubicBezTo>
                  <a:lnTo>
                    <a:pt x="3418205" y="0"/>
                  </a:lnTo>
                  <a:cubicBezTo>
                    <a:pt x="3460623" y="0"/>
                    <a:pt x="3495040" y="34417"/>
                    <a:pt x="3495040" y="76835"/>
                  </a:cubicBezTo>
                  <a:lnTo>
                    <a:pt x="3495040" y="1203325"/>
                  </a:lnTo>
                  <a:cubicBezTo>
                    <a:pt x="3495040" y="1245743"/>
                    <a:pt x="3460623" y="1280160"/>
                    <a:pt x="3418205" y="1280160"/>
                  </a:cubicBezTo>
                  <a:lnTo>
                    <a:pt x="76835" y="1280160"/>
                  </a:lnTo>
                  <a:cubicBezTo>
                    <a:pt x="34417" y="1280160"/>
                    <a:pt x="0" y="1245743"/>
                    <a:pt x="0" y="1203325"/>
                  </a:cubicBezTo>
                  <a:close/>
                </a:path>
              </a:pathLst>
            </a:custGeom>
            <a:solidFill>
              <a:srgbClr val="FFFFFF"/>
            </a:solidFill>
          </p:spPr>
        </p:sp>
      </p:grpSp>
      <p:grpSp>
        <p:nvGrpSpPr>
          <p:cNvPr name="Group 16" id="16"/>
          <p:cNvGrpSpPr/>
          <p:nvPr/>
        </p:nvGrpSpPr>
        <p:grpSpPr>
          <a:xfrm rot="0">
            <a:off x="685800" y="2743200"/>
            <a:ext cx="2621280" cy="548640"/>
            <a:chOff x="0" y="0"/>
            <a:chExt cx="3495040" cy="731520"/>
          </a:xfrm>
        </p:grpSpPr>
        <p:sp>
          <p:nvSpPr>
            <p:cNvPr name="Freeform 17" id="17"/>
            <p:cNvSpPr/>
            <p:nvPr/>
          </p:nvSpPr>
          <p:spPr>
            <a:xfrm flipH="false" flipV="false" rot="0">
              <a:off x="0" y="0"/>
              <a:ext cx="3495040" cy="731520"/>
            </a:xfrm>
            <a:custGeom>
              <a:avLst/>
              <a:gdLst/>
              <a:ahLst/>
              <a:cxnLst/>
              <a:rect r="r" b="b" t="t" l="l"/>
              <a:pathLst>
                <a:path h="731520" w="3495040">
                  <a:moveTo>
                    <a:pt x="0" y="0"/>
                  </a:moveTo>
                  <a:lnTo>
                    <a:pt x="3495040" y="0"/>
                  </a:lnTo>
                  <a:lnTo>
                    <a:pt x="3495040" y="731520"/>
                  </a:lnTo>
                  <a:lnTo>
                    <a:pt x="0" y="731520"/>
                  </a:lnTo>
                  <a:close/>
                </a:path>
              </a:pathLst>
            </a:custGeom>
            <a:blipFill>
              <a:blip r:embed="rId2">
                <a:alphaModFix amt="0"/>
              </a:blip>
              <a:stretch>
                <a:fillRect l="0" t="-43095" r="0" b="-43095"/>
              </a:stretch>
            </a:blipFill>
          </p:spPr>
        </p:sp>
        <p:sp>
          <p:nvSpPr>
            <p:cNvPr name="TextBox 18" id="18"/>
            <p:cNvSpPr txBox="true"/>
            <p:nvPr/>
          </p:nvSpPr>
          <p:spPr>
            <a:xfrm>
              <a:off x="0" y="-28575"/>
              <a:ext cx="3495040" cy="760095"/>
            </a:xfrm>
            <a:prstGeom prst="rect">
              <a:avLst/>
            </a:prstGeom>
          </p:spPr>
          <p:txBody>
            <a:bodyPr anchor="ctr" rtlCol="false" tIns="0" lIns="0" bIns="0" rIns="0"/>
            <a:lstStyle/>
            <a:p>
              <a:pPr algn="ctr">
                <a:lnSpc>
                  <a:spcPts val="3840"/>
                </a:lnSpc>
              </a:pPr>
              <a:r>
                <a:rPr lang="en-US" sz="3200" b="true">
                  <a:solidFill>
                    <a:srgbClr val="1F3338"/>
                  </a:solidFill>
                  <a:latin typeface="Poppins Bold"/>
                  <a:ea typeface="Poppins Bold"/>
                  <a:cs typeface="Poppins Bold"/>
                  <a:sym typeface="Poppins Bold"/>
                </a:rPr>
                <a:t>7</a:t>
              </a:r>
            </a:p>
          </p:txBody>
        </p:sp>
      </p:grpSp>
      <p:grpSp>
        <p:nvGrpSpPr>
          <p:cNvPr name="Group 19" id="19"/>
          <p:cNvGrpSpPr/>
          <p:nvPr/>
        </p:nvGrpSpPr>
        <p:grpSpPr>
          <a:xfrm rot="0">
            <a:off x="685800" y="3273552"/>
            <a:ext cx="2621280" cy="320040"/>
            <a:chOff x="0" y="0"/>
            <a:chExt cx="3495040" cy="426720"/>
          </a:xfrm>
        </p:grpSpPr>
        <p:sp>
          <p:nvSpPr>
            <p:cNvPr name="Freeform 20" id="20"/>
            <p:cNvSpPr/>
            <p:nvPr/>
          </p:nvSpPr>
          <p:spPr>
            <a:xfrm flipH="false" flipV="false" rot="0">
              <a:off x="0" y="0"/>
              <a:ext cx="3495040" cy="426720"/>
            </a:xfrm>
            <a:custGeom>
              <a:avLst/>
              <a:gdLst/>
              <a:ahLst/>
              <a:cxnLst/>
              <a:rect r="r" b="b" t="t" l="l"/>
              <a:pathLst>
                <a:path h="426720" w="3495040">
                  <a:moveTo>
                    <a:pt x="0" y="0"/>
                  </a:moveTo>
                  <a:lnTo>
                    <a:pt x="3495040" y="0"/>
                  </a:lnTo>
                  <a:lnTo>
                    <a:pt x="3495040" y="426720"/>
                  </a:lnTo>
                  <a:lnTo>
                    <a:pt x="0" y="426720"/>
                  </a:lnTo>
                  <a:close/>
                </a:path>
              </a:pathLst>
            </a:custGeom>
            <a:blipFill>
              <a:blip r:embed="rId2">
                <a:alphaModFix amt="0"/>
              </a:blip>
              <a:stretch>
                <a:fillRect l="0" t="-109591" r="0" b="-109591"/>
              </a:stretch>
            </a:blipFill>
          </p:spPr>
        </p:sp>
        <p:sp>
          <p:nvSpPr>
            <p:cNvPr name="TextBox 21" id="21"/>
            <p:cNvSpPr txBox="true"/>
            <p:nvPr/>
          </p:nvSpPr>
          <p:spPr>
            <a:xfrm>
              <a:off x="0" y="-19050"/>
              <a:ext cx="3495040" cy="445770"/>
            </a:xfrm>
            <a:prstGeom prst="rect">
              <a:avLst/>
            </a:prstGeom>
          </p:spPr>
          <p:txBody>
            <a:bodyPr anchor="ctr" rtlCol="false" tIns="0" lIns="0" bIns="0" rIns="0"/>
            <a:lstStyle/>
            <a:p>
              <a:pPr algn="ctr">
                <a:lnSpc>
                  <a:spcPts val="1320"/>
                </a:lnSpc>
              </a:pPr>
              <a:r>
                <a:rPr lang="en-US" sz="1100" b="true">
                  <a:solidFill>
                    <a:srgbClr val="3D6874"/>
                  </a:solidFill>
                  <a:latin typeface="Poppins Bold"/>
                  <a:ea typeface="Poppins Bold"/>
                  <a:cs typeface="Poppins Bold"/>
                  <a:sym typeface="Poppins Bold"/>
                </a:rPr>
                <a:t>SPRINTS</a:t>
              </a:r>
            </a:p>
          </p:txBody>
        </p:sp>
      </p:grpSp>
      <p:grpSp>
        <p:nvGrpSpPr>
          <p:cNvPr name="Group 22" id="22"/>
          <p:cNvGrpSpPr/>
          <p:nvPr/>
        </p:nvGrpSpPr>
        <p:grpSpPr>
          <a:xfrm rot="0">
            <a:off x="3489960" y="2697480"/>
            <a:ext cx="2621280" cy="960120"/>
            <a:chOff x="0" y="0"/>
            <a:chExt cx="3495040" cy="1280160"/>
          </a:xfrm>
        </p:grpSpPr>
        <p:sp>
          <p:nvSpPr>
            <p:cNvPr name="Freeform 23" id="23"/>
            <p:cNvSpPr/>
            <p:nvPr/>
          </p:nvSpPr>
          <p:spPr>
            <a:xfrm flipH="false" flipV="false" rot="0">
              <a:off x="0" y="0"/>
              <a:ext cx="3495040" cy="1280160"/>
            </a:xfrm>
            <a:custGeom>
              <a:avLst/>
              <a:gdLst/>
              <a:ahLst/>
              <a:cxnLst/>
              <a:rect r="r" b="b" t="t" l="l"/>
              <a:pathLst>
                <a:path h="1280160" w="3495040">
                  <a:moveTo>
                    <a:pt x="0" y="76835"/>
                  </a:moveTo>
                  <a:cubicBezTo>
                    <a:pt x="0" y="34417"/>
                    <a:pt x="34417" y="0"/>
                    <a:pt x="76835" y="0"/>
                  </a:cubicBezTo>
                  <a:lnTo>
                    <a:pt x="3418205" y="0"/>
                  </a:lnTo>
                  <a:cubicBezTo>
                    <a:pt x="3460623" y="0"/>
                    <a:pt x="3495040" y="34417"/>
                    <a:pt x="3495040" y="76835"/>
                  </a:cubicBezTo>
                  <a:lnTo>
                    <a:pt x="3495040" y="1203325"/>
                  </a:lnTo>
                  <a:cubicBezTo>
                    <a:pt x="3495040" y="1245743"/>
                    <a:pt x="3460623" y="1280160"/>
                    <a:pt x="3418205" y="1280160"/>
                  </a:cubicBezTo>
                  <a:lnTo>
                    <a:pt x="76835" y="1280160"/>
                  </a:lnTo>
                  <a:cubicBezTo>
                    <a:pt x="34417" y="1280160"/>
                    <a:pt x="0" y="1245743"/>
                    <a:pt x="0" y="1203325"/>
                  </a:cubicBezTo>
                  <a:close/>
                </a:path>
              </a:pathLst>
            </a:custGeom>
            <a:solidFill>
              <a:srgbClr val="FFFFFF"/>
            </a:solidFill>
          </p:spPr>
        </p:sp>
      </p:grpSp>
      <p:grpSp>
        <p:nvGrpSpPr>
          <p:cNvPr name="Group 24" id="24"/>
          <p:cNvGrpSpPr/>
          <p:nvPr/>
        </p:nvGrpSpPr>
        <p:grpSpPr>
          <a:xfrm rot="0">
            <a:off x="3489960" y="2743200"/>
            <a:ext cx="2621280" cy="548640"/>
            <a:chOff x="0" y="0"/>
            <a:chExt cx="3495040" cy="731520"/>
          </a:xfrm>
        </p:grpSpPr>
        <p:sp>
          <p:nvSpPr>
            <p:cNvPr name="Freeform 25" id="25"/>
            <p:cNvSpPr/>
            <p:nvPr/>
          </p:nvSpPr>
          <p:spPr>
            <a:xfrm flipH="false" flipV="false" rot="0">
              <a:off x="0" y="0"/>
              <a:ext cx="3495040" cy="731520"/>
            </a:xfrm>
            <a:custGeom>
              <a:avLst/>
              <a:gdLst/>
              <a:ahLst/>
              <a:cxnLst/>
              <a:rect r="r" b="b" t="t" l="l"/>
              <a:pathLst>
                <a:path h="731520" w="3495040">
                  <a:moveTo>
                    <a:pt x="0" y="0"/>
                  </a:moveTo>
                  <a:lnTo>
                    <a:pt x="3495040" y="0"/>
                  </a:lnTo>
                  <a:lnTo>
                    <a:pt x="3495040" y="731520"/>
                  </a:lnTo>
                  <a:lnTo>
                    <a:pt x="0" y="731520"/>
                  </a:lnTo>
                  <a:close/>
                </a:path>
              </a:pathLst>
            </a:custGeom>
            <a:blipFill>
              <a:blip r:embed="rId2">
                <a:alphaModFix amt="0"/>
              </a:blip>
              <a:stretch>
                <a:fillRect l="0" t="-43095" r="0" b="-43095"/>
              </a:stretch>
            </a:blipFill>
          </p:spPr>
        </p:sp>
        <p:sp>
          <p:nvSpPr>
            <p:cNvPr name="TextBox 26" id="26"/>
            <p:cNvSpPr txBox="true"/>
            <p:nvPr/>
          </p:nvSpPr>
          <p:spPr>
            <a:xfrm>
              <a:off x="0" y="-28575"/>
              <a:ext cx="3495040" cy="760095"/>
            </a:xfrm>
            <a:prstGeom prst="rect">
              <a:avLst/>
            </a:prstGeom>
          </p:spPr>
          <p:txBody>
            <a:bodyPr anchor="ctr" rtlCol="false" tIns="0" lIns="0" bIns="0" rIns="0"/>
            <a:lstStyle/>
            <a:p>
              <a:pPr algn="ctr">
                <a:lnSpc>
                  <a:spcPts val="3840"/>
                </a:lnSpc>
              </a:pPr>
              <a:r>
                <a:rPr lang="en-US" sz="3200" b="true">
                  <a:solidFill>
                    <a:srgbClr val="1F3338"/>
                  </a:solidFill>
                  <a:latin typeface="Poppins Bold"/>
                  <a:ea typeface="Poppins Bold"/>
                  <a:cs typeface="Poppins Bold"/>
                  <a:sym typeface="Poppins Bold"/>
                </a:rPr>
                <a:t>31</a:t>
              </a:r>
            </a:p>
          </p:txBody>
        </p:sp>
      </p:grpSp>
      <p:grpSp>
        <p:nvGrpSpPr>
          <p:cNvPr name="Group 27" id="27"/>
          <p:cNvGrpSpPr/>
          <p:nvPr/>
        </p:nvGrpSpPr>
        <p:grpSpPr>
          <a:xfrm rot="0">
            <a:off x="3489960" y="3273552"/>
            <a:ext cx="2621280" cy="320040"/>
            <a:chOff x="0" y="0"/>
            <a:chExt cx="3495040" cy="426720"/>
          </a:xfrm>
        </p:grpSpPr>
        <p:sp>
          <p:nvSpPr>
            <p:cNvPr name="Freeform 28" id="28"/>
            <p:cNvSpPr/>
            <p:nvPr/>
          </p:nvSpPr>
          <p:spPr>
            <a:xfrm flipH="false" flipV="false" rot="0">
              <a:off x="0" y="0"/>
              <a:ext cx="3495040" cy="426720"/>
            </a:xfrm>
            <a:custGeom>
              <a:avLst/>
              <a:gdLst/>
              <a:ahLst/>
              <a:cxnLst/>
              <a:rect r="r" b="b" t="t" l="l"/>
              <a:pathLst>
                <a:path h="426720" w="3495040">
                  <a:moveTo>
                    <a:pt x="0" y="0"/>
                  </a:moveTo>
                  <a:lnTo>
                    <a:pt x="3495040" y="0"/>
                  </a:lnTo>
                  <a:lnTo>
                    <a:pt x="3495040" y="426720"/>
                  </a:lnTo>
                  <a:lnTo>
                    <a:pt x="0" y="426720"/>
                  </a:lnTo>
                  <a:close/>
                </a:path>
              </a:pathLst>
            </a:custGeom>
            <a:blipFill>
              <a:blip r:embed="rId2">
                <a:alphaModFix amt="0"/>
              </a:blip>
              <a:stretch>
                <a:fillRect l="0" t="-109591" r="0" b="-109591"/>
              </a:stretch>
            </a:blipFill>
          </p:spPr>
        </p:sp>
        <p:sp>
          <p:nvSpPr>
            <p:cNvPr name="TextBox 29" id="29"/>
            <p:cNvSpPr txBox="true"/>
            <p:nvPr/>
          </p:nvSpPr>
          <p:spPr>
            <a:xfrm>
              <a:off x="0" y="-19050"/>
              <a:ext cx="3495040" cy="445770"/>
            </a:xfrm>
            <a:prstGeom prst="rect">
              <a:avLst/>
            </a:prstGeom>
          </p:spPr>
          <p:txBody>
            <a:bodyPr anchor="ctr" rtlCol="false" tIns="0" lIns="0" bIns="0" rIns="0"/>
            <a:lstStyle/>
            <a:p>
              <a:pPr algn="ctr">
                <a:lnSpc>
                  <a:spcPts val="1320"/>
                </a:lnSpc>
              </a:pPr>
              <a:r>
                <a:rPr lang="en-US" sz="1100" b="true">
                  <a:solidFill>
                    <a:srgbClr val="3D6874"/>
                  </a:solidFill>
                  <a:latin typeface="Poppins Bold"/>
                  <a:ea typeface="Poppins Bold"/>
                  <a:cs typeface="Poppins Bold"/>
                  <a:sym typeface="Poppins Bold"/>
                </a:rPr>
                <a:t>STORIES</a:t>
              </a:r>
            </a:p>
          </p:txBody>
        </p:sp>
      </p:grpSp>
      <p:grpSp>
        <p:nvGrpSpPr>
          <p:cNvPr name="Group 30" id="30"/>
          <p:cNvGrpSpPr/>
          <p:nvPr/>
        </p:nvGrpSpPr>
        <p:grpSpPr>
          <a:xfrm rot="0">
            <a:off x="6294120" y="2697480"/>
            <a:ext cx="2621280" cy="960120"/>
            <a:chOff x="0" y="0"/>
            <a:chExt cx="3495040" cy="1280160"/>
          </a:xfrm>
        </p:grpSpPr>
        <p:sp>
          <p:nvSpPr>
            <p:cNvPr name="Freeform 31" id="31"/>
            <p:cNvSpPr/>
            <p:nvPr/>
          </p:nvSpPr>
          <p:spPr>
            <a:xfrm flipH="false" flipV="false" rot="0">
              <a:off x="0" y="0"/>
              <a:ext cx="3495040" cy="1280160"/>
            </a:xfrm>
            <a:custGeom>
              <a:avLst/>
              <a:gdLst/>
              <a:ahLst/>
              <a:cxnLst/>
              <a:rect r="r" b="b" t="t" l="l"/>
              <a:pathLst>
                <a:path h="1280160" w="3495040">
                  <a:moveTo>
                    <a:pt x="0" y="76835"/>
                  </a:moveTo>
                  <a:cubicBezTo>
                    <a:pt x="0" y="34417"/>
                    <a:pt x="34417" y="0"/>
                    <a:pt x="76835" y="0"/>
                  </a:cubicBezTo>
                  <a:lnTo>
                    <a:pt x="3418205" y="0"/>
                  </a:lnTo>
                  <a:cubicBezTo>
                    <a:pt x="3460623" y="0"/>
                    <a:pt x="3495040" y="34417"/>
                    <a:pt x="3495040" y="76835"/>
                  </a:cubicBezTo>
                  <a:lnTo>
                    <a:pt x="3495040" y="1203325"/>
                  </a:lnTo>
                  <a:cubicBezTo>
                    <a:pt x="3495040" y="1245743"/>
                    <a:pt x="3460623" y="1280160"/>
                    <a:pt x="3418205" y="1280160"/>
                  </a:cubicBezTo>
                  <a:lnTo>
                    <a:pt x="76835" y="1280160"/>
                  </a:lnTo>
                  <a:cubicBezTo>
                    <a:pt x="34417" y="1280160"/>
                    <a:pt x="0" y="1245743"/>
                    <a:pt x="0" y="1203325"/>
                  </a:cubicBezTo>
                  <a:close/>
                </a:path>
              </a:pathLst>
            </a:custGeom>
            <a:solidFill>
              <a:srgbClr val="FFFFFF"/>
            </a:solidFill>
          </p:spPr>
        </p:sp>
      </p:grpSp>
      <p:grpSp>
        <p:nvGrpSpPr>
          <p:cNvPr name="Group 32" id="32"/>
          <p:cNvGrpSpPr/>
          <p:nvPr/>
        </p:nvGrpSpPr>
        <p:grpSpPr>
          <a:xfrm rot="0">
            <a:off x="6294120" y="2743200"/>
            <a:ext cx="2621280" cy="548640"/>
            <a:chOff x="0" y="0"/>
            <a:chExt cx="3495040" cy="731520"/>
          </a:xfrm>
        </p:grpSpPr>
        <p:sp>
          <p:nvSpPr>
            <p:cNvPr name="Freeform 33" id="33"/>
            <p:cNvSpPr/>
            <p:nvPr/>
          </p:nvSpPr>
          <p:spPr>
            <a:xfrm flipH="false" flipV="false" rot="0">
              <a:off x="0" y="0"/>
              <a:ext cx="3495040" cy="731520"/>
            </a:xfrm>
            <a:custGeom>
              <a:avLst/>
              <a:gdLst/>
              <a:ahLst/>
              <a:cxnLst/>
              <a:rect r="r" b="b" t="t" l="l"/>
              <a:pathLst>
                <a:path h="731520" w="3495040">
                  <a:moveTo>
                    <a:pt x="0" y="0"/>
                  </a:moveTo>
                  <a:lnTo>
                    <a:pt x="3495040" y="0"/>
                  </a:lnTo>
                  <a:lnTo>
                    <a:pt x="3495040" y="731520"/>
                  </a:lnTo>
                  <a:lnTo>
                    <a:pt x="0" y="731520"/>
                  </a:lnTo>
                  <a:close/>
                </a:path>
              </a:pathLst>
            </a:custGeom>
            <a:blipFill>
              <a:blip r:embed="rId2">
                <a:alphaModFix amt="0"/>
              </a:blip>
              <a:stretch>
                <a:fillRect l="0" t="-43095" r="0" b="-43095"/>
              </a:stretch>
            </a:blipFill>
          </p:spPr>
        </p:sp>
        <p:sp>
          <p:nvSpPr>
            <p:cNvPr name="TextBox 34" id="34"/>
            <p:cNvSpPr txBox="true"/>
            <p:nvPr/>
          </p:nvSpPr>
          <p:spPr>
            <a:xfrm>
              <a:off x="0" y="-28575"/>
              <a:ext cx="3495040" cy="760095"/>
            </a:xfrm>
            <a:prstGeom prst="rect">
              <a:avLst/>
            </a:prstGeom>
          </p:spPr>
          <p:txBody>
            <a:bodyPr anchor="ctr" rtlCol="false" tIns="0" lIns="0" bIns="0" rIns="0"/>
            <a:lstStyle/>
            <a:p>
              <a:pPr algn="ctr">
                <a:lnSpc>
                  <a:spcPts val="3840"/>
                </a:lnSpc>
              </a:pPr>
              <a:r>
                <a:rPr lang="en-US" sz="3200" b="true">
                  <a:solidFill>
                    <a:srgbClr val="1F3338"/>
                  </a:solidFill>
                  <a:latin typeface="Poppins Bold"/>
                  <a:ea typeface="Poppins Bold"/>
                  <a:cs typeface="Poppins Bold"/>
                  <a:sym typeface="Poppins Bold"/>
                </a:rPr>
                <a:t>28</a:t>
              </a:r>
            </a:p>
          </p:txBody>
        </p:sp>
      </p:grpSp>
      <p:grpSp>
        <p:nvGrpSpPr>
          <p:cNvPr name="Group 35" id="35"/>
          <p:cNvGrpSpPr/>
          <p:nvPr/>
        </p:nvGrpSpPr>
        <p:grpSpPr>
          <a:xfrm rot="0">
            <a:off x="6294120" y="3273552"/>
            <a:ext cx="2621280" cy="320040"/>
            <a:chOff x="0" y="0"/>
            <a:chExt cx="3495040" cy="426720"/>
          </a:xfrm>
        </p:grpSpPr>
        <p:sp>
          <p:nvSpPr>
            <p:cNvPr name="Freeform 36" id="36"/>
            <p:cNvSpPr/>
            <p:nvPr/>
          </p:nvSpPr>
          <p:spPr>
            <a:xfrm flipH="false" flipV="false" rot="0">
              <a:off x="0" y="0"/>
              <a:ext cx="3495040" cy="426720"/>
            </a:xfrm>
            <a:custGeom>
              <a:avLst/>
              <a:gdLst/>
              <a:ahLst/>
              <a:cxnLst/>
              <a:rect r="r" b="b" t="t" l="l"/>
              <a:pathLst>
                <a:path h="426720" w="3495040">
                  <a:moveTo>
                    <a:pt x="0" y="0"/>
                  </a:moveTo>
                  <a:lnTo>
                    <a:pt x="3495040" y="0"/>
                  </a:lnTo>
                  <a:lnTo>
                    <a:pt x="3495040" y="426720"/>
                  </a:lnTo>
                  <a:lnTo>
                    <a:pt x="0" y="426720"/>
                  </a:lnTo>
                  <a:close/>
                </a:path>
              </a:pathLst>
            </a:custGeom>
            <a:blipFill>
              <a:blip r:embed="rId2">
                <a:alphaModFix amt="0"/>
              </a:blip>
              <a:stretch>
                <a:fillRect l="0" t="-109591" r="0" b="-109591"/>
              </a:stretch>
            </a:blipFill>
          </p:spPr>
        </p:sp>
        <p:sp>
          <p:nvSpPr>
            <p:cNvPr name="TextBox 37" id="37"/>
            <p:cNvSpPr txBox="true"/>
            <p:nvPr/>
          </p:nvSpPr>
          <p:spPr>
            <a:xfrm>
              <a:off x="0" y="-19050"/>
              <a:ext cx="3495040" cy="445770"/>
            </a:xfrm>
            <a:prstGeom prst="rect">
              <a:avLst/>
            </a:prstGeom>
          </p:spPr>
          <p:txBody>
            <a:bodyPr anchor="ctr" rtlCol="false" tIns="0" lIns="0" bIns="0" rIns="0"/>
            <a:lstStyle/>
            <a:p>
              <a:pPr algn="ctr">
                <a:lnSpc>
                  <a:spcPts val="1320"/>
                </a:lnSpc>
              </a:pPr>
              <a:r>
                <a:rPr lang="en-US" sz="1100" b="true">
                  <a:solidFill>
                    <a:srgbClr val="3D6874"/>
                  </a:solidFill>
                  <a:latin typeface="Poppins Bold"/>
                  <a:ea typeface="Poppins Bold"/>
                  <a:cs typeface="Poppins Bold"/>
                  <a:sym typeface="Poppins Bold"/>
                </a:rPr>
                <a:t>WEEKS</a:t>
              </a:r>
            </a:p>
          </p:txBody>
        </p:sp>
      </p:grpSp>
      <p:sp>
        <p:nvSpPr>
          <p:cNvPr name="TextBox 38" id="38"/>
          <p:cNvSpPr txBox="true"/>
          <p:nvPr/>
        </p:nvSpPr>
        <p:spPr>
          <a:xfrm rot="0">
            <a:off x="685800" y="3968115"/>
            <a:ext cx="8229600" cy="329565"/>
          </a:xfrm>
          <a:prstGeom prst="rect">
            <a:avLst/>
          </a:prstGeom>
        </p:spPr>
        <p:txBody>
          <a:bodyPr anchor="t" rtlCol="false" tIns="0" lIns="0" bIns="0" rIns="0">
            <a:spAutoFit/>
          </a:bodyPr>
          <a:lstStyle/>
          <a:p>
            <a:pPr algn="l">
              <a:lnSpc>
                <a:spcPts val="1439"/>
              </a:lnSpc>
            </a:pPr>
            <a:r>
              <a:rPr lang="en-US" sz="1200" b="true">
                <a:solidFill>
                  <a:srgbClr val="3D6874"/>
                </a:solidFill>
                <a:latin typeface="Poppins Bold"/>
                <a:ea typeface="Poppins Bold"/>
                <a:cs typeface="Poppins Bold"/>
                <a:sym typeface="Poppins Bold"/>
              </a:rPr>
              <a:t>THE 7 SPRINTS</a:t>
            </a:r>
          </a:p>
        </p:txBody>
      </p:sp>
      <p:grpSp>
        <p:nvGrpSpPr>
          <p:cNvPr name="Group 39" id="39"/>
          <p:cNvGrpSpPr/>
          <p:nvPr/>
        </p:nvGrpSpPr>
        <p:grpSpPr>
          <a:xfrm rot="0">
            <a:off x="685800" y="4416552"/>
            <a:ext cx="384048" cy="384048"/>
            <a:chOff x="0" y="0"/>
            <a:chExt cx="512064" cy="512064"/>
          </a:xfrm>
        </p:grpSpPr>
        <p:sp>
          <p:nvSpPr>
            <p:cNvPr name="Freeform 40" id="40"/>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737AE6"/>
            </a:solidFill>
          </p:spPr>
        </p:sp>
      </p:grpSp>
      <p:grpSp>
        <p:nvGrpSpPr>
          <p:cNvPr name="Group 41" id="41"/>
          <p:cNvGrpSpPr/>
          <p:nvPr/>
        </p:nvGrpSpPr>
        <p:grpSpPr>
          <a:xfrm rot="0">
            <a:off x="685800" y="4416552"/>
            <a:ext cx="384048" cy="384048"/>
            <a:chOff x="0" y="0"/>
            <a:chExt cx="512064" cy="512064"/>
          </a:xfrm>
        </p:grpSpPr>
        <p:sp>
          <p:nvSpPr>
            <p:cNvPr name="Freeform 42" id="42"/>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close/>
                </a:path>
              </a:pathLst>
            </a:custGeom>
            <a:blipFill>
              <a:blip r:embed="rId2">
                <a:alphaModFix amt="0"/>
              </a:blip>
              <a:stretch>
                <a:fillRect l="-78303" t="0" r="-78303" b="0"/>
              </a:stretch>
            </a:blipFill>
          </p:spPr>
        </p:sp>
        <p:sp>
          <p:nvSpPr>
            <p:cNvPr name="TextBox 43" id="43"/>
            <p:cNvSpPr txBox="true"/>
            <p:nvPr/>
          </p:nvSpPr>
          <p:spPr>
            <a:xfrm>
              <a:off x="0" y="-19050"/>
              <a:ext cx="512064" cy="531114"/>
            </a:xfrm>
            <a:prstGeom prst="rect">
              <a:avLst/>
            </a:prstGeom>
          </p:spPr>
          <p:txBody>
            <a:bodyPr anchor="ctr" rtlCol="false" tIns="0" lIns="0" bIns="0" rIns="0"/>
            <a:lstStyle/>
            <a:p>
              <a:pPr algn="ctr">
                <a:lnSpc>
                  <a:spcPts val="1680"/>
                </a:lnSpc>
              </a:pPr>
              <a:r>
                <a:rPr lang="en-US" sz="1400" b="true">
                  <a:solidFill>
                    <a:srgbClr val="FFFFFF"/>
                  </a:solidFill>
                  <a:latin typeface="Poppins Bold"/>
                  <a:ea typeface="Poppins Bold"/>
                  <a:cs typeface="Poppins Bold"/>
                  <a:sym typeface="Poppins Bold"/>
                </a:rPr>
                <a:t>1</a:t>
              </a:r>
            </a:p>
          </p:txBody>
        </p:sp>
      </p:grpSp>
      <p:sp>
        <p:nvSpPr>
          <p:cNvPr name="TextBox 44" id="44"/>
          <p:cNvSpPr txBox="true"/>
          <p:nvPr/>
        </p:nvSpPr>
        <p:spPr>
          <a:xfrm rot="0">
            <a:off x="1252728" y="4287393"/>
            <a:ext cx="7662672" cy="622935"/>
          </a:xfrm>
          <a:prstGeom prst="rect">
            <a:avLst/>
          </a:prstGeom>
        </p:spPr>
        <p:txBody>
          <a:bodyPr anchor="t" rtlCol="false" tIns="0" lIns="0" bIns="0" rIns="0">
            <a:spAutoFit/>
          </a:bodyPr>
          <a:lstStyle/>
          <a:p>
            <a:pPr algn="l">
              <a:lnSpc>
                <a:spcPts val="1948"/>
              </a:lnSpc>
            </a:pPr>
            <a:r>
              <a:rPr lang="en-US" sz="1449" b="true">
                <a:solidFill>
                  <a:srgbClr val="1F3338"/>
                </a:solidFill>
                <a:latin typeface="Poppins Bold"/>
                <a:ea typeface="Poppins Bold"/>
                <a:cs typeface="Poppins Bold"/>
                <a:sym typeface="Poppins Bold"/>
              </a:rPr>
              <a:t>Account creation, auth &amp; password reset</a:t>
            </a:r>
          </a:p>
          <a:p>
            <a:pPr algn="l">
              <a:lnSpc>
                <a:spcPts val="1612"/>
              </a:lnSpc>
            </a:pPr>
            <a:r>
              <a:rPr lang="en-US" sz="1200">
                <a:solidFill>
                  <a:srgbClr val="5C6B70"/>
                </a:solidFill>
                <a:latin typeface="Poppins"/>
                <a:ea typeface="Poppins"/>
                <a:cs typeface="Poppins"/>
                <a:sym typeface="Poppins"/>
              </a:rPr>
              <a:t>Feb 1 – Mar 24, 2026</a:t>
            </a:r>
          </a:p>
        </p:txBody>
      </p:sp>
      <p:grpSp>
        <p:nvGrpSpPr>
          <p:cNvPr name="Group 45" id="45"/>
          <p:cNvGrpSpPr/>
          <p:nvPr/>
        </p:nvGrpSpPr>
        <p:grpSpPr>
          <a:xfrm rot="0">
            <a:off x="685800" y="5102352"/>
            <a:ext cx="384048" cy="384048"/>
            <a:chOff x="0" y="0"/>
            <a:chExt cx="512064" cy="512064"/>
          </a:xfrm>
        </p:grpSpPr>
        <p:sp>
          <p:nvSpPr>
            <p:cNvPr name="Freeform 46" id="46"/>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737AE6"/>
            </a:solidFill>
          </p:spPr>
        </p:sp>
      </p:grpSp>
      <p:grpSp>
        <p:nvGrpSpPr>
          <p:cNvPr name="Group 47" id="47"/>
          <p:cNvGrpSpPr/>
          <p:nvPr/>
        </p:nvGrpSpPr>
        <p:grpSpPr>
          <a:xfrm rot="0">
            <a:off x="685800" y="5102352"/>
            <a:ext cx="384048" cy="384048"/>
            <a:chOff x="0" y="0"/>
            <a:chExt cx="512064" cy="512064"/>
          </a:xfrm>
        </p:grpSpPr>
        <p:sp>
          <p:nvSpPr>
            <p:cNvPr name="Freeform 48" id="48"/>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close/>
                </a:path>
              </a:pathLst>
            </a:custGeom>
            <a:blipFill>
              <a:blip r:embed="rId2">
                <a:alphaModFix amt="0"/>
              </a:blip>
              <a:stretch>
                <a:fillRect l="-78303" t="0" r="-78303" b="0"/>
              </a:stretch>
            </a:blipFill>
          </p:spPr>
        </p:sp>
        <p:sp>
          <p:nvSpPr>
            <p:cNvPr name="TextBox 49" id="49"/>
            <p:cNvSpPr txBox="true"/>
            <p:nvPr/>
          </p:nvSpPr>
          <p:spPr>
            <a:xfrm>
              <a:off x="0" y="-19050"/>
              <a:ext cx="512064" cy="531114"/>
            </a:xfrm>
            <a:prstGeom prst="rect">
              <a:avLst/>
            </a:prstGeom>
          </p:spPr>
          <p:txBody>
            <a:bodyPr anchor="ctr" rtlCol="false" tIns="0" lIns="0" bIns="0" rIns="0"/>
            <a:lstStyle/>
            <a:p>
              <a:pPr algn="ctr">
                <a:lnSpc>
                  <a:spcPts val="1680"/>
                </a:lnSpc>
              </a:pPr>
              <a:r>
                <a:rPr lang="en-US" sz="1400" b="true">
                  <a:solidFill>
                    <a:srgbClr val="FFFFFF"/>
                  </a:solidFill>
                  <a:latin typeface="Poppins Bold"/>
                  <a:ea typeface="Poppins Bold"/>
                  <a:cs typeface="Poppins Bold"/>
                  <a:sym typeface="Poppins Bold"/>
                </a:rPr>
                <a:t>2</a:t>
              </a:r>
            </a:p>
          </p:txBody>
        </p:sp>
      </p:grpSp>
      <p:sp>
        <p:nvSpPr>
          <p:cNvPr name="TextBox 50" id="50"/>
          <p:cNvSpPr txBox="true"/>
          <p:nvPr/>
        </p:nvSpPr>
        <p:spPr>
          <a:xfrm rot="0">
            <a:off x="1252728" y="4973193"/>
            <a:ext cx="7662672" cy="622935"/>
          </a:xfrm>
          <a:prstGeom prst="rect">
            <a:avLst/>
          </a:prstGeom>
        </p:spPr>
        <p:txBody>
          <a:bodyPr anchor="t" rtlCol="false" tIns="0" lIns="0" bIns="0" rIns="0">
            <a:spAutoFit/>
          </a:bodyPr>
          <a:lstStyle/>
          <a:p>
            <a:pPr algn="l">
              <a:lnSpc>
                <a:spcPts val="1948"/>
              </a:lnSpc>
            </a:pPr>
            <a:r>
              <a:rPr lang="en-US" sz="1449" b="true">
                <a:solidFill>
                  <a:srgbClr val="1F3338"/>
                </a:solidFill>
                <a:latin typeface="Poppins Bold"/>
                <a:ea typeface="Poppins Bold"/>
                <a:cs typeface="Poppins Bold"/>
                <a:sym typeface="Poppins Bold"/>
              </a:rPr>
              <a:t>Candidate profile management &amp; extraction</a:t>
            </a:r>
          </a:p>
          <a:p>
            <a:pPr algn="l">
              <a:lnSpc>
                <a:spcPts val="1612"/>
              </a:lnSpc>
            </a:pPr>
            <a:r>
              <a:rPr lang="en-US" sz="1200">
                <a:solidFill>
                  <a:srgbClr val="5C6B70"/>
                </a:solidFill>
                <a:latin typeface="Poppins"/>
                <a:ea typeface="Poppins"/>
                <a:cs typeface="Poppins"/>
                <a:sym typeface="Poppins"/>
              </a:rPr>
              <a:t>Mar 25 – Apr 20, 2026</a:t>
            </a:r>
          </a:p>
        </p:txBody>
      </p:sp>
      <p:grpSp>
        <p:nvGrpSpPr>
          <p:cNvPr name="Group 51" id="51"/>
          <p:cNvGrpSpPr/>
          <p:nvPr/>
        </p:nvGrpSpPr>
        <p:grpSpPr>
          <a:xfrm rot="0">
            <a:off x="685800" y="5788152"/>
            <a:ext cx="384048" cy="384048"/>
            <a:chOff x="0" y="0"/>
            <a:chExt cx="512064" cy="512064"/>
          </a:xfrm>
        </p:grpSpPr>
        <p:sp>
          <p:nvSpPr>
            <p:cNvPr name="Freeform 52" id="52"/>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737AE6"/>
            </a:solidFill>
          </p:spPr>
        </p:sp>
      </p:grpSp>
      <p:grpSp>
        <p:nvGrpSpPr>
          <p:cNvPr name="Group 53" id="53"/>
          <p:cNvGrpSpPr/>
          <p:nvPr/>
        </p:nvGrpSpPr>
        <p:grpSpPr>
          <a:xfrm rot="0">
            <a:off x="685800" y="5788152"/>
            <a:ext cx="384048" cy="384048"/>
            <a:chOff x="0" y="0"/>
            <a:chExt cx="512064" cy="512064"/>
          </a:xfrm>
        </p:grpSpPr>
        <p:sp>
          <p:nvSpPr>
            <p:cNvPr name="Freeform 54" id="54"/>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close/>
                </a:path>
              </a:pathLst>
            </a:custGeom>
            <a:blipFill>
              <a:blip r:embed="rId2">
                <a:alphaModFix amt="0"/>
              </a:blip>
              <a:stretch>
                <a:fillRect l="-78303" t="0" r="-78303" b="0"/>
              </a:stretch>
            </a:blipFill>
          </p:spPr>
        </p:sp>
        <p:sp>
          <p:nvSpPr>
            <p:cNvPr name="TextBox 55" id="55"/>
            <p:cNvSpPr txBox="true"/>
            <p:nvPr/>
          </p:nvSpPr>
          <p:spPr>
            <a:xfrm>
              <a:off x="0" y="-19050"/>
              <a:ext cx="512064" cy="531114"/>
            </a:xfrm>
            <a:prstGeom prst="rect">
              <a:avLst/>
            </a:prstGeom>
          </p:spPr>
          <p:txBody>
            <a:bodyPr anchor="ctr" rtlCol="false" tIns="0" lIns="0" bIns="0" rIns="0"/>
            <a:lstStyle/>
            <a:p>
              <a:pPr algn="ctr">
                <a:lnSpc>
                  <a:spcPts val="1680"/>
                </a:lnSpc>
              </a:pPr>
              <a:r>
                <a:rPr lang="en-US" sz="1400" b="true">
                  <a:solidFill>
                    <a:srgbClr val="FFFFFF"/>
                  </a:solidFill>
                  <a:latin typeface="Poppins Bold"/>
                  <a:ea typeface="Poppins Bold"/>
                  <a:cs typeface="Poppins Bold"/>
                  <a:sym typeface="Poppins Bold"/>
                </a:rPr>
                <a:t>3</a:t>
              </a:r>
            </a:p>
          </p:txBody>
        </p:sp>
      </p:grpSp>
      <p:sp>
        <p:nvSpPr>
          <p:cNvPr name="TextBox 56" id="56"/>
          <p:cNvSpPr txBox="true"/>
          <p:nvPr/>
        </p:nvSpPr>
        <p:spPr>
          <a:xfrm rot="0">
            <a:off x="1252728" y="5658993"/>
            <a:ext cx="7662672" cy="622935"/>
          </a:xfrm>
          <a:prstGeom prst="rect">
            <a:avLst/>
          </a:prstGeom>
        </p:spPr>
        <p:txBody>
          <a:bodyPr anchor="t" rtlCol="false" tIns="0" lIns="0" bIns="0" rIns="0">
            <a:spAutoFit/>
          </a:bodyPr>
          <a:lstStyle/>
          <a:p>
            <a:pPr algn="l">
              <a:lnSpc>
                <a:spcPts val="1948"/>
              </a:lnSpc>
            </a:pPr>
            <a:r>
              <a:rPr lang="en-US" sz="1449" b="true">
                <a:solidFill>
                  <a:srgbClr val="1F3338"/>
                </a:solidFill>
                <a:latin typeface="Poppins Bold"/>
                <a:ea typeface="Poppins Bold"/>
                <a:cs typeface="Poppins Bold"/>
                <a:sym typeface="Poppins Bold"/>
              </a:rPr>
              <a:t>Assessments &amp; results</a:t>
            </a:r>
          </a:p>
          <a:p>
            <a:pPr algn="l">
              <a:lnSpc>
                <a:spcPts val="1612"/>
              </a:lnSpc>
            </a:pPr>
            <a:r>
              <a:rPr lang="en-US" sz="1200">
                <a:solidFill>
                  <a:srgbClr val="5C6B70"/>
                </a:solidFill>
                <a:latin typeface="Poppins"/>
                <a:ea typeface="Poppins"/>
                <a:cs typeface="Poppins"/>
                <a:sym typeface="Poppins"/>
              </a:rPr>
              <a:t>Apr 21 – May 20, 2026</a:t>
            </a:r>
          </a:p>
        </p:txBody>
      </p:sp>
      <p:grpSp>
        <p:nvGrpSpPr>
          <p:cNvPr name="Group 57" id="57"/>
          <p:cNvGrpSpPr/>
          <p:nvPr/>
        </p:nvGrpSpPr>
        <p:grpSpPr>
          <a:xfrm rot="0">
            <a:off x="685800" y="6473952"/>
            <a:ext cx="384048" cy="384048"/>
            <a:chOff x="0" y="0"/>
            <a:chExt cx="512064" cy="512064"/>
          </a:xfrm>
        </p:grpSpPr>
        <p:sp>
          <p:nvSpPr>
            <p:cNvPr name="Freeform 58" id="58"/>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737AE6"/>
            </a:solidFill>
          </p:spPr>
        </p:sp>
      </p:grpSp>
      <p:grpSp>
        <p:nvGrpSpPr>
          <p:cNvPr name="Group 59" id="59"/>
          <p:cNvGrpSpPr/>
          <p:nvPr/>
        </p:nvGrpSpPr>
        <p:grpSpPr>
          <a:xfrm rot="0">
            <a:off x="685800" y="6473952"/>
            <a:ext cx="384048" cy="384048"/>
            <a:chOff x="0" y="0"/>
            <a:chExt cx="512064" cy="512064"/>
          </a:xfrm>
        </p:grpSpPr>
        <p:sp>
          <p:nvSpPr>
            <p:cNvPr name="Freeform 60" id="60"/>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close/>
                </a:path>
              </a:pathLst>
            </a:custGeom>
            <a:blipFill>
              <a:blip r:embed="rId2">
                <a:alphaModFix amt="0"/>
              </a:blip>
              <a:stretch>
                <a:fillRect l="-78303" t="0" r="-78303" b="0"/>
              </a:stretch>
            </a:blipFill>
          </p:spPr>
        </p:sp>
        <p:sp>
          <p:nvSpPr>
            <p:cNvPr name="TextBox 61" id="61"/>
            <p:cNvSpPr txBox="true"/>
            <p:nvPr/>
          </p:nvSpPr>
          <p:spPr>
            <a:xfrm>
              <a:off x="0" y="-19050"/>
              <a:ext cx="512064" cy="531114"/>
            </a:xfrm>
            <a:prstGeom prst="rect">
              <a:avLst/>
            </a:prstGeom>
          </p:spPr>
          <p:txBody>
            <a:bodyPr anchor="ctr" rtlCol="false" tIns="0" lIns="0" bIns="0" rIns="0"/>
            <a:lstStyle/>
            <a:p>
              <a:pPr algn="ctr">
                <a:lnSpc>
                  <a:spcPts val="1680"/>
                </a:lnSpc>
              </a:pPr>
              <a:r>
                <a:rPr lang="en-US" sz="1400" b="true">
                  <a:solidFill>
                    <a:srgbClr val="FFFFFF"/>
                  </a:solidFill>
                  <a:latin typeface="Poppins Bold"/>
                  <a:ea typeface="Poppins Bold"/>
                  <a:cs typeface="Poppins Bold"/>
                  <a:sym typeface="Poppins Bold"/>
                </a:rPr>
                <a:t>4</a:t>
              </a:r>
            </a:p>
          </p:txBody>
        </p:sp>
      </p:grpSp>
      <p:sp>
        <p:nvSpPr>
          <p:cNvPr name="TextBox 62" id="62"/>
          <p:cNvSpPr txBox="true"/>
          <p:nvPr/>
        </p:nvSpPr>
        <p:spPr>
          <a:xfrm rot="0">
            <a:off x="1252728" y="6344793"/>
            <a:ext cx="7662672" cy="622935"/>
          </a:xfrm>
          <a:prstGeom prst="rect">
            <a:avLst/>
          </a:prstGeom>
        </p:spPr>
        <p:txBody>
          <a:bodyPr anchor="t" rtlCol="false" tIns="0" lIns="0" bIns="0" rIns="0">
            <a:spAutoFit/>
          </a:bodyPr>
          <a:lstStyle/>
          <a:p>
            <a:pPr algn="l">
              <a:lnSpc>
                <a:spcPts val="1948"/>
              </a:lnSpc>
            </a:pPr>
            <a:r>
              <a:rPr lang="en-US" sz="1449" b="true">
                <a:solidFill>
                  <a:srgbClr val="1F3338"/>
                </a:solidFill>
                <a:latin typeface="Poppins Bold"/>
                <a:ea typeface="Poppins Bold"/>
                <a:cs typeface="Poppins Bold"/>
                <a:sym typeface="Poppins Bold"/>
              </a:rPr>
              <a:t>Ranking by skill, region &amp; nation</a:t>
            </a:r>
          </a:p>
          <a:p>
            <a:pPr algn="l">
              <a:lnSpc>
                <a:spcPts val="1612"/>
              </a:lnSpc>
            </a:pPr>
            <a:r>
              <a:rPr lang="en-US" sz="1200">
                <a:solidFill>
                  <a:srgbClr val="5C6B70"/>
                </a:solidFill>
                <a:latin typeface="Poppins"/>
                <a:ea typeface="Poppins"/>
                <a:cs typeface="Poppins"/>
                <a:sym typeface="Poppins"/>
              </a:rPr>
              <a:t>May 21 – Jun 10, 2026</a:t>
            </a:r>
          </a:p>
        </p:txBody>
      </p:sp>
      <p:grpSp>
        <p:nvGrpSpPr>
          <p:cNvPr name="Group 63" id="63"/>
          <p:cNvGrpSpPr/>
          <p:nvPr/>
        </p:nvGrpSpPr>
        <p:grpSpPr>
          <a:xfrm rot="0">
            <a:off x="685800" y="7159752"/>
            <a:ext cx="384048" cy="384048"/>
            <a:chOff x="0" y="0"/>
            <a:chExt cx="512064" cy="512064"/>
          </a:xfrm>
        </p:grpSpPr>
        <p:sp>
          <p:nvSpPr>
            <p:cNvPr name="Freeform 64" id="64"/>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737AE6"/>
            </a:solidFill>
          </p:spPr>
        </p:sp>
      </p:grpSp>
      <p:grpSp>
        <p:nvGrpSpPr>
          <p:cNvPr name="Group 65" id="65"/>
          <p:cNvGrpSpPr/>
          <p:nvPr/>
        </p:nvGrpSpPr>
        <p:grpSpPr>
          <a:xfrm rot="0">
            <a:off x="685800" y="7159752"/>
            <a:ext cx="384048" cy="384048"/>
            <a:chOff x="0" y="0"/>
            <a:chExt cx="512064" cy="512064"/>
          </a:xfrm>
        </p:grpSpPr>
        <p:sp>
          <p:nvSpPr>
            <p:cNvPr name="Freeform 66" id="66"/>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close/>
                </a:path>
              </a:pathLst>
            </a:custGeom>
            <a:blipFill>
              <a:blip r:embed="rId2">
                <a:alphaModFix amt="0"/>
              </a:blip>
              <a:stretch>
                <a:fillRect l="-78303" t="0" r="-78303" b="0"/>
              </a:stretch>
            </a:blipFill>
          </p:spPr>
        </p:sp>
        <p:sp>
          <p:nvSpPr>
            <p:cNvPr name="TextBox 67" id="67"/>
            <p:cNvSpPr txBox="true"/>
            <p:nvPr/>
          </p:nvSpPr>
          <p:spPr>
            <a:xfrm>
              <a:off x="0" y="-19050"/>
              <a:ext cx="512064" cy="531114"/>
            </a:xfrm>
            <a:prstGeom prst="rect">
              <a:avLst/>
            </a:prstGeom>
          </p:spPr>
          <p:txBody>
            <a:bodyPr anchor="ctr" rtlCol="false" tIns="0" lIns="0" bIns="0" rIns="0"/>
            <a:lstStyle/>
            <a:p>
              <a:pPr algn="ctr">
                <a:lnSpc>
                  <a:spcPts val="1680"/>
                </a:lnSpc>
              </a:pPr>
              <a:r>
                <a:rPr lang="en-US" sz="1400" b="true">
                  <a:solidFill>
                    <a:srgbClr val="FFFFFF"/>
                  </a:solidFill>
                  <a:latin typeface="Poppins Bold"/>
                  <a:ea typeface="Poppins Bold"/>
                  <a:cs typeface="Poppins Bold"/>
                  <a:sym typeface="Poppins Bold"/>
                </a:rPr>
                <a:t>5</a:t>
              </a:r>
            </a:p>
          </p:txBody>
        </p:sp>
      </p:grpSp>
      <p:sp>
        <p:nvSpPr>
          <p:cNvPr name="TextBox 68" id="68"/>
          <p:cNvSpPr txBox="true"/>
          <p:nvPr/>
        </p:nvSpPr>
        <p:spPr>
          <a:xfrm rot="0">
            <a:off x="1252728" y="7030593"/>
            <a:ext cx="7662672" cy="622935"/>
          </a:xfrm>
          <a:prstGeom prst="rect">
            <a:avLst/>
          </a:prstGeom>
        </p:spPr>
        <p:txBody>
          <a:bodyPr anchor="t" rtlCol="false" tIns="0" lIns="0" bIns="0" rIns="0">
            <a:spAutoFit/>
          </a:bodyPr>
          <a:lstStyle/>
          <a:p>
            <a:pPr algn="l">
              <a:lnSpc>
                <a:spcPts val="1948"/>
              </a:lnSpc>
            </a:pPr>
            <a:r>
              <a:rPr lang="en-US" sz="1449" b="true">
                <a:solidFill>
                  <a:srgbClr val="1F3338"/>
                </a:solidFill>
                <a:latin typeface="Poppins Bold"/>
                <a:ea typeface="Poppins Bold"/>
                <a:cs typeface="Poppins Bold"/>
                <a:sym typeface="Poppins Bold"/>
              </a:rPr>
              <a:t>Recruiter's life cycle</a:t>
            </a:r>
          </a:p>
          <a:p>
            <a:pPr algn="l">
              <a:lnSpc>
                <a:spcPts val="1612"/>
              </a:lnSpc>
            </a:pPr>
            <a:r>
              <a:rPr lang="en-US" sz="1200">
                <a:solidFill>
                  <a:srgbClr val="5C6B70"/>
                </a:solidFill>
                <a:latin typeface="Poppins"/>
                <a:ea typeface="Poppins"/>
                <a:cs typeface="Poppins"/>
                <a:sym typeface="Poppins"/>
              </a:rPr>
              <a:t>Jun 11 – Jul 5, 2026</a:t>
            </a:r>
          </a:p>
        </p:txBody>
      </p:sp>
      <p:grpSp>
        <p:nvGrpSpPr>
          <p:cNvPr name="Group 69" id="69"/>
          <p:cNvGrpSpPr/>
          <p:nvPr/>
        </p:nvGrpSpPr>
        <p:grpSpPr>
          <a:xfrm rot="0">
            <a:off x="685800" y="7845552"/>
            <a:ext cx="384048" cy="384048"/>
            <a:chOff x="0" y="0"/>
            <a:chExt cx="512064" cy="512064"/>
          </a:xfrm>
        </p:grpSpPr>
        <p:sp>
          <p:nvSpPr>
            <p:cNvPr name="Freeform 70" id="70"/>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737AE6"/>
            </a:solidFill>
          </p:spPr>
        </p:sp>
      </p:grpSp>
      <p:grpSp>
        <p:nvGrpSpPr>
          <p:cNvPr name="Group 71" id="71"/>
          <p:cNvGrpSpPr/>
          <p:nvPr/>
        </p:nvGrpSpPr>
        <p:grpSpPr>
          <a:xfrm rot="0">
            <a:off x="685800" y="7845552"/>
            <a:ext cx="384048" cy="384048"/>
            <a:chOff x="0" y="0"/>
            <a:chExt cx="512064" cy="512064"/>
          </a:xfrm>
        </p:grpSpPr>
        <p:sp>
          <p:nvSpPr>
            <p:cNvPr name="Freeform 72" id="72"/>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close/>
                </a:path>
              </a:pathLst>
            </a:custGeom>
            <a:blipFill>
              <a:blip r:embed="rId2">
                <a:alphaModFix amt="0"/>
              </a:blip>
              <a:stretch>
                <a:fillRect l="-78303" t="0" r="-78303" b="0"/>
              </a:stretch>
            </a:blipFill>
          </p:spPr>
        </p:sp>
        <p:sp>
          <p:nvSpPr>
            <p:cNvPr name="TextBox 73" id="73"/>
            <p:cNvSpPr txBox="true"/>
            <p:nvPr/>
          </p:nvSpPr>
          <p:spPr>
            <a:xfrm>
              <a:off x="0" y="-19050"/>
              <a:ext cx="512064" cy="531114"/>
            </a:xfrm>
            <a:prstGeom prst="rect">
              <a:avLst/>
            </a:prstGeom>
          </p:spPr>
          <p:txBody>
            <a:bodyPr anchor="ctr" rtlCol="false" tIns="0" lIns="0" bIns="0" rIns="0"/>
            <a:lstStyle/>
            <a:p>
              <a:pPr algn="ctr">
                <a:lnSpc>
                  <a:spcPts val="1680"/>
                </a:lnSpc>
              </a:pPr>
              <a:r>
                <a:rPr lang="en-US" sz="1400" b="true">
                  <a:solidFill>
                    <a:srgbClr val="FFFFFF"/>
                  </a:solidFill>
                  <a:latin typeface="Poppins Bold"/>
                  <a:ea typeface="Poppins Bold"/>
                  <a:cs typeface="Poppins Bold"/>
                  <a:sym typeface="Poppins Bold"/>
                </a:rPr>
                <a:t>6</a:t>
              </a:r>
            </a:p>
          </p:txBody>
        </p:sp>
      </p:grpSp>
      <p:sp>
        <p:nvSpPr>
          <p:cNvPr name="TextBox 74" id="74"/>
          <p:cNvSpPr txBox="true"/>
          <p:nvPr/>
        </p:nvSpPr>
        <p:spPr>
          <a:xfrm rot="0">
            <a:off x="1252728" y="7716393"/>
            <a:ext cx="7662672" cy="622935"/>
          </a:xfrm>
          <a:prstGeom prst="rect">
            <a:avLst/>
          </a:prstGeom>
        </p:spPr>
        <p:txBody>
          <a:bodyPr anchor="t" rtlCol="false" tIns="0" lIns="0" bIns="0" rIns="0">
            <a:spAutoFit/>
          </a:bodyPr>
          <a:lstStyle/>
          <a:p>
            <a:pPr algn="l">
              <a:lnSpc>
                <a:spcPts val="1948"/>
              </a:lnSpc>
            </a:pPr>
            <a:r>
              <a:rPr lang="en-US" sz="1449" b="true">
                <a:solidFill>
                  <a:srgbClr val="1F3338"/>
                </a:solidFill>
                <a:latin typeface="Poppins Bold"/>
                <a:ea typeface="Poppins Bold"/>
                <a:cs typeface="Poppins Bold"/>
                <a:sym typeface="Poppins Bold"/>
              </a:rPr>
              <a:t>Plans &amp; subscription</a:t>
            </a:r>
          </a:p>
          <a:p>
            <a:pPr algn="l">
              <a:lnSpc>
                <a:spcPts val="1612"/>
              </a:lnSpc>
            </a:pPr>
            <a:r>
              <a:rPr lang="en-US" sz="1200">
                <a:solidFill>
                  <a:srgbClr val="5C6B70"/>
                </a:solidFill>
                <a:latin typeface="Poppins"/>
                <a:ea typeface="Poppins"/>
                <a:cs typeface="Poppins"/>
                <a:sym typeface="Poppins"/>
              </a:rPr>
              <a:t>Jul 6 – Jul 25, 2026</a:t>
            </a:r>
          </a:p>
        </p:txBody>
      </p:sp>
      <p:grpSp>
        <p:nvGrpSpPr>
          <p:cNvPr name="Group 75" id="75"/>
          <p:cNvGrpSpPr/>
          <p:nvPr/>
        </p:nvGrpSpPr>
        <p:grpSpPr>
          <a:xfrm rot="0">
            <a:off x="685800" y="8531352"/>
            <a:ext cx="384048" cy="384048"/>
            <a:chOff x="0" y="0"/>
            <a:chExt cx="512064" cy="512064"/>
          </a:xfrm>
        </p:grpSpPr>
        <p:sp>
          <p:nvSpPr>
            <p:cNvPr name="Freeform 76" id="76"/>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737AE6"/>
            </a:solidFill>
          </p:spPr>
        </p:sp>
      </p:grpSp>
      <p:grpSp>
        <p:nvGrpSpPr>
          <p:cNvPr name="Group 77" id="77"/>
          <p:cNvGrpSpPr/>
          <p:nvPr/>
        </p:nvGrpSpPr>
        <p:grpSpPr>
          <a:xfrm rot="0">
            <a:off x="685800" y="8531352"/>
            <a:ext cx="384048" cy="384048"/>
            <a:chOff x="0" y="0"/>
            <a:chExt cx="512064" cy="512064"/>
          </a:xfrm>
        </p:grpSpPr>
        <p:sp>
          <p:nvSpPr>
            <p:cNvPr name="Freeform 78" id="78"/>
            <p:cNvSpPr/>
            <p:nvPr/>
          </p:nvSpPr>
          <p:spPr>
            <a:xfrm flipH="false" flipV="false" rot="0">
              <a:off x="0" y="0"/>
              <a:ext cx="512064" cy="512064"/>
            </a:xfrm>
            <a:custGeom>
              <a:avLst/>
              <a:gdLst/>
              <a:ahLst/>
              <a:cxnLst/>
              <a:rect r="r" b="b" t="t" l="l"/>
              <a:pathLst>
                <a:path h="512064" w="512064">
                  <a:moveTo>
                    <a:pt x="0" y="0"/>
                  </a:moveTo>
                  <a:lnTo>
                    <a:pt x="512064" y="0"/>
                  </a:lnTo>
                  <a:lnTo>
                    <a:pt x="512064" y="512064"/>
                  </a:lnTo>
                  <a:lnTo>
                    <a:pt x="0" y="512064"/>
                  </a:lnTo>
                  <a:close/>
                </a:path>
              </a:pathLst>
            </a:custGeom>
            <a:blipFill>
              <a:blip r:embed="rId2">
                <a:alphaModFix amt="0"/>
              </a:blip>
              <a:stretch>
                <a:fillRect l="-78303" t="0" r="-78303" b="0"/>
              </a:stretch>
            </a:blipFill>
          </p:spPr>
        </p:sp>
        <p:sp>
          <p:nvSpPr>
            <p:cNvPr name="TextBox 79" id="79"/>
            <p:cNvSpPr txBox="true"/>
            <p:nvPr/>
          </p:nvSpPr>
          <p:spPr>
            <a:xfrm>
              <a:off x="0" y="-19050"/>
              <a:ext cx="512064" cy="531114"/>
            </a:xfrm>
            <a:prstGeom prst="rect">
              <a:avLst/>
            </a:prstGeom>
          </p:spPr>
          <p:txBody>
            <a:bodyPr anchor="ctr" rtlCol="false" tIns="0" lIns="0" bIns="0" rIns="0"/>
            <a:lstStyle/>
            <a:p>
              <a:pPr algn="ctr">
                <a:lnSpc>
                  <a:spcPts val="1680"/>
                </a:lnSpc>
              </a:pPr>
              <a:r>
                <a:rPr lang="en-US" sz="1400" b="true">
                  <a:solidFill>
                    <a:srgbClr val="FFFFFF"/>
                  </a:solidFill>
                  <a:latin typeface="Poppins Bold"/>
                  <a:ea typeface="Poppins Bold"/>
                  <a:cs typeface="Poppins Bold"/>
                  <a:sym typeface="Poppins Bold"/>
                </a:rPr>
                <a:t>7</a:t>
              </a:r>
            </a:p>
          </p:txBody>
        </p:sp>
      </p:grpSp>
      <p:sp>
        <p:nvSpPr>
          <p:cNvPr name="TextBox 80" id="80"/>
          <p:cNvSpPr txBox="true"/>
          <p:nvPr/>
        </p:nvSpPr>
        <p:spPr>
          <a:xfrm rot="0">
            <a:off x="1252728" y="8402193"/>
            <a:ext cx="7662672" cy="622935"/>
          </a:xfrm>
          <a:prstGeom prst="rect">
            <a:avLst/>
          </a:prstGeom>
        </p:spPr>
        <p:txBody>
          <a:bodyPr anchor="t" rtlCol="false" tIns="0" lIns="0" bIns="0" rIns="0">
            <a:spAutoFit/>
          </a:bodyPr>
          <a:lstStyle/>
          <a:p>
            <a:pPr algn="l">
              <a:lnSpc>
                <a:spcPts val="1948"/>
              </a:lnSpc>
            </a:pPr>
            <a:r>
              <a:rPr lang="en-US" sz="1449" b="true">
                <a:solidFill>
                  <a:srgbClr val="1F3338"/>
                </a:solidFill>
                <a:latin typeface="Poppins Bold"/>
                <a:ea typeface="Poppins Bold"/>
                <a:cs typeface="Poppins Bold"/>
                <a:sym typeface="Poppins Bold"/>
              </a:rPr>
              <a:t>Communication / chat</a:t>
            </a:r>
          </a:p>
          <a:p>
            <a:pPr algn="l">
              <a:lnSpc>
                <a:spcPts val="1612"/>
              </a:lnSpc>
            </a:pPr>
            <a:r>
              <a:rPr lang="en-US" sz="1200">
                <a:solidFill>
                  <a:srgbClr val="5C6B70"/>
                </a:solidFill>
                <a:latin typeface="Poppins"/>
                <a:ea typeface="Poppins"/>
                <a:cs typeface="Poppins"/>
                <a:sym typeface="Poppins"/>
              </a:rPr>
              <a:t>Jul 26 – Aug 13, 2026</a:t>
            </a:r>
          </a:p>
        </p:txBody>
      </p:sp>
      <p:grpSp>
        <p:nvGrpSpPr>
          <p:cNvPr name="Group 81" id="81"/>
          <p:cNvGrpSpPr/>
          <p:nvPr/>
        </p:nvGrpSpPr>
        <p:grpSpPr>
          <a:xfrm rot="0">
            <a:off x="10424160" y="1965960"/>
            <a:ext cx="5897880" cy="7291492"/>
            <a:chOff x="0" y="0"/>
            <a:chExt cx="7863840" cy="9721990"/>
          </a:xfrm>
        </p:grpSpPr>
        <p:sp>
          <p:nvSpPr>
            <p:cNvPr name="Freeform 82" id="82"/>
            <p:cNvSpPr/>
            <p:nvPr/>
          </p:nvSpPr>
          <p:spPr>
            <a:xfrm flipH="false" flipV="false" rot="0">
              <a:off x="0" y="0"/>
              <a:ext cx="7863840" cy="9721977"/>
            </a:xfrm>
            <a:custGeom>
              <a:avLst/>
              <a:gdLst/>
              <a:ahLst/>
              <a:cxnLst/>
              <a:rect r="r" b="b" t="t" l="l"/>
              <a:pathLst>
                <a:path h="9721977" w="7863840">
                  <a:moveTo>
                    <a:pt x="0" y="471805"/>
                  </a:moveTo>
                  <a:cubicBezTo>
                    <a:pt x="0" y="211201"/>
                    <a:pt x="211201" y="0"/>
                    <a:pt x="471805" y="0"/>
                  </a:cubicBezTo>
                  <a:lnTo>
                    <a:pt x="7392036" y="0"/>
                  </a:lnTo>
                  <a:cubicBezTo>
                    <a:pt x="7652639" y="0"/>
                    <a:pt x="7863840" y="211201"/>
                    <a:pt x="7863840" y="471805"/>
                  </a:cubicBezTo>
                  <a:lnTo>
                    <a:pt x="7863840" y="9250172"/>
                  </a:lnTo>
                  <a:cubicBezTo>
                    <a:pt x="7863840" y="9510776"/>
                    <a:pt x="7652639" y="9721977"/>
                    <a:pt x="7392036" y="9721977"/>
                  </a:cubicBezTo>
                  <a:lnTo>
                    <a:pt x="471805" y="9721977"/>
                  </a:lnTo>
                  <a:cubicBezTo>
                    <a:pt x="211201" y="9721977"/>
                    <a:pt x="0" y="9510776"/>
                    <a:pt x="0" y="9250172"/>
                  </a:cubicBezTo>
                  <a:close/>
                </a:path>
              </a:pathLst>
            </a:custGeom>
            <a:solidFill>
              <a:srgbClr val="FFFFFF"/>
            </a:solidFill>
          </p:spPr>
        </p:sp>
      </p:grpSp>
      <p:grpSp>
        <p:nvGrpSpPr>
          <p:cNvPr name="Group 83" id="83"/>
          <p:cNvGrpSpPr/>
          <p:nvPr/>
        </p:nvGrpSpPr>
        <p:grpSpPr>
          <a:xfrm rot="0">
            <a:off x="10652760" y="2194560"/>
            <a:ext cx="5440680" cy="6834292"/>
            <a:chOff x="0" y="0"/>
            <a:chExt cx="7254240" cy="9112390"/>
          </a:xfrm>
        </p:grpSpPr>
        <p:sp>
          <p:nvSpPr>
            <p:cNvPr name="Freeform 84" id="84"/>
            <p:cNvSpPr/>
            <p:nvPr/>
          </p:nvSpPr>
          <p:spPr>
            <a:xfrm flipH="false" flipV="false" rot="0">
              <a:off x="0" y="0"/>
              <a:ext cx="7254240" cy="9112377"/>
            </a:xfrm>
            <a:custGeom>
              <a:avLst/>
              <a:gdLst/>
              <a:ahLst/>
              <a:cxnLst/>
              <a:rect r="r" b="b" t="t" l="l"/>
              <a:pathLst>
                <a:path h="9112377" w="7254240">
                  <a:moveTo>
                    <a:pt x="0" y="0"/>
                  </a:moveTo>
                  <a:lnTo>
                    <a:pt x="7254240" y="0"/>
                  </a:lnTo>
                  <a:lnTo>
                    <a:pt x="7254240" y="9112377"/>
                  </a:lnTo>
                  <a:lnTo>
                    <a:pt x="0" y="9112377"/>
                  </a:lnTo>
                  <a:lnTo>
                    <a:pt x="0" y="0"/>
                  </a:lnTo>
                  <a:close/>
                </a:path>
              </a:pathLst>
            </a:custGeom>
            <a:blipFill>
              <a:blip r:embed="rId4"/>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686333" y="686333"/>
            <a:ext cx="1784471" cy="1235402"/>
            <a:chOff x="0" y="0"/>
            <a:chExt cx="2379294" cy="1647203"/>
          </a:xfrm>
        </p:grpSpPr>
        <p:sp>
          <p:nvSpPr>
            <p:cNvPr name="Freeform 3" id="3"/>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2">
                <a:alphaModFix amt="0"/>
              </a:blip>
              <a:stretch>
                <a:fillRect l="-38886" t="0" r="-38884" b="0"/>
              </a:stretch>
            </a:blipFill>
          </p:spPr>
        </p:sp>
      </p:grpSp>
      <p:grpSp>
        <p:nvGrpSpPr>
          <p:cNvPr name="Group 4" id="4"/>
          <p:cNvGrpSpPr/>
          <p:nvPr/>
        </p:nvGrpSpPr>
        <p:grpSpPr>
          <a:xfrm rot="0">
            <a:off x="686333" y="643471"/>
            <a:ext cx="1784471" cy="1495408"/>
            <a:chOff x="0" y="0"/>
            <a:chExt cx="2379294" cy="1993877"/>
          </a:xfrm>
        </p:grpSpPr>
        <p:sp>
          <p:nvSpPr>
            <p:cNvPr name="Freeform 5" id="5"/>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3">
                <a:alphaModFix amt="0"/>
              </a:blip>
              <a:stretch>
                <a:fillRect l="-41907" t="0" r="-41907" b="14520"/>
              </a:stretch>
            </a:blipFill>
          </p:spPr>
        </p:sp>
        <p:sp>
          <p:nvSpPr>
            <p:cNvPr name="TextBox 6" id="6"/>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7" id="7"/>
          <p:cNvGrpSpPr/>
          <p:nvPr/>
        </p:nvGrpSpPr>
        <p:grpSpPr>
          <a:xfrm rot="0">
            <a:off x="2127647" y="796147"/>
            <a:ext cx="14413059" cy="1235402"/>
            <a:chOff x="0" y="0"/>
            <a:chExt cx="19217411" cy="1647203"/>
          </a:xfrm>
        </p:grpSpPr>
        <p:sp>
          <p:nvSpPr>
            <p:cNvPr name="Freeform 8" id="8"/>
            <p:cNvSpPr/>
            <p:nvPr/>
          </p:nvSpPr>
          <p:spPr>
            <a:xfrm flipH="false" flipV="false" rot="0">
              <a:off x="0" y="0"/>
              <a:ext cx="19217387" cy="1647190"/>
            </a:xfrm>
            <a:custGeom>
              <a:avLst/>
              <a:gdLst/>
              <a:ahLst/>
              <a:cxnLst/>
              <a:rect r="r" b="b" t="t" l="l"/>
              <a:pathLst>
                <a:path h="1647190" w="19217387">
                  <a:moveTo>
                    <a:pt x="0" y="0"/>
                  </a:moveTo>
                  <a:lnTo>
                    <a:pt x="19217387" y="0"/>
                  </a:lnTo>
                  <a:lnTo>
                    <a:pt x="19217387" y="1647190"/>
                  </a:lnTo>
                  <a:lnTo>
                    <a:pt x="0" y="1647190"/>
                  </a:lnTo>
                  <a:close/>
                </a:path>
              </a:pathLst>
            </a:custGeom>
            <a:blipFill>
              <a:blip r:embed="rId2">
                <a:alphaModFix amt="0"/>
              </a:blip>
              <a:stretch>
                <a:fillRect l="0" t="-177168" r="0" b="-177170"/>
              </a:stretch>
            </a:blipFill>
          </p:spPr>
        </p:sp>
      </p:grpSp>
      <p:grpSp>
        <p:nvGrpSpPr>
          <p:cNvPr name="Group 9" id="9"/>
          <p:cNvGrpSpPr/>
          <p:nvPr/>
        </p:nvGrpSpPr>
        <p:grpSpPr>
          <a:xfrm rot="0">
            <a:off x="778287" y="520915"/>
            <a:ext cx="14413059" cy="1263977"/>
            <a:chOff x="0" y="0"/>
            <a:chExt cx="19217411" cy="1685303"/>
          </a:xfrm>
        </p:grpSpPr>
        <p:sp>
          <p:nvSpPr>
            <p:cNvPr name="Freeform 10" id="10"/>
            <p:cNvSpPr/>
            <p:nvPr/>
          </p:nvSpPr>
          <p:spPr>
            <a:xfrm flipH="false" flipV="false" rot="0">
              <a:off x="0" y="0"/>
              <a:ext cx="19217411" cy="1685303"/>
            </a:xfrm>
            <a:custGeom>
              <a:avLst/>
              <a:gdLst/>
              <a:ahLst/>
              <a:cxnLst/>
              <a:rect r="r" b="b" t="t" l="l"/>
              <a:pathLst>
                <a:path h="1685303" w="19217411">
                  <a:moveTo>
                    <a:pt x="0" y="0"/>
                  </a:moveTo>
                  <a:lnTo>
                    <a:pt x="19217411" y="0"/>
                  </a:lnTo>
                  <a:lnTo>
                    <a:pt x="19217411" y="1685303"/>
                  </a:lnTo>
                  <a:lnTo>
                    <a:pt x="0" y="1685303"/>
                  </a:lnTo>
                  <a:close/>
                </a:path>
              </a:pathLst>
            </a:custGeom>
            <a:blipFill>
              <a:blip r:embed="rId3">
                <a:alphaModFix amt="0"/>
              </a:blip>
              <a:stretch>
                <a:fillRect l="0" t="-172186" r="0" b="-172186"/>
              </a:stretch>
            </a:blipFill>
          </p:spPr>
        </p:sp>
        <p:sp>
          <p:nvSpPr>
            <p:cNvPr name="TextBox 11" id="11"/>
            <p:cNvSpPr txBox="true"/>
            <p:nvPr/>
          </p:nvSpPr>
          <p:spPr>
            <a:xfrm>
              <a:off x="0" y="-38100"/>
              <a:ext cx="19217411" cy="1723403"/>
            </a:xfrm>
            <a:prstGeom prst="rect">
              <a:avLst/>
            </a:prstGeom>
          </p:spPr>
          <p:txBody>
            <a:bodyPr anchor="ctr" rtlCol="false" tIns="0" lIns="0" bIns="0" rIns="0"/>
            <a:lstStyle/>
            <a:p>
              <a:pPr algn="l">
                <a:lnSpc>
                  <a:spcPts val="4683"/>
                </a:lnSpc>
              </a:pPr>
              <a:r>
                <a:rPr lang="en-US" sz="3903" b="true">
                  <a:solidFill>
                    <a:srgbClr val="000000"/>
                  </a:solidFill>
                  <a:latin typeface="Poppins Bold"/>
                  <a:ea typeface="Poppins Bold"/>
                  <a:cs typeface="Poppins Bold"/>
                  <a:sym typeface="Poppins Bold"/>
                </a:rPr>
                <a:t>Global Use Case Diagram</a:t>
              </a:r>
            </a:p>
          </p:txBody>
        </p:sp>
      </p:grpSp>
      <p:grpSp>
        <p:nvGrpSpPr>
          <p:cNvPr name="Group 12" id="12"/>
          <p:cNvGrpSpPr/>
          <p:nvPr/>
        </p:nvGrpSpPr>
        <p:grpSpPr>
          <a:xfrm rot="0">
            <a:off x="6794725" y="2553167"/>
            <a:ext cx="4872990" cy="686333"/>
            <a:chOff x="0" y="0"/>
            <a:chExt cx="6497320" cy="915111"/>
          </a:xfrm>
        </p:grpSpPr>
        <p:sp>
          <p:nvSpPr>
            <p:cNvPr name="Freeform 13" id="13"/>
            <p:cNvSpPr/>
            <p:nvPr/>
          </p:nvSpPr>
          <p:spPr>
            <a:xfrm flipH="false" flipV="false" rot="0">
              <a:off x="0" y="0"/>
              <a:ext cx="6497320" cy="915162"/>
            </a:xfrm>
            <a:custGeom>
              <a:avLst/>
              <a:gdLst/>
              <a:ahLst/>
              <a:cxnLst/>
              <a:rect r="r" b="b" t="t" l="l"/>
              <a:pathLst>
                <a:path h="915162" w="6497320">
                  <a:moveTo>
                    <a:pt x="0" y="0"/>
                  </a:moveTo>
                  <a:lnTo>
                    <a:pt x="6497320" y="0"/>
                  </a:lnTo>
                  <a:lnTo>
                    <a:pt x="6497320" y="915162"/>
                  </a:lnTo>
                  <a:lnTo>
                    <a:pt x="0" y="915162"/>
                  </a:lnTo>
                  <a:close/>
                </a:path>
              </a:pathLst>
            </a:custGeom>
            <a:blipFill>
              <a:blip r:embed="rId2">
                <a:alphaModFix amt="0"/>
              </a:blip>
              <a:stretch>
                <a:fillRect l="0" t="-88243" r="0" b="-88237"/>
              </a:stretch>
            </a:blipFill>
          </p:spPr>
        </p:sp>
      </p:grpSp>
      <p:grpSp>
        <p:nvGrpSpPr>
          <p:cNvPr name="Group 14" id="14"/>
          <p:cNvGrpSpPr/>
          <p:nvPr/>
        </p:nvGrpSpPr>
        <p:grpSpPr>
          <a:xfrm rot="0">
            <a:off x="6794725" y="2538879"/>
            <a:ext cx="4872990" cy="700621"/>
            <a:chOff x="0" y="0"/>
            <a:chExt cx="6497320" cy="934161"/>
          </a:xfrm>
        </p:grpSpPr>
        <p:sp>
          <p:nvSpPr>
            <p:cNvPr name="Freeform 15" id="15"/>
            <p:cNvSpPr/>
            <p:nvPr/>
          </p:nvSpPr>
          <p:spPr>
            <a:xfrm flipH="false" flipV="false" rot="0">
              <a:off x="0" y="0"/>
              <a:ext cx="6497320" cy="934161"/>
            </a:xfrm>
            <a:custGeom>
              <a:avLst/>
              <a:gdLst/>
              <a:ahLst/>
              <a:cxnLst/>
              <a:rect r="r" b="b" t="t" l="l"/>
              <a:pathLst>
                <a:path h="934161" w="6497320">
                  <a:moveTo>
                    <a:pt x="0" y="0"/>
                  </a:moveTo>
                  <a:lnTo>
                    <a:pt x="6497320" y="0"/>
                  </a:lnTo>
                  <a:lnTo>
                    <a:pt x="6497320" y="934161"/>
                  </a:lnTo>
                  <a:lnTo>
                    <a:pt x="0" y="934161"/>
                  </a:lnTo>
                  <a:close/>
                </a:path>
              </a:pathLst>
            </a:custGeom>
            <a:blipFill>
              <a:blip r:embed="rId3">
                <a:alphaModFix amt="0"/>
              </a:blip>
              <a:stretch>
                <a:fillRect l="0" t="-85523" r="0" b="-85523"/>
              </a:stretch>
            </a:blipFill>
          </p:spPr>
        </p:sp>
        <p:sp>
          <p:nvSpPr>
            <p:cNvPr name="TextBox 16" id="16"/>
            <p:cNvSpPr txBox="true"/>
            <p:nvPr/>
          </p:nvSpPr>
          <p:spPr>
            <a:xfrm>
              <a:off x="0" y="-19050"/>
              <a:ext cx="6497320" cy="953211"/>
            </a:xfrm>
            <a:prstGeom prst="rect">
              <a:avLst/>
            </a:prstGeom>
          </p:spPr>
          <p:txBody>
            <a:bodyPr anchor="ctr" rtlCol="false" tIns="0" lIns="0" bIns="0" rIns="0"/>
            <a:lstStyle/>
            <a:p>
              <a:pPr algn="l">
                <a:lnSpc>
                  <a:spcPts val="2341"/>
                </a:lnSpc>
              </a:pPr>
              <a:r>
                <a:rPr lang="en-US" sz="1950" b="true">
                  <a:solidFill>
                    <a:srgbClr val="FFFFFF"/>
                  </a:solidFill>
                  <a:latin typeface="Poppins Bold"/>
                  <a:ea typeface="Poppins Bold"/>
                  <a:cs typeface="Poppins Bold"/>
                  <a:sym typeface="Poppins Bold"/>
                </a:rPr>
                <a:t>&lt;&lt; system &gt;&gt;</a:t>
              </a:r>
            </a:p>
            <a:p>
              <a:pPr algn="l">
                <a:lnSpc>
                  <a:spcPts val="2341"/>
                </a:lnSpc>
              </a:pPr>
              <a:r>
                <a:rPr lang="en-US" sz="1950" b="true">
                  <a:solidFill>
                    <a:srgbClr val="FFFFFF"/>
                  </a:solidFill>
                  <a:latin typeface="Poppins Bold"/>
                  <a:ea typeface="Poppins Bold"/>
                  <a:cs typeface="Poppins Bold"/>
                  <a:sym typeface="Poppins Bold"/>
                </a:rPr>
                <a:t>HIRE ON DEMAND</a:t>
              </a:r>
            </a:p>
          </p:txBody>
        </p:sp>
      </p:grpSp>
      <p:grpSp>
        <p:nvGrpSpPr>
          <p:cNvPr name="Group 17" id="17"/>
          <p:cNvGrpSpPr/>
          <p:nvPr/>
        </p:nvGrpSpPr>
        <p:grpSpPr>
          <a:xfrm rot="0">
            <a:off x="686333" y="9718519"/>
            <a:ext cx="8236039" cy="411804"/>
            <a:chOff x="0" y="0"/>
            <a:chExt cx="10981385" cy="549072"/>
          </a:xfrm>
        </p:grpSpPr>
        <p:sp>
          <p:nvSpPr>
            <p:cNvPr name="Freeform 18" id="18"/>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2">
                <a:alphaModFix amt="0"/>
              </a:blip>
              <a:stretch>
                <a:fillRect l="0" t="-339458" r="0" b="-339467"/>
              </a:stretch>
            </a:blipFill>
          </p:spPr>
        </p:sp>
      </p:grpSp>
      <p:grpSp>
        <p:nvGrpSpPr>
          <p:cNvPr name="Group 19" id="19"/>
          <p:cNvGrpSpPr/>
          <p:nvPr/>
        </p:nvGrpSpPr>
        <p:grpSpPr>
          <a:xfrm rot="0">
            <a:off x="686333" y="9704232"/>
            <a:ext cx="8236039" cy="426091"/>
            <a:chOff x="0" y="0"/>
            <a:chExt cx="10981385" cy="568122"/>
          </a:xfrm>
        </p:grpSpPr>
        <p:sp>
          <p:nvSpPr>
            <p:cNvPr name="Freeform 20" id="20"/>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3">
                <a:alphaModFix amt="0"/>
              </a:blip>
              <a:stretch>
                <a:fillRect l="0" t="-326631" r="0" b="-326631"/>
              </a:stretch>
            </a:blipFill>
          </p:spPr>
        </p:sp>
        <p:sp>
          <p:nvSpPr>
            <p:cNvPr name="TextBox 21" id="21"/>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22" id="22"/>
          <p:cNvGrpSpPr/>
          <p:nvPr/>
        </p:nvGrpSpPr>
        <p:grpSpPr>
          <a:xfrm rot="0">
            <a:off x="16242830" y="9718519"/>
            <a:ext cx="1372676" cy="411804"/>
            <a:chOff x="0" y="0"/>
            <a:chExt cx="1830235" cy="549072"/>
          </a:xfrm>
        </p:grpSpPr>
        <p:sp>
          <p:nvSpPr>
            <p:cNvPr name="Freeform 23" id="23"/>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2">
                <a:alphaModFix amt="0"/>
              </a:blip>
              <a:stretch>
                <a:fillRect l="0" t="-14906" r="-2" b="-14915"/>
              </a:stretch>
            </a:blipFill>
          </p:spPr>
        </p:sp>
      </p:grpSp>
      <p:grpSp>
        <p:nvGrpSpPr>
          <p:cNvPr name="Group 24" id="24"/>
          <p:cNvGrpSpPr/>
          <p:nvPr/>
        </p:nvGrpSpPr>
        <p:grpSpPr>
          <a:xfrm rot="0">
            <a:off x="5614711" y="2031549"/>
            <a:ext cx="5053889" cy="7710964"/>
            <a:chOff x="0" y="0"/>
            <a:chExt cx="6738518" cy="10281285"/>
          </a:xfrm>
        </p:grpSpPr>
        <p:sp>
          <p:nvSpPr>
            <p:cNvPr name="Freeform 25" id="25"/>
            <p:cNvSpPr/>
            <p:nvPr/>
          </p:nvSpPr>
          <p:spPr>
            <a:xfrm flipH="false" flipV="false" rot="0">
              <a:off x="0" y="0"/>
              <a:ext cx="6738493" cy="10281285"/>
            </a:xfrm>
            <a:custGeom>
              <a:avLst/>
              <a:gdLst/>
              <a:ahLst/>
              <a:cxnLst/>
              <a:rect r="r" b="b" t="t" l="l"/>
              <a:pathLst>
                <a:path h="10281285" w="6738493">
                  <a:moveTo>
                    <a:pt x="0" y="0"/>
                  </a:moveTo>
                  <a:lnTo>
                    <a:pt x="6738493" y="0"/>
                  </a:lnTo>
                  <a:lnTo>
                    <a:pt x="6738493" y="10281285"/>
                  </a:lnTo>
                  <a:lnTo>
                    <a:pt x="0" y="10281285"/>
                  </a:lnTo>
                  <a:lnTo>
                    <a:pt x="0" y="0"/>
                  </a:lnTo>
                  <a:close/>
                </a:path>
              </a:pathLst>
            </a:custGeom>
            <a:blipFill>
              <a:blip r:embed="rId4"/>
              <a:stretch>
                <a:fillRect l="-35" t="0" r="-36" b="0"/>
              </a:stretch>
            </a:blipFill>
          </p:spPr>
        </p:sp>
      </p:grpSp>
      <p:sp>
        <p:nvSpPr>
          <p:cNvPr name="TextBox 26" id="26"/>
          <p:cNvSpPr txBox="true"/>
          <p:nvPr/>
        </p:nvSpPr>
        <p:spPr>
          <a:xfrm rot="0">
            <a:off x="6794725" y="3152661"/>
            <a:ext cx="4872990" cy="4575486"/>
          </a:xfrm>
          <a:prstGeom prst="rect">
            <a:avLst/>
          </a:prstGeom>
        </p:spPr>
        <p:txBody>
          <a:bodyPr anchor="t" rtlCol="false" tIns="0" lIns="0" bIns="0" rIns="0">
            <a:spAutoFit/>
          </a:bodyPr>
          <a:lstStyle/>
          <a:p>
            <a:pPr algn="l" marL="332884" indent="-110961" lvl="2">
              <a:lnSpc>
                <a:spcPts val="2363"/>
              </a:lnSpc>
              <a:buFont typeface="Arial"/>
              <a:buChar char="⚬"/>
            </a:pPr>
            <a:r>
              <a:rPr lang="en-US" sz="1575">
                <a:solidFill>
                  <a:srgbClr val="FFFFFF"/>
                </a:solidFill>
                <a:latin typeface="Poppins"/>
                <a:ea typeface="Poppins"/>
                <a:cs typeface="Poppins"/>
                <a:sym typeface="Poppins"/>
              </a:rPr>
              <a:t>Profile Processing</a:t>
            </a:r>
          </a:p>
          <a:p>
            <a:pPr algn="l" marL="332884" indent="-110961" lvl="2">
              <a:lnSpc>
                <a:spcPts val="2363"/>
              </a:lnSpc>
              <a:buFont typeface="Arial"/>
              <a:buChar char="⚬"/>
            </a:pPr>
            <a:r>
              <a:rPr lang="en-US" sz="1575">
                <a:solidFill>
                  <a:srgbClr val="FFFFFF"/>
                </a:solidFill>
                <a:latin typeface="Poppins"/>
                <a:ea typeface="Poppins"/>
                <a:cs typeface="Poppins"/>
                <a:sym typeface="Poppins"/>
              </a:rPr>
              <a:t>Assessment &amp; Proctoring</a:t>
            </a:r>
          </a:p>
          <a:p>
            <a:pPr algn="l" marL="332884" indent="-110961" lvl="2">
              <a:lnSpc>
                <a:spcPts val="2363"/>
              </a:lnSpc>
              <a:buFont typeface="Arial"/>
              <a:buChar char="⚬"/>
            </a:pPr>
            <a:r>
              <a:rPr lang="en-US" sz="1575">
                <a:solidFill>
                  <a:srgbClr val="FFFFFF"/>
                </a:solidFill>
                <a:latin typeface="Poppins"/>
                <a:ea typeface="Poppins"/>
                <a:cs typeface="Poppins"/>
                <a:sym typeface="Poppins"/>
              </a:rPr>
              <a:t>Evaluation &amp; Ranking</a:t>
            </a:r>
          </a:p>
          <a:p>
            <a:pPr algn="l" marL="332884" indent="-110961" lvl="2">
              <a:lnSpc>
                <a:spcPts val="2363"/>
              </a:lnSpc>
              <a:buFont typeface="Arial"/>
              <a:buChar char="⚬"/>
            </a:pPr>
            <a:r>
              <a:rPr lang="en-US" sz="1575">
                <a:solidFill>
                  <a:srgbClr val="FFFFFF"/>
                </a:solidFill>
                <a:latin typeface="Poppins"/>
                <a:ea typeface="Poppins"/>
                <a:cs typeface="Poppins"/>
                <a:sym typeface="Poppins"/>
              </a:rPr>
              <a:t>Candidate Search</a:t>
            </a:r>
          </a:p>
          <a:p>
            <a:pPr algn="l" marL="332884" indent="-110961" lvl="2">
              <a:lnSpc>
                <a:spcPts val="2363"/>
              </a:lnSpc>
              <a:buFont typeface="Arial"/>
              <a:buChar char="⚬"/>
            </a:pPr>
            <a:r>
              <a:rPr lang="en-US" sz="1575">
                <a:solidFill>
                  <a:srgbClr val="FFFFFF"/>
                </a:solidFill>
                <a:latin typeface="Poppins"/>
                <a:ea typeface="Poppins"/>
                <a:cs typeface="Poppins"/>
                <a:sym typeface="Poppins"/>
              </a:rPr>
              <a:t>Profile Access</a:t>
            </a:r>
          </a:p>
          <a:p>
            <a:pPr algn="l" marL="332884" indent="-110961" lvl="2">
              <a:lnSpc>
                <a:spcPts val="2363"/>
              </a:lnSpc>
              <a:buFont typeface="Arial"/>
              <a:buChar char="⚬"/>
            </a:pPr>
            <a:r>
              <a:rPr lang="en-US" sz="1575">
                <a:solidFill>
                  <a:srgbClr val="FFFFFF"/>
                </a:solidFill>
                <a:latin typeface="Poppins"/>
                <a:ea typeface="Poppins"/>
                <a:cs typeface="Poppins"/>
                <a:sym typeface="Poppins"/>
              </a:rPr>
              <a:t>Subscription</a:t>
            </a:r>
          </a:p>
          <a:p>
            <a:pPr algn="l" marL="332884" indent="-110961" lvl="2">
              <a:lnSpc>
                <a:spcPts val="2363"/>
              </a:lnSpc>
              <a:buFont typeface="Arial"/>
              <a:buChar char="⚬"/>
            </a:pPr>
            <a:r>
              <a:rPr lang="en-US" sz="1575">
                <a:solidFill>
                  <a:srgbClr val="FFFFFF"/>
                </a:solidFill>
                <a:latin typeface="Poppins"/>
                <a:ea typeface="Poppins"/>
                <a:cs typeface="Poppins"/>
                <a:sym typeface="Poppins"/>
              </a:rPr>
              <a:t>Communication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686333" y="643471"/>
            <a:ext cx="1784471" cy="1495408"/>
            <a:chOff x="0" y="0"/>
            <a:chExt cx="2379294" cy="1993877"/>
          </a:xfrm>
        </p:grpSpPr>
        <p:sp>
          <p:nvSpPr>
            <p:cNvPr name="Freeform 7" id="7"/>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4">
                <a:alphaModFix amt="0"/>
              </a:blip>
              <a:stretch>
                <a:fillRect l="-41907" t="0" r="-41907" b="14520"/>
              </a:stretch>
            </a:blipFill>
          </p:spPr>
        </p:sp>
        <p:sp>
          <p:nvSpPr>
            <p:cNvPr name="TextBox 8" id="8"/>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9" id="9"/>
          <p:cNvGrpSpPr/>
          <p:nvPr/>
        </p:nvGrpSpPr>
        <p:grpSpPr>
          <a:xfrm rot="0">
            <a:off x="2127647" y="796147"/>
            <a:ext cx="14413059" cy="1235412"/>
            <a:chOff x="0" y="0"/>
            <a:chExt cx="19217411" cy="1647215"/>
          </a:xfrm>
        </p:grpSpPr>
        <p:sp>
          <p:nvSpPr>
            <p:cNvPr name="Freeform 10" id="10"/>
            <p:cNvSpPr/>
            <p:nvPr/>
          </p:nvSpPr>
          <p:spPr>
            <a:xfrm flipH="false" flipV="false" rot="0">
              <a:off x="0" y="0"/>
              <a:ext cx="19217387" cy="1647190"/>
            </a:xfrm>
            <a:custGeom>
              <a:avLst/>
              <a:gdLst/>
              <a:ahLst/>
              <a:cxnLst/>
              <a:rect r="r" b="b" t="t" l="l"/>
              <a:pathLst>
                <a:path h="1647190" w="19217387">
                  <a:moveTo>
                    <a:pt x="0" y="0"/>
                  </a:moveTo>
                  <a:lnTo>
                    <a:pt x="19217387" y="0"/>
                  </a:lnTo>
                  <a:lnTo>
                    <a:pt x="19217387" y="1647190"/>
                  </a:lnTo>
                  <a:lnTo>
                    <a:pt x="0" y="1647190"/>
                  </a:lnTo>
                  <a:close/>
                </a:path>
              </a:pathLst>
            </a:custGeom>
            <a:blipFill>
              <a:blip r:embed="rId3">
                <a:alphaModFix amt="0"/>
              </a:blip>
              <a:stretch>
                <a:fillRect l="0" t="-177168" r="0" b="-177170"/>
              </a:stretch>
            </a:blipFill>
          </p:spPr>
        </p:sp>
      </p:grpSp>
      <p:grpSp>
        <p:nvGrpSpPr>
          <p:cNvPr name="Group 11" id="11"/>
          <p:cNvGrpSpPr/>
          <p:nvPr/>
        </p:nvGrpSpPr>
        <p:grpSpPr>
          <a:xfrm rot="0">
            <a:off x="686333" y="431821"/>
            <a:ext cx="14413059" cy="1263977"/>
            <a:chOff x="0" y="0"/>
            <a:chExt cx="19217411" cy="1685303"/>
          </a:xfrm>
        </p:grpSpPr>
        <p:sp>
          <p:nvSpPr>
            <p:cNvPr name="Freeform 12" id="12"/>
            <p:cNvSpPr/>
            <p:nvPr/>
          </p:nvSpPr>
          <p:spPr>
            <a:xfrm flipH="false" flipV="false" rot="0">
              <a:off x="0" y="0"/>
              <a:ext cx="19217411" cy="1685307"/>
            </a:xfrm>
            <a:custGeom>
              <a:avLst/>
              <a:gdLst/>
              <a:ahLst/>
              <a:cxnLst/>
              <a:rect r="r" b="b" t="t" l="l"/>
              <a:pathLst>
                <a:path h="1685307" w="19217411">
                  <a:moveTo>
                    <a:pt x="0" y="0"/>
                  </a:moveTo>
                  <a:lnTo>
                    <a:pt x="19217411" y="0"/>
                  </a:lnTo>
                  <a:lnTo>
                    <a:pt x="19217411" y="1685307"/>
                  </a:lnTo>
                  <a:lnTo>
                    <a:pt x="0" y="1685307"/>
                  </a:lnTo>
                  <a:close/>
                </a:path>
              </a:pathLst>
            </a:custGeom>
            <a:blipFill>
              <a:blip r:embed="rId4">
                <a:alphaModFix amt="0"/>
              </a:blip>
              <a:stretch>
                <a:fillRect l="0" t="-172186" r="0" b="-172186"/>
              </a:stretch>
            </a:blipFill>
          </p:spPr>
        </p:sp>
        <p:sp>
          <p:nvSpPr>
            <p:cNvPr name="TextBox 13" id="13"/>
            <p:cNvSpPr txBox="true"/>
            <p:nvPr/>
          </p:nvSpPr>
          <p:spPr>
            <a:xfrm>
              <a:off x="0" y="-38100"/>
              <a:ext cx="19217411" cy="1723403"/>
            </a:xfrm>
            <a:prstGeom prst="rect">
              <a:avLst/>
            </a:prstGeom>
          </p:spPr>
          <p:txBody>
            <a:bodyPr anchor="ctr" rtlCol="false" tIns="0" lIns="0" bIns="0" rIns="0"/>
            <a:lstStyle/>
            <a:p>
              <a:pPr algn="l">
                <a:lnSpc>
                  <a:spcPts val="4683"/>
                </a:lnSpc>
              </a:pPr>
              <a:r>
                <a:rPr lang="en-US" sz="3903" b="true">
                  <a:solidFill>
                    <a:srgbClr val="000000"/>
                  </a:solidFill>
                  <a:latin typeface="Poppins Bold"/>
                  <a:ea typeface="Poppins Bold"/>
                  <a:cs typeface="Poppins Bold"/>
                  <a:sym typeface="Poppins Bold"/>
                </a:rPr>
                <a:t>Database Design : ERD</a:t>
              </a:r>
            </a:p>
          </p:txBody>
        </p:sp>
      </p:grpSp>
      <p:grpSp>
        <p:nvGrpSpPr>
          <p:cNvPr name="Group 14" id="14"/>
          <p:cNvGrpSpPr/>
          <p:nvPr/>
        </p:nvGrpSpPr>
        <p:grpSpPr>
          <a:xfrm rot="0">
            <a:off x="686333" y="9718519"/>
            <a:ext cx="8236039" cy="411804"/>
            <a:chOff x="0" y="0"/>
            <a:chExt cx="10981385" cy="549072"/>
          </a:xfrm>
        </p:grpSpPr>
        <p:sp>
          <p:nvSpPr>
            <p:cNvPr name="Freeform 15" id="15"/>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6" id="16"/>
          <p:cNvGrpSpPr/>
          <p:nvPr/>
        </p:nvGrpSpPr>
        <p:grpSpPr>
          <a:xfrm rot="0">
            <a:off x="686333" y="9704232"/>
            <a:ext cx="8236039" cy="426091"/>
            <a:chOff x="0" y="0"/>
            <a:chExt cx="10981385" cy="568122"/>
          </a:xfrm>
        </p:grpSpPr>
        <p:sp>
          <p:nvSpPr>
            <p:cNvPr name="Freeform 17" id="17"/>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8" id="18"/>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9" id="19"/>
          <p:cNvGrpSpPr/>
          <p:nvPr/>
        </p:nvGrpSpPr>
        <p:grpSpPr>
          <a:xfrm rot="0">
            <a:off x="16242830" y="9718519"/>
            <a:ext cx="1372676" cy="411804"/>
            <a:chOff x="0" y="0"/>
            <a:chExt cx="1830235" cy="549072"/>
          </a:xfrm>
        </p:grpSpPr>
        <p:sp>
          <p:nvSpPr>
            <p:cNvPr name="Freeform 20" id="20"/>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grpSp>
        <p:nvGrpSpPr>
          <p:cNvPr name="Group 21" id="21"/>
          <p:cNvGrpSpPr/>
          <p:nvPr/>
        </p:nvGrpSpPr>
        <p:grpSpPr>
          <a:xfrm rot="0">
            <a:off x="4440726" y="1834353"/>
            <a:ext cx="8162544" cy="7666130"/>
            <a:chOff x="0" y="0"/>
            <a:chExt cx="10883392" cy="10221506"/>
          </a:xfrm>
        </p:grpSpPr>
        <p:sp>
          <p:nvSpPr>
            <p:cNvPr name="Freeform 22" id="22"/>
            <p:cNvSpPr/>
            <p:nvPr/>
          </p:nvSpPr>
          <p:spPr>
            <a:xfrm flipH="false" flipV="false" rot="0">
              <a:off x="0" y="0"/>
              <a:ext cx="10883392" cy="10221468"/>
            </a:xfrm>
            <a:custGeom>
              <a:avLst/>
              <a:gdLst/>
              <a:ahLst/>
              <a:cxnLst/>
              <a:rect r="r" b="b" t="t" l="l"/>
              <a:pathLst>
                <a:path h="10221468" w="10883392">
                  <a:moveTo>
                    <a:pt x="0" y="0"/>
                  </a:moveTo>
                  <a:lnTo>
                    <a:pt x="10883392" y="0"/>
                  </a:lnTo>
                  <a:lnTo>
                    <a:pt x="10883392" y="10221468"/>
                  </a:lnTo>
                  <a:lnTo>
                    <a:pt x="0" y="10221468"/>
                  </a:lnTo>
                  <a:lnTo>
                    <a:pt x="0" y="0"/>
                  </a:lnTo>
                  <a:close/>
                </a:path>
              </a:pathLst>
            </a:custGeom>
            <a:blipFill>
              <a:blip r:embed="rId5"/>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3" y="0"/>
            <a:ext cx="18287998" cy="10287000"/>
            <a:chOff x="0" y="0"/>
            <a:chExt cx="43349329" cy="24384000"/>
          </a:xfrm>
        </p:grpSpPr>
        <p:sp>
          <p:nvSpPr>
            <p:cNvPr name="Freeform 3" id="3"/>
            <p:cNvSpPr/>
            <p:nvPr/>
          </p:nvSpPr>
          <p:spPr>
            <a:xfrm flipH="false" flipV="false" rot="0">
              <a:off x="0" y="0"/>
              <a:ext cx="43349292" cy="24384000"/>
            </a:xfrm>
            <a:custGeom>
              <a:avLst/>
              <a:gdLst/>
              <a:ahLst/>
              <a:cxnLst/>
              <a:rect r="r" b="b" t="t" l="l"/>
              <a:pathLst>
                <a:path h="24384000" w="43349292">
                  <a:moveTo>
                    <a:pt x="0" y="0"/>
                  </a:moveTo>
                  <a:lnTo>
                    <a:pt x="43349292" y="0"/>
                  </a:lnTo>
                  <a:lnTo>
                    <a:pt x="43349292" y="24384000"/>
                  </a:lnTo>
                  <a:lnTo>
                    <a:pt x="0" y="24384000"/>
                  </a:lnTo>
                  <a:lnTo>
                    <a:pt x="0" y="0"/>
                  </a:lnTo>
                  <a:close/>
                </a:path>
              </a:pathLst>
            </a:custGeom>
            <a:blipFill>
              <a:blip r:embed="rId2"/>
              <a:stretch>
                <a:fillRect l="0" t="0" r="0"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686333" y="643471"/>
            <a:ext cx="1784471" cy="1495408"/>
            <a:chOff x="0" y="0"/>
            <a:chExt cx="2379294" cy="1993877"/>
          </a:xfrm>
        </p:grpSpPr>
        <p:sp>
          <p:nvSpPr>
            <p:cNvPr name="Freeform 7" id="7"/>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4">
                <a:alphaModFix amt="0"/>
              </a:blip>
              <a:stretch>
                <a:fillRect l="-41907" t="0" r="-41907" b="14520"/>
              </a:stretch>
            </a:blipFill>
          </p:spPr>
        </p:sp>
        <p:sp>
          <p:nvSpPr>
            <p:cNvPr name="TextBox 8" id="8"/>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9" id="9"/>
          <p:cNvGrpSpPr/>
          <p:nvPr/>
        </p:nvGrpSpPr>
        <p:grpSpPr>
          <a:xfrm rot="0">
            <a:off x="2127647" y="796147"/>
            <a:ext cx="15099392" cy="1235412"/>
            <a:chOff x="0" y="0"/>
            <a:chExt cx="20132523" cy="1647215"/>
          </a:xfrm>
        </p:grpSpPr>
        <p:sp>
          <p:nvSpPr>
            <p:cNvPr name="Freeform 10" id="10"/>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3">
                <a:alphaModFix amt="0"/>
              </a:blip>
              <a:stretch>
                <a:fillRect l="0" t="-187986" r="0" b="-187987"/>
              </a:stretch>
            </a:blipFill>
          </p:spPr>
        </p:sp>
      </p:grpSp>
      <p:grpSp>
        <p:nvGrpSpPr>
          <p:cNvPr name="Group 11" id="11"/>
          <p:cNvGrpSpPr/>
          <p:nvPr/>
        </p:nvGrpSpPr>
        <p:grpSpPr>
          <a:xfrm rot="0">
            <a:off x="488102" y="382966"/>
            <a:ext cx="15099392" cy="1256836"/>
            <a:chOff x="0" y="0"/>
            <a:chExt cx="20132523" cy="1675782"/>
          </a:xfrm>
        </p:grpSpPr>
        <p:sp>
          <p:nvSpPr>
            <p:cNvPr name="Freeform 12" id="12"/>
            <p:cNvSpPr/>
            <p:nvPr/>
          </p:nvSpPr>
          <p:spPr>
            <a:xfrm flipH="false" flipV="false" rot="0">
              <a:off x="0" y="0"/>
              <a:ext cx="20132523" cy="1675786"/>
            </a:xfrm>
            <a:custGeom>
              <a:avLst/>
              <a:gdLst/>
              <a:ahLst/>
              <a:cxnLst/>
              <a:rect r="r" b="b" t="t" l="l"/>
              <a:pathLst>
                <a:path h="1675786" w="20132523">
                  <a:moveTo>
                    <a:pt x="0" y="0"/>
                  </a:moveTo>
                  <a:lnTo>
                    <a:pt x="20132523" y="0"/>
                  </a:lnTo>
                  <a:lnTo>
                    <a:pt x="20132523" y="1675786"/>
                  </a:lnTo>
                  <a:lnTo>
                    <a:pt x="0" y="1675786"/>
                  </a:lnTo>
                  <a:close/>
                </a:path>
              </a:pathLst>
            </a:custGeom>
            <a:blipFill>
              <a:blip r:embed="rId4">
                <a:alphaModFix amt="0"/>
              </a:blip>
              <a:stretch>
                <a:fillRect l="0" t="-184089" r="0" b="-184088"/>
              </a:stretch>
            </a:blipFill>
          </p:spPr>
        </p:sp>
        <p:sp>
          <p:nvSpPr>
            <p:cNvPr name="TextBox 13" id="13"/>
            <p:cNvSpPr txBox="true"/>
            <p:nvPr/>
          </p:nvSpPr>
          <p:spPr>
            <a:xfrm>
              <a:off x="0" y="-28575"/>
              <a:ext cx="20132523" cy="1704357"/>
            </a:xfrm>
            <a:prstGeom prst="rect">
              <a:avLst/>
            </a:prstGeom>
          </p:spPr>
          <p:txBody>
            <a:bodyPr anchor="ctr" rtlCol="false" tIns="0" lIns="0" bIns="0" rIns="0"/>
            <a:lstStyle/>
            <a:p>
              <a:pPr algn="l">
                <a:lnSpc>
                  <a:spcPts val="3962"/>
                </a:lnSpc>
              </a:pPr>
              <a:r>
                <a:rPr lang="en-US" sz="3302" b="true">
                  <a:solidFill>
                    <a:srgbClr val="000000"/>
                  </a:solidFill>
                  <a:latin typeface="Poppins Bold"/>
                  <a:ea typeface="Poppins Bold"/>
                  <a:cs typeface="Poppins Bold"/>
                  <a:sym typeface="Poppins Bold"/>
                </a:rPr>
                <a:t>Implementation : Authentication </a:t>
              </a:r>
            </a:p>
          </p:txBody>
        </p:sp>
      </p:grpSp>
      <p:grpSp>
        <p:nvGrpSpPr>
          <p:cNvPr name="Group 14" id="14"/>
          <p:cNvGrpSpPr/>
          <p:nvPr/>
        </p:nvGrpSpPr>
        <p:grpSpPr>
          <a:xfrm rot="0">
            <a:off x="9540069" y="2759069"/>
            <a:ext cx="7481068" cy="439255"/>
            <a:chOff x="0" y="0"/>
            <a:chExt cx="9974758" cy="585673"/>
          </a:xfrm>
        </p:grpSpPr>
        <p:sp>
          <p:nvSpPr>
            <p:cNvPr name="Freeform 15" id="15"/>
            <p:cNvSpPr/>
            <p:nvPr/>
          </p:nvSpPr>
          <p:spPr>
            <a:xfrm flipH="false" flipV="false" rot="0">
              <a:off x="0" y="0"/>
              <a:ext cx="9974707" cy="585724"/>
            </a:xfrm>
            <a:custGeom>
              <a:avLst/>
              <a:gdLst/>
              <a:ahLst/>
              <a:cxnLst/>
              <a:rect r="r" b="b" t="t" l="l"/>
              <a:pathLst>
                <a:path h="585724" w="9974707">
                  <a:moveTo>
                    <a:pt x="0" y="0"/>
                  </a:moveTo>
                  <a:lnTo>
                    <a:pt x="9974707" y="0"/>
                  </a:lnTo>
                  <a:lnTo>
                    <a:pt x="9974707" y="585724"/>
                  </a:lnTo>
                  <a:lnTo>
                    <a:pt x="0" y="585724"/>
                  </a:lnTo>
                  <a:close/>
                </a:path>
              </a:pathLst>
            </a:custGeom>
            <a:blipFill>
              <a:blip r:embed="rId3">
                <a:alphaModFix amt="0"/>
              </a:blip>
              <a:stretch>
                <a:fillRect l="0" t="-281600" r="0" b="-281589"/>
              </a:stretch>
            </a:blipFill>
          </p:spPr>
        </p:sp>
      </p:grpSp>
      <p:grpSp>
        <p:nvGrpSpPr>
          <p:cNvPr name="Group 16" id="16"/>
          <p:cNvGrpSpPr/>
          <p:nvPr/>
        </p:nvGrpSpPr>
        <p:grpSpPr>
          <a:xfrm rot="0">
            <a:off x="686333" y="9718519"/>
            <a:ext cx="8236039" cy="411804"/>
            <a:chOff x="0" y="0"/>
            <a:chExt cx="10981385" cy="549072"/>
          </a:xfrm>
        </p:grpSpPr>
        <p:sp>
          <p:nvSpPr>
            <p:cNvPr name="Freeform 17" id="17"/>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8" id="18"/>
          <p:cNvGrpSpPr/>
          <p:nvPr/>
        </p:nvGrpSpPr>
        <p:grpSpPr>
          <a:xfrm rot="0">
            <a:off x="686333" y="9704232"/>
            <a:ext cx="8236039" cy="426091"/>
            <a:chOff x="0" y="0"/>
            <a:chExt cx="10981385" cy="568122"/>
          </a:xfrm>
        </p:grpSpPr>
        <p:sp>
          <p:nvSpPr>
            <p:cNvPr name="Freeform 19" id="19"/>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20" id="20"/>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21" id="21"/>
          <p:cNvGrpSpPr/>
          <p:nvPr/>
        </p:nvGrpSpPr>
        <p:grpSpPr>
          <a:xfrm rot="0">
            <a:off x="16242830" y="9718519"/>
            <a:ext cx="1372676" cy="411804"/>
            <a:chOff x="0" y="0"/>
            <a:chExt cx="1830235" cy="549072"/>
          </a:xfrm>
        </p:grpSpPr>
        <p:sp>
          <p:nvSpPr>
            <p:cNvPr name="Freeform 22" id="22"/>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grpSp>
        <p:nvGrpSpPr>
          <p:cNvPr name="Group 23" id="23"/>
          <p:cNvGrpSpPr/>
          <p:nvPr/>
        </p:nvGrpSpPr>
        <p:grpSpPr>
          <a:xfrm rot="0">
            <a:off x="254034" y="1921735"/>
            <a:ext cx="10324141" cy="5435845"/>
            <a:chOff x="0" y="0"/>
            <a:chExt cx="6827520" cy="3594811"/>
          </a:xfrm>
        </p:grpSpPr>
        <p:sp>
          <p:nvSpPr>
            <p:cNvPr name="Freeform 24" id="24" descr="auth_register.png"/>
            <p:cNvSpPr/>
            <p:nvPr/>
          </p:nvSpPr>
          <p:spPr>
            <a:xfrm flipH="false" flipV="false" rot="0">
              <a:off x="0" y="0"/>
              <a:ext cx="6827520" cy="3594862"/>
            </a:xfrm>
            <a:custGeom>
              <a:avLst/>
              <a:gdLst/>
              <a:ahLst/>
              <a:cxnLst/>
              <a:rect r="r" b="b" t="t" l="l"/>
              <a:pathLst>
                <a:path h="3594862" w="6827520">
                  <a:moveTo>
                    <a:pt x="0" y="0"/>
                  </a:moveTo>
                  <a:lnTo>
                    <a:pt x="6827520" y="0"/>
                  </a:lnTo>
                  <a:lnTo>
                    <a:pt x="6827520" y="3594862"/>
                  </a:lnTo>
                  <a:lnTo>
                    <a:pt x="0" y="3594862"/>
                  </a:lnTo>
                  <a:lnTo>
                    <a:pt x="0" y="0"/>
                  </a:lnTo>
                  <a:close/>
                </a:path>
              </a:pathLst>
            </a:custGeom>
            <a:blipFill>
              <a:blip r:embed="rId5"/>
              <a:stretch>
                <a:fillRect l="0" t="0" r="0" b="1"/>
              </a:stretch>
            </a:blipFill>
          </p:spPr>
        </p:sp>
      </p:grpSp>
      <p:grpSp>
        <p:nvGrpSpPr>
          <p:cNvPr name="Group 25" id="25"/>
          <p:cNvGrpSpPr/>
          <p:nvPr/>
        </p:nvGrpSpPr>
        <p:grpSpPr>
          <a:xfrm rot="0">
            <a:off x="10804778" y="326169"/>
            <a:ext cx="6010457" cy="4176356"/>
            <a:chOff x="0" y="0"/>
            <a:chExt cx="6461434" cy="4489717"/>
          </a:xfrm>
        </p:grpSpPr>
        <p:sp>
          <p:nvSpPr>
            <p:cNvPr name="Freeform 26" id="26" descr="auth_login.png"/>
            <p:cNvSpPr/>
            <p:nvPr/>
          </p:nvSpPr>
          <p:spPr>
            <a:xfrm flipH="false" flipV="false" rot="0">
              <a:off x="0" y="0"/>
              <a:ext cx="6461434" cy="4489704"/>
            </a:xfrm>
            <a:custGeom>
              <a:avLst/>
              <a:gdLst/>
              <a:ahLst/>
              <a:cxnLst/>
              <a:rect r="r" b="b" t="t" l="l"/>
              <a:pathLst>
                <a:path h="4489704" w="6461434">
                  <a:moveTo>
                    <a:pt x="0" y="0"/>
                  </a:moveTo>
                  <a:lnTo>
                    <a:pt x="6461434" y="0"/>
                  </a:lnTo>
                  <a:lnTo>
                    <a:pt x="6461434" y="4489704"/>
                  </a:lnTo>
                  <a:lnTo>
                    <a:pt x="0" y="4489704"/>
                  </a:lnTo>
                  <a:lnTo>
                    <a:pt x="0" y="0"/>
                  </a:lnTo>
                  <a:close/>
                </a:path>
              </a:pathLst>
            </a:custGeom>
            <a:blipFill>
              <a:blip r:embed="rId6"/>
              <a:stretch>
                <a:fillRect l="-2832" t="0" r="-2832" b="0"/>
              </a:stretch>
            </a:blipFill>
          </p:spPr>
        </p:sp>
      </p:grpSp>
      <p:sp>
        <p:nvSpPr>
          <p:cNvPr name="Freeform 27" id="27"/>
          <p:cNvSpPr/>
          <p:nvPr/>
        </p:nvSpPr>
        <p:spPr>
          <a:xfrm flipH="false" flipV="false" rot="0">
            <a:off x="10804778" y="4779370"/>
            <a:ext cx="7357472" cy="4461593"/>
          </a:xfrm>
          <a:custGeom>
            <a:avLst/>
            <a:gdLst/>
            <a:ahLst/>
            <a:cxnLst/>
            <a:rect r="r" b="b" t="t" l="l"/>
            <a:pathLst>
              <a:path h="4461593" w="7357472">
                <a:moveTo>
                  <a:pt x="0" y="0"/>
                </a:moveTo>
                <a:lnTo>
                  <a:pt x="7357472" y="0"/>
                </a:lnTo>
                <a:lnTo>
                  <a:pt x="7357472" y="4461593"/>
                </a:lnTo>
                <a:lnTo>
                  <a:pt x="0" y="4461593"/>
                </a:lnTo>
                <a:lnTo>
                  <a:pt x="0" y="0"/>
                </a:lnTo>
                <a:close/>
              </a:path>
            </a:pathLst>
          </a:custGeom>
          <a:blipFill>
            <a:blip r:embed="rId7"/>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686333" y="643471"/>
            <a:ext cx="1784471" cy="1495408"/>
            <a:chOff x="0" y="0"/>
            <a:chExt cx="2379294" cy="1993877"/>
          </a:xfrm>
        </p:grpSpPr>
        <p:sp>
          <p:nvSpPr>
            <p:cNvPr name="Freeform 7" id="7"/>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4">
                <a:alphaModFix amt="0"/>
              </a:blip>
              <a:stretch>
                <a:fillRect l="-41907" t="0" r="-41907" b="14520"/>
              </a:stretch>
            </a:blipFill>
          </p:spPr>
        </p:sp>
        <p:sp>
          <p:nvSpPr>
            <p:cNvPr name="TextBox 8" id="8"/>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9" id="9"/>
          <p:cNvGrpSpPr/>
          <p:nvPr/>
        </p:nvGrpSpPr>
        <p:grpSpPr>
          <a:xfrm rot="0">
            <a:off x="2127647" y="796147"/>
            <a:ext cx="15099392" cy="1235412"/>
            <a:chOff x="0" y="0"/>
            <a:chExt cx="20132523" cy="1647215"/>
          </a:xfrm>
        </p:grpSpPr>
        <p:sp>
          <p:nvSpPr>
            <p:cNvPr name="Freeform 10" id="10"/>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3">
                <a:alphaModFix amt="0"/>
              </a:blip>
              <a:stretch>
                <a:fillRect l="0" t="-187986" r="0" b="-187987"/>
              </a:stretch>
            </a:blipFill>
          </p:spPr>
        </p:sp>
      </p:grpSp>
      <p:grpSp>
        <p:nvGrpSpPr>
          <p:cNvPr name="Group 11" id="11"/>
          <p:cNvGrpSpPr/>
          <p:nvPr/>
        </p:nvGrpSpPr>
        <p:grpSpPr>
          <a:xfrm rot="0">
            <a:off x="415556" y="281401"/>
            <a:ext cx="15099392" cy="1256836"/>
            <a:chOff x="0" y="0"/>
            <a:chExt cx="20132523" cy="1675782"/>
          </a:xfrm>
        </p:grpSpPr>
        <p:sp>
          <p:nvSpPr>
            <p:cNvPr name="Freeform 12" id="12"/>
            <p:cNvSpPr/>
            <p:nvPr/>
          </p:nvSpPr>
          <p:spPr>
            <a:xfrm flipH="false" flipV="false" rot="0">
              <a:off x="0" y="0"/>
              <a:ext cx="20132523" cy="1675786"/>
            </a:xfrm>
            <a:custGeom>
              <a:avLst/>
              <a:gdLst/>
              <a:ahLst/>
              <a:cxnLst/>
              <a:rect r="r" b="b" t="t" l="l"/>
              <a:pathLst>
                <a:path h="1675786" w="20132523">
                  <a:moveTo>
                    <a:pt x="0" y="0"/>
                  </a:moveTo>
                  <a:lnTo>
                    <a:pt x="20132523" y="0"/>
                  </a:lnTo>
                  <a:lnTo>
                    <a:pt x="20132523" y="1675786"/>
                  </a:lnTo>
                  <a:lnTo>
                    <a:pt x="0" y="1675786"/>
                  </a:lnTo>
                  <a:close/>
                </a:path>
              </a:pathLst>
            </a:custGeom>
            <a:blipFill>
              <a:blip r:embed="rId4">
                <a:alphaModFix amt="0"/>
              </a:blip>
              <a:stretch>
                <a:fillRect l="0" t="-184089" r="0" b="-184088"/>
              </a:stretch>
            </a:blipFill>
          </p:spPr>
        </p:sp>
        <p:sp>
          <p:nvSpPr>
            <p:cNvPr name="TextBox 13" id="13"/>
            <p:cNvSpPr txBox="true"/>
            <p:nvPr/>
          </p:nvSpPr>
          <p:spPr>
            <a:xfrm>
              <a:off x="0" y="-28575"/>
              <a:ext cx="20132523" cy="1704357"/>
            </a:xfrm>
            <a:prstGeom prst="rect">
              <a:avLst/>
            </a:prstGeom>
          </p:spPr>
          <p:txBody>
            <a:bodyPr anchor="ctr" rtlCol="false" tIns="0" lIns="0" bIns="0" rIns="0"/>
            <a:lstStyle/>
            <a:p>
              <a:pPr algn="l">
                <a:lnSpc>
                  <a:spcPts val="3962"/>
                </a:lnSpc>
              </a:pPr>
              <a:r>
                <a:rPr lang="en-US" sz="3302" b="true">
                  <a:solidFill>
                    <a:srgbClr val="000000"/>
                  </a:solidFill>
                  <a:latin typeface="Poppins Bold"/>
                  <a:ea typeface="Poppins Bold"/>
                  <a:cs typeface="Poppins Bold"/>
                  <a:sym typeface="Poppins Bold"/>
                </a:rPr>
                <a:t>Implementation : Registration Email</a:t>
              </a:r>
            </a:p>
          </p:txBody>
        </p:sp>
      </p:grpSp>
      <p:grpSp>
        <p:nvGrpSpPr>
          <p:cNvPr name="Group 14" id="14"/>
          <p:cNvGrpSpPr/>
          <p:nvPr/>
        </p:nvGrpSpPr>
        <p:grpSpPr>
          <a:xfrm rot="0">
            <a:off x="9540069" y="2759069"/>
            <a:ext cx="7481068" cy="439255"/>
            <a:chOff x="0" y="0"/>
            <a:chExt cx="9974758" cy="585673"/>
          </a:xfrm>
        </p:grpSpPr>
        <p:sp>
          <p:nvSpPr>
            <p:cNvPr name="Freeform 15" id="15"/>
            <p:cNvSpPr/>
            <p:nvPr/>
          </p:nvSpPr>
          <p:spPr>
            <a:xfrm flipH="false" flipV="false" rot="0">
              <a:off x="0" y="0"/>
              <a:ext cx="9974707" cy="585724"/>
            </a:xfrm>
            <a:custGeom>
              <a:avLst/>
              <a:gdLst/>
              <a:ahLst/>
              <a:cxnLst/>
              <a:rect r="r" b="b" t="t" l="l"/>
              <a:pathLst>
                <a:path h="585724" w="9974707">
                  <a:moveTo>
                    <a:pt x="0" y="0"/>
                  </a:moveTo>
                  <a:lnTo>
                    <a:pt x="9974707" y="0"/>
                  </a:lnTo>
                  <a:lnTo>
                    <a:pt x="9974707" y="585724"/>
                  </a:lnTo>
                  <a:lnTo>
                    <a:pt x="0" y="585724"/>
                  </a:lnTo>
                  <a:close/>
                </a:path>
              </a:pathLst>
            </a:custGeom>
            <a:blipFill>
              <a:blip r:embed="rId3">
                <a:alphaModFix amt="0"/>
              </a:blip>
              <a:stretch>
                <a:fillRect l="0" t="-281600" r="0" b="-281589"/>
              </a:stretch>
            </a:blipFill>
          </p:spPr>
        </p:sp>
      </p:grpSp>
      <p:grpSp>
        <p:nvGrpSpPr>
          <p:cNvPr name="Group 16" id="16"/>
          <p:cNvGrpSpPr/>
          <p:nvPr/>
        </p:nvGrpSpPr>
        <p:grpSpPr>
          <a:xfrm rot="0">
            <a:off x="686333" y="9718519"/>
            <a:ext cx="8236039" cy="411804"/>
            <a:chOff x="0" y="0"/>
            <a:chExt cx="10981385" cy="549072"/>
          </a:xfrm>
        </p:grpSpPr>
        <p:sp>
          <p:nvSpPr>
            <p:cNvPr name="Freeform 17" id="17"/>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8" id="18"/>
          <p:cNvGrpSpPr/>
          <p:nvPr/>
        </p:nvGrpSpPr>
        <p:grpSpPr>
          <a:xfrm rot="0">
            <a:off x="686333" y="9704232"/>
            <a:ext cx="8236039" cy="426091"/>
            <a:chOff x="0" y="0"/>
            <a:chExt cx="10981385" cy="568122"/>
          </a:xfrm>
        </p:grpSpPr>
        <p:sp>
          <p:nvSpPr>
            <p:cNvPr name="Freeform 19" id="19"/>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20" id="20"/>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21" id="21"/>
          <p:cNvGrpSpPr/>
          <p:nvPr/>
        </p:nvGrpSpPr>
        <p:grpSpPr>
          <a:xfrm rot="0">
            <a:off x="16242830" y="9718519"/>
            <a:ext cx="1372676" cy="411804"/>
            <a:chOff x="0" y="0"/>
            <a:chExt cx="1830235" cy="549072"/>
          </a:xfrm>
        </p:grpSpPr>
        <p:sp>
          <p:nvSpPr>
            <p:cNvPr name="Freeform 22" id="22"/>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sp>
        <p:nvSpPr>
          <p:cNvPr name="Freeform 23" id="23"/>
          <p:cNvSpPr/>
          <p:nvPr/>
        </p:nvSpPr>
        <p:spPr>
          <a:xfrm flipH="false" flipV="false" rot="0">
            <a:off x="1634391" y="1786469"/>
            <a:ext cx="5533679" cy="7259893"/>
          </a:xfrm>
          <a:custGeom>
            <a:avLst/>
            <a:gdLst/>
            <a:ahLst/>
            <a:cxnLst/>
            <a:rect r="r" b="b" t="t" l="l"/>
            <a:pathLst>
              <a:path h="7259893" w="5533679">
                <a:moveTo>
                  <a:pt x="0" y="0"/>
                </a:moveTo>
                <a:lnTo>
                  <a:pt x="5533679" y="0"/>
                </a:lnTo>
                <a:lnTo>
                  <a:pt x="5533679" y="7259893"/>
                </a:lnTo>
                <a:lnTo>
                  <a:pt x="0" y="7259893"/>
                </a:lnTo>
                <a:lnTo>
                  <a:pt x="0" y="0"/>
                </a:lnTo>
                <a:close/>
              </a:path>
            </a:pathLst>
          </a:custGeom>
          <a:blipFill>
            <a:blip r:embed="rId5"/>
            <a:stretch>
              <a:fillRect l="0" t="0" r="0" b="0"/>
            </a:stretch>
          </a:blipFill>
        </p:spPr>
      </p:sp>
      <p:sp>
        <p:nvSpPr>
          <p:cNvPr name="Freeform 24" id="24"/>
          <p:cNvSpPr/>
          <p:nvPr/>
        </p:nvSpPr>
        <p:spPr>
          <a:xfrm flipH="false" flipV="false" rot="0">
            <a:off x="10805378" y="686333"/>
            <a:ext cx="5715516" cy="8484760"/>
          </a:xfrm>
          <a:custGeom>
            <a:avLst/>
            <a:gdLst/>
            <a:ahLst/>
            <a:cxnLst/>
            <a:rect r="r" b="b" t="t" l="l"/>
            <a:pathLst>
              <a:path h="8484760" w="5715516">
                <a:moveTo>
                  <a:pt x="0" y="0"/>
                </a:moveTo>
                <a:lnTo>
                  <a:pt x="5715516" y="0"/>
                </a:lnTo>
                <a:lnTo>
                  <a:pt x="5715516" y="8484760"/>
                </a:lnTo>
                <a:lnTo>
                  <a:pt x="0" y="8484760"/>
                </a:lnTo>
                <a:lnTo>
                  <a:pt x="0" y="0"/>
                </a:lnTo>
                <a:close/>
              </a:path>
            </a:pathLst>
          </a:custGeom>
          <a:blipFill>
            <a:blip r:embed="rId6"/>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5" y="689048"/>
            <a:ext cx="15838035" cy="8908904"/>
            <a:chOff x="0" y="0"/>
            <a:chExt cx="24383975"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395951" y="1045404"/>
            <a:ext cx="910688" cy="791903"/>
            <a:chOff x="0" y="0"/>
            <a:chExt cx="1402080" cy="1219200"/>
          </a:xfrm>
        </p:grpSpPr>
        <p:sp>
          <p:nvSpPr>
            <p:cNvPr name="Freeform 5" id="5"/>
            <p:cNvSpPr/>
            <p:nvPr/>
          </p:nvSpPr>
          <p:spPr>
            <a:xfrm flipH="false" flipV="false" rot="0">
              <a:off x="0" y="0"/>
              <a:ext cx="1402080" cy="1219200"/>
            </a:xfrm>
            <a:custGeom>
              <a:avLst/>
              <a:gdLst/>
              <a:ahLst/>
              <a:cxnLst/>
              <a:rect r="r" b="b" t="t" l="l"/>
              <a:pathLst>
                <a:path h="1219200" w="1402080">
                  <a:moveTo>
                    <a:pt x="0" y="0"/>
                  </a:moveTo>
                  <a:lnTo>
                    <a:pt x="1402080" y="0"/>
                  </a:lnTo>
                  <a:lnTo>
                    <a:pt x="1402080" y="1219200"/>
                  </a:lnTo>
                  <a:lnTo>
                    <a:pt x="0" y="1219200"/>
                  </a:lnTo>
                </a:path>
              </a:pathLst>
            </a:custGeom>
            <a:solidFill>
              <a:srgbClr val="FFFFFF"/>
            </a:solidFill>
          </p:spPr>
        </p:sp>
      </p:grpSp>
      <p:grpSp>
        <p:nvGrpSpPr>
          <p:cNvPr name="Group 6" id="6"/>
          <p:cNvGrpSpPr/>
          <p:nvPr/>
        </p:nvGrpSpPr>
        <p:grpSpPr>
          <a:xfrm rot="0">
            <a:off x="14333437" y="8726859"/>
            <a:ext cx="1029473" cy="514737"/>
            <a:chOff x="0" y="0"/>
            <a:chExt cx="1584960" cy="792480"/>
          </a:xfrm>
        </p:grpSpPr>
        <p:sp>
          <p:nvSpPr>
            <p:cNvPr name="Freeform 7" id="7"/>
            <p:cNvSpPr/>
            <p:nvPr/>
          </p:nvSpPr>
          <p:spPr>
            <a:xfrm flipH="false" flipV="false" rot="0">
              <a:off x="0" y="0"/>
              <a:ext cx="1584960" cy="792480"/>
            </a:xfrm>
            <a:custGeom>
              <a:avLst/>
              <a:gdLst/>
              <a:ahLst/>
              <a:cxnLst/>
              <a:rect r="r" b="b" t="t" l="l"/>
              <a:pathLst>
                <a:path h="792480" w="1584960">
                  <a:moveTo>
                    <a:pt x="0" y="0"/>
                  </a:moveTo>
                  <a:lnTo>
                    <a:pt x="1584960" y="0"/>
                  </a:lnTo>
                  <a:lnTo>
                    <a:pt x="1584960" y="792480"/>
                  </a:lnTo>
                  <a:lnTo>
                    <a:pt x="0" y="792480"/>
                  </a:lnTo>
                </a:path>
              </a:pathLst>
            </a:custGeom>
            <a:solidFill>
              <a:srgbClr val="FFFFFF"/>
            </a:solidFill>
          </p:spPr>
        </p:sp>
      </p:grpSp>
      <p:grpSp>
        <p:nvGrpSpPr>
          <p:cNvPr name="Group 8" id="8"/>
          <p:cNvGrpSpPr/>
          <p:nvPr/>
        </p:nvGrpSpPr>
        <p:grpSpPr>
          <a:xfrm rot="0">
            <a:off x="14595816" y="4638786"/>
            <a:ext cx="341898" cy="1485161"/>
            <a:chOff x="0" y="0"/>
            <a:chExt cx="238960" cy="1038011"/>
          </a:xfrm>
        </p:grpSpPr>
        <p:sp>
          <p:nvSpPr>
            <p:cNvPr name="Freeform 9" id="9"/>
            <p:cNvSpPr/>
            <p:nvPr/>
          </p:nvSpPr>
          <p:spPr>
            <a:xfrm flipH="false" flipV="false" rot="0">
              <a:off x="0" y="0"/>
              <a:ext cx="238960" cy="1038011"/>
            </a:xfrm>
            <a:custGeom>
              <a:avLst/>
              <a:gdLst/>
              <a:ahLst/>
              <a:cxnLst/>
              <a:rect r="r" b="b" t="t" l="l"/>
              <a:pathLst>
                <a:path h="1038011" w="238960">
                  <a:moveTo>
                    <a:pt x="0" y="0"/>
                  </a:moveTo>
                  <a:lnTo>
                    <a:pt x="238960" y="0"/>
                  </a:lnTo>
                  <a:lnTo>
                    <a:pt x="238960" y="1038011"/>
                  </a:lnTo>
                  <a:lnTo>
                    <a:pt x="0" y="1038011"/>
                  </a:lnTo>
                  <a:close/>
                </a:path>
              </a:pathLst>
            </a:custGeom>
            <a:blipFill>
              <a:blip r:embed="rId3">
                <a:alphaModFix amt="0"/>
              </a:blip>
              <a:stretch>
                <a:fillRect l="-200622" t="0" r="-223072" b="53017"/>
              </a:stretch>
            </a:blipFill>
          </p:spPr>
        </p:sp>
        <p:sp>
          <p:nvSpPr>
            <p:cNvPr name="TextBox 10" id="10"/>
            <p:cNvSpPr txBox="true"/>
            <p:nvPr/>
          </p:nvSpPr>
          <p:spPr>
            <a:xfrm>
              <a:off x="0" y="-19050"/>
              <a:ext cx="238960" cy="1057061"/>
            </a:xfrm>
            <a:prstGeom prst="rect">
              <a:avLst/>
            </a:prstGeom>
          </p:spPr>
          <p:txBody>
            <a:bodyPr anchor="ctr" rtlCol="false" tIns="0" lIns="0" bIns="0" rIns="0"/>
            <a:lstStyle/>
            <a:p>
              <a:pPr algn="ctr">
                <a:lnSpc>
                  <a:spcPts val="1964"/>
                </a:lnSpc>
              </a:pPr>
              <a:r>
                <a:rPr lang="en-US" sz="1558" b="true">
                  <a:solidFill>
                    <a:srgbClr val="737AE6"/>
                  </a:solidFill>
                  <a:latin typeface="Poppins Bold"/>
                  <a:ea typeface="Poppins Bold"/>
                  <a:cs typeface="Poppins Bold"/>
                  <a:sym typeface="Poppins Bold"/>
                </a:rPr>
                <a:t>›</a:t>
              </a:r>
            </a:p>
          </p:txBody>
        </p:sp>
      </p:grpSp>
      <p:grpSp>
        <p:nvGrpSpPr>
          <p:cNvPr name="Group 11" id="11"/>
          <p:cNvGrpSpPr/>
          <p:nvPr/>
        </p:nvGrpSpPr>
        <p:grpSpPr>
          <a:xfrm rot="0">
            <a:off x="15023439" y="2289739"/>
            <a:ext cx="2880438" cy="5929263"/>
            <a:chOff x="0" y="0"/>
            <a:chExt cx="4434675" cy="9128595"/>
          </a:xfrm>
        </p:grpSpPr>
        <p:sp>
          <p:nvSpPr>
            <p:cNvPr name="Freeform 12" id="12"/>
            <p:cNvSpPr/>
            <p:nvPr/>
          </p:nvSpPr>
          <p:spPr>
            <a:xfrm flipH="false" flipV="false" rot="0">
              <a:off x="0" y="0"/>
              <a:ext cx="4434586" cy="9128507"/>
            </a:xfrm>
            <a:custGeom>
              <a:avLst/>
              <a:gdLst/>
              <a:ahLst/>
              <a:cxnLst/>
              <a:rect r="r" b="b" t="t" l="l"/>
              <a:pathLst>
                <a:path h="9128507" w="4434586">
                  <a:moveTo>
                    <a:pt x="0" y="199517"/>
                  </a:moveTo>
                  <a:cubicBezTo>
                    <a:pt x="0" y="89408"/>
                    <a:pt x="89408" y="0"/>
                    <a:pt x="199517" y="0"/>
                  </a:cubicBezTo>
                  <a:lnTo>
                    <a:pt x="4235069" y="0"/>
                  </a:lnTo>
                  <a:cubicBezTo>
                    <a:pt x="4345305" y="0"/>
                    <a:pt x="4434586" y="89408"/>
                    <a:pt x="4434586" y="199517"/>
                  </a:cubicBezTo>
                  <a:lnTo>
                    <a:pt x="4434586" y="8928989"/>
                  </a:lnTo>
                  <a:cubicBezTo>
                    <a:pt x="4434586" y="9039225"/>
                    <a:pt x="4345178" y="9128506"/>
                    <a:pt x="4235069" y="9128506"/>
                  </a:cubicBezTo>
                  <a:lnTo>
                    <a:pt x="199517" y="9128506"/>
                  </a:lnTo>
                  <a:cubicBezTo>
                    <a:pt x="89408" y="9128633"/>
                    <a:pt x="0" y="9039225"/>
                    <a:pt x="0" y="8928989"/>
                  </a:cubicBezTo>
                  <a:close/>
                </a:path>
              </a:pathLst>
            </a:custGeom>
            <a:solidFill>
              <a:srgbClr val="FFFFFF"/>
            </a:solidFill>
            <a:ln w="9525" cap="sq">
              <a:solidFill>
                <a:srgbClr val="737AE6"/>
              </a:solidFill>
              <a:prstDash val="solid"/>
              <a:miter/>
            </a:ln>
          </p:spPr>
        </p:sp>
      </p:grpSp>
      <p:grpSp>
        <p:nvGrpSpPr>
          <p:cNvPr name="Group 13" id="13"/>
          <p:cNvGrpSpPr/>
          <p:nvPr/>
        </p:nvGrpSpPr>
        <p:grpSpPr>
          <a:xfrm rot="0">
            <a:off x="15236205" y="2502505"/>
            <a:ext cx="443465" cy="443465"/>
            <a:chOff x="0" y="0"/>
            <a:chExt cx="682752" cy="682752"/>
          </a:xfrm>
        </p:grpSpPr>
        <p:sp>
          <p:nvSpPr>
            <p:cNvPr name="Freeform 14" id="14"/>
            <p:cNvSpPr/>
            <p:nvPr/>
          </p:nvSpPr>
          <p:spPr>
            <a:xfrm flipH="false" flipV="false" rot="0">
              <a:off x="0" y="0"/>
              <a:ext cx="682752" cy="682752"/>
            </a:xfrm>
            <a:custGeom>
              <a:avLst/>
              <a:gdLst/>
              <a:ahLst/>
              <a:cxnLst/>
              <a:rect r="r" b="b" t="t" l="l"/>
              <a:pathLst>
                <a:path h="682752" w="682752">
                  <a:moveTo>
                    <a:pt x="0" y="191135"/>
                  </a:moveTo>
                  <a:cubicBezTo>
                    <a:pt x="0" y="85598"/>
                    <a:pt x="85598" y="0"/>
                    <a:pt x="191135" y="0"/>
                  </a:cubicBezTo>
                  <a:lnTo>
                    <a:pt x="491617" y="0"/>
                  </a:lnTo>
                  <a:cubicBezTo>
                    <a:pt x="597154" y="0"/>
                    <a:pt x="682752" y="85598"/>
                    <a:pt x="682752" y="191135"/>
                  </a:cubicBezTo>
                  <a:lnTo>
                    <a:pt x="682752" y="491617"/>
                  </a:lnTo>
                  <a:cubicBezTo>
                    <a:pt x="682752" y="597154"/>
                    <a:pt x="597154" y="682752"/>
                    <a:pt x="491617" y="682752"/>
                  </a:cubicBezTo>
                  <a:lnTo>
                    <a:pt x="191135" y="682752"/>
                  </a:lnTo>
                  <a:cubicBezTo>
                    <a:pt x="85598" y="682752"/>
                    <a:pt x="0" y="597154"/>
                    <a:pt x="0" y="491617"/>
                  </a:cubicBezTo>
                  <a:close/>
                </a:path>
              </a:pathLst>
            </a:custGeom>
            <a:solidFill>
              <a:srgbClr val="EEECFB"/>
            </a:solidFill>
          </p:spPr>
        </p:sp>
      </p:grpSp>
      <p:grpSp>
        <p:nvGrpSpPr>
          <p:cNvPr name="Group 15" id="15"/>
          <p:cNvGrpSpPr/>
          <p:nvPr/>
        </p:nvGrpSpPr>
        <p:grpSpPr>
          <a:xfrm rot="0">
            <a:off x="15236205" y="2502505"/>
            <a:ext cx="443465" cy="443465"/>
            <a:chOff x="0" y="0"/>
            <a:chExt cx="682752" cy="682752"/>
          </a:xfrm>
        </p:grpSpPr>
        <p:sp>
          <p:nvSpPr>
            <p:cNvPr name="Freeform 16" id="16"/>
            <p:cNvSpPr/>
            <p:nvPr/>
          </p:nvSpPr>
          <p:spPr>
            <a:xfrm flipH="false" flipV="false" rot="0">
              <a:off x="0" y="0"/>
              <a:ext cx="682752" cy="682752"/>
            </a:xfrm>
            <a:custGeom>
              <a:avLst/>
              <a:gdLst/>
              <a:ahLst/>
              <a:cxnLst/>
              <a:rect r="r" b="b" t="t" l="l"/>
              <a:pathLst>
                <a:path h="682752" w="682752">
                  <a:moveTo>
                    <a:pt x="0" y="0"/>
                  </a:moveTo>
                  <a:lnTo>
                    <a:pt x="682752" y="0"/>
                  </a:lnTo>
                  <a:lnTo>
                    <a:pt x="682752" y="682752"/>
                  </a:lnTo>
                  <a:lnTo>
                    <a:pt x="0" y="682752"/>
                  </a:lnTo>
                  <a:close/>
                </a:path>
              </a:pathLst>
            </a:custGeom>
            <a:blipFill>
              <a:blip r:embed="rId3">
                <a:alphaModFix amt="0"/>
              </a:blip>
              <a:stretch>
                <a:fillRect l="-78303" t="0" r="-78303" b="0"/>
              </a:stretch>
            </a:blipFill>
          </p:spPr>
        </p:sp>
        <p:sp>
          <p:nvSpPr>
            <p:cNvPr name="TextBox 17" id="17"/>
            <p:cNvSpPr txBox="true"/>
            <p:nvPr/>
          </p:nvSpPr>
          <p:spPr>
            <a:xfrm>
              <a:off x="0" y="-28575"/>
              <a:ext cx="682752" cy="711327"/>
            </a:xfrm>
            <a:prstGeom prst="rect">
              <a:avLst/>
            </a:prstGeom>
          </p:spPr>
          <p:txBody>
            <a:bodyPr anchor="ctr" rtlCol="false" tIns="0" lIns="0" bIns="0" rIns="0"/>
            <a:lstStyle/>
            <a:p>
              <a:pPr algn="ctr">
                <a:lnSpc>
                  <a:spcPts val="1309"/>
                </a:lnSpc>
              </a:pPr>
              <a:r>
                <a:rPr lang="en-US" sz="1039" b="true">
                  <a:solidFill>
                    <a:srgbClr val="737AE6"/>
                  </a:solidFill>
                  <a:latin typeface="Poppins Bold"/>
                  <a:ea typeface="Poppins Bold"/>
                  <a:cs typeface="Poppins Bold"/>
                  <a:sym typeface="Poppins Bold"/>
                </a:rPr>
                <a:t>SK</a:t>
              </a:r>
            </a:p>
          </p:txBody>
        </p:sp>
      </p:grpSp>
      <p:sp>
        <p:nvSpPr>
          <p:cNvPr name="TextBox 18" id="18"/>
          <p:cNvSpPr txBox="true"/>
          <p:nvPr/>
        </p:nvSpPr>
        <p:spPr>
          <a:xfrm rot="0">
            <a:off x="15790537" y="2477142"/>
            <a:ext cx="1900566" cy="445071"/>
          </a:xfrm>
          <a:prstGeom prst="rect">
            <a:avLst/>
          </a:prstGeom>
        </p:spPr>
        <p:txBody>
          <a:bodyPr anchor="t" rtlCol="false" tIns="0" lIns="0" bIns="0" rIns="0">
            <a:spAutoFit/>
          </a:bodyPr>
          <a:lstStyle/>
          <a:p>
            <a:pPr algn="l">
              <a:lnSpc>
                <a:spcPts val="1473"/>
              </a:lnSpc>
            </a:pPr>
            <a:r>
              <a:rPr lang="en-US" sz="1169" b="true">
                <a:solidFill>
                  <a:srgbClr val="222235"/>
                </a:solidFill>
                <a:latin typeface="Poppins Bold"/>
                <a:ea typeface="Poppins Bold"/>
                <a:cs typeface="Poppins Bold"/>
                <a:sym typeface="Poppins Bold"/>
              </a:rPr>
              <a:t>Skill Canonicalization</a:t>
            </a:r>
          </a:p>
        </p:txBody>
      </p:sp>
      <p:sp>
        <p:nvSpPr>
          <p:cNvPr name="TextBox 19" id="19"/>
          <p:cNvSpPr txBox="true"/>
          <p:nvPr/>
        </p:nvSpPr>
        <p:spPr>
          <a:xfrm rot="0">
            <a:off x="15790537" y="2850942"/>
            <a:ext cx="1900566" cy="237571"/>
          </a:xfrm>
          <a:prstGeom prst="rect">
            <a:avLst/>
          </a:prstGeom>
        </p:spPr>
        <p:txBody>
          <a:bodyPr anchor="t" rtlCol="false" tIns="0" lIns="0" bIns="0" rIns="0">
            <a:spAutoFit/>
          </a:bodyPr>
          <a:lstStyle/>
          <a:p>
            <a:pPr algn="l">
              <a:lnSpc>
                <a:spcPts val="1091"/>
              </a:lnSpc>
            </a:pPr>
            <a:r>
              <a:rPr lang="en-US" sz="866">
                <a:solidFill>
                  <a:srgbClr val="8A8FA3"/>
                </a:solidFill>
                <a:latin typeface="Poppins"/>
                <a:ea typeface="Poppins"/>
                <a:cs typeface="Poppins"/>
                <a:sym typeface="Poppins"/>
              </a:rPr>
              <a:t>Alias Resolution</a:t>
            </a:r>
          </a:p>
        </p:txBody>
      </p:sp>
      <p:grpSp>
        <p:nvGrpSpPr>
          <p:cNvPr name="Group 20" id="20"/>
          <p:cNvGrpSpPr/>
          <p:nvPr/>
        </p:nvGrpSpPr>
        <p:grpSpPr>
          <a:xfrm rot="0">
            <a:off x="15236205" y="3365679"/>
            <a:ext cx="2454898" cy="395951"/>
            <a:chOff x="0" y="0"/>
            <a:chExt cx="3779520" cy="609600"/>
          </a:xfrm>
        </p:grpSpPr>
        <p:sp>
          <p:nvSpPr>
            <p:cNvPr name="Freeform 21" id="21"/>
            <p:cNvSpPr/>
            <p:nvPr/>
          </p:nvSpPr>
          <p:spPr>
            <a:xfrm flipH="false" flipV="false" rot="0">
              <a:off x="0" y="0"/>
              <a:ext cx="3779520" cy="609600"/>
            </a:xfrm>
            <a:custGeom>
              <a:avLst/>
              <a:gdLst/>
              <a:ahLst/>
              <a:cxnLst/>
              <a:rect r="r" b="b" t="t" l="l"/>
              <a:pathLst>
                <a:path h="609600" w="3779520">
                  <a:moveTo>
                    <a:pt x="0" y="97536"/>
                  </a:moveTo>
                  <a:cubicBezTo>
                    <a:pt x="0" y="43688"/>
                    <a:pt x="43688" y="0"/>
                    <a:pt x="97536" y="0"/>
                  </a:cubicBezTo>
                  <a:lnTo>
                    <a:pt x="3681984" y="0"/>
                  </a:lnTo>
                  <a:cubicBezTo>
                    <a:pt x="3735832" y="0"/>
                    <a:pt x="3779520" y="43688"/>
                    <a:pt x="3779520" y="97536"/>
                  </a:cubicBezTo>
                  <a:lnTo>
                    <a:pt x="3779520" y="512064"/>
                  </a:lnTo>
                  <a:cubicBezTo>
                    <a:pt x="3779520" y="565912"/>
                    <a:pt x="3735832" y="609600"/>
                    <a:pt x="3681984" y="609600"/>
                  </a:cubicBezTo>
                  <a:lnTo>
                    <a:pt x="97536" y="609600"/>
                  </a:lnTo>
                  <a:cubicBezTo>
                    <a:pt x="43688" y="609600"/>
                    <a:pt x="0" y="565912"/>
                    <a:pt x="0" y="512064"/>
                  </a:cubicBezTo>
                  <a:close/>
                </a:path>
              </a:pathLst>
            </a:custGeom>
            <a:solidFill>
              <a:srgbClr val="EEECFB"/>
            </a:solidFill>
          </p:spPr>
        </p:sp>
      </p:grpSp>
      <p:grpSp>
        <p:nvGrpSpPr>
          <p:cNvPr name="Group 22" id="22"/>
          <p:cNvGrpSpPr/>
          <p:nvPr/>
        </p:nvGrpSpPr>
        <p:grpSpPr>
          <a:xfrm rot="0">
            <a:off x="15236205" y="3365679"/>
            <a:ext cx="2454898" cy="395951"/>
            <a:chOff x="0" y="0"/>
            <a:chExt cx="3779520" cy="609600"/>
          </a:xfrm>
        </p:grpSpPr>
        <p:sp>
          <p:nvSpPr>
            <p:cNvPr name="Freeform 23" id="23"/>
            <p:cNvSpPr/>
            <p:nvPr/>
          </p:nvSpPr>
          <p:spPr>
            <a:xfrm flipH="false" flipV="false" rot="0">
              <a:off x="0" y="0"/>
              <a:ext cx="3779520" cy="609600"/>
            </a:xfrm>
            <a:custGeom>
              <a:avLst/>
              <a:gdLst/>
              <a:ahLst/>
              <a:cxnLst/>
              <a:rect r="r" b="b" t="t" l="l"/>
              <a:pathLst>
                <a:path h="609600" w="3779520">
                  <a:moveTo>
                    <a:pt x="0" y="0"/>
                  </a:moveTo>
                  <a:lnTo>
                    <a:pt x="3779520" y="0"/>
                  </a:lnTo>
                  <a:lnTo>
                    <a:pt x="3779520" y="609600"/>
                  </a:lnTo>
                  <a:lnTo>
                    <a:pt x="0" y="609600"/>
                  </a:lnTo>
                  <a:close/>
                </a:path>
              </a:pathLst>
            </a:custGeom>
            <a:blipFill>
              <a:blip r:embed="rId3">
                <a:alphaModFix amt="0"/>
              </a:blip>
              <a:stretch>
                <a:fillRect l="0" t="-70807" r="0" b="-70807"/>
              </a:stretch>
            </a:blipFill>
          </p:spPr>
        </p:sp>
        <p:sp>
          <p:nvSpPr>
            <p:cNvPr name="TextBox 24" id="24"/>
            <p:cNvSpPr txBox="true"/>
            <p:nvPr/>
          </p:nvSpPr>
          <p:spPr>
            <a:xfrm>
              <a:off x="0" y="-9525"/>
              <a:ext cx="3779520" cy="619125"/>
            </a:xfrm>
            <a:prstGeom prst="rect">
              <a:avLst/>
            </a:prstGeom>
          </p:spPr>
          <p:txBody>
            <a:bodyPr anchor="ctr" rtlCol="false" tIns="0" lIns="0" bIns="0" rIns="0"/>
            <a:lstStyle/>
            <a:p>
              <a:pPr algn="ctr">
                <a:lnSpc>
                  <a:spcPts val="1145"/>
                </a:lnSpc>
              </a:pPr>
              <a:r>
                <a:rPr lang="en-US" sz="909" b="true">
                  <a:solidFill>
                    <a:srgbClr val="737AE6"/>
                  </a:solidFill>
                  <a:latin typeface="Poppins Bold"/>
                  <a:ea typeface="Poppins Bold"/>
                  <a:cs typeface="Poppins Bold"/>
                  <a:sym typeface="Poppins Bold"/>
                </a:rPr>
                <a:t>“K8s” </a:t>
              </a:r>
              <a:r>
                <a:rPr lang="en-US" sz="909">
                  <a:solidFill>
                    <a:srgbClr val="8A8FA3"/>
                  </a:solidFill>
                  <a:latin typeface="Poppins"/>
                  <a:ea typeface="Poppins"/>
                  <a:cs typeface="Poppins"/>
                  <a:sym typeface="Poppins"/>
                </a:rPr>
                <a:t>→ </a:t>
              </a:r>
              <a:r>
                <a:rPr lang="en-US" sz="909" b="true">
                  <a:solidFill>
                    <a:srgbClr val="737AE6"/>
                  </a:solidFill>
                  <a:latin typeface="Poppins Bold"/>
                  <a:ea typeface="Poppins Bold"/>
                  <a:cs typeface="Poppins Bold"/>
                  <a:sym typeface="Poppins Bold"/>
                </a:rPr>
                <a:t>“Kubernetes”</a:t>
              </a:r>
            </a:p>
          </p:txBody>
        </p:sp>
      </p:grpSp>
      <p:grpSp>
        <p:nvGrpSpPr>
          <p:cNvPr name="Group 25" id="25"/>
          <p:cNvGrpSpPr/>
          <p:nvPr/>
        </p:nvGrpSpPr>
        <p:grpSpPr>
          <a:xfrm rot="0">
            <a:off x="15236205" y="3975444"/>
            <a:ext cx="71271" cy="71271"/>
            <a:chOff x="0" y="0"/>
            <a:chExt cx="109728" cy="109728"/>
          </a:xfrm>
        </p:grpSpPr>
        <p:sp>
          <p:nvSpPr>
            <p:cNvPr name="Freeform 26" id="26"/>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37AE6"/>
            </a:solidFill>
          </p:spPr>
        </p:sp>
      </p:grpSp>
      <p:sp>
        <p:nvSpPr>
          <p:cNvPr name="TextBox 27" id="27"/>
          <p:cNvSpPr txBox="true"/>
          <p:nvPr/>
        </p:nvSpPr>
        <p:spPr>
          <a:xfrm rot="0">
            <a:off x="15394586" y="3872496"/>
            <a:ext cx="2296517" cy="395951"/>
          </a:xfrm>
          <a:prstGeom prst="rect">
            <a:avLst/>
          </a:prstGeom>
        </p:spPr>
        <p:txBody>
          <a:bodyPr anchor="t" rtlCol="false" tIns="0" lIns="0" bIns="0" rIns="0">
            <a:spAutoFit/>
          </a:bodyPr>
          <a:lstStyle/>
          <a:p>
            <a:pPr algn="l">
              <a:lnSpc>
                <a:spcPts val="1091"/>
              </a:lnSpc>
            </a:pPr>
            <a:r>
              <a:rPr lang="en-US" sz="866">
                <a:solidFill>
                  <a:srgbClr val="222235"/>
                </a:solidFill>
                <a:latin typeface="Poppins"/>
                <a:ea typeface="Poppins"/>
                <a:cs typeface="Poppins"/>
                <a:sym typeface="Poppins"/>
              </a:rPr>
              <a:t>Known alias → mapped to its canonical skill</a:t>
            </a:r>
          </a:p>
        </p:txBody>
      </p:sp>
      <p:grpSp>
        <p:nvGrpSpPr>
          <p:cNvPr name="Group 28" id="28"/>
          <p:cNvGrpSpPr/>
          <p:nvPr/>
        </p:nvGrpSpPr>
        <p:grpSpPr>
          <a:xfrm rot="0">
            <a:off x="15236205" y="4466423"/>
            <a:ext cx="71271" cy="71271"/>
            <a:chOff x="0" y="0"/>
            <a:chExt cx="109728" cy="109728"/>
          </a:xfrm>
        </p:grpSpPr>
        <p:sp>
          <p:nvSpPr>
            <p:cNvPr name="Freeform 29" id="29"/>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37AE6"/>
            </a:solidFill>
          </p:spPr>
        </p:sp>
      </p:grpSp>
      <p:sp>
        <p:nvSpPr>
          <p:cNvPr name="TextBox 30" id="30"/>
          <p:cNvSpPr txBox="true"/>
          <p:nvPr/>
        </p:nvSpPr>
        <p:spPr>
          <a:xfrm rot="0">
            <a:off x="15394586" y="4363476"/>
            <a:ext cx="2296517" cy="395951"/>
          </a:xfrm>
          <a:prstGeom prst="rect">
            <a:avLst/>
          </a:prstGeom>
        </p:spPr>
        <p:txBody>
          <a:bodyPr anchor="t" rtlCol="false" tIns="0" lIns="0" bIns="0" rIns="0">
            <a:spAutoFit/>
          </a:bodyPr>
          <a:lstStyle/>
          <a:p>
            <a:pPr algn="l">
              <a:lnSpc>
                <a:spcPts val="1091"/>
              </a:lnSpc>
            </a:pPr>
            <a:r>
              <a:rPr lang="en-US" sz="866">
                <a:solidFill>
                  <a:srgbClr val="222235"/>
                </a:solidFill>
                <a:latin typeface="Poppins"/>
                <a:ea typeface="Poppins"/>
                <a:cs typeface="Poppins"/>
                <a:sym typeface="Poppins"/>
              </a:rPr>
              <a:t>No match → created as pending, admin notified</a:t>
            </a:r>
          </a:p>
        </p:txBody>
      </p:sp>
      <p:grpSp>
        <p:nvGrpSpPr>
          <p:cNvPr name="Group 31" id="31"/>
          <p:cNvGrpSpPr/>
          <p:nvPr/>
        </p:nvGrpSpPr>
        <p:grpSpPr>
          <a:xfrm rot="0">
            <a:off x="15236205" y="4957403"/>
            <a:ext cx="71271" cy="71271"/>
            <a:chOff x="0" y="0"/>
            <a:chExt cx="109728" cy="109728"/>
          </a:xfrm>
        </p:grpSpPr>
        <p:sp>
          <p:nvSpPr>
            <p:cNvPr name="Freeform 32" id="32"/>
            <p:cNvSpPr/>
            <p:nvPr/>
          </p:nvSpPr>
          <p:spPr>
            <a:xfrm flipH="false" flipV="false" rot="0">
              <a:off x="0" y="0"/>
              <a:ext cx="109728" cy="109728"/>
            </a:xfrm>
            <a:custGeom>
              <a:avLst/>
              <a:gdLst/>
              <a:ahLst/>
              <a:cxnLst/>
              <a:rect r="r" b="b" t="t" l="l"/>
              <a:pathLst>
                <a:path h="109728" w="109728">
                  <a:moveTo>
                    <a:pt x="0" y="54864"/>
                  </a:moveTo>
                  <a:cubicBezTo>
                    <a:pt x="0" y="24511"/>
                    <a:pt x="24511" y="0"/>
                    <a:pt x="54864" y="0"/>
                  </a:cubicBezTo>
                  <a:cubicBezTo>
                    <a:pt x="85217" y="0"/>
                    <a:pt x="109728" y="24511"/>
                    <a:pt x="109728" y="54864"/>
                  </a:cubicBezTo>
                  <a:cubicBezTo>
                    <a:pt x="109728" y="85217"/>
                    <a:pt x="85217" y="109728"/>
                    <a:pt x="54864" y="109728"/>
                  </a:cubicBezTo>
                  <a:cubicBezTo>
                    <a:pt x="24511" y="109728"/>
                    <a:pt x="0" y="85217"/>
                    <a:pt x="0" y="54864"/>
                  </a:cubicBezTo>
                  <a:close/>
                </a:path>
              </a:pathLst>
            </a:custGeom>
            <a:solidFill>
              <a:srgbClr val="737AE6"/>
            </a:solidFill>
          </p:spPr>
        </p:sp>
      </p:grpSp>
      <p:sp>
        <p:nvSpPr>
          <p:cNvPr name="TextBox 33" id="33"/>
          <p:cNvSpPr txBox="true"/>
          <p:nvPr/>
        </p:nvSpPr>
        <p:spPr>
          <a:xfrm rot="0">
            <a:off x="15457938" y="4873727"/>
            <a:ext cx="2296517" cy="395951"/>
          </a:xfrm>
          <a:prstGeom prst="rect">
            <a:avLst/>
          </a:prstGeom>
        </p:spPr>
        <p:txBody>
          <a:bodyPr anchor="t" rtlCol="false" tIns="0" lIns="0" bIns="0" rIns="0">
            <a:spAutoFit/>
          </a:bodyPr>
          <a:lstStyle/>
          <a:p>
            <a:pPr algn="l">
              <a:lnSpc>
                <a:spcPts val="1091"/>
              </a:lnSpc>
            </a:pPr>
            <a:r>
              <a:rPr lang="en-US" sz="866">
                <a:solidFill>
                  <a:srgbClr val="222235"/>
                </a:solidFill>
                <a:latin typeface="Poppins"/>
                <a:ea typeface="Poppins"/>
                <a:cs typeface="Poppins"/>
                <a:sym typeface="Poppins"/>
              </a:rPr>
              <a:t>Approved → promoted to the skill catalog</a:t>
            </a:r>
          </a:p>
        </p:txBody>
      </p:sp>
      <p:grpSp>
        <p:nvGrpSpPr>
          <p:cNvPr name="Group 34" id="34"/>
          <p:cNvGrpSpPr/>
          <p:nvPr/>
        </p:nvGrpSpPr>
        <p:grpSpPr>
          <a:xfrm rot="0">
            <a:off x="15236205" y="7618196"/>
            <a:ext cx="2454898" cy="364275"/>
            <a:chOff x="0" y="0"/>
            <a:chExt cx="3779520" cy="560832"/>
          </a:xfrm>
        </p:grpSpPr>
        <p:sp>
          <p:nvSpPr>
            <p:cNvPr name="Freeform 35" id="35"/>
            <p:cNvSpPr/>
            <p:nvPr/>
          </p:nvSpPr>
          <p:spPr>
            <a:xfrm flipH="false" flipV="false" rot="0">
              <a:off x="0" y="0"/>
              <a:ext cx="3779520" cy="560832"/>
            </a:xfrm>
            <a:custGeom>
              <a:avLst/>
              <a:gdLst/>
              <a:ahLst/>
              <a:cxnLst/>
              <a:rect r="r" b="b" t="t" l="l"/>
              <a:pathLst>
                <a:path h="560832" w="3779520">
                  <a:moveTo>
                    <a:pt x="0" y="89789"/>
                  </a:moveTo>
                  <a:cubicBezTo>
                    <a:pt x="0" y="40132"/>
                    <a:pt x="40132" y="0"/>
                    <a:pt x="89789" y="0"/>
                  </a:cubicBezTo>
                  <a:lnTo>
                    <a:pt x="3689731" y="0"/>
                  </a:lnTo>
                  <a:cubicBezTo>
                    <a:pt x="3739261" y="0"/>
                    <a:pt x="3779520" y="40132"/>
                    <a:pt x="3779520" y="89789"/>
                  </a:cubicBezTo>
                  <a:lnTo>
                    <a:pt x="3779520" y="471043"/>
                  </a:lnTo>
                  <a:cubicBezTo>
                    <a:pt x="3779520" y="520573"/>
                    <a:pt x="3739388" y="560832"/>
                    <a:pt x="3689731" y="560832"/>
                  </a:cubicBezTo>
                  <a:lnTo>
                    <a:pt x="89789" y="560832"/>
                  </a:lnTo>
                  <a:cubicBezTo>
                    <a:pt x="40132" y="560832"/>
                    <a:pt x="0" y="520700"/>
                    <a:pt x="0" y="471043"/>
                  </a:cubicBezTo>
                  <a:close/>
                </a:path>
              </a:pathLst>
            </a:custGeom>
            <a:solidFill>
              <a:srgbClr val="737AE6"/>
            </a:solidFill>
          </p:spPr>
        </p:sp>
      </p:grpSp>
      <p:grpSp>
        <p:nvGrpSpPr>
          <p:cNvPr name="Group 36" id="36"/>
          <p:cNvGrpSpPr/>
          <p:nvPr/>
        </p:nvGrpSpPr>
        <p:grpSpPr>
          <a:xfrm rot="0">
            <a:off x="15236205" y="7618196"/>
            <a:ext cx="2454898" cy="364275"/>
            <a:chOff x="0" y="0"/>
            <a:chExt cx="3779520" cy="560832"/>
          </a:xfrm>
        </p:grpSpPr>
        <p:sp>
          <p:nvSpPr>
            <p:cNvPr name="Freeform 37" id="37"/>
            <p:cNvSpPr/>
            <p:nvPr/>
          </p:nvSpPr>
          <p:spPr>
            <a:xfrm flipH="false" flipV="false" rot="0">
              <a:off x="0" y="0"/>
              <a:ext cx="3779520" cy="560832"/>
            </a:xfrm>
            <a:custGeom>
              <a:avLst/>
              <a:gdLst/>
              <a:ahLst/>
              <a:cxnLst/>
              <a:rect r="r" b="b" t="t" l="l"/>
              <a:pathLst>
                <a:path h="560832" w="3779520">
                  <a:moveTo>
                    <a:pt x="0" y="0"/>
                  </a:moveTo>
                  <a:lnTo>
                    <a:pt x="3779520" y="0"/>
                  </a:lnTo>
                  <a:lnTo>
                    <a:pt x="3779520" y="560832"/>
                  </a:lnTo>
                  <a:lnTo>
                    <a:pt x="0" y="560832"/>
                  </a:lnTo>
                  <a:close/>
                </a:path>
              </a:pathLst>
            </a:custGeom>
            <a:blipFill>
              <a:blip r:embed="rId3">
                <a:alphaModFix amt="0"/>
              </a:blip>
              <a:stretch>
                <a:fillRect l="0" t="-81312" r="0" b="-81312"/>
              </a:stretch>
            </a:blipFill>
          </p:spPr>
        </p:sp>
        <p:sp>
          <p:nvSpPr>
            <p:cNvPr name="TextBox 38" id="38"/>
            <p:cNvSpPr txBox="true"/>
            <p:nvPr/>
          </p:nvSpPr>
          <p:spPr>
            <a:xfrm>
              <a:off x="0" y="0"/>
              <a:ext cx="3779520" cy="560832"/>
            </a:xfrm>
            <a:prstGeom prst="rect">
              <a:avLst/>
            </a:prstGeom>
          </p:spPr>
          <p:txBody>
            <a:bodyPr anchor="ctr" rtlCol="false" tIns="0" lIns="0" bIns="0" rIns="0"/>
            <a:lstStyle/>
            <a:p>
              <a:pPr algn="ctr">
                <a:lnSpc>
                  <a:spcPts val="1091"/>
                </a:lnSpc>
              </a:pPr>
              <a:r>
                <a:rPr lang="en-US" sz="866" b="true">
                  <a:solidFill>
                    <a:srgbClr val="FFFFFF"/>
                  </a:solidFill>
                  <a:latin typeface="Poppins Bold"/>
                  <a:ea typeface="Poppins Bold"/>
                  <a:cs typeface="Poppins Bold"/>
                  <a:sym typeface="Poppins Bold"/>
                </a:rPr>
                <a:t>One Skill, Every Time</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273749" y="8698769"/>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686333" y="643471"/>
            <a:ext cx="1784471" cy="1495408"/>
            <a:chOff x="0" y="0"/>
            <a:chExt cx="2379294" cy="1993877"/>
          </a:xfrm>
        </p:grpSpPr>
        <p:sp>
          <p:nvSpPr>
            <p:cNvPr name="Freeform 7" id="7"/>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4">
                <a:alphaModFix amt="0"/>
              </a:blip>
              <a:stretch>
                <a:fillRect l="-41907" t="0" r="-41907" b="14520"/>
              </a:stretch>
            </a:blipFill>
          </p:spPr>
        </p:sp>
        <p:sp>
          <p:nvSpPr>
            <p:cNvPr name="TextBox 8" id="8"/>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9" id="9"/>
          <p:cNvGrpSpPr/>
          <p:nvPr/>
        </p:nvGrpSpPr>
        <p:grpSpPr>
          <a:xfrm rot="0">
            <a:off x="2127647" y="796147"/>
            <a:ext cx="15099392" cy="1235412"/>
            <a:chOff x="0" y="0"/>
            <a:chExt cx="20132523" cy="1647215"/>
          </a:xfrm>
        </p:grpSpPr>
        <p:sp>
          <p:nvSpPr>
            <p:cNvPr name="Freeform 10" id="10"/>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3">
                <a:alphaModFix amt="0"/>
              </a:blip>
              <a:stretch>
                <a:fillRect l="0" t="-187986" r="0" b="-187987"/>
              </a:stretch>
            </a:blipFill>
          </p:spPr>
        </p:sp>
      </p:grpSp>
      <p:grpSp>
        <p:nvGrpSpPr>
          <p:cNvPr name="Group 11" id="11"/>
          <p:cNvGrpSpPr/>
          <p:nvPr/>
        </p:nvGrpSpPr>
        <p:grpSpPr>
          <a:xfrm rot="0">
            <a:off x="651224" y="276916"/>
            <a:ext cx="15099392" cy="1256833"/>
            <a:chOff x="0" y="0"/>
            <a:chExt cx="20132523" cy="1675778"/>
          </a:xfrm>
        </p:grpSpPr>
        <p:sp>
          <p:nvSpPr>
            <p:cNvPr name="Freeform 12" id="12"/>
            <p:cNvSpPr/>
            <p:nvPr/>
          </p:nvSpPr>
          <p:spPr>
            <a:xfrm flipH="false" flipV="false" rot="0">
              <a:off x="0" y="0"/>
              <a:ext cx="20132523" cy="1675782"/>
            </a:xfrm>
            <a:custGeom>
              <a:avLst/>
              <a:gdLst/>
              <a:ahLst/>
              <a:cxnLst/>
              <a:rect r="r" b="b" t="t" l="l"/>
              <a:pathLst>
                <a:path h="1675782" w="20132523">
                  <a:moveTo>
                    <a:pt x="0" y="0"/>
                  </a:moveTo>
                  <a:lnTo>
                    <a:pt x="20132523" y="0"/>
                  </a:lnTo>
                  <a:lnTo>
                    <a:pt x="20132523" y="1675782"/>
                  </a:lnTo>
                  <a:lnTo>
                    <a:pt x="0" y="1675782"/>
                  </a:lnTo>
                  <a:close/>
                </a:path>
              </a:pathLst>
            </a:custGeom>
            <a:blipFill>
              <a:blip r:embed="rId4">
                <a:alphaModFix amt="0"/>
              </a:blip>
              <a:stretch>
                <a:fillRect l="0" t="-184089" r="0" b="-184089"/>
              </a:stretch>
            </a:blipFill>
          </p:spPr>
        </p:sp>
        <p:sp>
          <p:nvSpPr>
            <p:cNvPr name="TextBox 13" id="13"/>
            <p:cNvSpPr txBox="true"/>
            <p:nvPr/>
          </p:nvSpPr>
          <p:spPr>
            <a:xfrm>
              <a:off x="0" y="-28575"/>
              <a:ext cx="20132523" cy="1704353"/>
            </a:xfrm>
            <a:prstGeom prst="rect">
              <a:avLst/>
            </a:prstGeom>
          </p:spPr>
          <p:txBody>
            <a:bodyPr anchor="ctr" rtlCol="false" tIns="0" lIns="0" bIns="0" rIns="0"/>
            <a:lstStyle/>
            <a:p>
              <a:pPr algn="l">
                <a:lnSpc>
                  <a:spcPts val="3962"/>
                </a:lnSpc>
              </a:pPr>
              <a:r>
                <a:rPr lang="en-US" sz="3302" b="true">
                  <a:solidFill>
                    <a:srgbClr val="000000"/>
                  </a:solidFill>
                  <a:latin typeface="Poppins Bold"/>
                  <a:ea typeface="Poppins Bold"/>
                  <a:cs typeface="Poppins Bold"/>
                  <a:sym typeface="Poppins Bold"/>
                </a:rPr>
                <a:t>Implementation : Candidate Experience</a:t>
              </a:r>
            </a:p>
          </p:txBody>
        </p:sp>
      </p:grpSp>
      <p:grpSp>
        <p:nvGrpSpPr>
          <p:cNvPr name="Group 14" id="14"/>
          <p:cNvGrpSpPr/>
          <p:nvPr/>
        </p:nvGrpSpPr>
        <p:grpSpPr>
          <a:xfrm rot="0">
            <a:off x="9540069" y="2759069"/>
            <a:ext cx="7481068" cy="439255"/>
            <a:chOff x="0" y="0"/>
            <a:chExt cx="9974758" cy="585673"/>
          </a:xfrm>
        </p:grpSpPr>
        <p:sp>
          <p:nvSpPr>
            <p:cNvPr name="Freeform 15" id="15"/>
            <p:cNvSpPr/>
            <p:nvPr/>
          </p:nvSpPr>
          <p:spPr>
            <a:xfrm flipH="false" flipV="false" rot="0">
              <a:off x="0" y="0"/>
              <a:ext cx="9974707" cy="585724"/>
            </a:xfrm>
            <a:custGeom>
              <a:avLst/>
              <a:gdLst/>
              <a:ahLst/>
              <a:cxnLst/>
              <a:rect r="r" b="b" t="t" l="l"/>
              <a:pathLst>
                <a:path h="585724" w="9974707">
                  <a:moveTo>
                    <a:pt x="0" y="0"/>
                  </a:moveTo>
                  <a:lnTo>
                    <a:pt x="9974707" y="0"/>
                  </a:lnTo>
                  <a:lnTo>
                    <a:pt x="9974707" y="585724"/>
                  </a:lnTo>
                  <a:lnTo>
                    <a:pt x="0" y="585724"/>
                  </a:lnTo>
                  <a:close/>
                </a:path>
              </a:pathLst>
            </a:custGeom>
            <a:blipFill>
              <a:blip r:embed="rId3">
                <a:alphaModFix amt="0"/>
              </a:blip>
              <a:stretch>
                <a:fillRect l="0" t="-281600" r="0" b="-281589"/>
              </a:stretch>
            </a:blipFill>
          </p:spPr>
        </p:sp>
      </p:grpSp>
      <p:grpSp>
        <p:nvGrpSpPr>
          <p:cNvPr name="Group 16" id="16"/>
          <p:cNvGrpSpPr/>
          <p:nvPr/>
        </p:nvGrpSpPr>
        <p:grpSpPr>
          <a:xfrm rot="0">
            <a:off x="686333" y="9718519"/>
            <a:ext cx="8236039" cy="411804"/>
            <a:chOff x="0" y="0"/>
            <a:chExt cx="10981385" cy="549072"/>
          </a:xfrm>
        </p:grpSpPr>
        <p:sp>
          <p:nvSpPr>
            <p:cNvPr name="Freeform 17" id="17"/>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8" id="18"/>
          <p:cNvGrpSpPr/>
          <p:nvPr/>
        </p:nvGrpSpPr>
        <p:grpSpPr>
          <a:xfrm rot="0">
            <a:off x="686333" y="9704232"/>
            <a:ext cx="8236039" cy="426091"/>
            <a:chOff x="0" y="0"/>
            <a:chExt cx="10981385" cy="568122"/>
          </a:xfrm>
        </p:grpSpPr>
        <p:sp>
          <p:nvSpPr>
            <p:cNvPr name="Freeform 19" id="19"/>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20" id="20"/>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21" id="21"/>
          <p:cNvGrpSpPr/>
          <p:nvPr/>
        </p:nvGrpSpPr>
        <p:grpSpPr>
          <a:xfrm rot="0">
            <a:off x="16242830" y="9718519"/>
            <a:ext cx="1372676" cy="411804"/>
            <a:chOff x="0" y="0"/>
            <a:chExt cx="1830235" cy="549072"/>
          </a:xfrm>
        </p:grpSpPr>
        <p:sp>
          <p:nvSpPr>
            <p:cNvPr name="Freeform 22" id="22"/>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grpSp>
        <p:nvGrpSpPr>
          <p:cNvPr name="Group 23" id="23"/>
          <p:cNvGrpSpPr/>
          <p:nvPr/>
        </p:nvGrpSpPr>
        <p:grpSpPr>
          <a:xfrm rot="0">
            <a:off x="396219" y="2031559"/>
            <a:ext cx="6755640" cy="5767215"/>
            <a:chOff x="0" y="0"/>
            <a:chExt cx="3681262" cy="3142653"/>
          </a:xfrm>
        </p:grpSpPr>
        <p:sp>
          <p:nvSpPr>
            <p:cNvPr name="Freeform 24" id="24" descr="cv_upload.png"/>
            <p:cNvSpPr/>
            <p:nvPr/>
          </p:nvSpPr>
          <p:spPr>
            <a:xfrm flipH="false" flipV="false" rot="0">
              <a:off x="0" y="0"/>
              <a:ext cx="3681263" cy="3142615"/>
            </a:xfrm>
            <a:custGeom>
              <a:avLst/>
              <a:gdLst/>
              <a:ahLst/>
              <a:cxnLst/>
              <a:rect r="r" b="b" t="t" l="l"/>
              <a:pathLst>
                <a:path h="3142615" w="3681263">
                  <a:moveTo>
                    <a:pt x="0" y="0"/>
                  </a:moveTo>
                  <a:lnTo>
                    <a:pt x="3681263" y="0"/>
                  </a:lnTo>
                  <a:lnTo>
                    <a:pt x="3681263" y="3142615"/>
                  </a:lnTo>
                  <a:lnTo>
                    <a:pt x="0" y="3142615"/>
                  </a:lnTo>
                  <a:lnTo>
                    <a:pt x="0" y="0"/>
                  </a:lnTo>
                  <a:close/>
                </a:path>
              </a:pathLst>
            </a:custGeom>
            <a:blipFill>
              <a:blip r:embed="rId5"/>
              <a:stretch>
                <a:fillRect l="-19550" t="0" r="-19550" b="-1"/>
              </a:stretch>
            </a:blipFill>
          </p:spPr>
        </p:sp>
      </p:grpSp>
      <p:grpSp>
        <p:nvGrpSpPr>
          <p:cNvPr name="Group 25" id="25"/>
          <p:cNvGrpSpPr/>
          <p:nvPr/>
        </p:nvGrpSpPr>
        <p:grpSpPr>
          <a:xfrm rot="0">
            <a:off x="6713866" y="2009999"/>
            <a:ext cx="5992427" cy="6208302"/>
            <a:chOff x="0" y="0"/>
            <a:chExt cx="3250191" cy="3367278"/>
          </a:xfrm>
        </p:grpSpPr>
        <p:sp>
          <p:nvSpPr>
            <p:cNvPr name="Freeform 26" id="26" descr="cv_processing.png"/>
            <p:cNvSpPr/>
            <p:nvPr/>
          </p:nvSpPr>
          <p:spPr>
            <a:xfrm flipH="false" flipV="false" rot="0">
              <a:off x="0" y="0"/>
              <a:ext cx="3250191" cy="3367278"/>
            </a:xfrm>
            <a:custGeom>
              <a:avLst/>
              <a:gdLst/>
              <a:ahLst/>
              <a:cxnLst/>
              <a:rect r="r" b="b" t="t" l="l"/>
              <a:pathLst>
                <a:path h="3367278" w="3250191">
                  <a:moveTo>
                    <a:pt x="0" y="0"/>
                  </a:moveTo>
                  <a:lnTo>
                    <a:pt x="3250191" y="0"/>
                  </a:lnTo>
                  <a:lnTo>
                    <a:pt x="3250191" y="3367278"/>
                  </a:lnTo>
                  <a:lnTo>
                    <a:pt x="0" y="3367278"/>
                  </a:lnTo>
                  <a:lnTo>
                    <a:pt x="0" y="0"/>
                  </a:lnTo>
                  <a:close/>
                </a:path>
              </a:pathLst>
            </a:custGeom>
            <a:blipFill>
              <a:blip r:embed="rId6"/>
              <a:stretch>
                <a:fillRect l="-28774" t="0" r="-28774" b="0"/>
              </a:stretch>
            </a:blipFill>
          </p:spPr>
        </p:sp>
      </p:grpSp>
      <p:grpSp>
        <p:nvGrpSpPr>
          <p:cNvPr name="Group 27" id="27"/>
          <p:cNvGrpSpPr/>
          <p:nvPr/>
        </p:nvGrpSpPr>
        <p:grpSpPr>
          <a:xfrm rot="0">
            <a:off x="11968942" y="0"/>
            <a:ext cx="6215051" cy="9553391"/>
            <a:chOff x="0" y="0"/>
            <a:chExt cx="5120640" cy="7871130"/>
          </a:xfrm>
        </p:grpSpPr>
        <p:sp>
          <p:nvSpPr>
            <p:cNvPr name="Freeform 28" id="28" descr="cv_correction.png"/>
            <p:cNvSpPr/>
            <p:nvPr/>
          </p:nvSpPr>
          <p:spPr>
            <a:xfrm flipH="false" flipV="false" rot="0">
              <a:off x="0" y="0"/>
              <a:ext cx="5120640" cy="7871079"/>
            </a:xfrm>
            <a:custGeom>
              <a:avLst/>
              <a:gdLst/>
              <a:ahLst/>
              <a:cxnLst/>
              <a:rect r="r" b="b" t="t" l="l"/>
              <a:pathLst>
                <a:path h="7871079" w="5120640">
                  <a:moveTo>
                    <a:pt x="0" y="0"/>
                  </a:moveTo>
                  <a:lnTo>
                    <a:pt x="5120640" y="0"/>
                  </a:lnTo>
                  <a:lnTo>
                    <a:pt x="5120640" y="7871079"/>
                  </a:lnTo>
                  <a:lnTo>
                    <a:pt x="0" y="7871079"/>
                  </a:lnTo>
                  <a:lnTo>
                    <a:pt x="0" y="0"/>
                  </a:lnTo>
                  <a:close/>
                </a:path>
              </a:pathLst>
            </a:custGeom>
            <a:blipFill>
              <a:blip r:embed="rId7"/>
              <a:stretch>
                <a:fillRect l="0" t="0" r="0" b="0"/>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273749" y="8698769"/>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686333" y="643471"/>
            <a:ext cx="1784471" cy="1495408"/>
            <a:chOff x="0" y="0"/>
            <a:chExt cx="2379294" cy="1993877"/>
          </a:xfrm>
        </p:grpSpPr>
        <p:sp>
          <p:nvSpPr>
            <p:cNvPr name="Freeform 7" id="7"/>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4">
                <a:alphaModFix amt="0"/>
              </a:blip>
              <a:stretch>
                <a:fillRect l="-41907" t="0" r="-41907" b="14520"/>
              </a:stretch>
            </a:blipFill>
          </p:spPr>
        </p:sp>
        <p:sp>
          <p:nvSpPr>
            <p:cNvPr name="TextBox 8" id="8"/>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9" id="9"/>
          <p:cNvGrpSpPr/>
          <p:nvPr/>
        </p:nvGrpSpPr>
        <p:grpSpPr>
          <a:xfrm rot="0">
            <a:off x="2127647" y="796147"/>
            <a:ext cx="15099392" cy="1235412"/>
            <a:chOff x="0" y="0"/>
            <a:chExt cx="20132523" cy="1647215"/>
          </a:xfrm>
        </p:grpSpPr>
        <p:sp>
          <p:nvSpPr>
            <p:cNvPr name="Freeform 10" id="10"/>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3">
                <a:alphaModFix amt="0"/>
              </a:blip>
              <a:stretch>
                <a:fillRect l="0" t="-187986" r="0" b="-187987"/>
              </a:stretch>
            </a:blipFill>
          </p:spPr>
        </p:sp>
      </p:grpSp>
      <p:grpSp>
        <p:nvGrpSpPr>
          <p:cNvPr name="Group 11" id="11"/>
          <p:cNvGrpSpPr/>
          <p:nvPr/>
        </p:nvGrpSpPr>
        <p:grpSpPr>
          <a:xfrm rot="0">
            <a:off x="273749" y="0"/>
            <a:ext cx="15099392" cy="1256836"/>
            <a:chOff x="0" y="0"/>
            <a:chExt cx="20132523" cy="1675782"/>
          </a:xfrm>
        </p:grpSpPr>
        <p:sp>
          <p:nvSpPr>
            <p:cNvPr name="Freeform 12" id="12"/>
            <p:cNvSpPr/>
            <p:nvPr/>
          </p:nvSpPr>
          <p:spPr>
            <a:xfrm flipH="false" flipV="false" rot="0">
              <a:off x="0" y="0"/>
              <a:ext cx="20132523" cy="1675786"/>
            </a:xfrm>
            <a:custGeom>
              <a:avLst/>
              <a:gdLst/>
              <a:ahLst/>
              <a:cxnLst/>
              <a:rect r="r" b="b" t="t" l="l"/>
              <a:pathLst>
                <a:path h="1675786" w="20132523">
                  <a:moveTo>
                    <a:pt x="0" y="0"/>
                  </a:moveTo>
                  <a:lnTo>
                    <a:pt x="20132523" y="0"/>
                  </a:lnTo>
                  <a:lnTo>
                    <a:pt x="20132523" y="1675786"/>
                  </a:lnTo>
                  <a:lnTo>
                    <a:pt x="0" y="1675786"/>
                  </a:lnTo>
                  <a:close/>
                </a:path>
              </a:pathLst>
            </a:custGeom>
            <a:blipFill>
              <a:blip r:embed="rId4">
                <a:alphaModFix amt="0"/>
              </a:blip>
              <a:stretch>
                <a:fillRect l="0" t="-184089" r="0" b="-184088"/>
              </a:stretch>
            </a:blipFill>
          </p:spPr>
        </p:sp>
        <p:sp>
          <p:nvSpPr>
            <p:cNvPr name="TextBox 13" id="13"/>
            <p:cNvSpPr txBox="true"/>
            <p:nvPr/>
          </p:nvSpPr>
          <p:spPr>
            <a:xfrm>
              <a:off x="0" y="-28575"/>
              <a:ext cx="20132523" cy="1704357"/>
            </a:xfrm>
            <a:prstGeom prst="rect">
              <a:avLst/>
            </a:prstGeom>
          </p:spPr>
          <p:txBody>
            <a:bodyPr anchor="ctr" rtlCol="false" tIns="0" lIns="0" bIns="0" rIns="0"/>
            <a:lstStyle/>
            <a:p>
              <a:pPr algn="l">
                <a:lnSpc>
                  <a:spcPts val="3962"/>
                </a:lnSpc>
              </a:pPr>
              <a:r>
                <a:rPr lang="en-US" sz="3302" b="true">
                  <a:solidFill>
                    <a:srgbClr val="000000"/>
                  </a:solidFill>
                  <a:latin typeface="Poppins Bold"/>
                  <a:ea typeface="Poppins Bold"/>
                  <a:cs typeface="Poppins Bold"/>
                  <a:sym typeface="Poppins Bold"/>
                </a:rPr>
                <a:t>Implementation : Update Check &amp; new skills detected Emails</a:t>
              </a:r>
            </a:p>
          </p:txBody>
        </p:sp>
      </p:grpSp>
      <p:grpSp>
        <p:nvGrpSpPr>
          <p:cNvPr name="Group 14" id="14"/>
          <p:cNvGrpSpPr/>
          <p:nvPr/>
        </p:nvGrpSpPr>
        <p:grpSpPr>
          <a:xfrm rot="0">
            <a:off x="9540069" y="2759069"/>
            <a:ext cx="7481068" cy="439255"/>
            <a:chOff x="0" y="0"/>
            <a:chExt cx="9974758" cy="585673"/>
          </a:xfrm>
        </p:grpSpPr>
        <p:sp>
          <p:nvSpPr>
            <p:cNvPr name="Freeform 15" id="15"/>
            <p:cNvSpPr/>
            <p:nvPr/>
          </p:nvSpPr>
          <p:spPr>
            <a:xfrm flipH="false" flipV="false" rot="0">
              <a:off x="0" y="0"/>
              <a:ext cx="9974707" cy="585724"/>
            </a:xfrm>
            <a:custGeom>
              <a:avLst/>
              <a:gdLst/>
              <a:ahLst/>
              <a:cxnLst/>
              <a:rect r="r" b="b" t="t" l="l"/>
              <a:pathLst>
                <a:path h="585724" w="9974707">
                  <a:moveTo>
                    <a:pt x="0" y="0"/>
                  </a:moveTo>
                  <a:lnTo>
                    <a:pt x="9974707" y="0"/>
                  </a:lnTo>
                  <a:lnTo>
                    <a:pt x="9974707" y="585724"/>
                  </a:lnTo>
                  <a:lnTo>
                    <a:pt x="0" y="585724"/>
                  </a:lnTo>
                  <a:close/>
                </a:path>
              </a:pathLst>
            </a:custGeom>
            <a:blipFill>
              <a:blip r:embed="rId3">
                <a:alphaModFix amt="0"/>
              </a:blip>
              <a:stretch>
                <a:fillRect l="0" t="-281600" r="0" b="-281589"/>
              </a:stretch>
            </a:blipFill>
          </p:spPr>
        </p:sp>
      </p:grpSp>
      <p:grpSp>
        <p:nvGrpSpPr>
          <p:cNvPr name="Group 16" id="16"/>
          <p:cNvGrpSpPr/>
          <p:nvPr/>
        </p:nvGrpSpPr>
        <p:grpSpPr>
          <a:xfrm rot="0">
            <a:off x="686333" y="9718519"/>
            <a:ext cx="8236039" cy="411804"/>
            <a:chOff x="0" y="0"/>
            <a:chExt cx="10981385" cy="549072"/>
          </a:xfrm>
        </p:grpSpPr>
        <p:sp>
          <p:nvSpPr>
            <p:cNvPr name="Freeform 17" id="17"/>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8" id="18"/>
          <p:cNvGrpSpPr/>
          <p:nvPr/>
        </p:nvGrpSpPr>
        <p:grpSpPr>
          <a:xfrm rot="0">
            <a:off x="686333" y="9704232"/>
            <a:ext cx="8236039" cy="426091"/>
            <a:chOff x="0" y="0"/>
            <a:chExt cx="10981385" cy="568122"/>
          </a:xfrm>
        </p:grpSpPr>
        <p:sp>
          <p:nvSpPr>
            <p:cNvPr name="Freeform 19" id="19"/>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20" id="20"/>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21" id="21"/>
          <p:cNvGrpSpPr/>
          <p:nvPr/>
        </p:nvGrpSpPr>
        <p:grpSpPr>
          <a:xfrm rot="0">
            <a:off x="16242830" y="9718519"/>
            <a:ext cx="1372676" cy="411804"/>
            <a:chOff x="0" y="0"/>
            <a:chExt cx="1830235" cy="549072"/>
          </a:xfrm>
        </p:grpSpPr>
        <p:sp>
          <p:nvSpPr>
            <p:cNvPr name="Freeform 22" id="22"/>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sp>
        <p:nvSpPr>
          <p:cNvPr name="Freeform 23" id="23"/>
          <p:cNvSpPr/>
          <p:nvPr/>
        </p:nvSpPr>
        <p:spPr>
          <a:xfrm flipH="false" flipV="false" rot="0">
            <a:off x="12804485" y="916132"/>
            <a:ext cx="4906167" cy="8512202"/>
          </a:xfrm>
          <a:custGeom>
            <a:avLst/>
            <a:gdLst/>
            <a:ahLst/>
            <a:cxnLst/>
            <a:rect r="r" b="b" t="t" l="l"/>
            <a:pathLst>
              <a:path h="8512202" w="4906167">
                <a:moveTo>
                  <a:pt x="0" y="0"/>
                </a:moveTo>
                <a:lnTo>
                  <a:pt x="4906168" y="0"/>
                </a:lnTo>
                <a:lnTo>
                  <a:pt x="4906168" y="8512202"/>
                </a:lnTo>
                <a:lnTo>
                  <a:pt x="0" y="8512202"/>
                </a:lnTo>
                <a:lnTo>
                  <a:pt x="0" y="0"/>
                </a:lnTo>
                <a:close/>
              </a:path>
            </a:pathLst>
          </a:custGeom>
          <a:blipFill>
            <a:blip r:embed="rId5"/>
            <a:stretch>
              <a:fillRect l="-16873" t="0" r="0" b="0"/>
            </a:stretch>
          </a:blipFill>
        </p:spPr>
      </p:sp>
      <p:sp>
        <p:nvSpPr>
          <p:cNvPr name="Freeform 24" id="24"/>
          <p:cNvSpPr/>
          <p:nvPr/>
        </p:nvSpPr>
        <p:spPr>
          <a:xfrm flipH="false" flipV="false" rot="0">
            <a:off x="7823444" y="1921735"/>
            <a:ext cx="4981041" cy="6272113"/>
          </a:xfrm>
          <a:custGeom>
            <a:avLst/>
            <a:gdLst/>
            <a:ahLst/>
            <a:cxnLst/>
            <a:rect r="r" b="b" t="t" l="l"/>
            <a:pathLst>
              <a:path h="6272113" w="4981041">
                <a:moveTo>
                  <a:pt x="0" y="0"/>
                </a:moveTo>
                <a:lnTo>
                  <a:pt x="4981041" y="0"/>
                </a:lnTo>
                <a:lnTo>
                  <a:pt x="4981041" y="6272114"/>
                </a:lnTo>
                <a:lnTo>
                  <a:pt x="0" y="6272114"/>
                </a:lnTo>
                <a:lnTo>
                  <a:pt x="0" y="0"/>
                </a:lnTo>
                <a:close/>
              </a:path>
            </a:pathLst>
          </a:custGeom>
          <a:blipFill>
            <a:blip r:embed="rId6"/>
            <a:stretch>
              <a:fillRect l="0" t="0" r="0" b="0"/>
            </a:stretch>
          </a:blipFill>
        </p:spPr>
      </p:sp>
      <p:sp>
        <p:nvSpPr>
          <p:cNvPr name="Freeform 25" id="25"/>
          <p:cNvSpPr/>
          <p:nvPr/>
        </p:nvSpPr>
        <p:spPr>
          <a:xfrm flipH="false" flipV="false" rot="0">
            <a:off x="213956" y="1861098"/>
            <a:ext cx="7446087" cy="6945803"/>
          </a:xfrm>
          <a:custGeom>
            <a:avLst/>
            <a:gdLst/>
            <a:ahLst/>
            <a:cxnLst/>
            <a:rect r="r" b="b" t="t" l="l"/>
            <a:pathLst>
              <a:path h="6945803" w="7446087">
                <a:moveTo>
                  <a:pt x="0" y="0"/>
                </a:moveTo>
                <a:lnTo>
                  <a:pt x="7446088" y="0"/>
                </a:lnTo>
                <a:lnTo>
                  <a:pt x="7446088" y="6945804"/>
                </a:lnTo>
                <a:lnTo>
                  <a:pt x="0" y="6945804"/>
                </a:lnTo>
                <a:lnTo>
                  <a:pt x="0" y="0"/>
                </a:lnTo>
                <a:close/>
              </a:path>
            </a:pathLst>
          </a:custGeom>
          <a:blipFill>
            <a:blip r:embed="rId7"/>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685800" y="502920"/>
            <a:ext cx="1371600" cy="987171"/>
            <a:chOff x="0" y="0"/>
            <a:chExt cx="1828800" cy="1316228"/>
          </a:xfrm>
        </p:grpSpPr>
        <p:sp>
          <p:nvSpPr>
            <p:cNvPr name="Freeform 3" id="3"/>
            <p:cNvSpPr/>
            <p:nvPr/>
          </p:nvSpPr>
          <p:spPr>
            <a:xfrm flipH="false" flipV="false" rot="0">
              <a:off x="0" y="0"/>
              <a:ext cx="1828800" cy="1316228"/>
            </a:xfrm>
            <a:custGeom>
              <a:avLst/>
              <a:gdLst/>
              <a:ahLst/>
              <a:cxnLst/>
              <a:rect r="r" b="b" t="t" l="l"/>
              <a:pathLst>
                <a:path h="1316228" w="1828800">
                  <a:moveTo>
                    <a:pt x="0" y="0"/>
                  </a:moveTo>
                  <a:lnTo>
                    <a:pt x="1828800" y="0"/>
                  </a:lnTo>
                  <a:lnTo>
                    <a:pt x="1828800" y="1316228"/>
                  </a:lnTo>
                  <a:lnTo>
                    <a:pt x="0" y="1316228"/>
                  </a:lnTo>
                  <a:close/>
                </a:path>
              </a:pathLst>
            </a:custGeom>
            <a:blipFill>
              <a:blip r:embed="rId2">
                <a:alphaModFix amt="0"/>
              </a:blip>
              <a:stretch>
                <a:fillRect l="-35535" t="0" r="-35535" b="7371"/>
              </a:stretch>
            </a:blipFill>
          </p:spPr>
        </p:sp>
        <p:sp>
          <p:nvSpPr>
            <p:cNvPr name="TextBox 4" id="4"/>
            <p:cNvSpPr txBox="true"/>
            <p:nvPr/>
          </p:nvSpPr>
          <p:spPr>
            <a:xfrm>
              <a:off x="0" y="-38100"/>
              <a:ext cx="1828800" cy="1354328"/>
            </a:xfrm>
            <a:prstGeom prst="rect">
              <a:avLst/>
            </a:prstGeom>
          </p:spPr>
          <p:txBody>
            <a:bodyPr anchor="ctr" rtlCol="false" tIns="0" lIns="0" bIns="0" rIns="0"/>
            <a:lstStyle/>
            <a:p>
              <a:pPr algn="l">
                <a:lnSpc>
                  <a:spcPts val="4799"/>
                </a:lnSpc>
              </a:pPr>
            </a:p>
          </p:txBody>
        </p:sp>
      </p:grpSp>
      <p:grpSp>
        <p:nvGrpSpPr>
          <p:cNvPr name="Group 5" id="5"/>
          <p:cNvGrpSpPr/>
          <p:nvPr/>
        </p:nvGrpSpPr>
        <p:grpSpPr>
          <a:xfrm rot="0">
            <a:off x="398961" y="388620"/>
            <a:ext cx="13716000" cy="822960"/>
            <a:chOff x="0" y="0"/>
            <a:chExt cx="18288000" cy="1097280"/>
          </a:xfrm>
        </p:grpSpPr>
        <p:sp>
          <p:nvSpPr>
            <p:cNvPr name="Freeform 6" id="6"/>
            <p:cNvSpPr/>
            <p:nvPr/>
          </p:nvSpPr>
          <p:spPr>
            <a:xfrm flipH="false" flipV="false" rot="0">
              <a:off x="0" y="0"/>
              <a:ext cx="18288000" cy="1097280"/>
            </a:xfrm>
            <a:custGeom>
              <a:avLst/>
              <a:gdLst/>
              <a:ahLst/>
              <a:cxnLst/>
              <a:rect r="r" b="b" t="t" l="l"/>
              <a:pathLst>
                <a:path h="1097280" w="18288000">
                  <a:moveTo>
                    <a:pt x="0" y="0"/>
                  </a:moveTo>
                  <a:lnTo>
                    <a:pt x="18288000" y="0"/>
                  </a:lnTo>
                  <a:lnTo>
                    <a:pt x="18288000" y="1097280"/>
                  </a:lnTo>
                  <a:lnTo>
                    <a:pt x="0" y="1097280"/>
                  </a:lnTo>
                  <a:close/>
                </a:path>
              </a:pathLst>
            </a:custGeom>
            <a:blipFill>
              <a:blip r:embed="rId2">
                <a:alphaModFix amt="0"/>
              </a:blip>
              <a:stretch>
                <a:fillRect l="0" t="-274750" r="0" b="-274750"/>
              </a:stretch>
            </a:blipFill>
          </p:spPr>
        </p:sp>
        <p:sp>
          <p:nvSpPr>
            <p:cNvPr name="TextBox 7" id="7"/>
            <p:cNvSpPr txBox="true"/>
            <p:nvPr/>
          </p:nvSpPr>
          <p:spPr>
            <a:xfrm>
              <a:off x="0" y="-19050"/>
              <a:ext cx="18288000" cy="1116330"/>
            </a:xfrm>
            <a:prstGeom prst="rect">
              <a:avLst/>
            </a:prstGeom>
          </p:spPr>
          <p:txBody>
            <a:bodyPr anchor="ctr" rtlCol="false" tIns="0" lIns="0" bIns="0" rIns="0"/>
            <a:lstStyle/>
            <a:p>
              <a:pPr algn="l">
                <a:lnSpc>
                  <a:spcPts val="3120"/>
                </a:lnSpc>
              </a:pPr>
              <a:r>
                <a:rPr lang="en-US" sz="2600" b="true">
                  <a:solidFill>
                    <a:srgbClr val="000000"/>
                  </a:solidFill>
                  <a:latin typeface="Poppins Bold"/>
                  <a:ea typeface="Poppins Bold"/>
                  <a:cs typeface="Poppins Bold"/>
                  <a:sym typeface="Poppins Bold"/>
                </a:rPr>
                <a:t>Assessment Assignment &amp; Eligibility</a:t>
              </a:r>
            </a:p>
          </p:txBody>
        </p:sp>
      </p:grpSp>
      <p:grpSp>
        <p:nvGrpSpPr>
          <p:cNvPr name="Group 8" id="8"/>
          <p:cNvGrpSpPr/>
          <p:nvPr/>
        </p:nvGrpSpPr>
        <p:grpSpPr>
          <a:xfrm rot="0">
            <a:off x="5029200" y="1554480"/>
            <a:ext cx="8229600" cy="731520"/>
            <a:chOff x="0" y="0"/>
            <a:chExt cx="10972800" cy="975360"/>
          </a:xfrm>
        </p:grpSpPr>
        <p:sp>
          <p:nvSpPr>
            <p:cNvPr name="Freeform 9" id="9"/>
            <p:cNvSpPr/>
            <p:nvPr/>
          </p:nvSpPr>
          <p:spPr>
            <a:xfrm flipH="false" flipV="false" rot="0">
              <a:off x="0" y="0"/>
              <a:ext cx="10972800" cy="975360"/>
            </a:xfrm>
            <a:custGeom>
              <a:avLst/>
              <a:gdLst/>
              <a:ahLst/>
              <a:cxnLst/>
              <a:rect r="r" b="b" t="t" l="l"/>
              <a:pathLst>
                <a:path h="975360" w="10972800">
                  <a:moveTo>
                    <a:pt x="0" y="146304"/>
                  </a:moveTo>
                  <a:cubicBezTo>
                    <a:pt x="0" y="65532"/>
                    <a:pt x="65532" y="0"/>
                    <a:pt x="146304" y="0"/>
                  </a:cubicBezTo>
                  <a:lnTo>
                    <a:pt x="10826496" y="0"/>
                  </a:lnTo>
                  <a:cubicBezTo>
                    <a:pt x="10907268" y="0"/>
                    <a:pt x="10972800" y="65532"/>
                    <a:pt x="10972800" y="146304"/>
                  </a:cubicBezTo>
                  <a:lnTo>
                    <a:pt x="10972800" y="829056"/>
                  </a:lnTo>
                  <a:cubicBezTo>
                    <a:pt x="10972800" y="909828"/>
                    <a:pt x="10907268" y="975360"/>
                    <a:pt x="10826496" y="975360"/>
                  </a:cubicBezTo>
                  <a:lnTo>
                    <a:pt x="146304" y="975360"/>
                  </a:lnTo>
                  <a:cubicBezTo>
                    <a:pt x="65532" y="975360"/>
                    <a:pt x="0" y="909828"/>
                    <a:pt x="0" y="829056"/>
                  </a:cubicBezTo>
                  <a:close/>
                </a:path>
              </a:pathLst>
            </a:custGeom>
            <a:solidFill>
              <a:srgbClr val="737AE6"/>
            </a:solidFill>
          </p:spPr>
        </p:sp>
      </p:grpSp>
      <p:grpSp>
        <p:nvGrpSpPr>
          <p:cNvPr name="Group 10" id="10"/>
          <p:cNvGrpSpPr/>
          <p:nvPr/>
        </p:nvGrpSpPr>
        <p:grpSpPr>
          <a:xfrm rot="0">
            <a:off x="5029200" y="1554480"/>
            <a:ext cx="8229600" cy="731520"/>
            <a:chOff x="0" y="0"/>
            <a:chExt cx="10972800" cy="975360"/>
          </a:xfrm>
        </p:grpSpPr>
        <p:sp>
          <p:nvSpPr>
            <p:cNvPr name="Freeform 11" id="11"/>
            <p:cNvSpPr/>
            <p:nvPr/>
          </p:nvSpPr>
          <p:spPr>
            <a:xfrm flipH="false" flipV="false" rot="0">
              <a:off x="0" y="0"/>
              <a:ext cx="10972800" cy="975360"/>
            </a:xfrm>
            <a:custGeom>
              <a:avLst/>
              <a:gdLst/>
              <a:ahLst/>
              <a:cxnLst/>
              <a:rect r="r" b="b" t="t" l="l"/>
              <a:pathLst>
                <a:path h="975360" w="10972800">
                  <a:moveTo>
                    <a:pt x="0" y="0"/>
                  </a:moveTo>
                  <a:lnTo>
                    <a:pt x="10972800" y="0"/>
                  </a:lnTo>
                  <a:lnTo>
                    <a:pt x="10972800" y="975360"/>
                  </a:lnTo>
                  <a:lnTo>
                    <a:pt x="0" y="975360"/>
                  </a:lnTo>
                  <a:close/>
                </a:path>
              </a:pathLst>
            </a:custGeom>
            <a:blipFill>
              <a:blip r:embed="rId2">
                <a:alphaModFix amt="0"/>
              </a:blip>
              <a:stretch>
                <a:fillRect l="0" t="-169206" r="0" b="-169206"/>
              </a:stretch>
            </a:blipFill>
          </p:spPr>
        </p:sp>
        <p:sp>
          <p:nvSpPr>
            <p:cNvPr name="TextBox 12" id="12"/>
            <p:cNvSpPr txBox="true"/>
            <p:nvPr/>
          </p:nvSpPr>
          <p:spPr>
            <a:xfrm>
              <a:off x="0" y="-19050"/>
              <a:ext cx="10972800" cy="994410"/>
            </a:xfrm>
            <a:prstGeom prst="rect">
              <a:avLst/>
            </a:prstGeom>
          </p:spPr>
          <p:txBody>
            <a:bodyPr anchor="ctr" rtlCol="false" tIns="0" lIns="0" bIns="0" rIns="0"/>
            <a:lstStyle/>
            <a:p>
              <a:pPr algn="ctr">
                <a:lnSpc>
                  <a:spcPts val="1800"/>
                </a:lnSpc>
              </a:pPr>
              <a:r>
                <a:rPr lang="en-US" sz="1500" b="true">
                  <a:solidFill>
                    <a:srgbClr val="FFFFFF"/>
                  </a:solidFill>
                  <a:latin typeface="Poppins Bold"/>
                  <a:ea typeface="Poppins Bold"/>
                  <a:cs typeface="Poppins Bold"/>
                  <a:sym typeface="Poppins Bold"/>
                </a:rPr>
                <a:t>Candidate Profile  →  One Assessment Created per Declared Skill</a:t>
              </a:r>
            </a:p>
          </p:txBody>
        </p:sp>
      </p:grpSp>
      <p:grpSp>
        <p:nvGrpSpPr>
          <p:cNvPr name="Group 13" id="13"/>
          <p:cNvGrpSpPr/>
          <p:nvPr/>
        </p:nvGrpSpPr>
        <p:grpSpPr>
          <a:xfrm rot="0">
            <a:off x="8869680" y="2331720"/>
            <a:ext cx="548640" cy="365760"/>
            <a:chOff x="0" y="0"/>
            <a:chExt cx="731520" cy="487680"/>
          </a:xfrm>
        </p:grpSpPr>
        <p:sp>
          <p:nvSpPr>
            <p:cNvPr name="Freeform 14" id="14"/>
            <p:cNvSpPr/>
            <p:nvPr/>
          </p:nvSpPr>
          <p:spPr>
            <a:xfrm flipH="false" flipV="false" rot="0">
              <a:off x="0" y="0"/>
              <a:ext cx="731520" cy="487680"/>
            </a:xfrm>
            <a:custGeom>
              <a:avLst/>
              <a:gdLst/>
              <a:ahLst/>
              <a:cxnLst/>
              <a:rect r="r" b="b" t="t" l="l"/>
              <a:pathLst>
                <a:path h="487680" w="731520">
                  <a:moveTo>
                    <a:pt x="0" y="243840"/>
                  </a:moveTo>
                  <a:lnTo>
                    <a:pt x="182880" y="243840"/>
                  </a:lnTo>
                  <a:lnTo>
                    <a:pt x="182880" y="0"/>
                  </a:lnTo>
                  <a:lnTo>
                    <a:pt x="548640" y="0"/>
                  </a:lnTo>
                  <a:lnTo>
                    <a:pt x="548640" y="243840"/>
                  </a:lnTo>
                  <a:lnTo>
                    <a:pt x="731520" y="243840"/>
                  </a:lnTo>
                  <a:lnTo>
                    <a:pt x="365760" y="487680"/>
                  </a:lnTo>
                  <a:close/>
                </a:path>
              </a:pathLst>
            </a:custGeom>
            <a:solidFill>
              <a:srgbClr val="737AE6"/>
            </a:solidFill>
          </p:spPr>
        </p:sp>
      </p:grpSp>
      <p:grpSp>
        <p:nvGrpSpPr>
          <p:cNvPr name="Group 15" id="15"/>
          <p:cNvGrpSpPr/>
          <p:nvPr/>
        </p:nvGrpSpPr>
        <p:grpSpPr>
          <a:xfrm rot="0">
            <a:off x="3200400" y="2788920"/>
            <a:ext cx="11887200" cy="1051560"/>
            <a:chOff x="0" y="0"/>
            <a:chExt cx="15849600" cy="1402080"/>
          </a:xfrm>
        </p:grpSpPr>
        <p:sp>
          <p:nvSpPr>
            <p:cNvPr name="Freeform 16" id="16"/>
            <p:cNvSpPr/>
            <p:nvPr/>
          </p:nvSpPr>
          <p:spPr>
            <a:xfrm flipH="false" flipV="false" rot="0">
              <a:off x="0" y="0"/>
              <a:ext cx="15849600" cy="1402080"/>
            </a:xfrm>
            <a:custGeom>
              <a:avLst/>
              <a:gdLst/>
              <a:ahLst/>
              <a:cxnLst/>
              <a:rect r="r" b="b" t="t" l="l"/>
              <a:pathLst>
                <a:path h="1402080" w="15849600">
                  <a:moveTo>
                    <a:pt x="0" y="170688"/>
                  </a:moveTo>
                  <a:cubicBezTo>
                    <a:pt x="0" y="76454"/>
                    <a:pt x="76454" y="0"/>
                    <a:pt x="170688" y="0"/>
                  </a:cubicBezTo>
                  <a:lnTo>
                    <a:pt x="15678913" y="0"/>
                  </a:lnTo>
                  <a:cubicBezTo>
                    <a:pt x="15773147" y="0"/>
                    <a:pt x="15849600" y="76454"/>
                    <a:pt x="15849600" y="170688"/>
                  </a:cubicBezTo>
                  <a:lnTo>
                    <a:pt x="15849600" y="1231392"/>
                  </a:lnTo>
                  <a:cubicBezTo>
                    <a:pt x="15849600" y="1325626"/>
                    <a:pt x="15773147" y="1402080"/>
                    <a:pt x="15678913" y="1402080"/>
                  </a:cubicBezTo>
                  <a:lnTo>
                    <a:pt x="170688" y="1402080"/>
                  </a:lnTo>
                  <a:cubicBezTo>
                    <a:pt x="76454" y="1402080"/>
                    <a:pt x="0" y="1325626"/>
                    <a:pt x="0" y="1231392"/>
                  </a:cubicBezTo>
                  <a:close/>
                </a:path>
              </a:pathLst>
            </a:custGeom>
            <a:solidFill>
              <a:srgbClr val="737AE6"/>
            </a:solidFill>
          </p:spPr>
        </p:sp>
      </p:grpSp>
      <p:grpSp>
        <p:nvGrpSpPr>
          <p:cNvPr name="Group 17" id="17"/>
          <p:cNvGrpSpPr/>
          <p:nvPr/>
        </p:nvGrpSpPr>
        <p:grpSpPr>
          <a:xfrm rot="0">
            <a:off x="3657600" y="2935224"/>
            <a:ext cx="10972800" cy="411480"/>
            <a:chOff x="0" y="0"/>
            <a:chExt cx="14630400" cy="548640"/>
          </a:xfrm>
        </p:grpSpPr>
        <p:sp>
          <p:nvSpPr>
            <p:cNvPr name="Freeform 18" id="18"/>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19" id="19"/>
            <p:cNvSpPr txBox="true"/>
            <p:nvPr/>
          </p:nvSpPr>
          <p:spPr>
            <a:xfrm>
              <a:off x="0" y="-19050"/>
              <a:ext cx="14630400" cy="567690"/>
            </a:xfrm>
            <a:prstGeom prst="rect">
              <a:avLst/>
            </a:prstGeom>
          </p:spPr>
          <p:txBody>
            <a:bodyPr anchor="ctr" rtlCol="false" tIns="0" lIns="0" bIns="0" rIns="0"/>
            <a:lstStyle/>
            <a:p>
              <a:pPr algn="ctr">
                <a:lnSpc>
                  <a:spcPts val="2279"/>
                </a:lnSpc>
              </a:pPr>
              <a:r>
                <a:rPr lang="en-US" sz="1899" b="true">
                  <a:solidFill>
                    <a:srgbClr val="FFFFFF"/>
                  </a:solidFill>
                  <a:latin typeface="Poppins Bold"/>
                  <a:ea typeface="Poppins Bold"/>
                  <a:cs typeface="Poppins Bold"/>
                  <a:sym typeface="Poppins Bold"/>
                </a:rPr>
                <a:t>Eligibility Gate</a:t>
              </a:r>
            </a:p>
          </p:txBody>
        </p:sp>
      </p:grpSp>
      <p:grpSp>
        <p:nvGrpSpPr>
          <p:cNvPr name="Group 20" id="20"/>
          <p:cNvGrpSpPr/>
          <p:nvPr/>
        </p:nvGrpSpPr>
        <p:grpSpPr>
          <a:xfrm rot="0">
            <a:off x="3931920" y="3364992"/>
            <a:ext cx="10424160" cy="384048"/>
            <a:chOff x="0" y="0"/>
            <a:chExt cx="13898880" cy="512064"/>
          </a:xfrm>
        </p:grpSpPr>
        <p:sp>
          <p:nvSpPr>
            <p:cNvPr name="Freeform 21" id="21"/>
            <p:cNvSpPr/>
            <p:nvPr/>
          </p:nvSpPr>
          <p:spPr>
            <a:xfrm flipH="false" flipV="false" rot="0">
              <a:off x="0" y="0"/>
              <a:ext cx="13898880" cy="512064"/>
            </a:xfrm>
            <a:custGeom>
              <a:avLst/>
              <a:gdLst/>
              <a:ahLst/>
              <a:cxnLst/>
              <a:rect r="r" b="b" t="t" l="l"/>
              <a:pathLst>
                <a:path h="512064" w="13898880">
                  <a:moveTo>
                    <a:pt x="0" y="0"/>
                  </a:moveTo>
                  <a:lnTo>
                    <a:pt x="13898880" y="0"/>
                  </a:lnTo>
                  <a:lnTo>
                    <a:pt x="13898880" y="512064"/>
                  </a:lnTo>
                  <a:lnTo>
                    <a:pt x="0" y="512064"/>
                  </a:lnTo>
                  <a:close/>
                </a:path>
              </a:pathLst>
            </a:custGeom>
            <a:blipFill>
              <a:blip r:embed="rId2">
                <a:alphaModFix amt="0"/>
              </a:blip>
              <a:stretch>
                <a:fillRect l="0" t="-478879" r="0" b="-478879"/>
              </a:stretch>
            </a:blipFill>
          </p:spPr>
        </p:sp>
        <p:sp>
          <p:nvSpPr>
            <p:cNvPr name="TextBox 22" id="22"/>
            <p:cNvSpPr txBox="true"/>
            <p:nvPr/>
          </p:nvSpPr>
          <p:spPr>
            <a:xfrm>
              <a:off x="0" y="-9525"/>
              <a:ext cx="13898880" cy="521589"/>
            </a:xfrm>
            <a:prstGeom prst="rect">
              <a:avLst/>
            </a:prstGeom>
          </p:spPr>
          <p:txBody>
            <a:bodyPr anchor="ctr" rtlCol="false" tIns="0" lIns="0" bIns="0" rIns="0"/>
            <a:lstStyle/>
            <a:p>
              <a:pPr algn="ctr">
                <a:lnSpc>
                  <a:spcPts val="1500"/>
                </a:lnSpc>
              </a:pPr>
              <a:r>
                <a:rPr lang="en-US" sz="1250" i="true">
                  <a:solidFill>
                    <a:srgbClr val="FFFFFF"/>
                  </a:solidFill>
                  <a:latin typeface="Poppins Italics"/>
                  <a:ea typeface="Poppins Italics"/>
                  <a:cs typeface="Poppins Italics"/>
                  <a:sym typeface="Poppins Italics"/>
                </a:rPr>
                <a:t>Checked automatically every time a candidate opens the Assessment List : an ineligible test cannot be started</a:t>
              </a:r>
            </a:p>
          </p:txBody>
        </p:sp>
      </p:grpSp>
      <p:sp>
        <p:nvSpPr>
          <p:cNvPr name="AutoShape 23" id="23"/>
          <p:cNvSpPr/>
          <p:nvPr/>
        </p:nvSpPr>
        <p:spPr>
          <a:xfrm rot="10328280">
            <a:off x="5269278" y="4077653"/>
            <a:ext cx="3908965" cy="0"/>
          </a:xfrm>
          <a:prstGeom prst="line">
            <a:avLst/>
          </a:prstGeom>
          <a:ln cap="rnd" w="28575">
            <a:solidFill>
              <a:srgbClr val="737AE6"/>
            </a:solidFill>
            <a:prstDash val="solid"/>
            <a:headEnd type="none" len="sm" w="sm"/>
            <a:tailEnd type="triangle" len="med" w="lg"/>
          </a:ln>
        </p:spPr>
      </p:sp>
      <p:sp>
        <p:nvSpPr>
          <p:cNvPr name="AutoShape 24" id="24"/>
          <p:cNvSpPr/>
          <p:nvPr/>
        </p:nvSpPr>
        <p:spPr>
          <a:xfrm rot="471720">
            <a:off x="9109758" y="4077653"/>
            <a:ext cx="3908965" cy="0"/>
          </a:xfrm>
          <a:prstGeom prst="line">
            <a:avLst/>
          </a:prstGeom>
          <a:ln cap="rnd" w="28575">
            <a:solidFill>
              <a:srgbClr val="737AE6"/>
            </a:solidFill>
            <a:prstDash val="solid"/>
            <a:headEnd type="none" len="sm" w="sm"/>
            <a:tailEnd type="triangle" len="med" w="lg"/>
          </a:ln>
        </p:spPr>
      </p:sp>
      <p:grpSp>
        <p:nvGrpSpPr>
          <p:cNvPr name="Group 25" id="25"/>
          <p:cNvGrpSpPr/>
          <p:nvPr/>
        </p:nvGrpSpPr>
        <p:grpSpPr>
          <a:xfrm rot="0">
            <a:off x="1816103" y="4330703"/>
            <a:ext cx="6974843" cy="1214123"/>
            <a:chOff x="0" y="0"/>
            <a:chExt cx="9299791" cy="1618831"/>
          </a:xfrm>
        </p:grpSpPr>
        <p:sp>
          <p:nvSpPr>
            <p:cNvPr name="Freeform 26" id="26"/>
            <p:cNvSpPr/>
            <p:nvPr/>
          </p:nvSpPr>
          <p:spPr>
            <a:xfrm flipH="false" flipV="false" rot="0">
              <a:off x="0" y="0"/>
              <a:ext cx="9299829" cy="1618869"/>
            </a:xfrm>
            <a:custGeom>
              <a:avLst/>
              <a:gdLst/>
              <a:ahLst/>
              <a:cxnLst/>
              <a:rect r="r" b="b" t="t" l="l"/>
              <a:pathLst>
                <a:path h="1618869" w="9299829">
                  <a:moveTo>
                    <a:pt x="0" y="149479"/>
                  </a:moveTo>
                  <a:cubicBezTo>
                    <a:pt x="0" y="66929"/>
                    <a:pt x="66929" y="0"/>
                    <a:pt x="149479" y="0"/>
                  </a:cubicBezTo>
                  <a:lnTo>
                    <a:pt x="9150350" y="0"/>
                  </a:lnTo>
                  <a:cubicBezTo>
                    <a:pt x="9232900" y="0"/>
                    <a:pt x="9299829" y="66929"/>
                    <a:pt x="9299829" y="149479"/>
                  </a:cubicBezTo>
                  <a:lnTo>
                    <a:pt x="9299829" y="1469390"/>
                  </a:lnTo>
                  <a:cubicBezTo>
                    <a:pt x="9299829" y="1551940"/>
                    <a:pt x="9232900" y="1618869"/>
                    <a:pt x="9150350" y="1618869"/>
                  </a:cubicBezTo>
                  <a:lnTo>
                    <a:pt x="149479" y="1618869"/>
                  </a:lnTo>
                  <a:cubicBezTo>
                    <a:pt x="66929" y="1618869"/>
                    <a:pt x="0" y="1551940"/>
                    <a:pt x="0" y="1469390"/>
                  </a:cubicBezTo>
                  <a:close/>
                </a:path>
              </a:pathLst>
            </a:custGeom>
            <a:solidFill>
              <a:srgbClr val="FFFFFF"/>
            </a:solidFill>
            <a:ln w="25400" cap="sq">
              <a:solidFill>
                <a:srgbClr val="737AE6"/>
              </a:solidFill>
              <a:prstDash val="solid"/>
              <a:miter/>
            </a:ln>
          </p:spPr>
        </p:sp>
      </p:grpSp>
      <p:grpSp>
        <p:nvGrpSpPr>
          <p:cNvPr name="Group 27" id="27"/>
          <p:cNvGrpSpPr/>
          <p:nvPr/>
        </p:nvGrpSpPr>
        <p:grpSpPr>
          <a:xfrm rot="0">
            <a:off x="2194560" y="4480560"/>
            <a:ext cx="6217920" cy="411480"/>
            <a:chOff x="0" y="0"/>
            <a:chExt cx="8290560" cy="548640"/>
          </a:xfrm>
        </p:grpSpPr>
        <p:sp>
          <p:nvSpPr>
            <p:cNvPr name="Freeform 28" id="28"/>
            <p:cNvSpPr/>
            <p:nvPr/>
          </p:nvSpPr>
          <p:spPr>
            <a:xfrm flipH="false" flipV="false" rot="0">
              <a:off x="0" y="0"/>
              <a:ext cx="8290560" cy="548640"/>
            </a:xfrm>
            <a:custGeom>
              <a:avLst/>
              <a:gdLst/>
              <a:ahLst/>
              <a:cxnLst/>
              <a:rect r="r" b="b" t="t" l="l"/>
              <a:pathLst>
                <a:path h="548640" w="8290560">
                  <a:moveTo>
                    <a:pt x="0" y="0"/>
                  </a:moveTo>
                  <a:lnTo>
                    <a:pt x="8290560" y="0"/>
                  </a:lnTo>
                  <a:lnTo>
                    <a:pt x="8290560" y="548640"/>
                  </a:lnTo>
                  <a:lnTo>
                    <a:pt x="0" y="548640"/>
                  </a:lnTo>
                  <a:close/>
                </a:path>
              </a:pathLst>
            </a:custGeom>
            <a:blipFill>
              <a:blip r:embed="rId2">
                <a:alphaModFix amt="0"/>
              </a:blip>
              <a:stretch>
                <a:fillRect l="0" t="-244440" r="0" b="-244440"/>
              </a:stretch>
            </a:blipFill>
          </p:spPr>
        </p:sp>
        <p:sp>
          <p:nvSpPr>
            <p:cNvPr name="TextBox 29" id="29"/>
            <p:cNvSpPr txBox="true"/>
            <p:nvPr/>
          </p:nvSpPr>
          <p:spPr>
            <a:xfrm>
              <a:off x="0" y="-28575"/>
              <a:ext cx="8290560" cy="577215"/>
            </a:xfrm>
            <a:prstGeom prst="rect">
              <a:avLst/>
            </a:prstGeom>
          </p:spPr>
          <p:txBody>
            <a:bodyPr anchor="ctr" rtlCol="false" tIns="0" lIns="0" bIns="0" rIns="0"/>
            <a:lstStyle/>
            <a:p>
              <a:pPr algn="l">
                <a:lnSpc>
                  <a:spcPts val="2040"/>
                </a:lnSpc>
              </a:pPr>
              <a:r>
                <a:rPr lang="en-US" sz="1700" b="true">
                  <a:solidFill>
                    <a:srgbClr val="737AE6"/>
                  </a:solidFill>
                  <a:latin typeface="Poppins Bold"/>
                  <a:ea typeface="Poppins Bold"/>
                  <a:cs typeface="Poppins Bold"/>
                  <a:sym typeface="Poppins Bold"/>
                </a:rPr>
                <a:t>✓  Eligible</a:t>
              </a:r>
            </a:p>
          </p:txBody>
        </p:sp>
      </p:grpSp>
      <p:sp>
        <p:nvSpPr>
          <p:cNvPr name="TextBox 30" id="30"/>
          <p:cNvSpPr txBox="true"/>
          <p:nvPr/>
        </p:nvSpPr>
        <p:spPr>
          <a:xfrm rot="0">
            <a:off x="2194560" y="4900803"/>
            <a:ext cx="6217920" cy="200025"/>
          </a:xfrm>
          <a:prstGeom prst="rect">
            <a:avLst/>
          </a:prstGeom>
        </p:spPr>
        <p:txBody>
          <a:bodyPr anchor="t" rtlCol="false" tIns="0" lIns="0" bIns="0" rIns="0">
            <a:spAutoFit/>
          </a:bodyPr>
          <a:lstStyle/>
          <a:p>
            <a:pPr algn="l">
              <a:lnSpc>
                <a:spcPts val="1500"/>
              </a:lnSpc>
            </a:pPr>
            <a:r>
              <a:rPr lang="en-US" sz="1250">
                <a:solidFill>
                  <a:srgbClr val="1F3338"/>
                </a:solidFill>
                <a:latin typeface="Poppins"/>
                <a:ea typeface="Poppins"/>
                <a:cs typeface="Poppins"/>
                <a:sym typeface="Poppins"/>
              </a:rPr>
              <a:t>Start button is active :  the assessment can be opened and begun</a:t>
            </a:r>
          </a:p>
        </p:txBody>
      </p:sp>
      <p:grpSp>
        <p:nvGrpSpPr>
          <p:cNvPr name="Group 31" id="31"/>
          <p:cNvGrpSpPr/>
          <p:nvPr/>
        </p:nvGrpSpPr>
        <p:grpSpPr>
          <a:xfrm rot="0">
            <a:off x="9497063" y="4330703"/>
            <a:ext cx="6974843" cy="1214123"/>
            <a:chOff x="0" y="0"/>
            <a:chExt cx="9299791" cy="1618831"/>
          </a:xfrm>
        </p:grpSpPr>
        <p:sp>
          <p:nvSpPr>
            <p:cNvPr name="Freeform 32" id="32"/>
            <p:cNvSpPr/>
            <p:nvPr/>
          </p:nvSpPr>
          <p:spPr>
            <a:xfrm flipH="false" flipV="false" rot="0">
              <a:off x="0" y="0"/>
              <a:ext cx="9299829" cy="1618869"/>
            </a:xfrm>
            <a:custGeom>
              <a:avLst/>
              <a:gdLst/>
              <a:ahLst/>
              <a:cxnLst/>
              <a:rect r="r" b="b" t="t" l="l"/>
              <a:pathLst>
                <a:path h="1618869" w="9299829">
                  <a:moveTo>
                    <a:pt x="0" y="149479"/>
                  </a:moveTo>
                  <a:cubicBezTo>
                    <a:pt x="0" y="66929"/>
                    <a:pt x="66929" y="0"/>
                    <a:pt x="149479" y="0"/>
                  </a:cubicBezTo>
                  <a:lnTo>
                    <a:pt x="9150350" y="0"/>
                  </a:lnTo>
                  <a:cubicBezTo>
                    <a:pt x="9232900" y="0"/>
                    <a:pt x="9299829" y="66929"/>
                    <a:pt x="9299829" y="149479"/>
                  </a:cubicBezTo>
                  <a:lnTo>
                    <a:pt x="9299829" y="1469390"/>
                  </a:lnTo>
                  <a:cubicBezTo>
                    <a:pt x="9299829" y="1551940"/>
                    <a:pt x="9232900" y="1618869"/>
                    <a:pt x="9150350" y="1618869"/>
                  </a:cubicBezTo>
                  <a:lnTo>
                    <a:pt x="149479" y="1618869"/>
                  </a:lnTo>
                  <a:cubicBezTo>
                    <a:pt x="66929" y="1618869"/>
                    <a:pt x="0" y="1551940"/>
                    <a:pt x="0" y="1469390"/>
                  </a:cubicBezTo>
                  <a:close/>
                </a:path>
              </a:pathLst>
            </a:custGeom>
            <a:solidFill>
              <a:srgbClr val="FFFFFF"/>
            </a:solidFill>
            <a:ln w="25400" cap="sq">
              <a:solidFill>
                <a:srgbClr val="C8DAE4"/>
              </a:solidFill>
              <a:prstDash val="solid"/>
              <a:miter/>
            </a:ln>
          </p:spPr>
        </p:sp>
      </p:grpSp>
      <p:grpSp>
        <p:nvGrpSpPr>
          <p:cNvPr name="Group 33" id="33"/>
          <p:cNvGrpSpPr/>
          <p:nvPr/>
        </p:nvGrpSpPr>
        <p:grpSpPr>
          <a:xfrm rot="0">
            <a:off x="9875520" y="4480560"/>
            <a:ext cx="6217920" cy="411480"/>
            <a:chOff x="0" y="0"/>
            <a:chExt cx="8290560" cy="548640"/>
          </a:xfrm>
        </p:grpSpPr>
        <p:sp>
          <p:nvSpPr>
            <p:cNvPr name="Freeform 34" id="34"/>
            <p:cNvSpPr/>
            <p:nvPr/>
          </p:nvSpPr>
          <p:spPr>
            <a:xfrm flipH="false" flipV="false" rot="0">
              <a:off x="0" y="0"/>
              <a:ext cx="8290560" cy="548640"/>
            </a:xfrm>
            <a:custGeom>
              <a:avLst/>
              <a:gdLst/>
              <a:ahLst/>
              <a:cxnLst/>
              <a:rect r="r" b="b" t="t" l="l"/>
              <a:pathLst>
                <a:path h="548640" w="8290560">
                  <a:moveTo>
                    <a:pt x="0" y="0"/>
                  </a:moveTo>
                  <a:lnTo>
                    <a:pt x="8290560" y="0"/>
                  </a:lnTo>
                  <a:lnTo>
                    <a:pt x="8290560" y="548640"/>
                  </a:lnTo>
                  <a:lnTo>
                    <a:pt x="0" y="548640"/>
                  </a:lnTo>
                  <a:close/>
                </a:path>
              </a:pathLst>
            </a:custGeom>
            <a:blipFill>
              <a:blip r:embed="rId2">
                <a:alphaModFix amt="0"/>
              </a:blip>
              <a:stretch>
                <a:fillRect l="0" t="-244440" r="0" b="-244440"/>
              </a:stretch>
            </a:blipFill>
          </p:spPr>
        </p:sp>
        <p:sp>
          <p:nvSpPr>
            <p:cNvPr name="TextBox 35" id="35"/>
            <p:cNvSpPr txBox="true"/>
            <p:nvPr/>
          </p:nvSpPr>
          <p:spPr>
            <a:xfrm>
              <a:off x="0" y="-28575"/>
              <a:ext cx="8290560" cy="577215"/>
            </a:xfrm>
            <a:prstGeom prst="rect">
              <a:avLst/>
            </a:prstGeom>
          </p:spPr>
          <p:txBody>
            <a:bodyPr anchor="ctr" rtlCol="false" tIns="0" lIns="0" bIns="0" rIns="0"/>
            <a:lstStyle/>
            <a:p>
              <a:pPr algn="l">
                <a:lnSpc>
                  <a:spcPts val="2040"/>
                </a:lnSpc>
              </a:pPr>
              <a:r>
                <a:rPr lang="en-US" sz="1700" b="true">
                  <a:solidFill>
                    <a:srgbClr val="1F3338"/>
                  </a:solidFill>
                  <a:latin typeface="Poppins Bold"/>
                  <a:ea typeface="Poppins Bold"/>
                  <a:cs typeface="Poppins Bold"/>
                  <a:sym typeface="Poppins Bold"/>
                </a:rPr>
                <a:t>✕  Restricted</a:t>
              </a:r>
            </a:p>
          </p:txBody>
        </p:sp>
      </p:grpSp>
      <p:sp>
        <p:nvSpPr>
          <p:cNvPr name="TextBox 36" id="36"/>
          <p:cNvSpPr txBox="true"/>
          <p:nvPr/>
        </p:nvSpPr>
        <p:spPr>
          <a:xfrm rot="0">
            <a:off x="9875520" y="4900803"/>
            <a:ext cx="6217920" cy="390525"/>
          </a:xfrm>
          <a:prstGeom prst="rect">
            <a:avLst/>
          </a:prstGeom>
        </p:spPr>
        <p:txBody>
          <a:bodyPr anchor="t" rtlCol="false" tIns="0" lIns="0" bIns="0" rIns="0">
            <a:spAutoFit/>
          </a:bodyPr>
          <a:lstStyle/>
          <a:p>
            <a:pPr algn="l">
              <a:lnSpc>
                <a:spcPts val="1500"/>
              </a:lnSpc>
            </a:pPr>
            <a:r>
              <a:rPr lang="en-US" sz="1250">
                <a:solidFill>
                  <a:srgbClr val="1F3338"/>
                </a:solidFill>
                <a:latin typeface="Poppins"/>
                <a:ea typeface="Poppins"/>
                <a:cs typeface="Poppins"/>
                <a:sym typeface="Poppins"/>
              </a:rPr>
              <a:t>Start button is disabled :  the reason and remaining wait time are shown instead</a:t>
            </a:r>
          </a:p>
        </p:txBody>
      </p:sp>
      <p:grpSp>
        <p:nvGrpSpPr>
          <p:cNvPr name="Group 37" id="37"/>
          <p:cNvGrpSpPr/>
          <p:nvPr/>
        </p:nvGrpSpPr>
        <p:grpSpPr>
          <a:xfrm rot="0">
            <a:off x="813435" y="5888355"/>
            <a:ext cx="5231130" cy="2487930"/>
            <a:chOff x="0" y="0"/>
            <a:chExt cx="6974840" cy="3317240"/>
          </a:xfrm>
        </p:grpSpPr>
        <p:sp>
          <p:nvSpPr>
            <p:cNvPr name="Freeform 38" id="38"/>
            <p:cNvSpPr/>
            <p:nvPr/>
          </p:nvSpPr>
          <p:spPr>
            <a:xfrm flipH="false" flipV="false" rot="0">
              <a:off x="0" y="0"/>
              <a:ext cx="6974840" cy="3317240"/>
            </a:xfrm>
            <a:custGeom>
              <a:avLst/>
              <a:gdLst/>
              <a:ahLst/>
              <a:cxnLst/>
              <a:rect r="r" b="b" t="t" l="l"/>
              <a:pathLst>
                <a:path h="3317240" w="6974840">
                  <a:moveTo>
                    <a:pt x="0" y="147447"/>
                  </a:moveTo>
                  <a:cubicBezTo>
                    <a:pt x="0" y="66040"/>
                    <a:pt x="66040" y="0"/>
                    <a:pt x="147447" y="0"/>
                  </a:cubicBezTo>
                  <a:lnTo>
                    <a:pt x="6827393" y="0"/>
                  </a:lnTo>
                  <a:cubicBezTo>
                    <a:pt x="6908800" y="0"/>
                    <a:pt x="6974840" y="66040"/>
                    <a:pt x="6974840" y="147447"/>
                  </a:cubicBezTo>
                  <a:lnTo>
                    <a:pt x="6974840" y="3169793"/>
                  </a:lnTo>
                  <a:cubicBezTo>
                    <a:pt x="6974840" y="3251200"/>
                    <a:pt x="6908800" y="3317240"/>
                    <a:pt x="6827393" y="3317240"/>
                  </a:cubicBezTo>
                  <a:lnTo>
                    <a:pt x="147447" y="3317240"/>
                  </a:lnTo>
                  <a:cubicBezTo>
                    <a:pt x="66040" y="3317240"/>
                    <a:pt x="0" y="3251200"/>
                    <a:pt x="0" y="3169793"/>
                  </a:cubicBezTo>
                  <a:close/>
                </a:path>
              </a:pathLst>
            </a:custGeom>
            <a:solidFill>
              <a:srgbClr val="FFFFFF"/>
            </a:solidFill>
            <a:ln w="19050" cap="sq">
              <a:solidFill>
                <a:srgbClr val="C8DAE4"/>
              </a:solidFill>
              <a:prstDash val="solid"/>
              <a:miter/>
            </a:ln>
          </p:spPr>
        </p:sp>
      </p:grpSp>
      <p:grpSp>
        <p:nvGrpSpPr>
          <p:cNvPr name="Group 39" id="39"/>
          <p:cNvGrpSpPr/>
          <p:nvPr/>
        </p:nvGrpSpPr>
        <p:grpSpPr>
          <a:xfrm rot="0">
            <a:off x="1143000" y="6117336"/>
            <a:ext cx="4572000" cy="384048"/>
            <a:chOff x="0" y="0"/>
            <a:chExt cx="6096000" cy="512064"/>
          </a:xfrm>
        </p:grpSpPr>
        <p:sp>
          <p:nvSpPr>
            <p:cNvPr name="Freeform 40" id="40"/>
            <p:cNvSpPr/>
            <p:nvPr/>
          </p:nvSpPr>
          <p:spPr>
            <a:xfrm flipH="false" flipV="false" rot="0">
              <a:off x="0" y="0"/>
              <a:ext cx="6096000" cy="512064"/>
            </a:xfrm>
            <a:custGeom>
              <a:avLst/>
              <a:gdLst/>
              <a:ahLst/>
              <a:cxnLst/>
              <a:rect r="r" b="b" t="t" l="l"/>
              <a:pathLst>
                <a:path h="512064" w="6096000">
                  <a:moveTo>
                    <a:pt x="0" y="0"/>
                  </a:moveTo>
                  <a:lnTo>
                    <a:pt x="6096000" y="0"/>
                  </a:lnTo>
                  <a:lnTo>
                    <a:pt x="6096000" y="512064"/>
                  </a:lnTo>
                  <a:lnTo>
                    <a:pt x="0" y="512064"/>
                  </a:lnTo>
                  <a:close/>
                </a:path>
              </a:pathLst>
            </a:custGeom>
            <a:blipFill>
              <a:blip r:embed="rId2">
                <a:alphaModFix amt="0"/>
              </a:blip>
              <a:stretch>
                <a:fillRect l="0" t="-181964" r="0" b="-181964"/>
              </a:stretch>
            </a:blipFill>
          </p:spPr>
        </p:sp>
        <p:sp>
          <p:nvSpPr>
            <p:cNvPr name="TextBox 41" id="41"/>
            <p:cNvSpPr txBox="true"/>
            <p:nvPr/>
          </p:nvSpPr>
          <p:spPr>
            <a:xfrm>
              <a:off x="0" y="-9525"/>
              <a:ext cx="6096000" cy="521589"/>
            </a:xfrm>
            <a:prstGeom prst="rect">
              <a:avLst/>
            </a:prstGeom>
          </p:spPr>
          <p:txBody>
            <a:bodyPr anchor="ctr" rtlCol="false" tIns="0" lIns="0" bIns="0" rIns="0"/>
            <a:lstStyle/>
            <a:p>
              <a:pPr algn="l">
                <a:lnSpc>
                  <a:spcPts val="1860"/>
                </a:lnSpc>
              </a:pPr>
              <a:r>
                <a:rPr lang="en-US" sz="1550" b="true">
                  <a:solidFill>
                    <a:srgbClr val="737AE6"/>
                  </a:solidFill>
                  <a:latin typeface="Poppins Bold"/>
                  <a:ea typeface="Poppins Bold"/>
                  <a:cs typeface="Poppins Bold"/>
                  <a:sym typeface="Poppins Bold"/>
                </a:rPr>
                <a:t>First Month</a:t>
              </a:r>
            </a:p>
          </p:txBody>
        </p:sp>
      </p:grpSp>
      <p:sp>
        <p:nvSpPr>
          <p:cNvPr name="TextBox 42" id="42"/>
          <p:cNvSpPr txBox="true"/>
          <p:nvPr/>
        </p:nvSpPr>
        <p:spPr>
          <a:xfrm rot="0">
            <a:off x="1143000" y="6601587"/>
            <a:ext cx="4572000" cy="1564005"/>
          </a:xfrm>
          <a:prstGeom prst="rect">
            <a:avLst/>
          </a:prstGeom>
        </p:spPr>
        <p:txBody>
          <a:bodyPr anchor="t" rtlCol="false" tIns="0" lIns="0" bIns="0" rIns="0">
            <a:spAutoFit/>
          </a:bodyPr>
          <a:lstStyle/>
          <a:p>
            <a:pPr algn="l" marL="150813" indent="-75406" lvl="1">
              <a:lnSpc>
                <a:spcPts val="1500"/>
              </a:lnSpc>
              <a:buFont typeface="Arial"/>
              <a:buChar char="•"/>
            </a:pPr>
            <a:r>
              <a:rPr lang="en-US" sz="1250">
                <a:solidFill>
                  <a:srgbClr val="1F3338"/>
                </a:solidFill>
                <a:latin typeface="Poppins"/>
                <a:ea typeface="Poppins"/>
                <a:cs typeface="Poppins"/>
                <a:sym typeface="Poppins"/>
              </a:rPr>
              <a:t>Max 4 assessments allowed in the first calendar month after registration</a:t>
            </a:r>
          </a:p>
          <a:p>
            <a:pPr algn="l" marL="150813" indent="-75406" lvl="1">
              <a:lnSpc>
                <a:spcPts val="1500"/>
              </a:lnSpc>
              <a:buFont typeface="Arial"/>
              <a:buChar char="•"/>
            </a:pPr>
            <a:r>
              <a:rPr lang="en-US" sz="1250">
                <a:solidFill>
                  <a:srgbClr val="1F3338"/>
                </a:solidFill>
                <a:latin typeface="Poppins"/>
                <a:ea typeface="Poppins"/>
                <a:cs typeface="Poppins"/>
                <a:sym typeface="Poppins"/>
              </a:rPr>
              <a:t>Counter resets once that calendar month ends</a:t>
            </a:r>
          </a:p>
        </p:txBody>
      </p:sp>
      <p:grpSp>
        <p:nvGrpSpPr>
          <p:cNvPr name="Group 43" id="43"/>
          <p:cNvGrpSpPr/>
          <p:nvPr/>
        </p:nvGrpSpPr>
        <p:grpSpPr>
          <a:xfrm rot="0">
            <a:off x="6528435" y="5888355"/>
            <a:ext cx="5231130" cy="2487930"/>
            <a:chOff x="0" y="0"/>
            <a:chExt cx="6974840" cy="3317240"/>
          </a:xfrm>
        </p:grpSpPr>
        <p:sp>
          <p:nvSpPr>
            <p:cNvPr name="Freeform 44" id="44"/>
            <p:cNvSpPr/>
            <p:nvPr/>
          </p:nvSpPr>
          <p:spPr>
            <a:xfrm flipH="false" flipV="false" rot="0">
              <a:off x="0" y="0"/>
              <a:ext cx="6974840" cy="3317240"/>
            </a:xfrm>
            <a:custGeom>
              <a:avLst/>
              <a:gdLst/>
              <a:ahLst/>
              <a:cxnLst/>
              <a:rect r="r" b="b" t="t" l="l"/>
              <a:pathLst>
                <a:path h="3317240" w="6974840">
                  <a:moveTo>
                    <a:pt x="0" y="147447"/>
                  </a:moveTo>
                  <a:cubicBezTo>
                    <a:pt x="0" y="66040"/>
                    <a:pt x="66040" y="0"/>
                    <a:pt x="147447" y="0"/>
                  </a:cubicBezTo>
                  <a:lnTo>
                    <a:pt x="6827393" y="0"/>
                  </a:lnTo>
                  <a:cubicBezTo>
                    <a:pt x="6908800" y="0"/>
                    <a:pt x="6974840" y="66040"/>
                    <a:pt x="6974840" y="147447"/>
                  </a:cubicBezTo>
                  <a:lnTo>
                    <a:pt x="6974840" y="3169793"/>
                  </a:lnTo>
                  <a:cubicBezTo>
                    <a:pt x="6974840" y="3251200"/>
                    <a:pt x="6908800" y="3317240"/>
                    <a:pt x="6827393" y="3317240"/>
                  </a:cubicBezTo>
                  <a:lnTo>
                    <a:pt x="147447" y="3317240"/>
                  </a:lnTo>
                  <a:cubicBezTo>
                    <a:pt x="66040" y="3317240"/>
                    <a:pt x="0" y="3251200"/>
                    <a:pt x="0" y="3169793"/>
                  </a:cubicBezTo>
                  <a:close/>
                </a:path>
              </a:pathLst>
            </a:custGeom>
            <a:solidFill>
              <a:srgbClr val="FFFFFF"/>
            </a:solidFill>
            <a:ln w="19050" cap="sq">
              <a:solidFill>
                <a:srgbClr val="C8DAE4"/>
              </a:solidFill>
              <a:prstDash val="solid"/>
              <a:miter/>
            </a:ln>
          </p:spPr>
        </p:sp>
      </p:grpSp>
      <p:grpSp>
        <p:nvGrpSpPr>
          <p:cNvPr name="Group 45" id="45"/>
          <p:cNvGrpSpPr/>
          <p:nvPr/>
        </p:nvGrpSpPr>
        <p:grpSpPr>
          <a:xfrm rot="0">
            <a:off x="6858000" y="6117336"/>
            <a:ext cx="4572000" cy="384048"/>
            <a:chOff x="0" y="0"/>
            <a:chExt cx="6096000" cy="512064"/>
          </a:xfrm>
        </p:grpSpPr>
        <p:sp>
          <p:nvSpPr>
            <p:cNvPr name="Freeform 46" id="46"/>
            <p:cNvSpPr/>
            <p:nvPr/>
          </p:nvSpPr>
          <p:spPr>
            <a:xfrm flipH="false" flipV="false" rot="0">
              <a:off x="0" y="0"/>
              <a:ext cx="6096000" cy="512064"/>
            </a:xfrm>
            <a:custGeom>
              <a:avLst/>
              <a:gdLst/>
              <a:ahLst/>
              <a:cxnLst/>
              <a:rect r="r" b="b" t="t" l="l"/>
              <a:pathLst>
                <a:path h="512064" w="6096000">
                  <a:moveTo>
                    <a:pt x="0" y="0"/>
                  </a:moveTo>
                  <a:lnTo>
                    <a:pt x="6096000" y="0"/>
                  </a:lnTo>
                  <a:lnTo>
                    <a:pt x="6096000" y="512064"/>
                  </a:lnTo>
                  <a:lnTo>
                    <a:pt x="0" y="512064"/>
                  </a:lnTo>
                  <a:close/>
                </a:path>
              </a:pathLst>
            </a:custGeom>
            <a:blipFill>
              <a:blip r:embed="rId2">
                <a:alphaModFix amt="0"/>
              </a:blip>
              <a:stretch>
                <a:fillRect l="0" t="-181964" r="0" b="-181964"/>
              </a:stretch>
            </a:blipFill>
          </p:spPr>
        </p:sp>
        <p:sp>
          <p:nvSpPr>
            <p:cNvPr name="TextBox 47" id="47"/>
            <p:cNvSpPr txBox="true"/>
            <p:nvPr/>
          </p:nvSpPr>
          <p:spPr>
            <a:xfrm>
              <a:off x="0" y="-9525"/>
              <a:ext cx="6096000" cy="521589"/>
            </a:xfrm>
            <a:prstGeom prst="rect">
              <a:avLst/>
            </a:prstGeom>
          </p:spPr>
          <p:txBody>
            <a:bodyPr anchor="ctr" rtlCol="false" tIns="0" lIns="0" bIns="0" rIns="0"/>
            <a:lstStyle/>
            <a:p>
              <a:pPr algn="l">
                <a:lnSpc>
                  <a:spcPts val="1860"/>
                </a:lnSpc>
              </a:pPr>
              <a:r>
                <a:rPr lang="en-US" sz="1550" b="true">
                  <a:solidFill>
                    <a:srgbClr val="737AE6"/>
                  </a:solidFill>
                  <a:latin typeface="Poppins Bold"/>
                  <a:ea typeface="Poppins Bold"/>
                  <a:cs typeface="Poppins Bold"/>
                  <a:sym typeface="Poppins Bold"/>
                </a:rPr>
                <a:t>Subsequent Months</a:t>
              </a:r>
            </a:p>
          </p:txBody>
        </p:sp>
      </p:grpSp>
      <p:sp>
        <p:nvSpPr>
          <p:cNvPr name="TextBox 48" id="48"/>
          <p:cNvSpPr txBox="true"/>
          <p:nvPr/>
        </p:nvSpPr>
        <p:spPr>
          <a:xfrm rot="0">
            <a:off x="6858000" y="6601587"/>
            <a:ext cx="4572000" cy="1564005"/>
          </a:xfrm>
          <a:prstGeom prst="rect">
            <a:avLst/>
          </a:prstGeom>
        </p:spPr>
        <p:txBody>
          <a:bodyPr anchor="t" rtlCol="false" tIns="0" lIns="0" bIns="0" rIns="0">
            <a:spAutoFit/>
          </a:bodyPr>
          <a:lstStyle/>
          <a:p>
            <a:pPr algn="l" marL="150813" indent="-75406" lvl="1">
              <a:lnSpc>
                <a:spcPts val="1500"/>
              </a:lnSpc>
              <a:buFont typeface="Arial"/>
              <a:buChar char="•"/>
            </a:pPr>
            <a:r>
              <a:rPr lang="en-US" sz="1250">
                <a:solidFill>
                  <a:srgbClr val="1F3338"/>
                </a:solidFill>
                <a:latin typeface="Poppins"/>
                <a:ea typeface="Poppins"/>
                <a:cs typeface="Poppins"/>
                <a:sym typeface="Poppins"/>
              </a:rPr>
              <a:t>Max 2 assessments allowed per month, every month after the first</a:t>
            </a:r>
          </a:p>
          <a:p>
            <a:pPr algn="l" marL="150813" indent="-75406" lvl="1">
              <a:lnSpc>
                <a:spcPts val="1500"/>
              </a:lnSpc>
              <a:buFont typeface="Arial"/>
              <a:buChar char="•"/>
            </a:pPr>
            <a:r>
              <a:rPr lang="en-US" sz="1250">
                <a:solidFill>
                  <a:srgbClr val="1F3338"/>
                </a:solidFill>
                <a:latin typeface="Poppins"/>
                <a:ea typeface="Poppins"/>
                <a:cs typeface="Poppins"/>
                <a:sym typeface="Poppins"/>
              </a:rPr>
              <a:t>Applies across all skills combined, not per skill</a:t>
            </a:r>
          </a:p>
        </p:txBody>
      </p:sp>
      <p:grpSp>
        <p:nvGrpSpPr>
          <p:cNvPr name="Group 49" id="49"/>
          <p:cNvGrpSpPr/>
          <p:nvPr/>
        </p:nvGrpSpPr>
        <p:grpSpPr>
          <a:xfrm rot="0">
            <a:off x="12243435" y="5888355"/>
            <a:ext cx="5231130" cy="2487930"/>
            <a:chOff x="0" y="0"/>
            <a:chExt cx="6974840" cy="3317240"/>
          </a:xfrm>
        </p:grpSpPr>
        <p:sp>
          <p:nvSpPr>
            <p:cNvPr name="Freeform 50" id="50"/>
            <p:cNvSpPr/>
            <p:nvPr/>
          </p:nvSpPr>
          <p:spPr>
            <a:xfrm flipH="false" flipV="false" rot="0">
              <a:off x="0" y="0"/>
              <a:ext cx="6974840" cy="3317240"/>
            </a:xfrm>
            <a:custGeom>
              <a:avLst/>
              <a:gdLst/>
              <a:ahLst/>
              <a:cxnLst/>
              <a:rect r="r" b="b" t="t" l="l"/>
              <a:pathLst>
                <a:path h="3317240" w="6974840">
                  <a:moveTo>
                    <a:pt x="0" y="147447"/>
                  </a:moveTo>
                  <a:cubicBezTo>
                    <a:pt x="0" y="66040"/>
                    <a:pt x="66040" y="0"/>
                    <a:pt x="147447" y="0"/>
                  </a:cubicBezTo>
                  <a:lnTo>
                    <a:pt x="6827393" y="0"/>
                  </a:lnTo>
                  <a:cubicBezTo>
                    <a:pt x="6908800" y="0"/>
                    <a:pt x="6974840" y="66040"/>
                    <a:pt x="6974840" y="147447"/>
                  </a:cubicBezTo>
                  <a:lnTo>
                    <a:pt x="6974840" y="3169793"/>
                  </a:lnTo>
                  <a:cubicBezTo>
                    <a:pt x="6974840" y="3251200"/>
                    <a:pt x="6908800" y="3317240"/>
                    <a:pt x="6827393" y="3317240"/>
                  </a:cubicBezTo>
                  <a:lnTo>
                    <a:pt x="147447" y="3317240"/>
                  </a:lnTo>
                  <a:cubicBezTo>
                    <a:pt x="66040" y="3317240"/>
                    <a:pt x="0" y="3251200"/>
                    <a:pt x="0" y="3169793"/>
                  </a:cubicBezTo>
                  <a:close/>
                </a:path>
              </a:pathLst>
            </a:custGeom>
            <a:solidFill>
              <a:srgbClr val="FFFFFF"/>
            </a:solidFill>
            <a:ln w="19050" cap="sq">
              <a:solidFill>
                <a:srgbClr val="C8DAE4"/>
              </a:solidFill>
              <a:prstDash val="solid"/>
              <a:miter/>
            </a:ln>
          </p:spPr>
        </p:sp>
      </p:grpSp>
      <p:grpSp>
        <p:nvGrpSpPr>
          <p:cNvPr name="Group 51" id="51"/>
          <p:cNvGrpSpPr/>
          <p:nvPr/>
        </p:nvGrpSpPr>
        <p:grpSpPr>
          <a:xfrm rot="0">
            <a:off x="12573000" y="6117336"/>
            <a:ext cx="4572000" cy="384048"/>
            <a:chOff x="0" y="0"/>
            <a:chExt cx="6096000" cy="512064"/>
          </a:xfrm>
        </p:grpSpPr>
        <p:sp>
          <p:nvSpPr>
            <p:cNvPr name="Freeform 52" id="52"/>
            <p:cNvSpPr/>
            <p:nvPr/>
          </p:nvSpPr>
          <p:spPr>
            <a:xfrm flipH="false" flipV="false" rot="0">
              <a:off x="0" y="0"/>
              <a:ext cx="6096000" cy="512064"/>
            </a:xfrm>
            <a:custGeom>
              <a:avLst/>
              <a:gdLst/>
              <a:ahLst/>
              <a:cxnLst/>
              <a:rect r="r" b="b" t="t" l="l"/>
              <a:pathLst>
                <a:path h="512064" w="6096000">
                  <a:moveTo>
                    <a:pt x="0" y="0"/>
                  </a:moveTo>
                  <a:lnTo>
                    <a:pt x="6096000" y="0"/>
                  </a:lnTo>
                  <a:lnTo>
                    <a:pt x="6096000" y="512064"/>
                  </a:lnTo>
                  <a:lnTo>
                    <a:pt x="0" y="512064"/>
                  </a:lnTo>
                  <a:close/>
                </a:path>
              </a:pathLst>
            </a:custGeom>
            <a:blipFill>
              <a:blip r:embed="rId2">
                <a:alphaModFix amt="0"/>
              </a:blip>
              <a:stretch>
                <a:fillRect l="0" t="-181964" r="0" b="-181964"/>
              </a:stretch>
            </a:blipFill>
          </p:spPr>
        </p:sp>
        <p:sp>
          <p:nvSpPr>
            <p:cNvPr name="TextBox 53" id="53"/>
            <p:cNvSpPr txBox="true"/>
            <p:nvPr/>
          </p:nvSpPr>
          <p:spPr>
            <a:xfrm>
              <a:off x="0" y="-9525"/>
              <a:ext cx="6096000" cy="521589"/>
            </a:xfrm>
            <a:prstGeom prst="rect">
              <a:avLst/>
            </a:prstGeom>
          </p:spPr>
          <p:txBody>
            <a:bodyPr anchor="ctr" rtlCol="false" tIns="0" lIns="0" bIns="0" rIns="0"/>
            <a:lstStyle/>
            <a:p>
              <a:pPr algn="l">
                <a:lnSpc>
                  <a:spcPts val="1860"/>
                </a:lnSpc>
              </a:pPr>
              <a:r>
                <a:rPr lang="en-US" sz="1550" b="true">
                  <a:solidFill>
                    <a:srgbClr val="737AE6"/>
                  </a:solidFill>
                  <a:latin typeface="Poppins Bold"/>
                  <a:ea typeface="Poppins Bold"/>
                  <a:cs typeface="Poppins Bold"/>
                  <a:sym typeface="Poppins Bold"/>
                </a:rPr>
                <a:t>Skill Cooldown</a:t>
              </a:r>
            </a:p>
          </p:txBody>
        </p:sp>
      </p:grpSp>
      <p:sp>
        <p:nvSpPr>
          <p:cNvPr name="TextBox 54" id="54"/>
          <p:cNvSpPr txBox="true"/>
          <p:nvPr/>
        </p:nvSpPr>
        <p:spPr>
          <a:xfrm rot="0">
            <a:off x="12573000" y="6601587"/>
            <a:ext cx="4572000" cy="1564005"/>
          </a:xfrm>
          <a:prstGeom prst="rect">
            <a:avLst/>
          </a:prstGeom>
        </p:spPr>
        <p:txBody>
          <a:bodyPr anchor="t" rtlCol="false" tIns="0" lIns="0" bIns="0" rIns="0">
            <a:spAutoFit/>
          </a:bodyPr>
          <a:lstStyle/>
          <a:p>
            <a:pPr algn="l" marL="150813" indent="-75406" lvl="1">
              <a:lnSpc>
                <a:spcPts val="1500"/>
              </a:lnSpc>
              <a:buFont typeface="Arial"/>
              <a:buChar char="•"/>
            </a:pPr>
            <a:r>
              <a:rPr lang="en-US" sz="1250">
                <a:solidFill>
                  <a:srgbClr val="1F3338"/>
                </a:solidFill>
                <a:latin typeface="Poppins"/>
                <a:ea typeface="Poppins"/>
                <a:cs typeface="Poppins"/>
                <a:sym typeface="Poppins"/>
              </a:rPr>
              <a:t>6 months must elapse before the same skill can be reassessed</a:t>
            </a:r>
          </a:p>
          <a:p>
            <a:pPr algn="l" marL="150813" indent="-75406" lvl="1">
              <a:lnSpc>
                <a:spcPts val="1500"/>
              </a:lnSpc>
              <a:buFont typeface="Arial"/>
              <a:buChar char="•"/>
            </a:pPr>
            <a:r>
              <a:rPr lang="en-US" sz="1250">
                <a:solidFill>
                  <a:srgbClr val="1F3338"/>
                </a:solidFill>
                <a:latin typeface="Poppins"/>
                <a:ea typeface="Poppins"/>
                <a:cs typeface="Poppins"/>
                <a:sym typeface="Poppins"/>
              </a:rPr>
              <a:t>Same 6-month lock is applied after a confirmed cheating violation on that skill</a:t>
            </a:r>
          </a:p>
        </p:txBody>
      </p:sp>
      <p:grpSp>
        <p:nvGrpSpPr>
          <p:cNvPr name="Group 55" id="55"/>
          <p:cNvGrpSpPr/>
          <p:nvPr/>
        </p:nvGrpSpPr>
        <p:grpSpPr>
          <a:xfrm rot="0">
            <a:off x="1143000" y="8641080"/>
            <a:ext cx="7680960" cy="868680"/>
            <a:chOff x="0" y="0"/>
            <a:chExt cx="10241280" cy="1158240"/>
          </a:xfrm>
        </p:grpSpPr>
        <p:sp>
          <p:nvSpPr>
            <p:cNvPr name="Freeform 56" id="56"/>
            <p:cNvSpPr/>
            <p:nvPr/>
          </p:nvSpPr>
          <p:spPr>
            <a:xfrm flipH="false" flipV="false" rot="0">
              <a:off x="0" y="0"/>
              <a:ext cx="10241280" cy="1158240"/>
            </a:xfrm>
            <a:custGeom>
              <a:avLst/>
              <a:gdLst/>
              <a:ahLst/>
              <a:cxnLst/>
              <a:rect r="r" b="b" t="t" l="l"/>
              <a:pathLst>
                <a:path h="1158240" w="10241280">
                  <a:moveTo>
                    <a:pt x="0" y="146304"/>
                  </a:moveTo>
                  <a:cubicBezTo>
                    <a:pt x="0" y="65532"/>
                    <a:pt x="65532" y="0"/>
                    <a:pt x="146304" y="0"/>
                  </a:cubicBezTo>
                  <a:lnTo>
                    <a:pt x="10094976" y="0"/>
                  </a:lnTo>
                  <a:cubicBezTo>
                    <a:pt x="10175748" y="0"/>
                    <a:pt x="10241280" y="65532"/>
                    <a:pt x="10241280" y="146304"/>
                  </a:cubicBezTo>
                  <a:lnTo>
                    <a:pt x="10241280" y="1011936"/>
                  </a:lnTo>
                  <a:cubicBezTo>
                    <a:pt x="10241280" y="1092708"/>
                    <a:pt x="10175748" y="1158240"/>
                    <a:pt x="10094976" y="1158240"/>
                  </a:cubicBezTo>
                  <a:lnTo>
                    <a:pt x="146304" y="1158240"/>
                  </a:lnTo>
                  <a:cubicBezTo>
                    <a:pt x="65532" y="1158240"/>
                    <a:pt x="0" y="1092708"/>
                    <a:pt x="0" y="1011936"/>
                  </a:cubicBezTo>
                  <a:close/>
                </a:path>
              </a:pathLst>
            </a:custGeom>
            <a:solidFill>
              <a:srgbClr val="737AE6"/>
            </a:solidFill>
          </p:spPr>
        </p:sp>
      </p:grpSp>
      <p:grpSp>
        <p:nvGrpSpPr>
          <p:cNvPr name="Group 57" id="57"/>
          <p:cNvGrpSpPr/>
          <p:nvPr/>
        </p:nvGrpSpPr>
        <p:grpSpPr>
          <a:xfrm rot="0">
            <a:off x="1508760" y="8641080"/>
            <a:ext cx="3200400" cy="868680"/>
            <a:chOff x="0" y="0"/>
            <a:chExt cx="4267200" cy="1158240"/>
          </a:xfrm>
        </p:grpSpPr>
        <p:sp>
          <p:nvSpPr>
            <p:cNvPr name="Freeform 58" id="58"/>
            <p:cNvSpPr/>
            <p:nvPr/>
          </p:nvSpPr>
          <p:spPr>
            <a:xfrm flipH="false" flipV="false" rot="0">
              <a:off x="0" y="0"/>
              <a:ext cx="4267200" cy="1158240"/>
            </a:xfrm>
            <a:custGeom>
              <a:avLst/>
              <a:gdLst/>
              <a:ahLst/>
              <a:cxnLst/>
              <a:rect r="r" b="b" t="t" l="l"/>
              <a:pathLst>
                <a:path h="1158240" w="4267200">
                  <a:moveTo>
                    <a:pt x="0" y="0"/>
                  </a:moveTo>
                  <a:lnTo>
                    <a:pt x="4267200" y="0"/>
                  </a:lnTo>
                  <a:lnTo>
                    <a:pt x="4267200" y="1158240"/>
                  </a:lnTo>
                  <a:lnTo>
                    <a:pt x="0" y="1158240"/>
                  </a:lnTo>
                  <a:close/>
                </a:path>
              </a:pathLst>
            </a:custGeom>
            <a:blipFill>
              <a:blip r:embed="rId2">
                <a:alphaModFix amt="0"/>
              </a:blip>
              <a:stretch>
                <a:fillRect l="0" t="-21786" r="0" b="-21786"/>
              </a:stretch>
            </a:blipFill>
          </p:spPr>
        </p:sp>
        <p:sp>
          <p:nvSpPr>
            <p:cNvPr name="TextBox 59" id="59"/>
            <p:cNvSpPr txBox="true"/>
            <p:nvPr/>
          </p:nvSpPr>
          <p:spPr>
            <a:xfrm>
              <a:off x="0" y="-9525"/>
              <a:ext cx="4267200" cy="1167765"/>
            </a:xfrm>
            <a:prstGeom prst="rect">
              <a:avLst/>
            </a:prstGeom>
          </p:spPr>
          <p:txBody>
            <a:bodyPr anchor="ctr" rtlCol="false" tIns="0" lIns="0" bIns="0" rIns="0"/>
            <a:lstStyle/>
            <a:p>
              <a:pPr algn="l">
                <a:lnSpc>
                  <a:spcPts val="1739"/>
                </a:lnSpc>
              </a:pPr>
              <a:r>
                <a:rPr lang="en-US" sz="1449" b="true">
                  <a:solidFill>
                    <a:srgbClr val="FFFFFF"/>
                  </a:solidFill>
                  <a:latin typeface="Poppins Bold"/>
                  <a:ea typeface="Poppins Bold"/>
                  <a:cs typeface="Poppins Bold"/>
                  <a:sym typeface="Poppins Bold"/>
                </a:rPr>
                <a:t>With Editor</a:t>
              </a:r>
            </a:p>
          </p:txBody>
        </p:sp>
      </p:grpSp>
      <p:grpSp>
        <p:nvGrpSpPr>
          <p:cNvPr name="Group 60" id="60"/>
          <p:cNvGrpSpPr/>
          <p:nvPr/>
        </p:nvGrpSpPr>
        <p:grpSpPr>
          <a:xfrm rot="0">
            <a:off x="4983480" y="8641080"/>
            <a:ext cx="3474720" cy="868680"/>
            <a:chOff x="0" y="0"/>
            <a:chExt cx="4632960" cy="1158240"/>
          </a:xfrm>
        </p:grpSpPr>
        <p:sp>
          <p:nvSpPr>
            <p:cNvPr name="Freeform 61" id="61"/>
            <p:cNvSpPr/>
            <p:nvPr/>
          </p:nvSpPr>
          <p:spPr>
            <a:xfrm flipH="false" flipV="false" rot="0">
              <a:off x="0" y="0"/>
              <a:ext cx="4632960" cy="1158240"/>
            </a:xfrm>
            <a:custGeom>
              <a:avLst/>
              <a:gdLst/>
              <a:ahLst/>
              <a:cxnLst/>
              <a:rect r="r" b="b" t="t" l="l"/>
              <a:pathLst>
                <a:path h="1158240" w="4632960">
                  <a:moveTo>
                    <a:pt x="0" y="0"/>
                  </a:moveTo>
                  <a:lnTo>
                    <a:pt x="4632960" y="0"/>
                  </a:lnTo>
                  <a:lnTo>
                    <a:pt x="4632960" y="1158240"/>
                  </a:lnTo>
                  <a:lnTo>
                    <a:pt x="0" y="1158240"/>
                  </a:lnTo>
                  <a:close/>
                </a:path>
              </a:pathLst>
            </a:custGeom>
            <a:blipFill>
              <a:blip r:embed="rId2">
                <a:alphaModFix amt="0"/>
              </a:blip>
              <a:stretch>
                <a:fillRect l="0" t="-27940" r="0" b="-27940"/>
              </a:stretch>
            </a:blipFill>
          </p:spPr>
        </p:sp>
        <p:sp>
          <p:nvSpPr>
            <p:cNvPr name="TextBox 62" id="62"/>
            <p:cNvSpPr txBox="true"/>
            <p:nvPr/>
          </p:nvSpPr>
          <p:spPr>
            <a:xfrm>
              <a:off x="0" y="-9525"/>
              <a:ext cx="4632960" cy="1167765"/>
            </a:xfrm>
            <a:prstGeom prst="rect">
              <a:avLst/>
            </a:prstGeom>
          </p:spPr>
          <p:txBody>
            <a:bodyPr anchor="ctr" rtlCol="false" tIns="0" lIns="0" bIns="0" rIns="0"/>
            <a:lstStyle/>
            <a:p>
              <a:pPr algn="r">
                <a:lnSpc>
                  <a:spcPts val="1559"/>
                </a:lnSpc>
              </a:pPr>
              <a:r>
                <a:rPr lang="en-US" sz="1299">
                  <a:solidFill>
                    <a:srgbClr val="FFFFFF"/>
                  </a:solidFill>
                  <a:latin typeface="Poppins"/>
                  <a:ea typeface="Poppins"/>
                  <a:cs typeface="Poppins"/>
                  <a:sym typeface="Poppins"/>
                </a:rPr>
                <a:t>21 questions · 32 min</a:t>
              </a:r>
            </a:p>
          </p:txBody>
        </p:sp>
      </p:grpSp>
      <p:grpSp>
        <p:nvGrpSpPr>
          <p:cNvPr name="Group 63" id="63"/>
          <p:cNvGrpSpPr/>
          <p:nvPr/>
        </p:nvGrpSpPr>
        <p:grpSpPr>
          <a:xfrm rot="0">
            <a:off x="9464040" y="8641080"/>
            <a:ext cx="7680960" cy="868680"/>
            <a:chOff x="0" y="0"/>
            <a:chExt cx="10241280" cy="1158240"/>
          </a:xfrm>
        </p:grpSpPr>
        <p:sp>
          <p:nvSpPr>
            <p:cNvPr name="Freeform 64" id="64"/>
            <p:cNvSpPr/>
            <p:nvPr/>
          </p:nvSpPr>
          <p:spPr>
            <a:xfrm flipH="false" flipV="false" rot="0">
              <a:off x="0" y="0"/>
              <a:ext cx="10241280" cy="1158240"/>
            </a:xfrm>
            <a:custGeom>
              <a:avLst/>
              <a:gdLst/>
              <a:ahLst/>
              <a:cxnLst/>
              <a:rect r="r" b="b" t="t" l="l"/>
              <a:pathLst>
                <a:path h="1158240" w="10241280">
                  <a:moveTo>
                    <a:pt x="0" y="146304"/>
                  </a:moveTo>
                  <a:cubicBezTo>
                    <a:pt x="0" y="65532"/>
                    <a:pt x="65532" y="0"/>
                    <a:pt x="146304" y="0"/>
                  </a:cubicBezTo>
                  <a:lnTo>
                    <a:pt x="10094976" y="0"/>
                  </a:lnTo>
                  <a:cubicBezTo>
                    <a:pt x="10175748" y="0"/>
                    <a:pt x="10241280" y="65532"/>
                    <a:pt x="10241280" y="146304"/>
                  </a:cubicBezTo>
                  <a:lnTo>
                    <a:pt x="10241280" y="1011936"/>
                  </a:lnTo>
                  <a:cubicBezTo>
                    <a:pt x="10241280" y="1092708"/>
                    <a:pt x="10175748" y="1158240"/>
                    <a:pt x="10094976" y="1158240"/>
                  </a:cubicBezTo>
                  <a:lnTo>
                    <a:pt x="146304" y="1158240"/>
                  </a:lnTo>
                  <a:cubicBezTo>
                    <a:pt x="65532" y="1158240"/>
                    <a:pt x="0" y="1092708"/>
                    <a:pt x="0" y="1011936"/>
                  </a:cubicBezTo>
                  <a:close/>
                </a:path>
              </a:pathLst>
            </a:custGeom>
            <a:solidFill>
              <a:srgbClr val="C8DAE4"/>
            </a:solidFill>
          </p:spPr>
        </p:sp>
      </p:grpSp>
      <p:grpSp>
        <p:nvGrpSpPr>
          <p:cNvPr name="Group 65" id="65"/>
          <p:cNvGrpSpPr/>
          <p:nvPr/>
        </p:nvGrpSpPr>
        <p:grpSpPr>
          <a:xfrm rot="0">
            <a:off x="9829800" y="8641080"/>
            <a:ext cx="3200400" cy="868680"/>
            <a:chOff x="0" y="0"/>
            <a:chExt cx="4267200" cy="1158240"/>
          </a:xfrm>
        </p:grpSpPr>
        <p:sp>
          <p:nvSpPr>
            <p:cNvPr name="Freeform 66" id="66"/>
            <p:cNvSpPr/>
            <p:nvPr/>
          </p:nvSpPr>
          <p:spPr>
            <a:xfrm flipH="false" flipV="false" rot="0">
              <a:off x="0" y="0"/>
              <a:ext cx="4267200" cy="1158240"/>
            </a:xfrm>
            <a:custGeom>
              <a:avLst/>
              <a:gdLst/>
              <a:ahLst/>
              <a:cxnLst/>
              <a:rect r="r" b="b" t="t" l="l"/>
              <a:pathLst>
                <a:path h="1158240" w="4267200">
                  <a:moveTo>
                    <a:pt x="0" y="0"/>
                  </a:moveTo>
                  <a:lnTo>
                    <a:pt x="4267200" y="0"/>
                  </a:lnTo>
                  <a:lnTo>
                    <a:pt x="4267200" y="1158240"/>
                  </a:lnTo>
                  <a:lnTo>
                    <a:pt x="0" y="1158240"/>
                  </a:lnTo>
                  <a:close/>
                </a:path>
              </a:pathLst>
            </a:custGeom>
            <a:blipFill>
              <a:blip r:embed="rId2">
                <a:alphaModFix amt="0"/>
              </a:blip>
              <a:stretch>
                <a:fillRect l="0" t="-21786" r="0" b="-21786"/>
              </a:stretch>
            </a:blipFill>
          </p:spPr>
        </p:sp>
        <p:sp>
          <p:nvSpPr>
            <p:cNvPr name="TextBox 67" id="67"/>
            <p:cNvSpPr txBox="true"/>
            <p:nvPr/>
          </p:nvSpPr>
          <p:spPr>
            <a:xfrm>
              <a:off x="0" y="-9525"/>
              <a:ext cx="4267200" cy="1167765"/>
            </a:xfrm>
            <a:prstGeom prst="rect">
              <a:avLst/>
            </a:prstGeom>
          </p:spPr>
          <p:txBody>
            <a:bodyPr anchor="ctr" rtlCol="false" tIns="0" lIns="0" bIns="0" rIns="0"/>
            <a:lstStyle/>
            <a:p>
              <a:pPr algn="l">
                <a:lnSpc>
                  <a:spcPts val="1739"/>
                </a:lnSpc>
              </a:pPr>
              <a:r>
                <a:rPr lang="en-US" sz="1449" b="true">
                  <a:solidFill>
                    <a:srgbClr val="1F3338"/>
                  </a:solidFill>
                  <a:latin typeface="Poppins Bold"/>
                  <a:ea typeface="Poppins Bold"/>
                  <a:cs typeface="Poppins Bold"/>
                  <a:sym typeface="Poppins Bold"/>
                </a:rPr>
                <a:t>Without Editor</a:t>
              </a:r>
            </a:p>
          </p:txBody>
        </p:sp>
      </p:grpSp>
      <p:grpSp>
        <p:nvGrpSpPr>
          <p:cNvPr name="Group 68" id="68"/>
          <p:cNvGrpSpPr/>
          <p:nvPr/>
        </p:nvGrpSpPr>
        <p:grpSpPr>
          <a:xfrm rot="0">
            <a:off x="13304520" y="8641080"/>
            <a:ext cx="3474720" cy="868680"/>
            <a:chOff x="0" y="0"/>
            <a:chExt cx="4632960" cy="1158240"/>
          </a:xfrm>
        </p:grpSpPr>
        <p:sp>
          <p:nvSpPr>
            <p:cNvPr name="Freeform 69" id="69"/>
            <p:cNvSpPr/>
            <p:nvPr/>
          </p:nvSpPr>
          <p:spPr>
            <a:xfrm flipH="false" flipV="false" rot="0">
              <a:off x="0" y="0"/>
              <a:ext cx="4632960" cy="1158240"/>
            </a:xfrm>
            <a:custGeom>
              <a:avLst/>
              <a:gdLst/>
              <a:ahLst/>
              <a:cxnLst/>
              <a:rect r="r" b="b" t="t" l="l"/>
              <a:pathLst>
                <a:path h="1158240" w="4632960">
                  <a:moveTo>
                    <a:pt x="0" y="0"/>
                  </a:moveTo>
                  <a:lnTo>
                    <a:pt x="4632960" y="0"/>
                  </a:lnTo>
                  <a:lnTo>
                    <a:pt x="4632960" y="1158240"/>
                  </a:lnTo>
                  <a:lnTo>
                    <a:pt x="0" y="1158240"/>
                  </a:lnTo>
                  <a:close/>
                </a:path>
              </a:pathLst>
            </a:custGeom>
            <a:blipFill>
              <a:blip r:embed="rId2">
                <a:alphaModFix amt="0"/>
              </a:blip>
              <a:stretch>
                <a:fillRect l="0" t="-27940" r="0" b="-27940"/>
              </a:stretch>
            </a:blipFill>
          </p:spPr>
        </p:sp>
        <p:sp>
          <p:nvSpPr>
            <p:cNvPr name="TextBox 70" id="70"/>
            <p:cNvSpPr txBox="true"/>
            <p:nvPr/>
          </p:nvSpPr>
          <p:spPr>
            <a:xfrm>
              <a:off x="0" y="-9525"/>
              <a:ext cx="4632960" cy="1167765"/>
            </a:xfrm>
            <a:prstGeom prst="rect">
              <a:avLst/>
            </a:prstGeom>
          </p:spPr>
          <p:txBody>
            <a:bodyPr anchor="ctr" rtlCol="false" tIns="0" lIns="0" bIns="0" rIns="0"/>
            <a:lstStyle/>
            <a:p>
              <a:pPr algn="r">
                <a:lnSpc>
                  <a:spcPts val="1559"/>
                </a:lnSpc>
              </a:pPr>
              <a:r>
                <a:rPr lang="en-US" sz="1299">
                  <a:solidFill>
                    <a:srgbClr val="1F3338"/>
                  </a:solidFill>
                  <a:latin typeface="Poppins"/>
                  <a:ea typeface="Poppins"/>
                  <a:cs typeface="Poppins"/>
                  <a:sym typeface="Poppins"/>
                </a:rPr>
                <a:t>20 questions · 17 min</a:t>
              </a:r>
            </a:p>
          </p:txBody>
        </p:sp>
      </p:grpSp>
      <p:grpSp>
        <p:nvGrpSpPr>
          <p:cNvPr name="Group 71" id="71"/>
          <p:cNvGrpSpPr/>
          <p:nvPr/>
        </p:nvGrpSpPr>
        <p:grpSpPr>
          <a:xfrm rot="0">
            <a:off x="685800" y="9738360"/>
            <a:ext cx="7315200" cy="365760"/>
            <a:chOff x="0" y="0"/>
            <a:chExt cx="9753600" cy="487680"/>
          </a:xfrm>
        </p:grpSpPr>
        <p:sp>
          <p:nvSpPr>
            <p:cNvPr name="Freeform 72" id="72"/>
            <p:cNvSpPr/>
            <p:nvPr/>
          </p:nvSpPr>
          <p:spPr>
            <a:xfrm flipH="false" flipV="false" rot="0">
              <a:off x="0" y="0"/>
              <a:ext cx="9753600" cy="487680"/>
            </a:xfrm>
            <a:custGeom>
              <a:avLst/>
              <a:gdLst/>
              <a:ahLst/>
              <a:cxnLst/>
              <a:rect r="r" b="b" t="t" l="l"/>
              <a:pathLst>
                <a:path h="487680" w="9753600">
                  <a:moveTo>
                    <a:pt x="0" y="0"/>
                  </a:moveTo>
                  <a:lnTo>
                    <a:pt x="9753600" y="0"/>
                  </a:lnTo>
                  <a:lnTo>
                    <a:pt x="9753600" y="487680"/>
                  </a:lnTo>
                  <a:lnTo>
                    <a:pt x="0" y="487680"/>
                  </a:lnTo>
                  <a:close/>
                </a:path>
              </a:pathLst>
            </a:custGeom>
            <a:blipFill>
              <a:blip r:embed="rId2">
                <a:alphaModFix amt="0"/>
              </a:blip>
              <a:stretch>
                <a:fillRect l="0" t="-339700" r="0" b="-339700"/>
              </a:stretch>
            </a:blipFill>
          </p:spPr>
        </p:sp>
        <p:sp>
          <p:nvSpPr>
            <p:cNvPr name="TextBox 73" id="73"/>
            <p:cNvSpPr txBox="true"/>
            <p:nvPr/>
          </p:nvSpPr>
          <p:spPr>
            <a:xfrm>
              <a:off x="0" y="-19050"/>
              <a:ext cx="9753600" cy="506730"/>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273749" y="8698769"/>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686333" y="643471"/>
            <a:ext cx="1784471" cy="1495408"/>
            <a:chOff x="0" y="0"/>
            <a:chExt cx="2379294" cy="1993877"/>
          </a:xfrm>
        </p:grpSpPr>
        <p:sp>
          <p:nvSpPr>
            <p:cNvPr name="Freeform 7" id="7"/>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4">
                <a:alphaModFix amt="0"/>
              </a:blip>
              <a:stretch>
                <a:fillRect l="-41907" t="0" r="-41907" b="14520"/>
              </a:stretch>
            </a:blipFill>
          </p:spPr>
        </p:sp>
        <p:sp>
          <p:nvSpPr>
            <p:cNvPr name="TextBox 8" id="8"/>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9" id="9"/>
          <p:cNvGrpSpPr/>
          <p:nvPr/>
        </p:nvGrpSpPr>
        <p:grpSpPr>
          <a:xfrm rot="0">
            <a:off x="2127647" y="796147"/>
            <a:ext cx="15099392" cy="1235412"/>
            <a:chOff x="0" y="0"/>
            <a:chExt cx="20132523" cy="1647215"/>
          </a:xfrm>
        </p:grpSpPr>
        <p:sp>
          <p:nvSpPr>
            <p:cNvPr name="Freeform 10" id="10"/>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3">
                <a:alphaModFix amt="0"/>
              </a:blip>
              <a:stretch>
                <a:fillRect l="0" t="-187986" r="0" b="-187987"/>
              </a:stretch>
            </a:blipFill>
          </p:spPr>
        </p:sp>
      </p:grpSp>
      <p:grpSp>
        <p:nvGrpSpPr>
          <p:cNvPr name="Group 11" id="11"/>
          <p:cNvGrpSpPr/>
          <p:nvPr/>
        </p:nvGrpSpPr>
        <p:grpSpPr>
          <a:xfrm rot="0">
            <a:off x="1028700" y="377883"/>
            <a:ext cx="15099392" cy="1256836"/>
            <a:chOff x="0" y="0"/>
            <a:chExt cx="20132523" cy="1675782"/>
          </a:xfrm>
        </p:grpSpPr>
        <p:sp>
          <p:nvSpPr>
            <p:cNvPr name="Freeform 12" id="12"/>
            <p:cNvSpPr/>
            <p:nvPr/>
          </p:nvSpPr>
          <p:spPr>
            <a:xfrm flipH="false" flipV="false" rot="0">
              <a:off x="0" y="0"/>
              <a:ext cx="20132523" cy="1675786"/>
            </a:xfrm>
            <a:custGeom>
              <a:avLst/>
              <a:gdLst/>
              <a:ahLst/>
              <a:cxnLst/>
              <a:rect r="r" b="b" t="t" l="l"/>
              <a:pathLst>
                <a:path h="1675786" w="20132523">
                  <a:moveTo>
                    <a:pt x="0" y="0"/>
                  </a:moveTo>
                  <a:lnTo>
                    <a:pt x="20132523" y="0"/>
                  </a:lnTo>
                  <a:lnTo>
                    <a:pt x="20132523" y="1675786"/>
                  </a:lnTo>
                  <a:lnTo>
                    <a:pt x="0" y="1675786"/>
                  </a:lnTo>
                  <a:close/>
                </a:path>
              </a:pathLst>
            </a:custGeom>
            <a:blipFill>
              <a:blip r:embed="rId4">
                <a:alphaModFix amt="0"/>
              </a:blip>
              <a:stretch>
                <a:fillRect l="0" t="-184089" r="0" b="-184088"/>
              </a:stretch>
            </a:blipFill>
          </p:spPr>
        </p:sp>
        <p:sp>
          <p:nvSpPr>
            <p:cNvPr name="TextBox 13" id="13"/>
            <p:cNvSpPr txBox="true"/>
            <p:nvPr/>
          </p:nvSpPr>
          <p:spPr>
            <a:xfrm>
              <a:off x="0" y="-28575"/>
              <a:ext cx="20132523" cy="1704357"/>
            </a:xfrm>
            <a:prstGeom prst="rect">
              <a:avLst/>
            </a:prstGeom>
          </p:spPr>
          <p:txBody>
            <a:bodyPr anchor="ctr" rtlCol="false" tIns="0" lIns="0" bIns="0" rIns="0"/>
            <a:lstStyle/>
            <a:p>
              <a:pPr algn="l">
                <a:lnSpc>
                  <a:spcPts val="3962"/>
                </a:lnSpc>
              </a:pPr>
              <a:r>
                <a:rPr lang="en-US" sz="3302" b="true">
                  <a:solidFill>
                    <a:srgbClr val="000000"/>
                  </a:solidFill>
                  <a:latin typeface="Poppins Bold"/>
                  <a:ea typeface="Poppins Bold"/>
                  <a:cs typeface="Poppins Bold"/>
                  <a:sym typeface="Poppins Bold"/>
                </a:rPr>
                <a:t>Implementation : Assessment Page</a:t>
              </a:r>
            </a:p>
          </p:txBody>
        </p:sp>
      </p:grpSp>
      <p:grpSp>
        <p:nvGrpSpPr>
          <p:cNvPr name="Group 14" id="14"/>
          <p:cNvGrpSpPr/>
          <p:nvPr/>
        </p:nvGrpSpPr>
        <p:grpSpPr>
          <a:xfrm rot="0">
            <a:off x="9540069" y="2759069"/>
            <a:ext cx="7481068" cy="439255"/>
            <a:chOff x="0" y="0"/>
            <a:chExt cx="9974758" cy="585673"/>
          </a:xfrm>
        </p:grpSpPr>
        <p:sp>
          <p:nvSpPr>
            <p:cNvPr name="Freeform 15" id="15"/>
            <p:cNvSpPr/>
            <p:nvPr/>
          </p:nvSpPr>
          <p:spPr>
            <a:xfrm flipH="false" flipV="false" rot="0">
              <a:off x="0" y="0"/>
              <a:ext cx="9974707" cy="585724"/>
            </a:xfrm>
            <a:custGeom>
              <a:avLst/>
              <a:gdLst/>
              <a:ahLst/>
              <a:cxnLst/>
              <a:rect r="r" b="b" t="t" l="l"/>
              <a:pathLst>
                <a:path h="585724" w="9974707">
                  <a:moveTo>
                    <a:pt x="0" y="0"/>
                  </a:moveTo>
                  <a:lnTo>
                    <a:pt x="9974707" y="0"/>
                  </a:lnTo>
                  <a:lnTo>
                    <a:pt x="9974707" y="585724"/>
                  </a:lnTo>
                  <a:lnTo>
                    <a:pt x="0" y="585724"/>
                  </a:lnTo>
                  <a:close/>
                </a:path>
              </a:pathLst>
            </a:custGeom>
            <a:blipFill>
              <a:blip r:embed="rId3">
                <a:alphaModFix amt="0"/>
              </a:blip>
              <a:stretch>
                <a:fillRect l="0" t="-281600" r="0" b="-281589"/>
              </a:stretch>
            </a:blipFill>
          </p:spPr>
        </p:sp>
      </p:grpSp>
      <p:grpSp>
        <p:nvGrpSpPr>
          <p:cNvPr name="Group 16" id="16"/>
          <p:cNvGrpSpPr/>
          <p:nvPr/>
        </p:nvGrpSpPr>
        <p:grpSpPr>
          <a:xfrm rot="0">
            <a:off x="686333" y="9718519"/>
            <a:ext cx="8236039" cy="411804"/>
            <a:chOff x="0" y="0"/>
            <a:chExt cx="10981385" cy="549072"/>
          </a:xfrm>
        </p:grpSpPr>
        <p:sp>
          <p:nvSpPr>
            <p:cNvPr name="Freeform 17" id="17"/>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8" id="18"/>
          <p:cNvGrpSpPr/>
          <p:nvPr/>
        </p:nvGrpSpPr>
        <p:grpSpPr>
          <a:xfrm rot="0">
            <a:off x="686333" y="9704232"/>
            <a:ext cx="8236039" cy="426091"/>
            <a:chOff x="0" y="0"/>
            <a:chExt cx="10981385" cy="568122"/>
          </a:xfrm>
        </p:grpSpPr>
        <p:sp>
          <p:nvSpPr>
            <p:cNvPr name="Freeform 19" id="19"/>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20" id="20"/>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21" id="21"/>
          <p:cNvGrpSpPr/>
          <p:nvPr/>
        </p:nvGrpSpPr>
        <p:grpSpPr>
          <a:xfrm rot="0">
            <a:off x="16242830" y="9718519"/>
            <a:ext cx="1372676" cy="411804"/>
            <a:chOff x="0" y="0"/>
            <a:chExt cx="1830235" cy="549072"/>
          </a:xfrm>
        </p:grpSpPr>
        <p:sp>
          <p:nvSpPr>
            <p:cNvPr name="Freeform 22" id="22"/>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grpSp>
        <p:nvGrpSpPr>
          <p:cNvPr name="Group 23" id="23"/>
          <p:cNvGrpSpPr/>
          <p:nvPr/>
        </p:nvGrpSpPr>
        <p:grpSpPr>
          <a:xfrm rot="0">
            <a:off x="4312420" y="1901419"/>
            <a:ext cx="8844087" cy="8015858"/>
            <a:chOff x="0" y="0"/>
            <a:chExt cx="6705600" cy="6077636"/>
          </a:xfrm>
        </p:grpSpPr>
        <p:sp>
          <p:nvSpPr>
            <p:cNvPr name="Freeform 24" id="24" descr="assessment_list.png"/>
            <p:cNvSpPr/>
            <p:nvPr/>
          </p:nvSpPr>
          <p:spPr>
            <a:xfrm flipH="false" flipV="false" rot="0">
              <a:off x="0" y="0"/>
              <a:ext cx="6705600" cy="6077585"/>
            </a:xfrm>
            <a:custGeom>
              <a:avLst/>
              <a:gdLst/>
              <a:ahLst/>
              <a:cxnLst/>
              <a:rect r="r" b="b" t="t" l="l"/>
              <a:pathLst>
                <a:path h="6077585" w="6705600">
                  <a:moveTo>
                    <a:pt x="0" y="0"/>
                  </a:moveTo>
                  <a:lnTo>
                    <a:pt x="6705600" y="0"/>
                  </a:lnTo>
                  <a:lnTo>
                    <a:pt x="6705600" y="6077585"/>
                  </a:lnTo>
                  <a:lnTo>
                    <a:pt x="0" y="6077585"/>
                  </a:lnTo>
                  <a:lnTo>
                    <a:pt x="0" y="0"/>
                  </a:lnTo>
                  <a:close/>
                </a:path>
              </a:pathLst>
            </a:custGeom>
            <a:blipFill>
              <a:blip r:embed="rId5"/>
              <a:stretch>
                <a:fillRect l="0" t="0" r="0" b="0"/>
              </a:stretch>
            </a:blipFill>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509" cy="1235392"/>
            <a:chOff x="0" y="0"/>
            <a:chExt cx="2379345" cy="1647190"/>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4" t="0" r="-38884" b="0"/>
              </a:stretch>
            </a:blipFill>
          </p:spPr>
        </p:sp>
      </p:grpSp>
      <p:grpSp>
        <p:nvGrpSpPr>
          <p:cNvPr name="Group 6" id="6"/>
          <p:cNvGrpSpPr/>
          <p:nvPr/>
        </p:nvGrpSpPr>
        <p:grpSpPr>
          <a:xfrm rot="0">
            <a:off x="686333" y="643471"/>
            <a:ext cx="1784471" cy="1278265"/>
            <a:chOff x="0" y="0"/>
            <a:chExt cx="2379294" cy="1704353"/>
          </a:xfrm>
        </p:grpSpPr>
        <p:sp>
          <p:nvSpPr>
            <p:cNvPr name="Freeform 7" id="7"/>
            <p:cNvSpPr/>
            <p:nvPr/>
          </p:nvSpPr>
          <p:spPr>
            <a:xfrm flipH="false" flipV="false" rot="0">
              <a:off x="0" y="0"/>
              <a:ext cx="2379345" cy="1704340"/>
            </a:xfrm>
            <a:custGeom>
              <a:avLst/>
              <a:gdLst/>
              <a:ahLst/>
              <a:cxnLst/>
              <a:rect r="r" b="b" t="t" l="l"/>
              <a:pathLst>
                <a:path h="1704340" w="2379345">
                  <a:moveTo>
                    <a:pt x="0" y="0"/>
                  </a:moveTo>
                  <a:lnTo>
                    <a:pt x="2379345" y="0"/>
                  </a:lnTo>
                  <a:lnTo>
                    <a:pt x="2379345" y="1704340"/>
                  </a:lnTo>
                  <a:lnTo>
                    <a:pt x="0" y="1704340"/>
                  </a:lnTo>
                  <a:close/>
                </a:path>
              </a:pathLst>
            </a:custGeom>
            <a:blipFill>
              <a:blip r:embed="rId4">
                <a:alphaModFix amt="0"/>
              </a:blip>
              <a:stretch>
                <a:fillRect l="-41970" t="0" r="-41967" b="0"/>
              </a:stretch>
            </a:blipFill>
          </p:spPr>
        </p:sp>
      </p:grpSp>
      <p:grpSp>
        <p:nvGrpSpPr>
          <p:cNvPr name="Group 8" id="8"/>
          <p:cNvGrpSpPr/>
          <p:nvPr/>
        </p:nvGrpSpPr>
        <p:grpSpPr>
          <a:xfrm rot="0">
            <a:off x="686333" y="607752"/>
            <a:ext cx="1784471" cy="1495281"/>
            <a:chOff x="0" y="0"/>
            <a:chExt cx="2379294" cy="1993708"/>
          </a:xfrm>
        </p:grpSpPr>
        <p:sp>
          <p:nvSpPr>
            <p:cNvPr name="Freeform 9" id="9"/>
            <p:cNvSpPr/>
            <p:nvPr/>
          </p:nvSpPr>
          <p:spPr>
            <a:xfrm flipH="false" flipV="false" rot="0">
              <a:off x="0" y="0"/>
              <a:ext cx="2379295" cy="1993709"/>
            </a:xfrm>
            <a:custGeom>
              <a:avLst/>
              <a:gdLst/>
              <a:ahLst/>
              <a:cxnLst/>
              <a:rect r="r" b="b" t="t" l="l"/>
              <a:pathLst>
                <a:path h="1993709" w="2379295">
                  <a:moveTo>
                    <a:pt x="0" y="0"/>
                  </a:moveTo>
                  <a:lnTo>
                    <a:pt x="2379295" y="0"/>
                  </a:lnTo>
                  <a:lnTo>
                    <a:pt x="2379295" y="1993709"/>
                  </a:lnTo>
                  <a:lnTo>
                    <a:pt x="0" y="1993709"/>
                  </a:lnTo>
                  <a:close/>
                </a:path>
              </a:pathLst>
            </a:custGeom>
            <a:blipFill>
              <a:blip r:embed="rId5">
                <a:alphaModFix amt="0"/>
              </a:blip>
              <a:stretch>
                <a:fillRect l="-44475" t="0" r="-44475" b="12124"/>
              </a:stretch>
            </a:blipFill>
          </p:spPr>
        </p:sp>
        <p:sp>
          <p:nvSpPr>
            <p:cNvPr name="TextBox 10" id="10"/>
            <p:cNvSpPr txBox="true"/>
            <p:nvPr/>
          </p:nvSpPr>
          <p:spPr>
            <a:xfrm>
              <a:off x="0" y="-47625"/>
              <a:ext cx="2379294" cy="2041333"/>
            </a:xfrm>
            <a:prstGeom prst="rect">
              <a:avLst/>
            </a:prstGeom>
          </p:spPr>
          <p:txBody>
            <a:bodyPr anchor="ctr" rtlCol="false" tIns="0" lIns="0" bIns="0" rIns="0"/>
            <a:lstStyle/>
            <a:p>
              <a:pPr algn="l">
                <a:lnSpc>
                  <a:spcPts val="7204"/>
                </a:lnSpc>
              </a:pPr>
            </a:p>
          </p:txBody>
        </p:sp>
      </p:grpSp>
      <p:grpSp>
        <p:nvGrpSpPr>
          <p:cNvPr name="Group 11" id="11"/>
          <p:cNvGrpSpPr/>
          <p:nvPr/>
        </p:nvGrpSpPr>
        <p:grpSpPr>
          <a:xfrm rot="0">
            <a:off x="2127647" y="796147"/>
            <a:ext cx="14413040" cy="1235392"/>
            <a:chOff x="0" y="0"/>
            <a:chExt cx="19217386" cy="1647190"/>
          </a:xfrm>
        </p:grpSpPr>
        <p:sp>
          <p:nvSpPr>
            <p:cNvPr name="Freeform 12" id="12"/>
            <p:cNvSpPr/>
            <p:nvPr/>
          </p:nvSpPr>
          <p:spPr>
            <a:xfrm flipH="false" flipV="false" rot="0">
              <a:off x="0" y="0"/>
              <a:ext cx="19217387" cy="1647190"/>
            </a:xfrm>
            <a:custGeom>
              <a:avLst/>
              <a:gdLst/>
              <a:ahLst/>
              <a:cxnLst/>
              <a:rect r="r" b="b" t="t" l="l"/>
              <a:pathLst>
                <a:path h="1647190" w="19217387">
                  <a:moveTo>
                    <a:pt x="0" y="0"/>
                  </a:moveTo>
                  <a:lnTo>
                    <a:pt x="19217387" y="0"/>
                  </a:lnTo>
                  <a:lnTo>
                    <a:pt x="19217387" y="1647190"/>
                  </a:lnTo>
                  <a:lnTo>
                    <a:pt x="0" y="1647190"/>
                  </a:lnTo>
                  <a:close/>
                </a:path>
              </a:pathLst>
            </a:custGeom>
            <a:blipFill>
              <a:blip r:embed="rId3">
                <a:alphaModFix amt="0"/>
              </a:blip>
              <a:stretch>
                <a:fillRect l="0" t="-177169" r="0" b="-177168"/>
              </a:stretch>
            </a:blipFill>
          </p:spPr>
        </p:sp>
      </p:grpSp>
      <p:grpSp>
        <p:nvGrpSpPr>
          <p:cNvPr name="Group 13" id="13"/>
          <p:cNvGrpSpPr/>
          <p:nvPr/>
        </p:nvGrpSpPr>
        <p:grpSpPr>
          <a:xfrm rot="0">
            <a:off x="2127647" y="767572"/>
            <a:ext cx="14413059" cy="1263977"/>
            <a:chOff x="0" y="0"/>
            <a:chExt cx="19217411" cy="1685303"/>
          </a:xfrm>
        </p:grpSpPr>
        <p:sp>
          <p:nvSpPr>
            <p:cNvPr name="Freeform 14" id="14"/>
            <p:cNvSpPr/>
            <p:nvPr/>
          </p:nvSpPr>
          <p:spPr>
            <a:xfrm flipH="false" flipV="false" rot="0">
              <a:off x="0" y="0"/>
              <a:ext cx="19217387" cy="1685290"/>
            </a:xfrm>
            <a:custGeom>
              <a:avLst/>
              <a:gdLst/>
              <a:ahLst/>
              <a:cxnLst/>
              <a:rect r="r" b="b" t="t" l="l"/>
              <a:pathLst>
                <a:path h="1685290" w="19217387">
                  <a:moveTo>
                    <a:pt x="0" y="0"/>
                  </a:moveTo>
                  <a:lnTo>
                    <a:pt x="19217387" y="0"/>
                  </a:lnTo>
                  <a:lnTo>
                    <a:pt x="19217387" y="1685290"/>
                  </a:lnTo>
                  <a:lnTo>
                    <a:pt x="0" y="1685290"/>
                  </a:lnTo>
                  <a:close/>
                </a:path>
              </a:pathLst>
            </a:custGeom>
            <a:blipFill>
              <a:blip r:embed="rId4">
                <a:alphaModFix amt="0"/>
              </a:blip>
              <a:stretch>
                <a:fillRect l="0" t="-172033" r="0" b="-172033"/>
              </a:stretch>
            </a:blipFill>
          </p:spPr>
        </p:sp>
      </p:grpSp>
      <p:grpSp>
        <p:nvGrpSpPr>
          <p:cNvPr name="Group 15" id="15"/>
          <p:cNvGrpSpPr/>
          <p:nvPr/>
        </p:nvGrpSpPr>
        <p:grpSpPr>
          <a:xfrm rot="0">
            <a:off x="857421" y="364798"/>
            <a:ext cx="14413059" cy="1292552"/>
            <a:chOff x="0" y="0"/>
            <a:chExt cx="19217411" cy="1723403"/>
          </a:xfrm>
        </p:grpSpPr>
        <p:sp>
          <p:nvSpPr>
            <p:cNvPr name="Freeform 16" id="16"/>
            <p:cNvSpPr/>
            <p:nvPr/>
          </p:nvSpPr>
          <p:spPr>
            <a:xfrm flipH="false" flipV="false" rot="0">
              <a:off x="0" y="0"/>
              <a:ext cx="19217411" cy="1723403"/>
            </a:xfrm>
            <a:custGeom>
              <a:avLst/>
              <a:gdLst/>
              <a:ahLst/>
              <a:cxnLst/>
              <a:rect r="r" b="b" t="t" l="l"/>
              <a:pathLst>
                <a:path h="1723403" w="19217411">
                  <a:moveTo>
                    <a:pt x="0" y="0"/>
                  </a:moveTo>
                  <a:lnTo>
                    <a:pt x="19217411" y="0"/>
                  </a:lnTo>
                  <a:lnTo>
                    <a:pt x="19217411" y="1723403"/>
                  </a:lnTo>
                  <a:lnTo>
                    <a:pt x="0" y="1723403"/>
                  </a:lnTo>
                  <a:close/>
                </a:path>
              </a:pathLst>
            </a:custGeom>
            <a:blipFill>
              <a:blip r:embed="rId5">
                <a:alphaModFix amt="0"/>
              </a:blip>
              <a:stretch>
                <a:fillRect l="0" t="-167274" r="0" b="-167274"/>
              </a:stretch>
            </a:blipFill>
          </p:spPr>
        </p:sp>
        <p:sp>
          <p:nvSpPr>
            <p:cNvPr name="TextBox 17" id="17"/>
            <p:cNvSpPr txBox="true"/>
            <p:nvPr/>
          </p:nvSpPr>
          <p:spPr>
            <a:xfrm>
              <a:off x="0" y="-38100"/>
              <a:ext cx="19217411" cy="1761503"/>
            </a:xfrm>
            <a:prstGeom prst="rect">
              <a:avLst/>
            </a:prstGeom>
          </p:spPr>
          <p:txBody>
            <a:bodyPr anchor="ctr" rtlCol="false" tIns="0" lIns="0" bIns="0" rIns="0"/>
            <a:lstStyle/>
            <a:p>
              <a:pPr algn="l">
                <a:lnSpc>
                  <a:spcPts val="4683"/>
                </a:lnSpc>
              </a:pPr>
              <a:r>
                <a:rPr lang="en-US" sz="3903" b="true">
                  <a:solidFill>
                    <a:srgbClr val="000000"/>
                  </a:solidFill>
                  <a:latin typeface="Poppins Bold"/>
                  <a:ea typeface="Poppins Bold"/>
                  <a:cs typeface="Poppins Bold"/>
                  <a:sym typeface="Poppins Bold"/>
                </a:rPr>
                <a:t>AI Question Generation</a:t>
              </a:r>
            </a:p>
          </p:txBody>
        </p:sp>
      </p:grpSp>
      <p:grpSp>
        <p:nvGrpSpPr>
          <p:cNvPr name="Group 18" id="18"/>
          <p:cNvGrpSpPr/>
          <p:nvPr/>
        </p:nvGrpSpPr>
        <p:grpSpPr>
          <a:xfrm rot="0">
            <a:off x="7315200" y="1828800"/>
            <a:ext cx="3657600" cy="658368"/>
            <a:chOff x="0" y="0"/>
            <a:chExt cx="4876800" cy="877824"/>
          </a:xfrm>
        </p:grpSpPr>
        <p:sp>
          <p:nvSpPr>
            <p:cNvPr name="Freeform 19" id="19"/>
            <p:cNvSpPr/>
            <p:nvPr/>
          </p:nvSpPr>
          <p:spPr>
            <a:xfrm flipH="false" flipV="false" rot="0">
              <a:off x="0" y="0"/>
              <a:ext cx="4876800" cy="877824"/>
            </a:xfrm>
            <a:custGeom>
              <a:avLst/>
              <a:gdLst/>
              <a:ahLst/>
              <a:cxnLst/>
              <a:rect r="r" b="b" t="t" l="l"/>
              <a:pathLst>
                <a:path h="877824" w="4876800">
                  <a:moveTo>
                    <a:pt x="0" y="146304"/>
                  </a:moveTo>
                  <a:cubicBezTo>
                    <a:pt x="0" y="65532"/>
                    <a:pt x="65532" y="0"/>
                    <a:pt x="146304" y="0"/>
                  </a:cubicBezTo>
                  <a:lnTo>
                    <a:pt x="4730496" y="0"/>
                  </a:lnTo>
                  <a:cubicBezTo>
                    <a:pt x="4811268" y="0"/>
                    <a:pt x="4876800" y="65532"/>
                    <a:pt x="4876800" y="146304"/>
                  </a:cubicBezTo>
                  <a:lnTo>
                    <a:pt x="4876800" y="731520"/>
                  </a:lnTo>
                  <a:cubicBezTo>
                    <a:pt x="4876800" y="812292"/>
                    <a:pt x="4811268" y="877824"/>
                    <a:pt x="4730496" y="877824"/>
                  </a:cubicBezTo>
                  <a:lnTo>
                    <a:pt x="146304" y="877824"/>
                  </a:lnTo>
                  <a:cubicBezTo>
                    <a:pt x="65532" y="877824"/>
                    <a:pt x="0" y="812292"/>
                    <a:pt x="0" y="731520"/>
                  </a:cubicBezTo>
                  <a:close/>
                </a:path>
              </a:pathLst>
            </a:custGeom>
            <a:solidFill>
              <a:srgbClr val="737AE6"/>
            </a:solidFill>
          </p:spPr>
        </p:sp>
      </p:grpSp>
      <p:grpSp>
        <p:nvGrpSpPr>
          <p:cNvPr name="Group 20" id="20"/>
          <p:cNvGrpSpPr/>
          <p:nvPr/>
        </p:nvGrpSpPr>
        <p:grpSpPr>
          <a:xfrm rot="0">
            <a:off x="7315200" y="1828800"/>
            <a:ext cx="3657600" cy="658368"/>
            <a:chOff x="0" y="0"/>
            <a:chExt cx="4876800" cy="877824"/>
          </a:xfrm>
        </p:grpSpPr>
        <p:sp>
          <p:nvSpPr>
            <p:cNvPr name="Freeform 21" id="21"/>
            <p:cNvSpPr/>
            <p:nvPr/>
          </p:nvSpPr>
          <p:spPr>
            <a:xfrm flipH="false" flipV="false" rot="0">
              <a:off x="0" y="0"/>
              <a:ext cx="4876800" cy="877824"/>
            </a:xfrm>
            <a:custGeom>
              <a:avLst/>
              <a:gdLst/>
              <a:ahLst/>
              <a:cxnLst/>
              <a:rect r="r" b="b" t="t" l="l"/>
              <a:pathLst>
                <a:path h="877824" w="4876800">
                  <a:moveTo>
                    <a:pt x="0" y="0"/>
                  </a:moveTo>
                  <a:lnTo>
                    <a:pt x="4876800" y="0"/>
                  </a:lnTo>
                  <a:lnTo>
                    <a:pt x="4876800" y="877824"/>
                  </a:lnTo>
                  <a:lnTo>
                    <a:pt x="0" y="877824"/>
                  </a:lnTo>
                  <a:close/>
                </a:path>
              </a:pathLst>
            </a:custGeom>
            <a:blipFill>
              <a:blip r:embed="rId3">
                <a:alphaModFix amt="0"/>
              </a:blip>
              <a:stretch>
                <a:fillRect l="0" t="-58175" r="0" b="-58174"/>
              </a:stretch>
            </a:blipFill>
          </p:spPr>
        </p:sp>
      </p:grpSp>
      <p:grpSp>
        <p:nvGrpSpPr>
          <p:cNvPr name="Group 22" id="22"/>
          <p:cNvGrpSpPr/>
          <p:nvPr/>
        </p:nvGrpSpPr>
        <p:grpSpPr>
          <a:xfrm rot="0">
            <a:off x="7315200" y="1814512"/>
            <a:ext cx="3657600" cy="672656"/>
            <a:chOff x="0" y="0"/>
            <a:chExt cx="4876800" cy="896874"/>
          </a:xfrm>
        </p:grpSpPr>
        <p:sp>
          <p:nvSpPr>
            <p:cNvPr name="Freeform 23" id="23"/>
            <p:cNvSpPr/>
            <p:nvPr/>
          </p:nvSpPr>
          <p:spPr>
            <a:xfrm flipH="false" flipV="false" rot="0">
              <a:off x="0" y="0"/>
              <a:ext cx="4876800" cy="896874"/>
            </a:xfrm>
            <a:custGeom>
              <a:avLst/>
              <a:gdLst/>
              <a:ahLst/>
              <a:cxnLst/>
              <a:rect r="r" b="b" t="t" l="l"/>
              <a:pathLst>
                <a:path h="896874" w="4876800">
                  <a:moveTo>
                    <a:pt x="0" y="0"/>
                  </a:moveTo>
                  <a:lnTo>
                    <a:pt x="4876800" y="0"/>
                  </a:lnTo>
                  <a:lnTo>
                    <a:pt x="4876800" y="896874"/>
                  </a:lnTo>
                  <a:lnTo>
                    <a:pt x="0" y="896874"/>
                  </a:lnTo>
                  <a:close/>
                </a:path>
              </a:pathLst>
            </a:custGeom>
            <a:blipFill>
              <a:blip r:embed="rId4">
                <a:alphaModFix amt="0"/>
              </a:blip>
              <a:stretch>
                <a:fillRect l="0" t="-55876" r="0" b="-55877"/>
              </a:stretch>
            </a:blipFill>
          </p:spPr>
        </p:sp>
      </p:grpSp>
      <p:grpSp>
        <p:nvGrpSpPr>
          <p:cNvPr name="Group 24" id="24"/>
          <p:cNvGrpSpPr/>
          <p:nvPr/>
        </p:nvGrpSpPr>
        <p:grpSpPr>
          <a:xfrm rot="0">
            <a:off x="7315200" y="1800225"/>
            <a:ext cx="3657600" cy="686943"/>
            <a:chOff x="0" y="0"/>
            <a:chExt cx="4876800" cy="915924"/>
          </a:xfrm>
        </p:grpSpPr>
        <p:sp>
          <p:nvSpPr>
            <p:cNvPr name="Freeform 25" id="25"/>
            <p:cNvSpPr/>
            <p:nvPr/>
          </p:nvSpPr>
          <p:spPr>
            <a:xfrm flipH="false" flipV="false" rot="0">
              <a:off x="0" y="0"/>
              <a:ext cx="4876800" cy="915925"/>
            </a:xfrm>
            <a:custGeom>
              <a:avLst/>
              <a:gdLst/>
              <a:ahLst/>
              <a:cxnLst/>
              <a:rect r="r" b="b" t="t" l="l"/>
              <a:pathLst>
                <a:path h="915925" w="4876800">
                  <a:moveTo>
                    <a:pt x="0" y="0"/>
                  </a:moveTo>
                  <a:lnTo>
                    <a:pt x="4876800" y="0"/>
                  </a:lnTo>
                  <a:lnTo>
                    <a:pt x="4876800" y="915925"/>
                  </a:lnTo>
                  <a:lnTo>
                    <a:pt x="0" y="915925"/>
                  </a:lnTo>
                  <a:close/>
                </a:path>
              </a:pathLst>
            </a:custGeom>
            <a:blipFill>
              <a:blip r:embed="rId5">
                <a:alphaModFix amt="0"/>
              </a:blip>
              <a:stretch>
                <a:fillRect l="0" t="-53747" r="0" b="-53747"/>
              </a:stretch>
            </a:blipFill>
          </p:spPr>
        </p:sp>
        <p:sp>
          <p:nvSpPr>
            <p:cNvPr name="TextBox 26" id="26"/>
            <p:cNvSpPr txBox="true"/>
            <p:nvPr/>
          </p:nvSpPr>
          <p:spPr>
            <a:xfrm>
              <a:off x="0" y="-19050"/>
              <a:ext cx="4876800" cy="934974"/>
            </a:xfrm>
            <a:prstGeom prst="rect">
              <a:avLst/>
            </a:prstGeom>
          </p:spPr>
          <p:txBody>
            <a:bodyPr anchor="ctr" rtlCol="false" tIns="0" lIns="0" bIns="0" rIns="0"/>
            <a:lstStyle/>
            <a:p>
              <a:pPr algn="ctr">
                <a:lnSpc>
                  <a:spcPts val="1800"/>
                </a:lnSpc>
              </a:pPr>
              <a:r>
                <a:rPr lang="en-US" sz="1500" b="true">
                  <a:solidFill>
                    <a:srgbClr val="FFFFFF"/>
                  </a:solidFill>
                  <a:latin typeface="Poppins Bold"/>
                  <a:ea typeface="Poppins Bold"/>
                  <a:cs typeface="Poppins Bold"/>
                  <a:sym typeface="Poppins Bold"/>
                </a:rPr>
                <a:t>Skill + Seniority</a:t>
              </a:r>
            </a:p>
          </p:txBody>
        </p:sp>
      </p:grpSp>
      <p:grpSp>
        <p:nvGrpSpPr>
          <p:cNvPr name="Group 27" id="27"/>
          <p:cNvGrpSpPr/>
          <p:nvPr/>
        </p:nvGrpSpPr>
        <p:grpSpPr>
          <a:xfrm rot="0">
            <a:off x="9102852" y="2487168"/>
            <a:ext cx="82296" cy="329184"/>
            <a:chOff x="0" y="0"/>
            <a:chExt cx="109728" cy="438912"/>
          </a:xfrm>
        </p:grpSpPr>
        <p:sp>
          <p:nvSpPr>
            <p:cNvPr name="Freeform 28" id="28"/>
            <p:cNvSpPr/>
            <p:nvPr/>
          </p:nvSpPr>
          <p:spPr>
            <a:xfrm flipH="false" flipV="false" rot="0">
              <a:off x="0" y="0"/>
              <a:ext cx="109728" cy="438912"/>
            </a:xfrm>
            <a:custGeom>
              <a:avLst/>
              <a:gdLst/>
              <a:ahLst/>
              <a:cxnLst/>
              <a:rect r="r" b="b" t="t" l="l"/>
              <a:pathLst>
                <a:path h="438912" w="109728">
                  <a:moveTo>
                    <a:pt x="0" y="0"/>
                  </a:moveTo>
                  <a:lnTo>
                    <a:pt x="109728" y="0"/>
                  </a:lnTo>
                  <a:lnTo>
                    <a:pt x="109728" y="438912"/>
                  </a:lnTo>
                  <a:lnTo>
                    <a:pt x="0" y="438912"/>
                  </a:lnTo>
                  <a:close/>
                </a:path>
              </a:pathLst>
            </a:custGeom>
            <a:solidFill>
              <a:srgbClr val="737AE6"/>
            </a:solidFill>
          </p:spPr>
        </p:sp>
      </p:grpSp>
      <p:grpSp>
        <p:nvGrpSpPr>
          <p:cNvPr name="Group 29" id="29"/>
          <p:cNvGrpSpPr/>
          <p:nvPr/>
        </p:nvGrpSpPr>
        <p:grpSpPr>
          <a:xfrm rot="-10800000">
            <a:off x="9025128" y="2816352"/>
            <a:ext cx="237744" cy="146304"/>
            <a:chOff x="0" y="0"/>
            <a:chExt cx="316992" cy="195072"/>
          </a:xfrm>
        </p:grpSpPr>
        <p:sp>
          <p:nvSpPr>
            <p:cNvPr name="Freeform 30" id="30"/>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31" id="31"/>
          <p:cNvGrpSpPr/>
          <p:nvPr/>
        </p:nvGrpSpPr>
        <p:grpSpPr>
          <a:xfrm rot="0">
            <a:off x="6035040" y="2944368"/>
            <a:ext cx="6217920" cy="731520"/>
            <a:chOff x="0" y="0"/>
            <a:chExt cx="8290560" cy="975360"/>
          </a:xfrm>
        </p:grpSpPr>
        <p:sp>
          <p:nvSpPr>
            <p:cNvPr name="Freeform 32" id="32"/>
            <p:cNvSpPr/>
            <p:nvPr/>
          </p:nvSpPr>
          <p:spPr>
            <a:xfrm flipH="false" flipV="false" rot="0">
              <a:off x="0" y="0"/>
              <a:ext cx="8290561" cy="975360"/>
            </a:xfrm>
            <a:custGeom>
              <a:avLst/>
              <a:gdLst/>
              <a:ahLst/>
              <a:cxnLst/>
              <a:rect r="r" b="b" t="t" l="l"/>
              <a:pathLst>
                <a:path h="975360" w="8290561">
                  <a:moveTo>
                    <a:pt x="0" y="146304"/>
                  </a:moveTo>
                  <a:cubicBezTo>
                    <a:pt x="0" y="65532"/>
                    <a:pt x="65532" y="0"/>
                    <a:pt x="146304" y="0"/>
                  </a:cubicBezTo>
                  <a:lnTo>
                    <a:pt x="8144256" y="0"/>
                  </a:lnTo>
                  <a:cubicBezTo>
                    <a:pt x="8225028" y="0"/>
                    <a:pt x="8290561" y="65532"/>
                    <a:pt x="8290561" y="146304"/>
                  </a:cubicBezTo>
                  <a:lnTo>
                    <a:pt x="8290561" y="829056"/>
                  </a:lnTo>
                  <a:cubicBezTo>
                    <a:pt x="8290561" y="909828"/>
                    <a:pt x="8225028" y="975360"/>
                    <a:pt x="8144256" y="975360"/>
                  </a:cubicBezTo>
                  <a:lnTo>
                    <a:pt x="146304" y="975360"/>
                  </a:lnTo>
                  <a:cubicBezTo>
                    <a:pt x="65532" y="975360"/>
                    <a:pt x="0" y="909828"/>
                    <a:pt x="0" y="829056"/>
                  </a:cubicBezTo>
                  <a:close/>
                </a:path>
              </a:pathLst>
            </a:custGeom>
            <a:solidFill>
              <a:srgbClr val="C8DAE4"/>
            </a:solidFill>
          </p:spPr>
        </p:sp>
      </p:grpSp>
      <p:grpSp>
        <p:nvGrpSpPr>
          <p:cNvPr name="Group 33" id="33"/>
          <p:cNvGrpSpPr/>
          <p:nvPr/>
        </p:nvGrpSpPr>
        <p:grpSpPr>
          <a:xfrm rot="0">
            <a:off x="6035040" y="2944368"/>
            <a:ext cx="6217920" cy="731520"/>
            <a:chOff x="0" y="0"/>
            <a:chExt cx="8290560" cy="975360"/>
          </a:xfrm>
        </p:grpSpPr>
        <p:sp>
          <p:nvSpPr>
            <p:cNvPr name="Freeform 34" id="34"/>
            <p:cNvSpPr/>
            <p:nvPr/>
          </p:nvSpPr>
          <p:spPr>
            <a:xfrm flipH="false" flipV="false" rot="0">
              <a:off x="0" y="0"/>
              <a:ext cx="8290560" cy="975360"/>
            </a:xfrm>
            <a:custGeom>
              <a:avLst/>
              <a:gdLst/>
              <a:ahLst/>
              <a:cxnLst/>
              <a:rect r="r" b="b" t="t" l="l"/>
              <a:pathLst>
                <a:path h="975360" w="8290560">
                  <a:moveTo>
                    <a:pt x="0" y="0"/>
                  </a:moveTo>
                  <a:lnTo>
                    <a:pt x="8290560" y="0"/>
                  </a:lnTo>
                  <a:lnTo>
                    <a:pt x="8290560" y="975360"/>
                  </a:lnTo>
                  <a:lnTo>
                    <a:pt x="0" y="975360"/>
                  </a:lnTo>
                  <a:close/>
                </a:path>
              </a:pathLst>
            </a:custGeom>
            <a:blipFill>
              <a:blip r:embed="rId3">
                <a:alphaModFix amt="0"/>
              </a:blip>
              <a:stretch>
                <a:fillRect l="0" t="-115507" r="0" b="-115507"/>
              </a:stretch>
            </a:blipFill>
          </p:spPr>
        </p:sp>
      </p:grpSp>
      <p:grpSp>
        <p:nvGrpSpPr>
          <p:cNvPr name="Group 35" id="35"/>
          <p:cNvGrpSpPr/>
          <p:nvPr/>
        </p:nvGrpSpPr>
        <p:grpSpPr>
          <a:xfrm rot="0">
            <a:off x="6035040" y="2930080"/>
            <a:ext cx="6217920" cy="745807"/>
            <a:chOff x="0" y="0"/>
            <a:chExt cx="8290560" cy="994410"/>
          </a:xfrm>
        </p:grpSpPr>
        <p:sp>
          <p:nvSpPr>
            <p:cNvPr name="Freeform 36" id="36"/>
            <p:cNvSpPr/>
            <p:nvPr/>
          </p:nvSpPr>
          <p:spPr>
            <a:xfrm flipH="false" flipV="false" rot="0">
              <a:off x="0" y="0"/>
              <a:ext cx="8290560" cy="994410"/>
            </a:xfrm>
            <a:custGeom>
              <a:avLst/>
              <a:gdLst/>
              <a:ahLst/>
              <a:cxnLst/>
              <a:rect r="r" b="b" t="t" l="l"/>
              <a:pathLst>
                <a:path h="994410" w="8290560">
                  <a:moveTo>
                    <a:pt x="0" y="0"/>
                  </a:moveTo>
                  <a:lnTo>
                    <a:pt x="8290560" y="0"/>
                  </a:lnTo>
                  <a:lnTo>
                    <a:pt x="8290560" y="994410"/>
                  </a:lnTo>
                  <a:lnTo>
                    <a:pt x="0" y="994410"/>
                  </a:lnTo>
                  <a:close/>
                </a:path>
              </a:pathLst>
            </a:custGeom>
            <a:blipFill>
              <a:blip r:embed="rId4">
                <a:alphaModFix amt="0"/>
              </a:blip>
              <a:stretch>
                <a:fillRect l="0" t="-112337" r="0" b="-112337"/>
              </a:stretch>
            </a:blipFill>
          </p:spPr>
        </p:sp>
      </p:grpSp>
      <p:grpSp>
        <p:nvGrpSpPr>
          <p:cNvPr name="Group 37" id="37"/>
          <p:cNvGrpSpPr/>
          <p:nvPr/>
        </p:nvGrpSpPr>
        <p:grpSpPr>
          <a:xfrm rot="0">
            <a:off x="6035040" y="2915793"/>
            <a:ext cx="6217920" cy="760095"/>
            <a:chOff x="0" y="0"/>
            <a:chExt cx="8290560" cy="1013460"/>
          </a:xfrm>
        </p:grpSpPr>
        <p:sp>
          <p:nvSpPr>
            <p:cNvPr name="Freeform 38" id="38"/>
            <p:cNvSpPr/>
            <p:nvPr/>
          </p:nvSpPr>
          <p:spPr>
            <a:xfrm flipH="false" flipV="false" rot="0">
              <a:off x="0" y="0"/>
              <a:ext cx="8290560" cy="1013459"/>
            </a:xfrm>
            <a:custGeom>
              <a:avLst/>
              <a:gdLst/>
              <a:ahLst/>
              <a:cxnLst/>
              <a:rect r="r" b="b" t="t" l="l"/>
              <a:pathLst>
                <a:path h="1013459" w="8290560">
                  <a:moveTo>
                    <a:pt x="0" y="0"/>
                  </a:moveTo>
                  <a:lnTo>
                    <a:pt x="8290560" y="0"/>
                  </a:lnTo>
                  <a:lnTo>
                    <a:pt x="8290560" y="1013459"/>
                  </a:lnTo>
                  <a:lnTo>
                    <a:pt x="0" y="1013459"/>
                  </a:lnTo>
                  <a:close/>
                </a:path>
              </a:pathLst>
            </a:custGeom>
            <a:blipFill>
              <a:blip r:embed="rId5">
                <a:alphaModFix amt="0"/>
              </a:blip>
              <a:stretch>
                <a:fillRect l="0" t="-109396" r="0" b="-109396"/>
              </a:stretch>
            </a:blipFill>
          </p:spPr>
        </p:sp>
        <p:sp>
          <p:nvSpPr>
            <p:cNvPr name="TextBox 39" id="39"/>
            <p:cNvSpPr txBox="true"/>
            <p:nvPr/>
          </p:nvSpPr>
          <p:spPr>
            <a:xfrm>
              <a:off x="0" y="-19050"/>
              <a:ext cx="8290560" cy="1032510"/>
            </a:xfrm>
            <a:prstGeom prst="rect">
              <a:avLst/>
            </a:prstGeom>
          </p:spPr>
          <p:txBody>
            <a:bodyPr anchor="ctr" rtlCol="false" tIns="0" lIns="0" bIns="0" rIns="0"/>
            <a:lstStyle/>
            <a:p>
              <a:pPr algn="ctr">
                <a:lnSpc>
                  <a:spcPts val="1800"/>
                </a:lnSpc>
              </a:pPr>
              <a:r>
                <a:rPr lang="en-US" sz="1500" b="true">
                  <a:solidFill>
                    <a:srgbClr val="1F3338"/>
                  </a:solidFill>
                  <a:latin typeface="Poppins Bold"/>
                  <a:ea typeface="Poppins Bold"/>
                  <a:cs typeface="Poppins Bold"/>
                  <a:sym typeface="Poppins Bold"/>
                </a:rPr>
                <a:t>Check Generated AI Questions bank</a:t>
              </a:r>
            </a:p>
          </p:txBody>
        </p:sp>
      </p:grpSp>
      <p:grpSp>
        <p:nvGrpSpPr>
          <p:cNvPr name="Group 40" id="40"/>
          <p:cNvGrpSpPr/>
          <p:nvPr/>
        </p:nvGrpSpPr>
        <p:grpSpPr>
          <a:xfrm rot="0">
            <a:off x="9102852" y="3675888"/>
            <a:ext cx="82296" cy="146304"/>
            <a:chOff x="0" y="0"/>
            <a:chExt cx="109728" cy="195072"/>
          </a:xfrm>
        </p:grpSpPr>
        <p:sp>
          <p:nvSpPr>
            <p:cNvPr name="Freeform 41" id="41"/>
            <p:cNvSpPr/>
            <p:nvPr/>
          </p:nvSpPr>
          <p:spPr>
            <a:xfrm flipH="false" flipV="false" rot="0">
              <a:off x="0" y="0"/>
              <a:ext cx="109728" cy="195072"/>
            </a:xfrm>
            <a:custGeom>
              <a:avLst/>
              <a:gdLst/>
              <a:ahLst/>
              <a:cxnLst/>
              <a:rect r="r" b="b" t="t" l="l"/>
              <a:pathLst>
                <a:path h="195072" w="109728">
                  <a:moveTo>
                    <a:pt x="0" y="0"/>
                  </a:moveTo>
                  <a:lnTo>
                    <a:pt x="109728" y="0"/>
                  </a:lnTo>
                  <a:lnTo>
                    <a:pt x="109728" y="195072"/>
                  </a:lnTo>
                  <a:lnTo>
                    <a:pt x="0" y="195072"/>
                  </a:lnTo>
                  <a:close/>
                </a:path>
              </a:pathLst>
            </a:custGeom>
            <a:solidFill>
              <a:srgbClr val="737AE6"/>
            </a:solidFill>
          </p:spPr>
        </p:sp>
      </p:grpSp>
      <p:grpSp>
        <p:nvGrpSpPr>
          <p:cNvPr name="Group 42" id="42"/>
          <p:cNvGrpSpPr/>
          <p:nvPr/>
        </p:nvGrpSpPr>
        <p:grpSpPr>
          <a:xfrm rot="-10800000">
            <a:off x="9025128" y="3822192"/>
            <a:ext cx="237744" cy="146304"/>
            <a:chOff x="0" y="0"/>
            <a:chExt cx="316992" cy="195072"/>
          </a:xfrm>
        </p:grpSpPr>
        <p:sp>
          <p:nvSpPr>
            <p:cNvPr name="Freeform 43" id="43"/>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44" id="44"/>
          <p:cNvGrpSpPr/>
          <p:nvPr/>
        </p:nvGrpSpPr>
        <p:grpSpPr>
          <a:xfrm rot="0">
            <a:off x="4983480" y="3950208"/>
            <a:ext cx="8321040" cy="82296"/>
            <a:chOff x="0" y="0"/>
            <a:chExt cx="11094720" cy="109728"/>
          </a:xfrm>
        </p:grpSpPr>
        <p:sp>
          <p:nvSpPr>
            <p:cNvPr name="Freeform 45" id="45"/>
            <p:cNvSpPr/>
            <p:nvPr/>
          </p:nvSpPr>
          <p:spPr>
            <a:xfrm flipH="false" flipV="false" rot="0">
              <a:off x="0" y="0"/>
              <a:ext cx="11094720" cy="109728"/>
            </a:xfrm>
            <a:custGeom>
              <a:avLst/>
              <a:gdLst/>
              <a:ahLst/>
              <a:cxnLst/>
              <a:rect r="r" b="b" t="t" l="l"/>
              <a:pathLst>
                <a:path h="109728" w="11094720">
                  <a:moveTo>
                    <a:pt x="0" y="0"/>
                  </a:moveTo>
                  <a:lnTo>
                    <a:pt x="11094720" y="0"/>
                  </a:lnTo>
                  <a:lnTo>
                    <a:pt x="11094720" y="109728"/>
                  </a:lnTo>
                  <a:lnTo>
                    <a:pt x="0" y="109728"/>
                  </a:lnTo>
                  <a:close/>
                </a:path>
              </a:pathLst>
            </a:custGeom>
            <a:solidFill>
              <a:srgbClr val="737AE6"/>
            </a:solidFill>
          </p:spPr>
        </p:sp>
      </p:grpSp>
      <p:grpSp>
        <p:nvGrpSpPr>
          <p:cNvPr name="Group 46" id="46"/>
          <p:cNvGrpSpPr/>
          <p:nvPr/>
        </p:nvGrpSpPr>
        <p:grpSpPr>
          <a:xfrm rot="0">
            <a:off x="4988052" y="3950208"/>
            <a:ext cx="82296" cy="219456"/>
            <a:chOff x="0" y="0"/>
            <a:chExt cx="109728" cy="292608"/>
          </a:xfrm>
        </p:grpSpPr>
        <p:sp>
          <p:nvSpPr>
            <p:cNvPr name="Freeform 47" id="47"/>
            <p:cNvSpPr/>
            <p:nvPr/>
          </p:nvSpPr>
          <p:spPr>
            <a:xfrm flipH="false" flipV="false" rot="0">
              <a:off x="0" y="0"/>
              <a:ext cx="109728" cy="292608"/>
            </a:xfrm>
            <a:custGeom>
              <a:avLst/>
              <a:gdLst/>
              <a:ahLst/>
              <a:cxnLst/>
              <a:rect r="r" b="b" t="t" l="l"/>
              <a:pathLst>
                <a:path h="292608" w="109728">
                  <a:moveTo>
                    <a:pt x="0" y="0"/>
                  </a:moveTo>
                  <a:lnTo>
                    <a:pt x="109728" y="0"/>
                  </a:lnTo>
                  <a:lnTo>
                    <a:pt x="109728" y="292608"/>
                  </a:lnTo>
                  <a:lnTo>
                    <a:pt x="0" y="292608"/>
                  </a:lnTo>
                  <a:close/>
                </a:path>
              </a:pathLst>
            </a:custGeom>
            <a:solidFill>
              <a:srgbClr val="737AE6"/>
            </a:solidFill>
          </p:spPr>
        </p:sp>
      </p:grpSp>
      <p:grpSp>
        <p:nvGrpSpPr>
          <p:cNvPr name="Group 48" id="48"/>
          <p:cNvGrpSpPr/>
          <p:nvPr/>
        </p:nvGrpSpPr>
        <p:grpSpPr>
          <a:xfrm rot="-10800000">
            <a:off x="4910328" y="4169664"/>
            <a:ext cx="237744" cy="146304"/>
            <a:chOff x="0" y="0"/>
            <a:chExt cx="316992" cy="195072"/>
          </a:xfrm>
        </p:grpSpPr>
        <p:sp>
          <p:nvSpPr>
            <p:cNvPr name="Freeform 49" id="49"/>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50" id="50"/>
          <p:cNvGrpSpPr/>
          <p:nvPr/>
        </p:nvGrpSpPr>
        <p:grpSpPr>
          <a:xfrm rot="0">
            <a:off x="13217652" y="3950208"/>
            <a:ext cx="82296" cy="219456"/>
            <a:chOff x="0" y="0"/>
            <a:chExt cx="109728" cy="292608"/>
          </a:xfrm>
        </p:grpSpPr>
        <p:sp>
          <p:nvSpPr>
            <p:cNvPr name="Freeform 51" id="51"/>
            <p:cNvSpPr/>
            <p:nvPr/>
          </p:nvSpPr>
          <p:spPr>
            <a:xfrm flipH="false" flipV="false" rot="0">
              <a:off x="0" y="0"/>
              <a:ext cx="109728" cy="292608"/>
            </a:xfrm>
            <a:custGeom>
              <a:avLst/>
              <a:gdLst/>
              <a:ahLst/>
              <a:cxnLst/>
              <a:rect r="r" b="b" t="t" l="l"/>
              <a:pathLst>
                <a:path h="292608" w="109728">
                  <a:moveTo>
                    <a:pt x="0" y="0"/>
                  </a:moveTo>
                  <a:lnTo>
                    <a:pt x="109728" y="0"/>
                  </a:lnTo>
                  <a:lnTo>
                    <a:pt x="109728" y="292608"/>
                  </a:lnTo>
                  <a:lnTo>
                    <a:pt x="0" y="292608"/>
                  </a:lnTo>
                  <a:close/>
                </a:path>
              </a:pathLst>
            </a:custGeom>
            <a:solidFill>
              <a:srgbClr val="737AE6"/>
            </a:solidFill>
          </p:spPr>
        </p:sp>
      </p:grpSp>
      <p:grpSp>
        <p:nvGrpSpPr>
          <p:cNvPr name="Group 52" id="52"/>
          <p:cNvGrpSpPr/>
          <p:nvPr/>
        </p:nvGrpSpPr>
        <p:grpSpPr>
          <a:xfrm rot="-10800000">
            <a:off x="13139928" y="4169664"/>
            <a:ext cx="237744" cy="146304"/>
            <a:chOff x="0" y="0"/>
            <a:chExt cx="316992" cy="195072"/>
          </a:xfrm>
        </p:grpSpPr>
        <p:sp>
          <p:nvSpPr>
            <p:cNvPr name="Freeform 53" id="53"/>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54" id="54"/>
          <p:cNvGrpSpPr/>
          <p:nvPr/>
        </p:nvGrpSpPr>
        <p:grpSpPr>
          <a:xfrm rot="0">
            <a:off x="3017520" y="4297680"/>
            <a:ext cx="4023360" cy="640080"/>
            <a:chOff x="0" y="0"/>
            <a:chExt cx="5364480" cy="853440"/>
          </a:xfrm>
        </p:grpSpPr>
        <p:sp>
          <p:nvSpPr>
            <p:cNvPr name="Freeform 55" id="55"/>
            <p:cNvSpPr/>
            <p:nvPr/>
          </p:nvSpPr>
          <p:spPr>
            <a:xfrm flipH="false" flipV="false" rot="0">
              <a:off x="0" y="0"/>
              <a:ext cx="5364480" cy="853440"/>
            </a:xfrm>
            <a:custGeom>
              <a:avLst/>
              <a:gdLst/>
              <a:ahLst/>
              <a:cxnLst/>
              <a:rect r="r" b="b" t="t" l="l"/>
              <a:pathLst>
                <a:path h="853440" w="5364480">
                  <a:moveTo>
                    <a:pt x="0" y="146304"/>
                  </a:moveTo>
                  <a:cubicBezTo>
                    <a:pt x="0" y="65532"/>
                    <a:pt x="65532" y="0"/>
                    <a:pt x="146304" y="0"/>
                  </a:cubicBezTo>
                  <a:lnTo>
                    <a:pt x="5218176" y="0"/>
                  </a:lnTo>
                  <a:cubicBezTo>
                    <a:pt x="5298948" y="0"/>
                    <a:pt x="5364480" y="65532"/>
                    <a:pt x="5364480" y="146304"/>
                  </a:cubicBezTo>
                  <a:lnTo>
                    <a:pt x="5364480" y="707136"/>
                  </a:lnTo>
                  <a:cubicBezTo>
                    <a:pt x="5364480" y="787908"/>
                    <a:pt x="5298948" y="853440"/>
                    <a:pt x="5218176" y="853440"/>
                  </a:cubicBezTo>
                  <a:lnTo>
                    <a:pt x="146304" y="853440"/>
                  </a:lnTo>
                  <a:cubicBezTo>
                    <a:pt x="65532" y="853440"/>
                    <a:pt x="0" y="787908"/>
                    <a:pt x="0" y="707136"/>
                  </a:cubicBezTo>
                  <a:close/>
                </a:path>
              </a:pathLst>
            </a:custGeom>
            <a:solidFill>
              <a:srgbClr val="C8DAE4"/>
            </a:solidFill>
          </p:spPr>
        </p:sp>
      </p:grpSp>
      <p:grpSp>
        <p:nvGrpSpPr>
          <p:cNvPr name="Group 56" id="56"/>
          <p:cNvGrpSpPr/>
          <p:nvPr/>
        </p:nvGrpSpPr>
        <p:grpSpPr>
          <a:xfrm rot="0">
            <a:off x="3017520" y="4297680"/>
            <a:ext cx="4023360" cy="640080"/>
            <a:chOff x="0" y="0"/>
            <a:chExt cx="5364480" cy="853440"/>
          </a:xfrm>
        </p:grpSpPr>
        <p:sp>
          <p:nvSpPr>
            <p:cNvPr name="Freeform 57" id="57"/>
            <p:cNvSpPr/>
            <p:nvPr/>
          </p:nvSpPr>
          <p:spPr>
            <a:xfrm flipH="false" flipV="false" rot="0">
              <a:off x="0" y="0"/>
              <a:ext cx="5364480" cy="853440"/>
            </a:xfrm>
            <a:custGeom>
              <a:avLst/>
              <a:gdLst/>
              <a:ahLst/>
              <a:cxnLst/>
              <a:rect r="r" b="b" t="t" l="l"/>
              <a:pathLst>
                <a:path h="853440" w="5364480">
                  <a:moveTo>
                    <a:pt x="0" y="0"/>
                  </a:moveTo>
                  <a:lnTo>
                    <a:pt x="5364480" y="0"/>
                  </a:lnTo>
                  <a:lnTo>
                    <a:pt x="5364480" y="853440"/>
                  </a:lnTo>
                  <a:lnTo>
                    <a:pt x="0" y="853440"/>
                  </a:lnTo>
                  <a:close/>
                </a:path>
              </a:pathLst>
            </a:custGeom>
            <a:blipFill>
              <a:blip r:embed="rId3">
                <a:alphaModFix amt="0"/>
              </a:blip>
              <a:stretch>
                <a:fillRect l="0" t="-72392" r="0" b="-72391"/>
              </a:stretch>
            </a:blipFill>
          </p:spPr>
        </p:sp>
      </p:grpSp>
      <p:grpSp>
        <p:nvGrpSpPr>
          <p:cNvPr name="Group 58" id="58"/>
          <p:cNvGrpSpPr/>
          <p:nvPr/>
        </p:nvGrpSpPr>
        <p:grpSpPr>
          <a:xfrm rot="0">
            <a:off x="3017520" y="4283392"/>
            <a:ext cx="4023360" cy="654368"/>
            <a:chOff x="0" y="0"/>
            <a:chExt cx="5364480" cy="872490"/>
          </a:xfrm>
        </p:grpSpPr>
        <p:sp>
          <p:nvSpPr>
            <p:cNvPr name="Freeform 59" id="59"/>
            <p:cNvSpPr/>
            <p:nvPr/>
          </p:nvSpPr>
          <p:spPr>
            <a:xfrm flipH="false" flipV="false" rot="0">
              <a:off x="0" y="0"/>
              <a:ext cx="5364480" cy="872490"/>
            </a:xfrm>
            <a:custGeom>
              <a:avLst/>
              <a:gdLst/>
              <a:ahLst/>
              <a:cxnLst/>
              <a:rect r="r" b="b" t="t" l="l"/>
              <a:pathLst>
                <a:path h="872490" w="5364480">
                  <a:moveTo>
                    <a:pt x="0" y="0"/>
                  </a:moveTo>
                  <a:lnTo>
                    <a:pt x="5364480" y="0"/>
                  </a:lnTo>
                  <a:lnTo>
                    <a:pt x="5364480" y="872490"/>
                  </a:lnTo>
                  <a:lnTo>
                    <a:pt x="0" y="872490"/>
                  </a:lnTo>
                  <a:close/>
                </a:path>
              </a:pathLst>
            </a:custGeom>
            <a:blipFill>
              <a:blip r:embed="rId4">
                <a:alphaModFix amt="0"/>
              </a:blip>
              <a:stretch>
                <a:fillRect l="0" t="-69720" r="0" b="-69719"/>
              </a:stretch>
            </a:blipFill>
          </p:spPr>
        </p:sp>
      </p:grpSp>
      <p:grpSp>
        <p:nvGrpSpPr>
          <p:cNvPr name="Group 60" id="60"/>
          <p:cNvGrpSpPr/>
          <p:nvPr/>
        </p:nvGrpSpPr>
        <p:grpSpPr>
          <a:xfrm rot="0">
            <a:off x="3017520" y="4269105"/>
            <a:ext cx="4023360" cy="668655"/>
            <a:chOff x="0" y="0"/>
            <a:chExt cx="5364480" cy="891540"/>
          </a:xfrm>
        </p:grpSpPr>
        <p:sp>
          <p:nvSpPr>
            <p:cNvPr name="Freeform 61" id="61"/>
            <p:cNvSpPr/>
            <p:nvPr/>
          </p:nvSpPr>
          <p:spPr>
            <a:xfrm flipH="false" flipV="false" rot="0">
              <a:off x="0" y="0"/>
              <a:ext cx="5364480" cy="891541"/>
            </a:xfrm>
            <a:custGeom>
              <a:avLst/>
              <a:gdLst/>
              <a:ahLst/>
              <a:cxnLst/>
              <a:rect r="r" b="b" t="t" l="l"/>
              <a:pathLst>
                <a:path h="891541" w="5364480">
                  <a:moveTo>
                    <a:pt x="0" y="0"/>
                  </a:moveTo>
                  <a:lnTo>
                    <a:pt x="5364480" y="0"/>
                  </a:lnTo>
                  <a:lnTo>
                    <a:pt x="5364480" y="891541"/>
                  </a:lnTo>
                  <a:lnTo>
                    <a:pt x="0" y="891541"/>
                  </a:lnTo>
                  <a:close/>
                </a:path>
              </a:pathLst>
            </a:custGeom>
            <a:blipFill>
              <a:blip r:embed="rId5">
                <a:alphaModFix amt="0"/>
              </a:blip>
              <a:stretch>
                <a:fillRect l="0" t="-67243" r="0" b="-67243"/>
              </a:stretch>
            </a:blipFill>
          </p:spPr>
        </p:sp>
        <p:sp>
          <p:nvSpPr>
            <p:cNvPr name="TextBox 62" id="62"/>
            <p:cNvSpPr txBox="true"/>
            <p:nvPr/>
          </p:nvSpPr>
          <p:spPr>
            <a:xfrm>
              <a:off x="0" y="-19050"/>
              <a:ext cx="5364480" cy="910590"/>
            </a:xfrm>
            <a:prstGeom prst="rect">
              <a:avLst/>
            </a:prstGeom>
          </p:spPr>
          <p:txBody>
            <a:bodyPr anchor="ctr" rtlCol="false" tIns="0" lIns="0" bIns="0" rIns="0"/>
            <a:lstStyle/>
            <a:p>
              <a:pPr algn="ctr">
                <a:lnSpc>
                  <a:spcPts val="1680"/>
                </a:lnSpc>
              </a:pPr>
              <a:r>
                <a:rPr lang="en-US" sz="1400" b="true">
                  <a:solidFill>
                    <a:srgbClr val="1F3338"/>
                  </a:solidFill>
                  <a:latin typeface="Poppins Bold"/>
                  <a:ea typeface="Poppins Bold"/>
                  <a:cs typeface="Poppins Bold"/>
                  <a:sym typeface="Poppins Bold"/>
                </a:rPr>
                <a:t>≥ 50 questions already stored</a:t>
              </a:r>
            </a:p>
          </p:txBody>
        </p:sp>
      </p:grpSp>
      <p:grpSp>
        <p:nvGrpSpPr>
          <p:cNvPr name="Group 63" id="63"/>
          <p:cNvGrpSpPr/>
          <p:nvPr/>
        </p:nvGrpSpPr>
        <p:grpSpPr>
          <a:xfrm rot="0">
            <a:off x="11247120" y="4297680"/>
            <a:ext cx="4023360" cy="640080"/>
            <a:chOff x="0" y="0"/>
            <a:chExt cx="5364480" cy="853440"/>
          </a:xfrm>
        </p:grpSpPr>
        <p:sp>
          <p:nvSpPr>
            <p:cNvPr name="Freeform 64" id="64"/>
            <p:cNvSpPr/>
            <p:nvPr/>
          </p:nvSpPr>
          <p:spPr>
            <a:xfrm flipH="false" flipV="false" rot="0">
              <a:off x="0" y="0"/>
              <a:ext cx="5364480" cy="853440"/>
            </a:xfrm>
            <a:custGeom>
              <a:avLst/>
              <a:gdLst/>
              <a:ahLst/>
              <a:cxnLst/>
              <a:rect r="r" b="b" t="t" l="l"/>
              <a:pathLst>
                <a:path h="853440" w="5364480">
                  <a:moveTo>
                    <a:pt x="0" y="146304"/>
                  </a:moveTo>
                  <a:cubicBezTo>
                    <a:pt x="0" y="65532"/>
                    <a:pt x="65532" y="0"/>
                    <a:pt x="146304" y="0"/>
                  </a:cubicBezTo>
                  <a:lnTo>
                    <a:pt x="5218176" y="0"/>
                  </a:lnTo>
                  <a:cubicBezTo>
                    <a:pt x="5298948" y="0"/>
                    <a:pt x="5364480" y="65532"/>
                    <a:pt x="5364480" y="146304"/>
                  </a:cubicBezTo>
                  <a:lnTo>
                    <a:pt x="5364480" y="707136"/>
                  </a:lnTo>
                  <a:cubicBezTo>
                    <a:pt x="5364480" y="787908"/>
                    <a:pt x="5298948" y="853440"/>
                    <a:pt x="5218176" y="853440"/>
                  </a:cubicBezTo>
                  <a:lnTo>
                    <a:pt x="146304" y="853440"/>
                  </a:lnTo>
                  <a:cubicBezTo>
                    <a:pt x="65532" y="853440"/>
                    <a:pt x="0" y="787908"/>
                    <a:pt x="0" y="707136"/>
                  </a:cubicBezTo>
                  <a:close/>
                </a:path>
              </a:pathLst>
            </a:custGeom>
            <a:solidFill>
              <a:srgbClr val="C8DAE4"/>
            </a:solidFill>
          </p:spPr>
        </p:sp>
      </p:grpSp>
      <p:grpSp>
        <p:nvGrpSpPr>
          <p:cNvPr name="Group 65" id="65"/>
          <p:cNvGrpSpPr/>
          <p:nvPr/>
        </p:nvGrpSpPr>
        <p:grpSpPr>
          <a:xfrm rot="0">
            <a:off x="11247120" y="4297680"/>
            <a:ext cx="4023360" cy="640080"/>
            <a:chOff x="0" y="0"/>
            <a:chExt cx="5364480" cy="853440"/>
          </a:xfrm>
        </p:grpSpPr>
        <p:sp>
          <p:nvSpPr>
            <p:cNvPr name="Freeform 66" id="66"/>
            <p:cNvSpPr/>
            <p:nvPr/>
          </p:nvSpPr>
          <p:spPr>
            <a:xfrm flipH="false" flipV="false" rot="0">
              <a:off x="0" y="0"/>
              <a:ext cx="5364480" cy="853440"/>
            </a:xfrm>
            <a:custGeom>
              <a:avLst/>
              <a:gdLst/>
              <a:ahLst/>
              <a:cxnLst/>
              <a:rect r="r" b="b" t="t" l="l"/>
              <a:pathLst>
                <a:path h="853440" w="5364480">
                  <a:moveTo>
                    <a:pt x="0" y="0"/>
                  </a:moveTo>
                  <a:lnTo>
                    <a:pt x="5364480" y="0"/>
                  </a:lnTo>
                  <a:lnTo>
                    <a:pt x="5364480" y="853440"/>
                  </a:lnTo>
                  <a:lnTo>
                    <a:pt x="0" y="853440"/>
                  </a:lnTo>
                  <a:close/>
                </a:path>
              </a:pathLst>
            </a:custGeom>
            <a:blipFill>
              <a:blip r:embed="rId3">
                <a:alphaModFix amt="0"/>
              </a:blip>
              <a:stretch>
                <a:fillRect l="0" t="-72392" r="0" b="-72391"/>
              </a:stretch>
            </a:blipFill>
          </p:spPr>
        </p:sp>
      </p:grpSp>
      <p:grpSp>
        <p:nvGrpSpPr>
          <p:cNvPr name="Group 67" id="67"/>
          <p:cNvGrpSpPr/>
          <p:nvPr/>
        </p:nvGrpSpPr>
        <p:grpSpPr>
          <a:xfrm rot="0">
            <a:off x="11247120" y="4283392"/>
            <a:ext cx="4023360" cy="654368"/>
            <a:chOff x="0" y="0"/>
            <a:chExt cx="5364480" cy="872490"/>
          </a:xfrm>
        </p:grpSpPr>
        <p:sp>
          <p:nvSpPr>
            <p:cNvPr name="Freeform 68" id="68"/>
            <p:cNvSpPr/>
            <p:nvPr/>
          </p:nvSpPr>
          <p:spPr>
            <a:xfrm flipH="false" flipV="false" rot="0">
              <a:off x="0" y="0"/>
              <a:ext cx="5364480" cy="872490"/>
            </a:xfrm>
            <a:custGeom>
              <a:avLst/>
              <a:gdLst/>
              <a:ahLst/>
              <a:cxnLst/>
              <a:rect r="r" b="b" t="t" l="l"/>
              <a:pathLst>
                <a:path h="872490" w="5364480">
                  <a:moveTo>
                    <a:pt x="0" y="0"/>
                  </a:moveTo>
                  <a:lnTo>
                    <a:pt x="5364480" y="0"/>
                  </a:lnTo>
                  <a:lnTo>
                    <a:pt x="5364480" y="872490"/>
                  </a:lnTo>
                  <a:lnTo>
                    <a:pt x="0" y="872490"/>
                  </a:lnTo>
                  <a:close/>
                </a:path>
              </a:pathLst>
            </a:custGeom>
            <a:blipFill>
              <a:blip r:embed="rId4">
                <a:alphaModFix amt="0"/>
              </a:blip>
              <a:stretch>
                <a:fillRect l="0" t="-69720" r="0" b="-69719"/>
              </a:stretch>
            </a:blipFill>
          </p:spPr>
        </p:sp>
      </p:grpSp>
      <p:grpSp>
        <p:nvGrpSpPr>
          <p:cNvPr name="Group 69" id="69"/>
          <p:cNvGrpSpPr/>
          <p:nvPr/>
        </p:nvGrpSpPr>
        <p:grpSpPr>
          <a:xfrm rot="0">
            <a:off x="11247120" y="4269105"/>
            <a:ext cx="4023360" cy="668655"/>
            <a:chOff x="0" y="0"/>
            <a:chExt cx="5364480" cy="891540"/>
          </a:xfrm>
        </p:grpSpPr>
        <p:sp>
          <p:nvSpPr>
            <p:cNvPr name="Freeform 70" id="70"/>
            <p:cNvSpPr/>
            <p:nvPr/>
          </p:nvSpPr>
          <p:spPr>
            <a:xfrm flipH="false" flipV="false" rot="0">
              <a:off x="0" y="0"/>
              <a:ext cx="5364480" cy="891541"/>
            </a:xfrm>
            <a:custGeom>
              <a:avLst/>
              <a:gdLst/>
              <a:ahLst/>
              <a:cxnLst/>
              <a:rect r="r" b="b" t="t" l="l"/>
              <a:pathLst>
                <a:path h="891541" w="5364480">
                  <a:moveTo>
                    <a:pt x="0" y="0"/>
                  </a:moveTo>
                  <a:lnTo>
                    <a:pt x="5364480" y="0"/>
                  </a:lnTo>
                  <a:lnTo>
                    <a:pt x="5364480" y="891541"/>
                  </a:lnTo>
                  <a:lnTo>
                    <a:pt x="0" y="891541"/>
                  </a:lnTo>
                  <a:close/>
                </a:path>
              </a:pathLst>
            </a:custGeom>
            <a:blipFill>
              <a:blip r:embed="rId5">
                <a:alphaModFix amt="0"/>
              </a:blip>
              <a:stretch>
                <a:fillRect l="0" t="-67243" r="0" b="-67243"/>
              </a:stretch>
            </a:blipFill>
          </p:spPr>
        </p:sp>
        <p:sp>
          <p:nvSpPr>
            <p:cNvPr name="TextBox 71" id="71"/>
            <p:cNvSpPr txBox="true"/>
            <p:nvPr/>
          </p:nvSpPr>
          <p:spPr>
            <a:xfrm>
              <a:off x="0" y="-19050"/>
              <a:ext cx="5364480" cy="910590"/>
            </a:xfrm>
            <a:prstGeom prst="rect">
              <a:avLst/>
            </a:prstGeom>
          </p:spPr>
          <p:txBody>
            <a:bodyPr anchor="ctr" rtlCol="false" tIns="0" lIns="0" bIns="0" rIns="0"/>
            <a:lstStyle/>
            <a:p>
              <a:pPr algn="ctr">
                <a:lnSpc>
                  <a:spcPts val="1680"/>
                </a:lnSpc>
              </a:pPr>
              <a:r>
                <a:rPr lang="en-US" sz="1400" b="true">
                  <a:solidFill>
                    <a:srgbClr val="1F3338"/>
                  </a:solidFill>
                  <a:latin typeface="Poppins Bold"/>
                  <a:ea typeface="Poppins Bold"/>
                  <a:cs typeface="Poppins Bold"/>
                  <a:sym typeface="Poppins Bold"/>
                </a:rPr>
                <a:t>&lt; 50 questions stored</a:t>
              </a:r>
            </a:p>
          </p:txBody>
        </p:sp>
      </p:grpSp>
      <p:grpSp>
        <p:nvGrpSpPr>
          <p:cNvPr name="Group 72" id="72"/>
          <p:cNvGrpSpPr/>
          <p:nvPr/>
        </p:nvGrpSpPr>
        <p:grpSpPr>
          <a:xfrm rot="0">
            <a:off x="4988052" y="4937760"/>
            <a:ext cx="82296" cy="146304"/>
            <a:chOff x="0" y="0"/>
            <a:chExt cx="109728" cy="195072"/>
          </a:xfrm>
        </p:grpSpPr>
        <p:sp>
          <p:nvSpPr>
            <p:cNvPr name="Freeform 73" id="73"/>
            <p:cNvSpPr/>
            <p:nvPr/>
          </p:nvSpPr>
          <p:spPr>
            <a:xfrm flipH="false" flipV="false" rot="0">
              <a:off x="0" y="0"/>
              <a:ext cx="109728" cy="195072"/>
            </a:xfrm>
            <a:custGeom>
              <a:avLst/>
              <a:gdLst/>
              <a:ahLst/>
              <a:cxnLst/>
              <a:rect r="r" b="b" t="t" l="l"/>
              <a:pathLst>
                <a:path h="195072" w="109728">
                  <a:moveTo>
                    <a:pt x="0" y="0"/>
                  </a:moveTo>
                  <a:lnTo>
                    <a:pt x="109728" y="0"/>
                  </a:lnTo>
                  <a:lnTo>
                    <a:pt x="109728" y="195072"/>
                  </a:lnTo>
                  <a:lnTo>
                    <a:pt x="0" y="195072"/>
                  </a:lnTo>
                  <a:close/>
                </a:path>
              </a:pathLst>
            </a:custGeom>
            <a:solidFill>
              <a:srgbClr val="737AE6"/>
            </a:solidFill>
          </p:spPr>
        </p:sp>
      </p:grpSp>
      <p:grpSp>
        <p:nvGrpSpPr>
          <p:cNvPr name="Group 74" id="74"/>
          <p:cNvGrpSpPr/>
          <p:nvPr/>
        </p:nvGrpSpPr>
        <p:grpSpPr>
          <a:xfrm rot="-10800000">
            <a:off x="4910328" y="5084064"/>
            <a:ext cx="237744" cy="146304"/>
            <a:chOff x="0" y="0"/>
            <a:chExt cx="316992" cy="195072"/>
          </a:xfrm>
        </p:grpSpPr>
        <p:sp>
          <p:nvSpPr>
            <p:cNvPr name="Freeform 75" id="75"/>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76" id="76"/>
          <p:cNvGrpSpPr/>
          <p:nvPr/>
        </p:nvGrpSpPr>
        <p:grpSpPr>
          <a:xfrm rot="0">
            <a:off x="13217652" y="4937760"/>
            <a:ext cx="82296" cy="146304"/>
            <a:chOff x="0" y="0"/>
            <a:chExt cx="109728" cy="195072"/>
          </a:xfrm>
        </p:grpSpPr>
        <p:sp>
          <p:nvSpPr>
            <p:cNvPr name="Freeform 77" id="77"/>
            <p:cNvSpPr/>
            <p:nvPr/>
          </p:nvSpPr>
          <p:spPr>
            <a:xfrm flipH="false" flipV="false" rot="0">
              <a:off x="0" y="0"/>
              <a:ext cx="109728" cy="195072"/>
            </a:xfrm>
            <a:custGeom>
              <a:avLst/>
              <a:gdLst/>
              <a:ahLst/>
              <a:cxnLst/>
              <a:rect r="r" b="b" t="t" l="l"/>
              <a:pathLst>
                <a:path h="195072" w="109728">
                  <a:moveTo>
                    <a:pt x="0" y="0"/>
                  </a:moveTo>
                  <a:lnTo>
                    <a:pt x="109728" y="0"/>
                  </a:lnTo>
                  <a:lnTo>
                    <a:pt x="109728" y="195072"/>
                  </a:lnTo>
                  <a:lnTo>
                    <a:pt x="0" y="195072"/>
                  </a:lnTo>
                  <a:close/>
                </a:path>
              </a:pathLst>
            </a:custGeom>
            <a:solidFill>
              <a:srgbClr val="737AE6"/>
            </a:solidFill>
          </p:spPr>
        </p:sp>
      </p:grpSp>
      <p:grpSp>
        <p:nvGrpSpPr>
          <p:cNvPr name="Group 78" id="78"/>
          <p:cNvGrpSpPr/>
          <p:nvPr/>
        </p:nvGrpSpPr>
        <p:grpSpPr>
          <a:xfrm rot="-10800000">
            <a:off x="13139928" y="5084064"/>
            <a:ext cx="237744" cy="146304"/>
            <a:chOff x="0" y="0"/>
            <a:chExt cx="316992" cy="195072"/>
          </a:xfrm>
        </p:grpSpPr>
        <p:sp>
          <p:nvSpPr>
            <p:cNvPr name="Freeform 79" id="79"/>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sp>
        <p:nvSpPr>
          <p:cNvPr name="Freeform 80" id="80"/>
          <p:cNvSpPr/>
          <p:nvPr/>
        </p:nvSpPr>
        <p:spPr>
          <a:xfrm flipH="false" flipV="false" rot="0">
            <a:off x="3000851" y="5195411"/>
            <a:ext cx="4056697" cy="856298"/>
          </a:xfrm>
          <a:custGeom>
            <a:avLst/>
            <a:gdLst/>
            <a:ahLst/>
            <a:cxnLst/>
            <a:rect r="r" b="b" t="t" l="l"/>
            <a:pathLst>
              <a:path h="856298" w="4056697">
                <a:moveTo>
                  <a:pt x="0" y="0"/>
                </a:moveTo>
                <a:lnTo>
                  <a:pt x="4056698" y="0"/>
                </a:lnTo>
                <a:lnTo>
                  <a:pt x="4056698" y="856298"/>
                </a:lnTo>
                <a:lnTo>
                  <a:pt x="0" y="856298"/>
                </a:lnTo>
                <a:lnTo>
                  <a:pt x="0" y="0"/>
                </a:lnTo>
                <a:close/>
              </a:path>
            </a:pathLst>
          </a:custGeom>
          <a:blipFill>
            <a:blip r:embed="rId6">
              <a:extLst>
                <a:ext uri="{96DAC541-7B7A-43D3-8B79-37D633B846F1}">
                  <asvg:svgBlip xmlns:asvg="http://schemas.microsoft.com/office/drawing/2016/SVG/main" r:embed="rId7"/>
                </a:ext>
              </a:extLst>
            </a:blip>
            <a:stretch>
              <a:fillRect l="0" t="-43" r="0" b="-44"/>
            </a:stretch>
          </a:blipFill>
        </p:spPr>
      </p:sp>
      <p:grpSp>
        <p:nvGrpSpPr>
          <p:cNvPr name="Group 81" id="81"/>
          <p:cNvGrpSpPr/>
          <p:nvPr/>
        </p:nvGrpSpPr>
        <p:grpSpPr>
          <a:xfrm rot="0">
            <a:off x="3017520" y="5212080"/>
            <a:ext cx="4023360" cy="822960"/>
            <a:chOff x="0" y="0"/>
            <a:chExt cx="5364480" cy="1097280"/>
          </a:xfrm>
        </p:grpSpPr>
        <p:sp>
          <p:nvSpPr>
            <p:cNvPr name="Freeform 82" id="82"/>
            <p:cNvSpPr/>
            <p:nvPr/>
          </p:nvSpPr>
          <p:spPr>
            <a:xfrm flipH="false" flipV="false" rot="0">
              <a:off x="0" y="0"/>
              <a:ext cx="5364480" cy="1097280"/>
            </a:xfrm>
            <a:custGeom>
              <a:avLst/>
              <a:gdLst/>
              <a:ahLst/>
              <a:cxnLst/>
              <a:rect r="r" b="b" t="t" l="l"/>
              <a:pathLst>
                <a:path h="1097280" w="5364480">
                  <a:moveTo>
                    <a:pt x="0" y="0"/>
                  </a:moveTo>
                  <a:lnTo>
                    <a:pt x="5364480" y="0"/>
                  </a:lnTo>
                  <a:lnTo>
                    <a:pt x="5364480" y="1097280"/>
                  </a:lnTo>
                  <a:lnTo>
                    <a:pt x="0" y="1097280"/>
                  </a:lnTo>
                  <a:close/>
                </a:path>
              </a:pathLst>
            </a:custGeom>
            <a:blipFill>
              <a:blip r:embed="rId3">
                <a:alphaModFix amt="0"/>
              </a:blip>
              <a:stretch>
                <a:fillRect l="0" t="-45194" r="0" b="-45193"/>
              </a:stretch>
            </a:blipFill>
          </p:spPr>
        </p:sp>
      </p:grpSp>
      <p:grpSp>
        <p:nvGrpSpPr>
          <p:cNvPr name="Group 83" id="83"/>
          <p:cNvGrpSpPr/>
          <p:nvPr/>
        </p:nvGrpSpPr>
        <p:grpSpPr>
          <a:xfrm rot="0">
            <a:off x="3017520" y="5197792"/>
            <a:ext cx="4023360" cy="837248"/>
            <a:chOff x="0" y="0"/>
            <a:chExt cx="5364480" cy="1116330"/>
          </a:xfrm>
        </p:grpSpPr>
        <p:sp>
          <p:nvSpPr>
            <p:cNvPr name="Freeform 84" id="84"/>
            <p:cNvSpPr/>
            <p:nvPr/>
          </p:nvSpPr>
          <p:spPr>
            <a:xfrm flipH="false" flipV="false" rot="0">
              <a:off x="0" y="0"/>
              <a:ext cx="5364480" cy="1116330"/>
            </a:xfrm>
            <a:custGeom>
              <a:avLst/>
              <a:gdLst/>
              <a:ahLst/>
              <a:cxnLst/>
              <a:rect r="r" b="b" t="t" l="l"/>
              <a:pathLst>
                <a:path h="1116330" w="5364480">
                  <a:moveTo>
                    <a:pt x="0" y="0"/>
                  </a:moveTo>
                  <a:lnTo>
                    <a:pt x="5364480" y="0"/>
                  </a:lnTo>
                  <a:lnTo>
                    <a:pt x="5364480" y="1116330"/>
                  </a:lnTo>
                  <a:lnTo>
                    <a:pt x="0" y="1116330"/>
                  </a:lnTo>
                  <a:close/>
                </a:path>
              </a:pathLst>
            </a:custGeom>
            <a:blipFill>
              <a:blip r:embed="rId4">
                <a:alphaModFix amt="0"/>
              </a:blip>
              <a:stretch>
                <a:fillRect l="0" t="-43569" r="0" b="-43568"/>
              </a:stretch>
            </a:blipFill>
          </p:spPr>
        </p:sp>
      </p:grpSp>
      <p:grpSp>
        <p:nvGrpSpPr>
          <p:cNvPr name="Group 85" id="85"/>
          <p:cNvGrpSpPr/>
          <p:nvPr/>
        </p:nvGrpSpPr>
        <p:grpSpPr>
          <a:xfrm rot="0">
            <a:off x="3017520" y="5183505"/>
            <a:ext cx="4023360" cy="851535"/>
            <a:chOff x="0" y="0"/>
            <a:chExt cx="5364480" cy="1135380"/>
          </a:xfrm>
        </p:grpSpPr>
        <p:sp>
          <p:nvSpPr>
            <p:cNvPr name="Freeform 86" id="86"/>
            <p:cNvSpPr/>
            <p:nvPr/>
          </p:nvSpPr>
          <p:spPr>
            <a:xfrm flipH="false" flipV="false" rot="0">
              <a:off x="0" y="0"/>
              <a:ext cx="5364480" cy="1135381"/>
            </a:xfrm>
            <a:custGeom>
              <a:avLst/>
              <a:gdLst/>
              <a:ahLst/>
              <a:cxnLst/>
              <a:rect r="r" b="b" t="t" l="l"/>
              <a:pathLst>
                <a:path h="1135381" w="5364480">
                  <a:moveTo>
                    <a:pt x="0" y="0"/>
                  </a:moveTo>
                  <a:lnTo>
                    <a:pt x="5364480" y="0"/>
                  </a:lnTo>
                  <a:lnTo>
                    <a:pt x="5364480" y="1135381"/>
                  </a:lnTo>
                  <a:lnTo>
                    <a:pt x="0" y="1135381"/>
                  </a:lnTo>
                  <a:close/>
                </a:path>
              </a:pathLst>
            </a:custGeom>
            <a:blipFill>
              <a:blip r:embed="rId5">
                <a:alphaModFix amt="0"/>
              </a:blip>
              <a:stretch>
                <a:fillRect l="0" t="-42063" r="0" b="-42063"/>
              </a:stretch>
            </a:blipFill>
          </p:spPr>
        </p:sp>
        <p:sp>
          <p:nvSpPr>
            <p:cNvPr name="TextBox 87" id="87"/>
            <p:cNvSpPr txBox="true"/>
            <p:nvPr/>
          </p:nvSpPr>
          <p:spPr>
            <a:xfrm>
              <a:off x="0" y="-19050"/>
              <a:ext cx="5364480" cy="1154430"/>
            </a:xfrm>
            <a:prstGeom prst="rect">
              <a:avLst/>
            </a:prstGeom>
          </p:spPr>
          <p:txBody>
            <a:bodyPr anchor="ctr" rtlCol="false" tIns="0" lIns="0" bIns="0" rIns="0"/>
            <a:lstStyle/>
            <a:p>
              <a:pPr algn="ctr">
                <a:lnSpc>
                  <a:spcPts val="1680"/>
                </a:lnSpc>
              </a:pPr>
              <a:r>
                <a:rPr lang="en-US" sz="1400" b="true">
                  <a:solidFill>
                    <a:srgbClr val="1F3338"/>
                  </a:solidFill>
                  <a:latin typeface="Poppins Bold"/>
                  <a:ea typeface="Poppins Bold"/>
                  <a:cs typeface="Poppins Bold"/>
                  <a:sym typeface="Poppins Bold"/>
                </a:rPr>
                <a:t>Reuse stored questions</a:t>
              </a:r>
            </a:p>
          </p:txBody>
        </p:sp>
      </p:grpSp>
      <p:sp>
        <p:nvSpPr>
          <p:cNvPr name="Freeform 88" id="88"/>
          <p:cNvSpPr/>
          <p:nvPr/>
        </p:nvSpPr>
        <p:spPr>
          <a:xfrm flipH="false" flipV="false" rot="0">
            <a:off x="11230451" y="5195411"/>
            <a:ext cx="4056697" cy="856298"/>
          </a:xfrm>
          <a:custGeom>
            <a:avLst/>
            <a:gdLst/>
            <a:ahLst/>
            <a:cxnLst/>
            <a:rect r="r" b="b" t="t" l="l"/>
            <a:pathLst>
              <a:path h="856298" w="4056697">
                <a:moveTo>
                  <a:pt x="0" y="0"/>
                </a:moveTo>
                <a:lnTo>
                  <a:pt x="4056698" y="0"/>
                </a:lnTo>
                <a:lnTo>
                  <a:pt x="4056698" y="856298"/>
                </a:lnTo>
                <a:lnTo>
                  <a:pt x="0" y="856298"/>
                </a:lnTo>
                <a:lnTo>
                  <a:pt x="0" y="0"/>
                </a:lnTo>
                <a:close/>
              </a:path>
            </a:pathLst>
          </a:custGeom>
          <a:blipFill>
            <a:blip r:embed="rId6">
              <a:extLst>
                <a:ext uri="{96DAC541-7B7A-43D3-8B79-37D633B846F1}">
                  <asvg:svgBlip xmlns:asvg="http://schemas.microsoft.com/office/drawing/2016/SVG/main" r:embed="rId7"/>
                </a:ext>
              </a:extLst>
            </a:blip>
            <a:stretch>
              <a:fillRect l="0" t="-43" r="0" b="-44"/>
            </a:stretch>
          </a:blipFill>
        </p:spPr>
      </p:sp>
      <p:grpSp>
        <p:nvGrpSpPr>
          <p:cNvPr name="Group 89" id="89"/>
          <p:cNvGrpSpPr/>
          <p:nvPr/>
        </p:nvGrpSpPr>
        <p:grpSpPr>
          <a:xfrm rot="0">
            <a:off x="11247120" y="5212080"/>
            <a:ext cx="4023360" cy="822960"/>
            <a:chOff x="0" y="0"/>
            <a:chExt cx="5364480" cy="1097280"/>
          </a:xfrm>
        </p:grpSpPr>
        <p:sp>
          <p:nvSpPr>
            <p:cNvPr name="Freeform 90" id="90"/>
            <p:cNvSpPr/>
            <p:nvPr/>
          </p:nvSpPr>
          <p:spPr>
            <a:xfrm flipH="false" flipV="false" rot="0">
              <a:off x="0" y="0"/>
              <a:ext cx="5364480" cy="1097280"/>
            </a:xfrm>
            <a:custGeom>
              <a:avLst/>
              <a:gdLst/>
              <a:ahLst/>
              <a:cxnLst/>
              <a:rect r="r" b="b" t="t" l="l"/>
              <a:pathLst>
                <a:path h="1097280" w="5364480">
                  <a:moveTo>
                    <a:pt x="0" y="0"/>
                  </a:moveTo>
                  <a:lnTo>
                    <a:pt x="5364480" y="0"/>
                  </a:lnTo>
                  <a:lnTo>
                    <a:pt x="5364480" y="1097280"/>
                  </a:lnTo>
                  <a:lnTo>
                    <a:pt x="0" y="1097280"/>
                  </a:lnTo>
                  <a:close/>
                </a:path>
              </a:pathLst>
            </a:custGeom>
            <a:blipFill>
              <a:blip r:embed="rId3">
                <a:alphaModFix amt="0"/>
              </a:blip>
              <a:stretch>
                <a:fillRect l="0" t="-45194" r="0" b="-45193"/>
              </a:stretch>
            </a:blipFill>
          </p:spPr>
        </p:sp>
      </p:grpSp>
      <p:grpSp>
        <p:nvGrpSpPr>
          <p:cNvPr name="Group 91" id="91"/>
          <p:cNvGrpSpPr/>
          <p:nvPr/>
        </p:nvGrpSpPr>
        <p:grpSpPr>
          <a:xfrm rot="0">
            <a:off x="11247120" y="5197792"/>
            <a:ext cx="4023360" cy="837248"/>
            <a:chOff x="0" y="0"/>
            <a:chExt cx="5364480" cy="1116330"/>
          </a:xfrm>
        </p:grpSpPr>
        <p:sp>
          <p:nvSpPr>
            <p:cNvPr name="Freeform 92" id="92"/>
            <p:cNvSpPr/>
            <p:nvPr/>
          </p:nvSpPr>
          <p:spPr>
            <a:xfrm flipH="false" flipV="false" rot="0">
              <a:off x="0" y="0"/>
              <a:ext cx="5364480" cy="1116330"/>
            </a:xfrm>
            <a:custGeom>
              <a:avLst/>
              <a:gdLst/>
              <a:ahLst/>
              <a:cxnLst/>
              <a:rect r="r" b="b" t="t" l="l"/>
              <a:pathLst>
                <a:path h="1116330" w="5364480">
                  <a:moveTo>
                    <a:pt x="0" y="0"/>
                  </a:moveTo>
                  <a:lnTo>
                    <a:pt x="5364480" y="0"/>
                  </a:lnTo>
                  <a:lnTo>
                    <a:pt x="5364480" y="1116330"/>
                  </a:lnTo>
                  <a:lnTo>
                    <a:pt x="0" y="1116330"/>
                  </a:lnTo>
                  <a:close/>
                </a:path>
              </a:pathLst>
            </a:custGeom>
            <a:blipFill>
              <a:blip r:embed="rId4">
                <a:alphaModFix amt="0"/>
              </a:blip>
              <a:stretch>
                <a:fillRect l="0" t="-43569" r="0" b="-43568"/>
              </a:stretch>
            </a:blipFill>
          </p:spPr>
        </p:sp>
      </p:grpSp>
      <p:grpSp>
        <p:nvGrpSpPr>
          <p:cNvPr name="Group 93" id="93"/>
          <p:cNvGrpSpPr/>
          <p:nvPr/>
        </p:nvGrpSpPr>
        <p:grpSpPr>
          <a:xfrm rot="0">
            <a:off x="11247120" y="5183505"/>
            <a:ext cx="4023360" cy="851535"/>
            <a:chOff x="0" y="0"/>
            <a:chExt cx="5364480" cy="1135380"/>
          </a:xfrm>
        </p:grpSpPr>
        <p:sp>
          <p:nvSpPr>
            <p:cNvPr name="Freeform 94" id="94"/>
            <p:cNvSpPr/>
            <p:nvPr/>
          </p:nvSpPr>
          <p:spPr>
            <a:xfrm flipH="false" flipV="false" rot="0">
              <a:off x="0" y="0"/>
              <a:ext cx="5364480" cy="1135381"/>
            </a:xfrm>
            <a:custGeom>
              <a:avLst/>
              <a:gdLst/>
              <a:ahLst/>
              <a:cxnLst/>
              <a:rect r="r" b="b" t="t" l="l"/>
              <a:pathLst>
                <a:path h="1135381" w="5364480">
                  <a:moveTo>
                    <a:pt x="0" y="0"/>
                  </a:moveTo>
                  <a:lnTo>
                    <a:pt x="5364480" y="0"/>
                  </a:lnTo>
                  <a:lnTo>
                    <a:pt x="5364480" y="1135381"/>
                  </a:lnTo>
                  <a:lnTo>
                    <a:pt x="0" y="1135381"/>
                  </a:lnTo>
                  <a:close/>
                </a:path>
              </a:pathLst>
            </a:custGeom>
            <a:blipFill>
              <a:blip r:embed="rId5">
                <a:alphaModFix amt="0"/>
              </a:blip>
              <a:stretch>
                <a:fillRect l="0" t="-42063" r="0" b="-42063"/>
              </a:stretch>
            </a:blipFill>
          </p:spPr>
        </p:sp>
        <p:sp>
          <p:nvSpPr>
            <p:cNvPr name="TextBox 95" id="95"/>
            <p:cNvSpPr txBox="true"/>
            <p:nvPr/>
          </p:nvSpPr>
          <p:spPr>
            <a:xfrm>
              <a:off x="0" y="-19050"/>
              <a:ext cx="5364480" cy="1154430"/>
            </a:xfrm>
            <a:prstGeom prst="rect">
              <a:avLst/>
            </a:prstGeom>
          </p:spPr>
          <p:txBody>
            <a:bodyPr anchor="ctr" rtlCol="false" tIns="0" lIns="0" bIns="0" rIns="0"/>
            <a:lstStyle/>
            <a:p>
              <a:pPr algn="ctr">
                <a:lnSpc>
                  <a:spcPts val="1620"/>
                </a:lnSpc>
              </a:pPr>
              <a:r>
                <a:rPr lang="en-US" sz="1350" b="true">
                  <a:solidFill>
                    <a:srgbClr val="1F3338"/>
                  </a:solidFill>
                  <a:latin typeface="Poppins Bold"/>
                  <a:ea typeface="Poppins Bold"/>
                  <a:cs typeface="Poppins Bold"/>
                  <a:sym typeface="Poppins Bold"/>
                </a:rPr>
                <a:t>Keep what exists + generate the rest (GPT-5.4 mini)</a:t>
              </a:r>
            </a:p>
          </p:txBody>
        </p:sp>
      </p:grpSp>
      <p:grpSp>
        <p:nvGrpSpPr>
          <p:cNvPr name="Group 96" id="96"/>
          <p:cNvGrpSpPr/>
          <p:nvPr/>
        </p:nvGrpSpPr>
        <p:grpSpPr>
          <a:xfrm rot="0">
            <a:off x="4988052" y="6035040"/>
            <a:ext cx="82296" cy="256032"/>
            <a:chOff x="0" y="0"/>
            <a:chExt cx="109728" cy="341376"/>
          </a:xfrm>
        </p:grpSpPr>
        <p:sp>
          <p:nvSpPr>
            <p:cNvPr name="Freeform 97" id="97"/>
            <p:cNvSpPr/>
            <p:nvPr/>
          </p:nvSpPr>
          <p:spPr>
            <a:xfrm flipH="false" flipV="false" rot="0">
              <a:off x="0" y="0"/>
              <a:ext cx="109728" cy="341376"/>
            </a:xfrm>
            <a:custGeom>
              <a:avLst/>
              <a:gdLst/>
              <a:ahLst/>
              <a:cxnLst/>
              <a:rect r="r" b="b" t="t" l="l"/>
              <a:pathLst>
                <a:path h="341376" w="109728">
                  <a:moveTo>
                    <a:pt x="0" y="0"/>
                  </a:moveTo>
                  <a:lnTo>
                    <a:pt x="109728" y="0"/>
                  </a:lnTo>
                  <a:lnTo>
                    <a:pt x="109728" y="341376"/>
                  </a:lnTo>
                  <a:lnTo>
                    <a:pt x="0" y="341376"/>
                  </a:lnTo>
                  <a:close/>
                </a:path>
              </a:pathLst>
            </a:custGeom>
            <a:solidFill>
              <a:srgbClr val="737AE6"/>
            </a:solidFill>
          </p:spPr>
        </p:sp>
      </p:grpSp>
      <p:grpSp>
        <p:nvGrpSpPr>
          <p:cNvPr name="Group 98" id="98"/>
          <p:cNvGrpSpPr/>
          <p:nvPr/>
        </p:nvGrpSpPr>
        <p:grpSpPr>
          <a:xfrm rot="-10800000">
            <a:off x="4910328" y="6291072"/>
            <a:ext cx="237744" cy="146304"/>
            <a:chOff x="0" y="0"/>
            <a:chExt cx="316992" cy="195072"/>
          </a:xfrm>
        </p:grpSpPr>
        <p:sp>
          <p:nvSpPr>
            <p:cNvPr name="Freeform 99" id="99"/>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100" id="100"/>
          <p:cNvGrpSpPr/>
          <p:nvPr/>
        </p:nvGrpSpPr>
        <p:grpSpPr>
          <a:xfrm rot="0">
            <a:off x="13217652" y="6035040"/>
            <a:ext cx="82296" cy="256032"/>
            <a:chOff x="0" y="0"/>
            <a:chExt cx="109728" cy="341376"/>
          </a:xfrm>
        </p:grpSpPr>
        <p:sp>
          <p:nvSpPr>
            <p:cNvPr name="Freeform 101" id="101"/>
            <p:cNvSpPr/>
            <p:nvPr/>
          </p:nvSpPr>
          <p:spPr>
            <a:xfrm flipH="false" flipV="false" rot="0">
              <a:off x="0" y="0"/>
              <a:ext cx="109728" cy="341376"/>
            </a:xfrm>
            <a:custGeom>
              <a:avLst/>
              <a:gdLst/>
              <a:ahLst/>
              <a:cxnLst/>
              <a:rect r="r" b="b" t="t" l="l"/>
              <a:pathLst>
                <a:path h="341376" w="109728">
                  <a:moveTo>
                    <a:pt x="0" y="0"/>
                  </a:moveTo>
                  <a:lnTo>
                    <a:pt x="109728" y="0"/>
                  </a:lnTo>
                  <a:lnTo>
                    <a:pt x="109728" y="341376"/>
                  </a:lnTo>
                  <a:lnTo>
                    <a:pt x="0" y="341376"/>
                  </a:lnTo>
                  <a:close/>
                </a:path>
              </a:pathLst>
            </a:custGeom>
            <a:solidFill>
              <a:srgbClr val="737AE6"/>
            </a:solidFill>
          </p:spPr>
        </p:sp>
      </p:grpSp>
      <p:grpSp>
        <p:nvGrpSpPr>
          <p:cNvPr name="Group 102" id="102"/>
          <p:cNvGrpSpPr/>
          <p:nvPr/>
        </p:nvGrpSpPr>
        <p:grpSpPr>
          <a:xfrm rot="-10800000">
            <a:off x="13139928" y="6291072"/>
            <a:ext cx="237744" cy="146304"/>
            <a:chOff x="0" y="0"/>
            <a:chExt cx="316992" cy="195072"/>
          </a:xfrm>
        </p:grpSpPr>
        <p:sp>
          <p:nvSpPr>
            <p:cNvPr name="Freeform 103" id="103"/>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104" id="104"/>
          <p:cNvGrpSpPr/>
          <p:nvPr/>
        </p:nvGrpSpPr>
        <p:grpSpPr>
          <a:xfrm rot="0">
            <a:off x="4983480" y="6419088"/>
            <a:ext cx="8321040" cy="82296"/>
            <a:chOff x="0" y="0"/>
            <a:chExt cx="11094720" cy="109728"/>
          </a:xfrm>
        </p:grpSpPr>
        <p:sp>
          <p:nvSpPr>
            <p:cNvPr name="Freeform 105" id="105"/>
            <p:cNvSpPr/>
            <p:nvPr/>
          </p:nvSpPr>
          <p:spPr>
            <a:xfrm flipH="false" flipV="false" rot="0">
              <a:off x="0" y="0"/>
              <a:ext cx="11094720" cy="109728"/>
            </a:xfrm>
            <a:custGeom>
              <a:avLst/>
              <a:gdLst/>
              <a:ahLst/>
              <a:cxnLst/>
              <a:rect r="r" b="b" t="t" l="l"/>
              <a:pathLst>
                <a:path h="109728" w="11094720">
                  <a:moveTo>
                    <a:pt x="0" y="0"/>
                  </a:moveTo>
                  <a:lnTo>
                    <a:pt x="11094720" y="0"/>
                  </a:lnTo>
                  <a:lnTo>
                    <a:pt x="11094720" y="109728"/>
                  </a:lnTo>
                  <a:lnTo>
                    <a:pt x="0" y="109728"/>
                  </a:lnTo>
                  <a:close/>
                </a:path>
              </a:pathLst>
            </a:custGeom>
            <a:solidFill>
              <a:srgbClr val="737AE6"/>
            </a:solidFill>
          </p:spPr>
        </p:sp>
      </p:grpSp>
      <p:grpSp>
        <p:nvGrpSpPr>
          <p:cNvPr name="Group 106" id="106"/>
          <p:cNvGrpSpPr/>
          <p:nvPr/>
        </p:nvGrpSpPr>
        <p:grpSpPr>
          <a:xfrm rot="0">
            <a:off x="9102852" y="6501384"/>
            <a:ext cx="82296" cy="164592"/>
            <a:chOff x="0" y="0"/>
            <a:chExt cx="109728" cy="219456"/>
          </a:xfrm>
        </p:grpSpPr>
        <p:sp>
          <p:nvSpPr>
            <p:cNvPr name="Freeform 107" id="107"/>
            <p:cNvSpPr/>
            <p:nvPr/>
          </p:nvSpPr>
          <p:spPr>
            <a:xfrm flipH="false" flipV="false" rot="0">
              <a:off x="0" y="0"/>
              <a:ext cx="109728" cy="219456"/>
            </a:xfrm>
            <a:custGeom>
              <a:avLst/>
              <a:gdLst/>
              <a:ahLst/>
              <a:cxnLst/>
              <a:rect r="r" b="b" t="t" l="l"/>
              <a:pathLst>
                <a:path h="219456" w="109728">
                  <a:moveTo>
                    <a:pt x="0" y="0"/>
                  </a:moveTo>
                  <a:lnTo>
                    <a:pt x="109728" y="0"/>
                  </a:lnTo>
                  <a:lnTo>
                    <a:pt x="109728" y="219456"/>
                  </a:lnTo>
                  <a:lnTo>
                    <a:pt x="0" y="219456"/>
                  </a:lnTo>
                  <a:close/>
                </a:path>
              </a:pathLst>
            </a:custGeom>
            <a:solidFill>
              <a:srgbClr val="737AE6"/>
            </a:solidFill>
          </p:spPr>
        </p:sp>
      </p:grpSp>
      <p:grpSp>
        <p:nvGrpSpPr>
          <p:cNvPr name="Group 108" id="108"/>
          <p:cNvGrpSpPr/>
          <p:nvPr/>
        </p:nvGrpSpPr>
        <p:grpSpPr>
          <a:xfrm rot="-10800000">
            <a:off x="9025128" y="6665976"/>
            <a:ext cx="237744" cy="146304"/>
            <a:chOff x="0" y="0"/>
            <a:chExt cx="316992" cy="195072"/>
          </a:xfrm>
        </p:grpSpPr>
        <p:sp>
          <p:nvSpPr>
            <p:cNvPr name="Freeform 109" id="109"/>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110" id="110"/>
          <p:cNvGrpSpPr/>
          <p:nvPr/>
        </p:nvGrpSpPr>
        <p:grpSpPr>
          <a:xfrm rot="0">
            <a:off x="6400800" y="6793992"/>
            <a:ext cx="5486400" cy="731520"/>
            <a:chOff x="0" y="0"/>
            <a:chExt cx="7315200" cy="975360"/>
          </a:xfrm>
        </p:grpSpPr>
        <p:sp>
          <p:nvSpPr>
            <p:cNvPr name="Freeform 111" id="111"/>
            <p:cNvSpPr/>
            <p:nvPr/>
          </p:nvSpPr>
          <p:spPr>
            <a:xfrm flipH="false" flipV="false" rot="0">
              <a:off x="0" y="0"/>
              <a:ext cx="7315200" cy="975360"/>
            </a:xfrm>
            <a:custGeom>
              <a:avLst/>
              <a:gdLst/>
              <a:ahLst/>
              <a:cxnLst/>
              <a:rect r="r" b="b" t="t" l="l"/>
              <a:pathLst>
                <a:path h="975360" w="7315200">
                  <a:moveTo>
                    <a:pt x="0" y="146304"/>
                  </a:moveTo>
                  <a:cubicBezTo>
                    <a:pt x="0" y="65532"/>
                    <a:pt x="65532" y="0"/>
                    <a:pt x="146304" y="0"/>
                  </a:cubicBezTo>
                  <a:lnTo>
                    <a:pt x="7168896" y="0"/>
                  </a:lnTo>
                  <a:cubicBezTo>
                    <a:pt x="7249668" y="0"/>
                    <a:pt x="7315200" y="65532"/>
                    <a:pt x="7315200" y="146304"/>
                  </a:cubicBezTo>
                  <a:lnTo>
                    <a:pt x="7315200" y="829056"/>
                  </a:lnTo>
                  <a:cubicBezTo>
                    <a:pt x="7315200" y="909828"/>
                    <a:pt x="7249668" y="975360"/>
                    <a:pt x="7168896" y="975360"/>
                  </a:cubicBezTo>
                  <a:lnTo>
                    <a:pt x="146304" y="975360"/>
                  </a:lnTo>
                  <a:cubicBezTo>
                    <a:pt x="65532" y="975360"/>
                    <a:pt x="0" y="909828"/>
                    <a:pt x="0" y="829056"/>
                  </a:cubicBezTo>
                  <a:close/>
                </a:path>
              </a:pathLst>
            </a:custGeom>
            <a:solidFill>
              <a:srgbClr val="737AE6"/>
            </a:solidFill>
          </p:spPr>
        </p:sp>
      </p:grpSp>
      <p:grpSp>
        <p:nvGrpSpPr>
          <p:cNvPr name="Group 112" id="112"/>
          <p:cNvGrpSpPr/>
          <p:nvPr/>
        </p:nvGrpSpPr>
        <p:grpSpPr>
          <a:xfrm rot="0">
            <a:off x="6400800" y="6793992"/>
            <a:ext cx="5486400" cy="731520"/>
            <a:chOff x="0" y="0"/>
            <a:chExt cx="7315200" cy="975360"/>
          </a:xfrm>
        </p:grpSpPr>
        <p:sp>
          <p:nvSpPr>
            <p:cNvPr name="Freeform 113" id="113"/>
            <p:cNvSpPr/>
            <p:nvPr/>
          </p:nvSpPr>
          <p:spPr>
            <a:xfrm flipH="false" flipV="false" rot="0">
              <a:off x="0" y="0"/>
              <a:ext cx="7315200" cy="975360"/>
            </a:xfrm>
            <a:custGeom>
              <a:avLst/>
              <a:gdLst/>
              <a:ahLst/>
              <a:cxnLst/>
              <a:rect r="r" b="b" t="t" l="l"/>
              <a:pathLst>
                <a:path h="975360" w="7315200">
                  <a:moveTo>
                    <a:pt x="0" y="0"/>
                  </a:moveTo>
                  <a:lnTo>
                    <a:pt x="7315200" y="0"/>
                  </a:lnTo>
                  <a:lnTo>
                    <a:pt x="7315200" y="975360"/>
                  </a:lnTo>
                  <a:lnTo>
                    <a:pt x="0" y="975360"/>
                  </a:lnTo>
                  <a:close/>
                </a:path>
              </a:pathLst>
            </a:custGeom>
            <a:blipFill>
              <a:blip r:embed="rId3">
                <a:alphaModFix amt="0"/>
              </a:blip>
              <a:stretch>
                <a:fillRect l="0" t="-96036" r="0" b="-96036"/>
              </a:stretch>
            </a:blipFill>
          </p:spPr>
        </p:sp>
      </p:grpSp>
      <p:grpSp>
        <p:nvGrpSpPr>
          <p:cNvPr name="Group 114" id="114"/>
          <p:cNvGrpSpPr/>
          <p:nvPr/>
        </p:nvGrpSpPr>
        <p:grpSpPr>
          <a:xfrm rot="0">
            <a:off x="6400800" y="6779704"/>
            <a:ext cx="5486400" cy="745807"/>
            <a:chOff x="0" y="0"/>
            <a:chExt cx="7315200" cy="994410"/>
          </a:xfrm>
        </p:grpSpPr>
        <p:sp>
          <p:nvSpPr>
            <p:cNvPr name="Freeform 115" id="115"/>
            <p:cNvSpPr/>
            <p:nvPr/>
          </p:nvSpPr>
          <p:spPr>
            <a:xfrm flipH="false" flipV="false" rot="0">
              <a:off x="0" y="0"/>
              <a:ext cx="7315200" cy="994410"/>
            </a:xfrm>
            <a:custGeom>
              <a:avLst/>
              <a:gdLst/>
              <a:ahLst/>
              <a:cxnLst/>
              <a:rect r="r" b="b" t="t" l="l"/>
              <a:pathLst>
                <a:path h="994410" w="7315200">
                  <a:moveTo>
                    <a:pt x="0" y="0"/>
                  </a:moveTo>
                  <a:lnTo>
                    <a:pt x="7315200" y="0"/>
                  </a:lnTo>
                  <a:lnTo>
                    <a:pt x="7315200" y="994410"/>
                  </a:lnTo>
                  <a:lnTo>
                    <a:pt x="0" y="994410"/>
                  </a:lnTo>
                  <a:close/>
                </a:path>
              </a:pathLst>
            </a:custGeom>
            <a:blipFill>
              <a:blip r:embed="rId4">
                <a:alphaModFix amt="0"/>
              </a:blip>
              <a:stretch>
                <a:fillRect l="0" t="-93238" r="0" b="-93238"/>
              </a:stretch>
            </a:blipFill>
          </p:spPr>
        </p:sp>
      </p:grpSp>
      <p:grpSp>
        <p:nvGrpSpPr>
          <p:cNvPr name="Group 116" id="116"/>
          <p:cNvGrpSpPr/>
          <p:nvPr/>
        </p:nvGrpSpPr>
        <p:grpSpPr>
          <a:xfrm rot="0">
            <a:off x="6400800" y="6765417"/>
            <a:ext cx="5486400" cy="760095"/>
            <a:chOff x="0" y="0"/>
            <a:chExt cx="7315200" cy="1013460"/>
          </a:xfrm>
        </p:grpSpPr>
        <p:sp>
          <p:nvSpPr>
            <p:cNvPr name="Freeform 117" id="117"/>
            <p:cNvSpPr/>
            <p:nvPr/>
          </p:nvSpPr>
          <p:spPr>
            <a:xfrm flipH="false" flipV="false" rot="0">
              <a:off x="0" y="0"/>
              <a:ext cx="7315200" cy="1013459"/>
            </a:xfrm>
            <a:custGeom>
              <a:avLst/>
              <a:gdLst/>
              <a:ahLst/>
              <a:cxnLst/>
              <a:rect r="r" b="b" t="t" l="l"/>
              <a:pathLst>
                <a:path h="1013459" w="7315200">
                  <a:moveTo>
                    <a:pt x="0" y="0"/>
                  </a:moveTo>
                  <a:lnTo>
                    <a:pt x="7315200" y="0"/>
                  </a:lnTo>
                  <a:lnTo>
                    <a:pt x="7315200" y="1013459"/>
                  </a:lnTo>
                  <a:lnTo>
                    <a:pt x="0" y="1013459"/>
                  </a:lnTo>
                  <a:close/>
                </a:path>
              </a:pathLst>
            </a:custGeom>
            <a:blipFill>
              <a:blip r:embed="rId5">
                <a:alphaModFix amt="0"/>
              </a:blip>
              <a:stretch>
                <a:fillRect l="0" t="-90643" r="0" b="-90644"/>
              </a:stretch>
            </a:blipFill>
          </p:spPr>
        </p:sp>
        <p:sp>
          <p:nvSpPr>
            <p:cNvPr name="TextBox 118" id="118"/>
            <p:cNvSpPr txBox="true"/>
            <p:nvPr/>
          </p:nvSpPr>
          <p:spPr>
            <a:xfrm>
              <a:off x="0" y="-19050"/>
              <a:ext cx="7315200" cy="1032510"/>
            </a:xfrm>
            <a:prstGeom prst="rect">
              <a:avLst/>
            </a:prstGeom>
          </p:spPr>
          <p:txBody>
            <a:bodyPr anchor="ctr" rtlCol="false" tIns="0" lIns="0" bIns="0" rIns="0"/>
            <a:lstStyle/>
            <a:p>
              <a:pPr algn="ctr">
                <a:lnSpc>
                  <a:spcPts val="1919"/>
                </a:lnSpc>
              </a:pPr>
              <a:r>
                <a:rPr lang="en-US" sz="1599" b="true">
                  <a:solidFill>
                    <a:srgbClr val="FFFFFF"/>
                  </a:solidFill>
                  <a:latin typeface="Poppins Bold"/>
                  <a:ea typeface="Poppins Bold"/>
                  <a:cs typeface="Poppins Bold"/>
                  <a:sym typeface="Poppins Bold"/>
                </a:rPr>
                <a:t>Assessment questions ready</a:t>
              </a:r>
            </a:p>
          </p:txBody>
        </p:sp>
      </p:grpSp>
      <p:sp>
        <p:nvSpPr>
          <p:cNvPr name="Freeform 119" id="119"/>
          <p:cNvSpPr/>
          <p:nvPr/>
        </p:nvSpPr>
        <p:spPr>
          <a:xfrm flipH="false" flipV="false" rot="0">
            <a:off x="3643713" y="7941393"/>
            <a:ext cx="11000613" cy="667893"/>
          </a:xfrm>
          <a:custGeom>
            <a:avLst/>
            <a:gdLst/>
            <a:ahLst/>
            <a:cxnLst/>
            <a:rect r="r" b="b" t="t" l="l"/>
            <a:pathLst>
              <a:path h="667893" w="11000613">
                <a:moveTo>
                  <a:pt x="0" y="0"/>
                </a:moveTo>
                <a:lnTo>
                  <a:pt x="11000613" y="0"/>
                </a:lnTo>
                <a:lnTo>
                  <a:pt x="11000613" y="667893"/>
                </a:lnTo>
                <a:lnTo>
                  <a:pt x="0" y="667893"/>
                </a:lnTo>
                <a:lnTo>
                  <a:pt x="0" y="0"/>
                </a:lnTo>
                <a:close/>
              </a:path>
            </a:pathLst>
          </a:custGeom>
          <a:blipFill>
            <a:blip r:embed="rId8">
              <a:extLst>
                <a:ext uri="{96DAC541-7B7A-43D3-8B79-37D633B846F1}">
                  <asvg:svgBlip xmlns:asvg="http://schemas.microsoft.com/office/drawing/2016/SVG/main" r:embed="rId9"/>
                </a:ext>
              </a:extLst>
            </a:blip>
            <a:stretch>
              <a:fillRect l="0" t="-624" r="0" b="-623"/>
            </a:stretch>
          </a:blipFill>
        </p:spPr>
      </p:sp>
      <p:grpSp>
        <p:nvGrpSpPr>
          <p:cNvPr name="Group 120" id="120"/>
          <p:cNvGrpSpPr/>
          <p:nvPr/>
        </p:nvGrpSpPr>
        <p:grpSpPr>
          <a:xfrm rot="0">
            <a:off x="3657600" y="7955280"/>
            <a:ext cx="10972800" cy="640080"/>
            <a:chOff x="0" y="0"/>
            <a:chExt cx="14630400" cy="853440"/>
          </a:xfrm>
        </p:grpSpPr>
        <p:sp>
          <p:nvSpPr>
            <p:cNvPr name="Freeform 121" id="121"/>
            <p:cNvSpPr/>
            <p:nvPr/>
          </p:nvSpPr>
          <p:spPr>
            <a:xfrm flipH="false" flipV="false" rot="0">
              <a:off x="0" y="0"/>
              <a:ext cx="14630400" cy="853440"/>
            </a:xfrm>
            <a:custGeom>
              <a:avLst/>
              <a:gdLst/>
              <a:ahLst/>
              <a:cxnLst/>
              <a:rect r="r" b="b" t="t" l="l"/>
              <a:pathLst>
                <a:path h="853440" w="14630400">
                  <a:moveTo>
                    <a:pt x="0" y="0"/>
                  </a:moveTo>
                  <a:lnTo>
                    <a:pt x="14630400" y="0"/>
                  </a:lnTo>
                  <a:lnTo>
                    <a:pt x="14630400" y="853440"/>
                  </a:lnTo>
                  <a:lnTo>
                    <a:pt x="0" y="853440"/>
                  </a:lnTo>
                  <a:close/>
                </a:path>
              </a:pathLst>
            </a:custGeom>
            <a:blipFill>
              <a:blip r:embed="rId3">
                <a:alphaModFix amt="0"/>
              </a:blip>
              <a:stretch>
                <a:fillRect l="0" t="-283797" r="0" b="-283796"/>
              </a:stretch>
            </a:blipFill>
          </p:spPr>
        </p:sp>
      </p:grpSp>
      <p:grpSp>
        <p:nvGrpSpPr>
          <p:cNvPr name="Group 122" id="122"/>
          <p:cNvGrpSpPr/>
          <p:nvPr/>
        </p:nvGrpSpPr>
        <p:grpSpPr>
          <a:xfrm rot="0">
            <a:off x="3657600" y="7940993"/>
            <a:ext cx="10972800" cy="654368"/>
            <a:chOff x="0" y="0"/>
            <a:chExt cx="14630400" cy="872490"/>
          </a:xfrm>
        </p:grpSpPr>
        <p:sp>
          <p:nvSpPr>
            <p:cNvPr name="Freeform 123" id="123"/>
            <p:cNvSpPr/>
            <p:nvPr/>
          </p:nvSpPr>
          <p:spPr>
            <a:xfrm flipH="false" flipV="false" rot="0">
              <a:off x="0" y="0"/>
              <a:ext cx="14630400" cy="872490"/>
            </a:xfrm>
            <a:custGeom>
              <a:avLst/>
              <a:gdLst/>
              <a:ahLst/>
              <a:cxnLst/>
              <a:rect r="r" b="b" t="t" l="l"/>
              <a:pathLst>
                <a:path h="872490" w="14630400">
                  <a:moveTo>
                    <a:pt x="0" y="0"/>
                  </a:moveTo>
                  <a:lnTo>
                    <a:pt x="14630400" y="0"/>
                  </a:lnTo>
                  <a:lnTo>
                    <a:pt x="14630400" y="872490"/>
                  </a:lnTo>
                  <a:lnTo>
                    <a:pt x="0" y="872490"/>
                  </a:lnTo>
                  <a:close/>
                </a:path>
              </a:pathLst>
            </a:custGeom>
            <a:blipFill>
              <a:blip r:embed="rId4">
                <a:alphaModFix amt="0"/>
              </a:blip>
              <a:stretch>
                <a:fillRect l="0" t="-276509" r="0" b="-276508"/>
              </a:stretch>
            </a:blipFill>
          </p:spPr>
        </p:sp>
      </p:grpSp>
      <p:grpSp>
        <p:nvGrpSpPr>
          <p:cNvPr name="Group 124" id="124"/>
          <p:cNvGrpSpPr/>
          <p:nvPr/>
        </p:nvGrpSpPr>
        <p:grpSpPr>
          <a:xfrm rot="0">
            <a:off x="3657600" y="7926705"/>
            <a:ext cx="10972800" cy="668655"/>
            <a:chOff x="0" y="0"/>
            <a:chExt cx="14630400" cy="891540"/>
          </a:xfrm>
        </p:grpSpPr>
        <p:sp>
          <p:nvSpPr>
            <p:cNvPr name="Freeform 125" id="125"/>
            <p:cNvSpPr/>
            <p:nvPr/>
          </p:nvSpPr>
          <p:spPr>
            <a:xfrm flipH="false" flipV="false" rot="0">
              <a:off x="0" y="0"/>
              <a:ext cx="14630400" cy="891541"/>
            </a:xfrm>
            <a:custGeom>
              <a:avLst/>
              <a:gdLst/>
              <a:ahLst/>
              <a:cxnLst/>
              <a:rect r="r" b="b" t="t" l="l"/>
              <a:pathLst>
                <a:path h="891541" w="14630400">
                  <a:moveTo>
                    <a:pt x="0" y="0"/>
                  </a:moveTo>
                  <a:lnTo>
                    <a:pt x="14630400" y="0"/>
                  </a:lnTo>
                  <a:lnTo>
                    <a:pt x="14630400" y="891541"/>
                  </a:lnTo>
                  <a:lnTo>
                    <a:pt x="0" y="891541"/>
                  </a:lnTo>
                  <a:close/>
                </a:path>
              </a:pathLst>
            </a:custGeom>
            <a:blipFill>
              <a:blip r:embed="rId5">
                <a:alphaModFix amt="0"/>
              </a:blip>
              <a:stretch>
                <a:fillRect l="0" t="-269754" r="0" b="-269754"/>
              </a:stretch>
            </a:blipFill>
          </p:spPr>
        </p:sp>
        <p:sp>
          <p:nvSpPr>
            <p:cNvPr name="TextBox 126" id="126"/>
            <p:cNvSpPr txBox="true"/>
            <p:nvPr/>
          </p:nvSpPr>
          <p:spPr>
            <a:xfrm>
              <a:off x="0" y="-19050"/>
              <a:ext cx="14630400" cy="910590"/>
            </a:xfrm>
            <a:prstGeom prst="rect">
              <a:avLst/>
            </a:prstGeom>
          </p:spPr>
          <p:txBody>
            <a:bodyPr anchor="ctr" rtlCol="false" tIns="0" lIns="0" bIns="0" rIns="0"/>
            <a:lstStyle/>
            <a:p>
              <a:pPr algn="ctr">
                <a:lnSpc>
                  <a:spcPts val="1620"/>
                </a:lnSpc>
              </a:pPr>
              <a:r>
                <a:rPr lang="en-US" sz="1350">
                  <a:solidFill>
                    <a:srgbClr val="1F3338"/>
                  </a:solidFill>
                  <a:latin typeface="Poppins"/>
                  <a:ea typeface="Poppins"/>
                  <a:cs typeface="Poppins"/>
                  <a:sym typeface="Poppins"/>
                </a:rPr>
                <a:t>Radio &amp; Checkbox for every skill   •   Code Editor added only for skills that require it</a:t>
              </a:r>
            </a:p>
          </p:txBody>
        </p:sp>
      </p:grpSp>
      <p:grpSp>
        <p:nvGrpSpPr>
          <p:cNvPr name="Group 127" id="127"/>
          <p:cNvGrpSpPr/>
          <p:nvPr/>
        </p:nvGrpSpPr>
        <p:grpSpPr>
          <a:xfrm rot="0">
            <a:off x="640080" y="9738360"/>
            <a:ext cx="7315200" cy="365760"/>
            <a:chOff x="0" y="0"/>
            <a:chExt cx="9753600" cy="487680"/>
          </a:xfrm>
        </p:grpSpPr>
        <p:sp>
          <p:nvSpPr>
            <p:cNvPr name="Freeform 128" id="128"/>
            <p:cNvSpPr/>
            <p:nvPr/>
          </p:nvSpPr>
          <p:spPr>
            <a:xfrm flipH="false" flipV="false" rot="0">
              <a:off x="0" y="0"/>
              <a:ext cx="9753600" cy="487680"/>
            </a:xfrm>
            <a:custGeom>
              <a:avLst/>
              <a:gdLst/>
              <a:ahLst/>
              <a:cxnLst/>
              <a:rect r="r" b="b" t="t" l="l"/>
              <a:pathLst>
                <a:path h="487680" w="9753600">
                  <a:moveTo>
                    <a:pt x="0" y="0"/>
                  </a:moveTo>
                  <a:lnTo>
                    <a:pt x="9753600" y="0"/>
                  </a:lnTo>
                  <a:lnTo>
                    <a:pt x="9753600" y="487680"/>
                  </a:lnTo>
                  <a:lnTo>
                    <a:pt x="0" y="487680"/>
                  </a:lnTo>
                  <a:close/>
                </a:path>
              </a:pathLst>
            </a:custGeom>
            <a:blipFill>
              <a:blip r:embed="rId3">
                <a:alphaModFix amt="0"/>
              </a:blip>
              <a:stretch>
                <a:fillRect l="0" t="-339429" r="0" b="-339429"/>
              </a:stretch>
            </a:blipFill>
          </p:spPr>
        </p:sp>
      </p:grpSp>
      <p:grpSp>
        <p:nvGrpSpPr>
          <p:cNvPr name="Group 129" id="129"/>
          <p:cNvGrpSpPr/>
          <p:nvPr/>
        </p:nvGrpSpPr>
        <p:grpSpPr>
          <a:xfrm rot="0">
            <a:off x="640080" y="9724072"/>
            <a:ext cx="7315200" cy="380047"/>
            <a:chOff x="0" y="0"/>
            <a:chExt cx="9753600" cy="506730"/>
          </a:xfrm>
        </p:grpSpPr>
        <p:sp>
          <p:nvSpPr>
            <p:cNvPr name="Freeform 130" id="130"/>
            <p:cNvSpPr/>
            <p:nvPr/>
          </p:nvSpPr>
          <p:spPr>
            <a:xfrm flipH="false" flipV="false" rot="0">
              <a:off x="0" y="0"/>
              <a:ext cx="9753600" cy="506730"/>
            </a:xfrm>
            <a:custGeom>
              <a:avLst/>
              <a:gdLst/>
              <a:ahLst/>
              <a:cxnLst/>
              <a:rect r="r" b="b" t="t" l="l"/>
              <a:pathLst>
                <a:path h="506730" w="9753600">
                  <a:moveTo>
                    <a:pt x="0" y="0"/>
                  </a:moveTo>
                  <a:lnTo>
                    <a:pt x="9753600" y="0"/>
                  </a:lnTo>
                  <a:lnTo>
                    <a:pt x="9753600" y="506730"/>
                  </a:lnTo>
                  <a:lnTo>
                    <a:pt x="0" y="506730"/>
                  </a:lnTo>
                  <a:close/>
                </a:path>
              </a:pathLst>
            </a:custGeom>
            <a:blipFill>
              <a:blip r:embed="rId4">
                <a:alphaModFix amt="0"/>
              </a:blip>
              <a:stretch>
                <a:fillRect l="0" t="-324789" r="0" b="-324789"/>
              </a:stretch>
            </a:blipFill>
          </p:spPr>
        </p:sp>
      </p:grpSp>
      <p:grpSp>
        <p:nvGrpSpPr>
          <p:cNvPr name="Group 131" id="131"/>
          <p:cNvGrpSpPr/>
          <p:nvPr/>
        </p:nvGrpSpPr>
        <p:grpSpPr>
          <a:xfrm rot="0">
            <a:off x="640080" y="9731216"/>
            <a:ext cx="7315200" cy="372904"/>
            <a:chOff x="0" y="0"/>
            <a:chExt cx="9753600" cy="497205"/>
          </a:xfrm>
        </p:grpSpPr>
        <p:sp>
          <p:nvSpPr>
            <p:cNvPr name="Freeform 132" id="132"/>
            <p:cNvSpPr/>
            <p:nvPr/>
          </p:nvSpPr>
          <p:spPr>
            <a:xfrm flipH="false" flipV="false" rot="0">
              <a:off x="0" y="0"/>
              <a:ext cx="9753600" cy="497204"/>
            </a:xfrm>
            <a:custGeom>
              <a:avLst/>
              <a:gdLst/>
              <a:ahLst/>
              <a:cxnLst/>
              <a:rect r="r" b="b" t="t" l="l"/>
              <a:pathLst>
                <a:path h="497204" w="9753600">
                  <a:moveTo>
                    <a:pt x="0" y="0"/>
                  </a:moveTo>
                  <a:lnTo>
                    <a:pt x="9753600" y="0"/>
                  </a:lnTo>
                  <a:lnTo>
                    <a:pt x="9753600" y="497204"/>
                  </a:lnTo>
                  <a:lnTo>
                    <a:pt x="0" y="497204"/>
                  </a:lnTo>
                  <a:close/>
                </a:path>
              </a:pathLst>
            </a:custGeom>
            <a:blipFill>
              <a:blip r:embed="rId5">
                <a:alphaModFix amt="0"/>
              </a:blip>
              <a:stretch>
                <a:fillRect l="0" t="-332235" r="0" b="-332235"/>
              </a:stretch>
            </a:blipFill>
          </p:spPr>
        </p:sp>
        <p:sp>
          <p:nvSpPr>
            <p:cNvPr name="TextBox 133" id="133"/>
            <p:cNvSpPr txBox="true"/>
            <p:nvPr/>
          </p:nvSpPr>
          <p:spPr>
            <a:xfrm>
              <a:off x="0" y="9525"/>
              <a:ext cx="9753600" cy="487680"/>
            </a:xfrm>
            <a:prstGeom prst="rect">
              <a:avLst/>
            </a:prstGeom>
          </p:spPr>
          <p:txBody>
            <a:bodyPr anchor="ctr" rtlCol="false" tIns="0" lIns="0" bIns="0" rIns="0"/>
            <a:lstStyle/>
            <a:p>
              <a:pPr algn="l">
                <a:lnSpc>
                  <a:spcPts val="1318"/>
                </a:lnSpc>
              </a:pPr>
              <a:r>
                <a:rPr lang="en-US" sz="1350">
                  <a:solidFill>
                    <a:srgbClr val="3D6874"/>
                  </a:solidFill>
                  <a:latin typeface="Poppins"/>
                  <a:ea typeface="Poppins"/>
                  <a:cs typeface="Poppins"/>
                  <a:sym typeface="Poppins"/>
                </a:rPr>
                <a:t>Hire on Demand  •  PFE Defense</a:t>
              </a:r>
            </a:p>
          </p:txBody>
        </p:sp>
      </p:grpSp>
      <p:grpSp>
        <p:nvGrpSpPr>
          <p:cNvPr name="Group 134" id="134"/>
          <p:cNvGrpSpPr/>
          <p:nvPr/>
        </p:nvGrpSpPr>
        <p:grpSpPr>
          <a:xfrm rot="0">
            <a:off x="17007840" y="9738360"/>
            <a:ext cx="640080" cy="365760"/>
            <a:chOff x="0" y="0"/>
            <a:chExt cx="853440" cy="487680"/>
          </a:xfrm>
        </p:grpSpPr>
        <p:sp>
          <p:nvSpPr>
            <p:cNvPr name="Freeform 135" id="135"/>
            <p:cNvSpPr/>
            <p:nvPr/>
          </p:nvSpPr>
          <p:spPr>
            <a:xfrm flipH="false" flipV="false" rot="0">
              <a:off x="0" y="0"/>
              <a:ext cx="853440" cy="487680"/>
            </a:xfrm>
            <a:custGeom>
              <a:avLst/>
              <a:gdLst/>
              <a:ahLst/>
              <a:cxnLst/>
              <a:rect r="r" b="b" t="t" l="l"/>
              <a:pathLst>
                <a:path h="487680" w="853440">
                  <a:moveTo>
                    <a:pt x="0" y="0"/>
                  </a:moveTo>
                  <a:lnTo>
                    <a:pt x="853440" y="0"/>
                  </a:lnTo>
                  <a:lnTo>
                    <a:pt x="853440" y="487680"/>
                  </a:lnTo>
                  <a:lnTo>
                    <a:pt x="0" y="487680"/>
                  </a:lnTo>
                  <a:close/>
                </a:path>
              </a:pathLst>
            </a:custGeom>
            <a:blipFill>
              <a:blip r:embed="rId3">
                <a:alphaModFix amt="0"/>
              </a:blip>
              <a:stretch>
                <a:fillRect l="-23367" t="0" r="-23367" b="0"/>
              </a:stretch>
            </a:blipFill>
          </p:spPr>
        </p:sp>
      </p:grpSp>
      <p:grpSp>
        <p:nvGrpSpPr>
          <p:cNvPr name="Group 136" id="136"/>
          <p:cNvGrpSpPr/>
          <p:nvPr/>
        </p:nvGrpSpPr>
        <p:grpSpPr>
          <a:xfrm rot="0">
            <a:off x="17007840" y="9724072"/>
            <a:ext cx="640080" cy="380047"/>
            <a:chOff x="0" y="0"/>
            <a:chExt cx="853440" cy="506730"/>
          </a:xfrm>
        </p:grpSpPr>
        <p:sp>
          <p:nvSpPr>
            <p:cNvPr name="Freeform 137" id="137"/>
            <p:cNvSpPr/>
            <p:nvPr/>
          </p:nvSpPr>
          <p:spPr>
            <a:xfrm flipH="false" flipV="false" rot="0">
              <a:off x="0" y="0"/>
              <a:ext cx="853440" cy="506730"/>
            </a:xfrm>
            <a:custGeom>
              <a:avLst/>
              <a:gdLst/>
              <a:ahLst/>
              <a:cxnLst/>
              <a:rect r="r" b="b" t="t" l="l"/>
              <a:pathLst>
                <a:path h="506730" w="853440">
                  <a:moveTo>
                    <a:pt x="0" y="0"/>
                  </a:moveTo>
                  <a:lnTo>
                    <a:pt x="853440" y="0"/>
                  </a:lnTo>
                  <a:lnTo>
                    <a:pt x="853440" y="506730"/>
                  </a:lnTo>
                  <a:lnTo>
                    <a:pt x="0" y="506730"/>
                  </a:lnTo>
                  <a:close/>
                </a:path>
              </a:pathLst>
            </a:custGeom>
            <a:blipFill>
              <a:blip r:embed="rId4">
                <a:alphaModFix amt="0"/>
              </a:blip>
              <a:stretch>
                <a:fillRect l="-26233" t="0" r="-26232" b="0"/>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EF2F1"/>
            </a:solidFill>
          </p:spPr>
        </p:sp>
      </p:grpSp>
      <p:grpSp>
        <p:nvGrpSpPr>
          <p:cNvPr name="Group 4" id="4"/>
          <p:cNvGrpSpPr/>
          <p:nvPr/>
        </p:nvGrpSpPr>
        <p:grpSpPr>
          <a:xfrm rot="0">
            <a:off x="601218" y="434340"/>
            <a:ext cx="12801600" cy="777240"/>
            <a:chOff x="0" y="0"/>
            <a:chExt cx="17068800" cy="1036320"/>
          </a:xfrm>
        </p:grpSpPr>
        <p:sp>
          <p:nvSpPr>
            <p:cNvPr name="Freeform 5" id="5"/>
            <p:cNvSpPr/>
            <p:nvPr/>
          </p:nvSpPr>
          <p:spPr>
            <a:xfrm flipH="false" flipV="false" rot="0">
              <a:off x="0" y="0"/>
              <a:ext cx="17068800" cy="1036320"/>
            </a:xfrm>
            <a:custGeom>
              <a:avLst/>
              <a:gdLst/>
              <a:ahLst/>
              <a:cxnLst/>
              <a:rect r="r" b="b" t="t" l="l"/>
              <a:pathLst>
                <a:path h="1036320" w="17068800">
                  <a:moveTo>
                    <a:pt x="0" y="0"/>
                  </a:moveTo>
                  <a:lnTo>
                    <a:pt x="17068800" y="0"/>
                  </a:lnTo>
                  <a:lnTo>
                    <a:pt x="17068800" y="1036320"/>
                  </a:lnTo>
                  <a:lnTo>
                    <a:pt x="0" y="1036320"/>
                  </a:lnTo>
                  <a:close/>
                </a:path>
              </a:pathLst>
            </a:custGeom>
            <a:blipFill>
              <a:blip r:embed="rId2">
                <a:alphaModFix amt="0"/>
              </a:blip>
              <a:stretch>
                <a:fillRect l="0" t="-270930" r="0" b="-270930"/>
              </a:stretch>
            </a:blipFill>
          </p:spPr>
        </p:sp>
        <p:sp>
          <p:nvSpPr>
            <p:cNvPr name="TextBox 6" id="6"/>
            <p:cNvSpPr txBox="true"/>
            <p:nvPr/>
          </p:nvSpPr>
          <p:spPr>
            <a:xfrm>
              <a:off x="0" y="-19050"/>
              <a:ext cx="17068800" cy="1055370"/>
            </a:xfrm>
            <a:prstGeom prst="rect">
              <a:avLst/>
            </a:prstGeom>
          </p:spPr>
          <p:txBody>
            <a:bodyPr anchor="ctr" rtlCol="false" tIns="0" lIns="0" bIns="0" rIns="0"/>
            <a:lstStyle/>
            <a:p>
              <a:pPr algn="l">
                <a:lnSpc>
                  <a:spcPts val="3600"/>
                </a:lnSpc>
              </a:pPr>
              <a:r>
                <a:rPr lang="en-US" sz="3000" b="true">
                  <a:solidFill>
                    <a:srgbClr val="1F3338"/>
                  </a:solidFill>
                  <a:latin typeface="Arial Bold"/>
                  <a:ea typeface="Arial Bold"/>
                  <a:cs typeface="Arial Bold"/>
                  <a:sym typeface="Arial Bold"/>
                </a:rPr>
                <a:t>Execution Hub : Sandboxed Code Execution</a:t>
              </a:r>
            </a:p>
          </p:txBody>
        </p:sp>
      </p:grpSp>
      <p:grpSp>
        <p:nvGrpSpPr>
          <p:cNvPr name="Group 7" id="7"/>
          <p:cNvGrpSpPr/>
          <p:nvPr/>
        </p:nvGrpSpPr>
        <p:grpSpPr>
          <a:xfrm rot="0">
            <a:off x="640080" y="1783080"/>
            <a:ext cx="10378440" cy="1371600"/>
            <a:chOff x="0" y="0"/>
            <a:chExt cx="13837920" cy="1828800"/>
          </a:xfrm>
        </p:grpSpPr>
        <p:sp>
          <p:nvSpPr>
            <p:cNvPr name="Freeform 8" id="8"/>
            <p:cNvSpPr/>
            <p:nvPr/>
          </p:nvSpPr>
          <p:spPr>
            <a:xfrm flipH="false" flipV="false" rot="0">
              <a:off x="0" y="0"/>
              <a:ext cx="13837920" cy="1828800"/>
            </a:xfrm>
            <a:custGeom>
              <a:avLst/>
              <a:gdLst/>
              <a:ahLst/>
              <a:cxnLst/>
              <a:rect r="r" b="b" t="t" l="l"/>
              <a:pathLst>
                <a:path h="1828800" w="13837920">
                  <a:moveTo>
                    <a:pt x="0" y="109728"/>
                  </a:moveTo>
                  <a:cubicBezTo>
                    <a:pt x="0" y="49149"/>
                    <a:pt x="49149" y="0"/>
                    <a:pt x="109728" y="0"/>
                  </a:cubicBezTo>
                  <a:lnTo>
                    <a:pt x="13728192" y="0"/>
                  </a:lnTo>
                  <a:cubicBezTo>
                    <a:pt x="13788771" y="0"/>
                    <a:pt x="13837920" y="49149"/>
                    <a:pt x="13837920" y="109728"/>
                  </a:cubicBezTo>
                  <a:lnTo>
                    <a:pt x="13837920" y="1719072"/>
                  </a:lnTo>
                  <a:cubicBezTo>
                    <a:pt x="13837920" y="1779651"/>
                    <a:pt x="13788771" y="1828800"/>
                    <a:pt x="13728192" y="1828800"/>
                  </a:cubicBezTo>
                  <a:lnTo>
                    <a:pt x="109728" y="1828800"/>
                  </a:lnTo>
                  <a:cubicBezTo>
                    <a:pt x="49149" y="1828800"/>
                    <a:pt x="0" y="1779651"/>
                    <a:pt x="0" y="1719072"/>
                  </a:cubicBezTo>
                  <a:close/>
                </a:path>
              </a:pathLst>
            </a:custGeom>
            <a:solidFill>
              <a:srgbClr val="C8DAE4"/>
            </a:solidFill>
          </p:spPr>
        </p:sp>
      </p:grpSp>
      <p:grpSp>
        <p:nvGrpSpPr>
          <p:cNvPr name="Group 9" id="9"/>
          <p:cNvGrpSpPr/>
          <p:nvPr/>
        </p:nvGrpSpPr>
        <p:grpSpPr>
          <a:xfrm rot="0">
            <a:off x="914400" y="2217420"/>
            <a:ext cx="502920" cy="502920"/>
            <a:chOff x="0" y="0"/>
            <a:chExt cx="670560" cy="670560"/>
          </a:xfrm>
        </p:grpSpPr>
        <p:sp>
          <p:nvSpPr>
            <p:cNvPr name="Freeform 10" id="10"/>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FFFFFF"/>
            </a:solidFill>
          </p:spPr>
        </p:sp>
      </p:grpSp>
      <p:grpSp>
        <p:nvGrpSpPr>
          <p:cNvPr name="Group 11" id="11"/>
          <p:cNvGrpSpPr/>
          <p:nvPr/>
        </p:nvGrpSpPr>
        <p:grpSpPr>
          <a:xfrm rot="0">
            <a:off x="914400" y="2217420"/>
            <a:ext cx="502920" cy="502920"/>
            <a:chOff x="0" y="0"/>
            <a:chExt cx="670560" cy="670560"/>
          </a:xfrm>
        </p:grpSpPr>
        <p:sp>
          <p:nvSpPr>
            <p:cNvPr name="Freeform 12" id="12"/>
            <p:cNvSpPr/>
            <p:nvPr/>
          </p:nvSpPr>
          <p:spPr>
            <a:xfrm flipH="false" flipV="false" rot="0">
              <a:off x="0" y="0"/>
              <a:ext cx="670560" cy="670560"/>
            </a:xfrm>
            <a:custGeom>
              <a:avLst/>
              <a:gdLst/>
              <a:ahLst/>
              <a:cxnLst/>
              <a:rect r="r" b="b" t="t" l="l"/>
              <a:pathLst>
                <a:path h="670560" w="670560">
                  <a:moveTo>
                    <a:pt x="0" y="0"/>
                  </a:moveTo>
                  <a:lnTo>
                    <a:pt x="670560" y="0"/>
                  </a:lnTo>
                  <a:lnTo>
                    <a:pt x="670560" y="670560"/>
                  </a:lnTo>
                  <a:lnTo>
                    <a:pt x="0" y="670560"/>
                  </a:lnTo>
                  <a:close/>
                </a:path>
              </a:pathLst>
            </a:custGeom>
            <a:blipFill>
              <a:blip r:embed="rId2">
                <a:alphaModFix amt="0"/>
              </a:blip>
              <a:stretch>
                <a:fillRect l="-78303" t="0" r="-78303" b="0"/>
              </a:stretch>
            </a:blipFill>
          </p:spPr>
        </p:sp>
        <p:sp>
          <p:nvSpPr>
            <p:cNvPr name="TextBox 13" id="13"/>
            <p:cNvSpPr txBox="true"/>
            <p:nvPr/>
          </p:nvSpPr>
          <p:spPr>
            <a:xfrm>
              <a:off x="0" y="-19050"/>
              <a:ext cx="670560" cy="689610"/>
            </a:xfrm>
            <a:prstGeom prst="rect">
              <a:avLst/>
            </a:prstGeom>
          </p:spPr>
          <p:txBody>
            <a:bodyPr anchor="ctr" rtlCol="false" tIns="0" lIns="0" bIns="0" rIns="0"/>
            <a:lstStyle/>
            <a:p>
              <a:pPr algn="ctr">
                <a:lnSpc>
                  <a:spcPts val="2160"/>
                </a:lnSpc>
              </a:pPr>
              <a:r>
                <a:rPr lang="en-US" sz="1800" b="true">
                  <a:solidFill>
                    <a:srgbClr val="1F3338"/>
                  </a:solidFill>
                  <a:latin typeface="Arial Bold"/>
                  <a:ea typeface="Arial Bold"/>
                  <a:cs typeface="Arial Bold"/>
                  <a:sym typeface="Arial Bold"/>
                </a:rPr>
                <a:t>1</a:t>
              </a:r>
            </a:p>
          </p:txBody>
        </p:sp>
      </p:grpSp>
      <p:sp>
        <p:nvSpPr>
          <p:cNvPr name="TextBox 14" id="14"/>
          <p:cNvSpPr txBox="true"/>
          <p:nvPr/>
        </p:nvSpPr>
        <p:spPr>
          <a:xfrm rot="0">
            <a:off x="1691640" y="1965198"/>
            <a:ext cx="8321040" cy="384810"/>
          </a:xfrm>
          <a:prstGeom prst="rect">
            <a:avLst/>
          </a:prstGeom>
        </p:spPr>
        <p:txBody>
          <a:bodyPr anchor="t" rtlCol="false" tIns="0" lIns="0" bIns="0" rIns="0">
            <a:spAutoFit/>
          </a:bodyPr>
          <a:lstStyle/>
          <a:p>
            <a:pPr algn="l">
              <a:lnSpc>
                <a:spcPts val="1980"/>
              </a:lnSpc>
            </a:pPr>
            <a:r>
              <a:rPr lang="en-US" sz="1650" b="true">
                <a:solidFill>
                  <a:srgbClr val="1F3338"/>
                </a:solidFill>
                <a:latin typeface="Arial Bold"/>
                <a:ea typeface="Arial Bold"/>
                <a:cs typeface="Arial Bold"/>
                <a:sym typeface="Arial Bold"/>
              </a:rPr>
              <a:t>Candidate Submits Code</a:t>
            </a:r>
          </a:p>
        </p:txBody>
      </p:sp>
      <p:sp>
        <p:nvSpPr>
          <p:cNvPr name="TextBox 15" id="15"/>
          <p:cNvSpPr txBox="true"/>
          <p:nvPr/>
        </p:nvSpPr>
        <p:spPr>
          <a:xfrm rot="0">
            <a:off x="1691640" y="2385822"/>
            <a:ext cx="8321040" cy="659130"/>
          </a:xfrm>
          <a:prstGeom prst="rect">
            <a:avLst/>
          </a:prstGeom>
        </p:spPr>
        <p:txBody>
          <a:bodyPr anchor="t" rtlCol="false" tIns="0" lIns="0" bIns="0" rIns="0">
            <a:spAutoFit/>
          </a:bodyPr>
          <a:lstStyle/>
          <a:p>
            <a:pPr algn="l">
              <a:lnSpc>
                <a:spcPts val="1500"/>
              </a:lnSpc>
            </a:pPr>
            <a:r>
              <a:rPr lang="en-US" sz="1250">
                <a:solidFill>
                  <a:srgbClr val="1F3338"/>
                </a:solidFill>
                <a:latin typeface="Arial"/>
                <a:ea typeface="Arial"/>
                <a:cs typeface="Arial"/>
                <a:sym typeface="Arial"/>
              </a:rPr>
              <a:t>While answering a Code Editor question, the candidate writes a solution and optionally requests to run it.</a:t>
            </a:r>
          </a:p>
        </p:txBody>
      </p:sp>
      <p:grpSp>
        <p:nvGrpSpPr>
          <p:cNvPr name="Group 16" id="16"/>
          <p:cNvGrpSpPr/>
          <p:nvPr/>
        </p:nvGrpSpPr>
        <p:grpSpPr>
          <a:xfrm rot="0">
            <a:off x="10131552" y="2185416"/>
            <a:ext cx="566928" cy="566928"/>
            <a:chOff x="0" y="0"/>
            <a:chExt cx="755904" cy="755904"/>
          </a:xfrm>
        </p:grpSpPr>
        <p:sp>
          <p:nvSpPr>
            <p:cNvPr name="Freeform 17" id="17" descr="icon_code.png"/>
            <p:cNvSpPr/>
            <p:nvPr/>
          </p:nvSpPr>
          <p:spPr>
            <a:xfrm flipH="false" flipV="false" rot="0">
              <a:off x="0" y="0"/>
              <a:ext cx="755904" cy="755904"/>
            </a:xfrm>
            <a:custGeom>
              <a:avLst/>
              <a:gdLst/>
              <a:ahLst/>
              <a:cxnLst/>
              <a:rect r="r" b="b" t="t" l="l"/>
              <a:pathLst>
                <a:path h="755904" w="755904">
                  <a:moveTo>
                    <a:pt x="0" y="0"/>
                  </a:moveTo>
                  <a:lnTo>
                    <a:pt x="755904" y="0"/>
                  </a:lnTo>
                  <a:lnTo>
                    <a:pt x="755904" y="755904"/>
                  </a:lnTo>
                  <a:lnTo>
                    <a:pt x="0" y="755904"/>
                  </a:lnTo>
                  <a:lnTo>
                    <a:pt x="0" y="0"/>
                  </a:lnTo>
                  <a:close/>
                </a:path>
              </a:pathLst>
            </a:custGeom>
            <a:blipFill>
              <a:blip r:embed="rId3"/>
              <a:stretch>
                <a:fillRect l="0" t="0" r="0" b="0"/>
              </a:stretch>
            </a:blipFill>
          </p:spPr>
        </p:sp>
      </p:grpSp>
      <p:grpSp>
        <p:nvGrpSpPr>
          <p:cNvPr name="Group 18" id="18"/>
          <p:cNvGrpSpPr/>
          <p:nvPr/>
        </p:nvGrpSpPr>
        <p:grpSpPr>
          <a:xfrm rot="0">
            <a:off x="5682996" y="3182112"/>
            <a:ext cx="292608" cy="292608"/>
            <a:chOff x="0" y="0"/>
            <a:chExt cx="390144" cy="390144"/>
          </a:xfrm>
        </p:grpSpPr>
        <p:sp>
          <p:nvSpPr>
            <p:cNvPr name="Freeform 19" id="19"/>
            <p:cNvSpPr/>
            <p:nvPr/>
          </p:nvSpPr>
          <p:spPr>
            <a:xfrm flipH="false" flipV="false" rot="0">
              <a:off x="0" y="0"/>
              <a:ext cx="390144" cy="390144"/>
            </a:xfrm>
            <a:custGeom>
              <a:avLst/>
              <a:gdLst/>
              <a:ahLst/>
              <a:cxnLst/>
              <a:rect r="r" b="b" t="t" l="l"/>
              <a:pathLst>
                <a:path h="390144" w="390144">
                  <a:moveTo>
                    <a:pt x="0" y="195072"/>
                  </a:moveTo>
                  <a:lnTo>
                    <a:pt x="97536" y="195072"/>
                  </a:lnTo>
                  <a:lnTo>
                    <a:pt x="97536" y="0"/>
                  </a:lnTo>
                  <a:lnTo>
                    <a:pt x="292608" y="0"/>
                  </a:lnTo>
                  <a:lnTo>
                    <a:pt x="292608" y="195072"/>
                  </a:lnTo>
                  <a:lnTo>
                    <a:pt x="390144" y="195072"/>
                  </a:lnTo>
                  <a:lnTo>
                    <a:pt x="195072" y="390144"/>
                  </a:lnTo>
                  <a:close/>
                </a:path>
              </a:pathLst>
            </a:custGeom>
            <a:solidFill>
              <a:srgbClr val="5A6B6E"/>
            </a:solidFill>
          </p:spPr>
        </p:sp>
      </p:grpSp>
      <p:grpSp>
        <p:nvGrpSpPr>
          <p:cNvPr name="Group 20" id="20"/>
          <p:cNvGrpSpPr/>
          <p:nvPr/>
        </p:nvGrpSpPr>
        <p:grpSpPr>
          <a:xfrm rot="0">
            <a:off x="640080" y="3502152"/>
            <a:ext cx="10378440" cy="1371600"/>
            <a:chOff x="0" y="0"/>
            <a:chExt cx="13837920" cy="1828800"/>
          </a:xfrm>
        </p:grpSpPr>
        <p:sp>
          <p:nvSpPr>
            <p:cNvPr name="Freeform 21" id="21"/>
            <p:cNvSpPr/>
            <p:nvPr/>
          </p:nvSpPr>
          <p:spPr>
            <a:xfrm flipH="false" flipV="false" rot="0">
              <a:off x="0" y="0"/>
              <a:ext cx="13837920" cy="1828800"/>
            </a:xfrm>
            <a:custGeom>
              <a:avLst/>
              <a:gdLst/>
              <a:ahLst/>
              <a:cxnLst/>
              <a:rect r="r" b="b" t="t" l="l"/>
              <a:pathLst>
                <a:path h="1828800" w="13837920">
                  <a:moveTo>
                    <a:pt x="0" y="109728"/>
                  </a:moveTo>
                  <a:cubicBezTo>
                    <a:pt x="0" y="49149"/>
                    <a:pt x="49149" y="0"/>
                    <a:pt x="109728" y="0"/>
                  </a:cubicBezTo>
                  <a:lnTo>
                    <a:pt x="13728192" y="0"/>
                  </a:lnTo>
                  <a:cubicBezTo>
                    <a:pt x="13788771" y="0"/>
                    <a:pt x="13837920" y="49149"/>
                    <a:pt x="13837920" y="109728"/>
                  </a:cubicBezTo>
                  <a:lnTo>
                    <a:pt x="13837920" y="1719072"/>
                  </a:lnTo>
                  <a:cubicBezTo>
                    <a:pt x="13837920" y="1779651"/>
                    <a:pt x="13788771" y="1828800"/>
                    <a:pt x="13728192" y="1828800"/>
                  </a:cubicBezTo>
                  <a:lnTo>
                    <a:pt x="109728" y="1828800"/>
                  </a:lnTo>
                  <a:cubicBezTo>
                    <a:pt x="49149" y="1828800"/>
                    <a:pt x="0" y="1779651"/>
                    <a:pt x="0" y="1719072"/>
                  </a:cubicBezTo>
                  <a:close/>
                </a:path>
              </a:pathLst>
            </a:custGeom>
            <a:solidFill>
              <a:srgbClr val="737AE6"/>
            </a:solidFill>
          </p:spPr>
        </p:sp>
      </p:grpSp>
      <p:grpSp>
        <p:nvGrpSpPr>
          <p:cNvPr name="Group 22" id="22"/>
          <p:cNvGrpSpPr/>
          <p:nvPr/>
        </p:nvGrpSpPr>
        <p:grpSpPr>
          <a:xfrm rot="0">
            <a:off x="914400" y="3936492"/>
            <a:ext cx="502920" cy="502920"/>
            <a:chOff x="0" y="0"/>
            <a:chExt cx="670560" cy="670560"/>
          </a:xfrm>
        </p:grpSpPr>
        <p:sp>
          <p:nvSpPr>
            <p:cNvPr name="Freeform 23" id="23"/>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FFFFFF"/>
            </a:solidFill>
          </p:spPr>
        </p:sp>
      </p:grpSp>
      <p:grpSp>
        <p:nvGrpSpPr>
          <p:cNvPr name="Group 24" id="24"/>
          <p:cNvGrpSpPr/>
          <p:nvPr/>
        </p:nvGrpSpPr>
        <p:grpSpPr>
          <a:xfrm rot="0">
            <a:off x="914400" y="3936492"/>
            <a:ext cx="502920" cy="502920"/>
            <a:chOff x="0" y="0"/>
            <a:chExt cx="670560" cy="670560"/>
          </a:xfrm>
        </p:grpSpPr>
        <p:sp>
          <p:nvSpPr>
            <p:cNvPr name="Freeform 25" id="25"/>
            <p:cNvSpPr/>
            <p:nvPr/>
          </p:nvSpPr>
          <p:spPr>
            <a:xfrm flipH="false" flipV="false" rot="0">
              <a:off x="0" y="0"/>
              <a:ext cx="670560" cy="670560"/>
            </a:xfrm>
            <a:custGeom>
              <a:avLst/>
              <a:gdLst/>
              <a:ahLst/>
              <a:cxnLst/>
              <a:rect r="r" b="b" t="t" l="l"/>
              <a:pathLst>
                <a:path h="670560" w="670560">
                  <a:moveTo>
                    <a:pt x="0" y="0"/>
                  </a:moveTo>
                  <a:lnTo>
                    <a:pt x="670560" y="0"/>
                  </a:lnTo>
                  <a:lnTo>
                    <a:pt x="670560" y="670560"/>
                  </a:lnTo>
                  <a:lnTo>
                    <a:pt x="0" y="670560"/>
                  </a:lnTo>
                  <a:close/>
                </a:path>
              </a:pathLst>
            </a:custGeom>
            <a:blipFill>
              <a:blip r:embed="rId2">
                <a:alphaModFix amt="0"/>
              </a:blip>
              <a:stretch>
                <a:fillRect l="-78303" t="0" r="-78303" b="0"/>
              </a:stretch>
            </a:blipFill>
          </p:spPr>
        </p:sp>
        <p:sp>
          <p:nvSpPr>
            <p:cNvPr name="TextBox 26" id="26"/>
            <p:cNvSpPr txBox="true"/>
            <p:nvPr/>
          </p:nvSpPr>
          <p:spPr>
            <a:xfrm>
              <a:off x="0" y="-19050"/>
              <a:ext cx="670560" cy="689610"/>
            </a:xfrm>
            <a:prstGeom prst="rect">
              <a:avLst/>
            </a:prstGeom>
          </p:spPr>
          <p:txBody>
            <a:bodyPr anchor="ctr" rtlCol="false" tIns="0" lIns="0" bIns="0" rIns="0"/>
            <a:lstStyle/>
            <a:p>
              <a:pPr algn="ctr">
                <a:lnSpc>
                  <a:spcPts val="2160"/>
                </a:lnSpc>
              </a:pPr>
              <a:r>
                <a:rPr lang="en-US" sz="1800" b="true">
                  <a:solidFill>
                    <a:srgbClr val="1F3338"/>
                  </a:solidFill>
                  <a:latin typeface="Arial Bold"/>
                  <a:ea typeface="Arial Bold"/>
                  <a:cs typeface="Arial Bold"/>
                  <a:sym typeface="Arial Bold"/>
                </a:rPr>
                <a:t>2</a:t>
              </a:r>
            </a:p>
          </p:txBody>
        </p:sp>
      </p:grpSp>
      <p:sp>
        <p:nvSpPr>
          <p:cNvPr name="TextBox 27" id="27"/>
          <p:cNvSpPr txBox="true"/>
          <p:nvPr/>
        </p:nvSpPr>
        <p:spPr>
          <a:xfrm rot="0">
            <a:off x="1691640" y="3684270"/>
            <a:ext cx="8321040" cy="384810"/>
          </a:xfrm>
          <a:prstGeom prst="rect">
            <a:avLst/>
          </a:prstGeom>
        </p:spPr>
        <p:txBody>
          <a:bodyPr anchor="t" rtlCol="false" tIns="0" lIns="0" bIns="0" rIns="0">
            <a:spAutoFit/>
          </a:bodyPr>
          <a:lstStyle/>
          <a:p>
            <a:pPr algn="l">
              <a:lnSpc>
                <a:spcPts val="1980"/>
              </a:lnSpc>
            </a:pPr>
            <a:r>
              <a:rPr lang="en-US" sz="1650" b="true">
                <a:solidFill>
                  <a:srgbClr val="FFFFFF"/>
                </a:solidFill>
                <a:latin typeface="Arial Bold"/>
                <a:ea typeface="Arial Bold"/>
                <a:cs typeface="Arial Bold"/>
                <a:sym typeface="Arial Bold"/>
              </a:rPr>
              <a:t>Execution Hub Receives the Request</a:t>
            </a:r>
          </a:p>
        </p:txBody>
      </p:sp>
      <p:sp>
        <p:nvSpPr>
          <p:cNvPr name="TextBox 28" id="28"/>
          <p:cNvSpPr txBox="true"/>
          <p:nvPr/>
        </p:nvSpPr>
        <p:spPr>
          <a:xfrm rot="0">
            <a:off x="1691640" y="4104894"/>
            <a:ext cx="8321040" cy="659130"/>
          </a:xfrm>
          <a:prstGeom prst="rect">
            <a:avLst/>
          </a:prstGeom>
        </p:spPr>
        <p:txBody>
          <a:bodyPr anchor="t" rtlCol="false" tIns="0" lIns="0" bIns="0" rIns="0">
            <a:spAutoFit/>
          </a:bodyPr>
          <a:lstStyle/>
          <a:p>
            <a:pPr algn="l">
              <a:lnSpc>
                <a:spcPts val="1500"/>
              </a:lnSpc>
            </a:pPr>
            <a:r>
              <a:rPr lang="en-US" sz="1250">
                <a:solidFill>
                  <a:srgbClr val="FFFFFF"/>
                </a:solidFill>
                <a:latin typeface="Arial"/>
                <a:ea typeface="Arial"/>
                <a:cs typeface="Arial"/>
                <a:sym typeface="Arial"/>
              </a:rPr>
              <a:t>A Dockerised Laravel microservice spins up an isolated container to handle the submitted code.</a:t>
            </a:r>
          </a:p>
        </p:txBody>
      </p:sp>
      <p:grpSp>
        <p:nvGrpSpPr>
          <p:cNvPr name="Group 29" id="29"/>
          <p:cNvGrpSpPr/>
          <p:nvPr/>
        </p:nvGrpSpPr>
        <p:grpSpPr>
          <a:xfrm rot="0">
            <a:off x="10131552" y="3904488"/>
            <a:ext cx="566928" cy="566928"/>
            <a:chOff x="0" y="0"/>
            <a:chExt cx="755904" cy="755904"/>
          </a:xfrm>
        </p:grpSpPr>
        <p:sp>
          <p:nvSpPr>
            <p:cNvPr name="Freeform 30" id="30" descr="docker_logo.png"/>
            <p:cNvSpPr/>
            <p:nvPr/>
          </p:nvSpPr>
          <p:spPr>
            <a:xfrm flipH="false" flipV="false" rot="0">
              <a:off x="0" y="0"/>
              <a:ext cx="755904" cy="755904"/>
            </a:xfrm>
            <a:custGeom>
              <a:avLst/>
              <a:gdLst/>
              <a:ahLst/>
              <a:cxnLst/>
              <a:rect r="r" b="b" t="t" l="l"/>
              <a:pathLst>
                <a:path h="755904" w="755904">
                  <a:moveTo>
                    <a:pt x="0" y="0"/>
                  </a:moveTo>
                  <a:lnTo>
                    <a:pt x="755904" y="0"/>
                  </a:lnTo>
                  <a:lnTo>
                    <a:pt x="755904" y="755904"/>
                  </a:lnTo>
                  <a:lnTo>
                    <a:pt x="0" y="755904"/>
                  </a:lnTo>
                  <a:lnTo>
                    <a:pt x="0" y="0"/>
                  </a:lnTo>
                  <a:close/>
                </a:path>
              </a:pathLst>
            </a:custGeom>
            <a:blipFill>
              <a:blip r:embed="rId4"/>
              <a:stretch>
                <a:fillRect l="0" t="0" r="0" b="0"/>
              </a:stretch>
            </a:blipFill>
          </p:spPr>
        </p:sp>
      </p:grpSp>
      <p:grpSp>
        <p:nvGrpSpPr>
          <p:cNvPr name="Group 31" id="31"/>
          <p:cNvGrpSpPr/>
          <p:nvPr/>
        </p:nvGrpSpPr>
        <p:grpSpPr>
          <a:xfrm rot="0">
            <a:off x="5682996" y="4901184"/>
            <a:ext cx="292608" cy="292608"/>
            <a:chOff x="0" y="0"/>
            <a:chExt cx="390144" cy="390144"/>
          </a:xfrm>
        </p:grpSpPr>
        <p:sp>
          <p:nvSpPr>
            <p:cNvPr name="Freeform 32" id="32"/>
            <p:cNvSpPr/>
            <p:nvPr/>
          </p:nvSpPr>
          <p:spPr>
            <a:xfrm flipH="false" flipV="false" rot="0">
              <a:off x="0" y="0"/>
              <a:ext cx="390144" cy="390144"/>
            </a:xfrm>
            <a:custGeom>
              <a:avLst/>
              <a:gdLst/>
              <a:ahLst/>
              <a:cxnLst/>
              <a:rect r="r" b="b" t="t" l="l"/>
              <a:pathLst>
                <a:path h="390144" w="390144">
                  <a:moveTo>
                    <a:pt x="0" y="195072"/>
                  </a:moveTo>
                  <a:lnTo>
                    <a:pt x="97536" y="195072"/>
                  </a:lnTo>
                  <a:lnTo>
                    <a:pt x="97536" y="0"/>
                  </a:lnTo>
                  <a:lnTo>
                    <a:pt x="292608" y="0"/>
                  </a:lnTo>
                  <a:lnTo>
                    <a:pt x="292608" y="195072"/>
                  </a:lnTo>
                  <a:lnTo>
                    <a:pt x="390144" y="195072"/>
                  </a:lnTo>
                  <a:lnTo>
                    <a:pt x="195072" y="390144"/>
                  </a:lnTo>
                  <a:close/>
                </a:path>
              </a:pathLst>
            </a:custGeom>
            <a:solidFill>
              <a:srgbClr val="5A6B6E"/>
            </a:solidFill>
          </p:spPr>
        </p:sp>
      </p:grpSp>
      <p:grpSp>
        <p:nvGrpSpPr>
          <p:cNvPr name="Group 33" id="33"/>
          <p:cNvGrpSpPr/>
          <p:nvPr/>
        </p:nvGrpSpPr>
        <p:grpSpPr>
          <a:xfrm rot="0">
            <a:off x="640080" y="5221224"/>
            <a:ext cx="10378440" cy="1371600"/>
            <a:chOff x="0" y="0"/>
            <a:chExt cx="13837920" cy="1828800"/>
          </a:xfrm>
        </p:grpSpPr>
        <p:sp>
          <p:nvSpPr>
            <p:cNvPr name="Freeform 34" id="34"/>
            <p:cNvSpPr/>
            <p:nvPr/>
          </p:nvSpPr>
          <p:spPr>
            <a:xfrm flipH="false" flipV="false" rot="0">
              <a:off x="0" y="0"/>
              <a:ext cx="13837920" cy="1828800"/>
            </a:xfrm>
            <a:custGeom>
              <a:avLst/>
              <a:gdLst/>
              <a:ahLst/>
              <a:cxnLst/>
              <a:rect r="r" b="b" t="t" l="l"/>
              <a:pathLst>
                <a:path h="1828800" w="13837920">
                  <a:moveTo>
                    <a:pt x="0" y="109728"/>
                  </a:moveTo>
                  <a:cubicBezTo>
                    <a:pt x="0" y="49149"/>
                    <a:pt x="49149" y="0"/>
                    <a:pt x="109728" y="0"/>
                  </a:cubicBezTo>
                  <a:lnTo>
                    <a:pt x="13728192" y="0"/>
                  </a:lnTo>
                  <a:cubicBezTo>
                    <a:pt x="13788771" y="0"/>
                    <a:pt x="13837920" y="49149"/>
                    <a:pt x="13837920" y="109728"/>
                  </a:cubicBezTo>
                  <a:lnTo>
                    <a:pt x="13837920" y="1719072"/>
                  </a:lnTo>
                  <a:cubicBezTo>
                    <a:pt x="13837920" y="1779651"/>
                    <a:pt x="13788771" y="1828800"/>
                    <a:pt x="13728192" y="1828800"/>
                  </a:cubicBezTo>
                  <a:lnTo>
                    <a:pt x="109728" y="1828800"/>
                  </a:lnTo>
                  <a:cubicBezTo>
                    <a:pt x="49149" y="1828800"/>
                    <a:pt x="0" y="1779651"/>
                    <a:pt x="0" y="1719072"/>
                  </a:cubicBezTo>
                  <a:close/>
                </a:path>
              </a:pathLst>
            </a:custGeom>
            <a:solidFill>
              <a:srgbClr val="1F3338"/>
            </a:solidFill>
          </p:spPr>
        </p:sp>
      </p:grpSp>
      <p:grpSp>
        <p:nvGrpSpPr>
          <p:cNvPr name="Group 35" id="35"/>
          <p:cNvGrpSpPr/>
          <p:nvPr/>
        </p:nvGrpSpPr>
        <p:grpSpPr>
          <a:xfrm rot="0">
            <a:off x="914400" y="5655564"/>
            <a:ext cx="502920" cy="502920"/>
            <a:chOff x="0" y="0"/>
            <a:chExt cx="670560" cy="670560"/>
          </a:xfrm>
        </p:grpSpPr>
        <p:sp>
          <p:nvSpPr>
            <p:cNvPr name="Freeform 36" id="36"/>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FFFFFF"/>
            </a:solidFill>
          </p:spPr>
        </p:sp>
      </p:grpSp>
      <p:grpSp>
        <p:nvGrpSpPr>
          <p:cNvPr name="Group 37" id="37"/>
          <p:cNvGrpSpPr/>
          <p:nvPr/>
        </p:nvGrpSpPr>
        <p:grpSpPr>
          <a:xfrm rot="0">
            <a:off x="914400" y="5655564"/>
            <a:ext cx="502920" cy="502920"/>
            <a:chOff x="0" y="0"/>
            <a:chExt cx="670560" cy="670560"/>
          </a:xfrm>
        </p:grpSpPr>
        <p:sp>
          <p:nvSpPr>
            <p:cNvPr name="Freeform 38" id="38"/>
            <p:cNvSpPr/>
            <p:nvPr/>
          </p:nvSpPr>
          <p:spPr>
            <a:xfrm flipH="false" flipV="false" rot="0">
              <a:off x="0" y="0"/>
              <a:ext cx="670560" cy="670560"/>
            </a:xfrm>
            <a:custGeom>
              <a:avLst/>
              <a:gdLst/>
              <a:ahLst/>
              <a:cxnLst/>
              <a:rect r="r" b="b" t="t" l="l"/>
              <a:pathLst>
                <a:path h="670560" w="670560">
                  <a:moveTo>
                    <a:pt x="0" y="0"/>
                  </a:moveTo>
                  <a:lnTo>
                    <a:pt x="670560" y="0"/>
                  </a:lnTo>
                  <a:lnTo>
                    <a:pt x="670560" y="670560"/>
                  </a:lnTo>
                  <a:lnTo>
                    <a:pt x="0" y="670560"/>
                  </a:lnTo>
                  <a:close/>
                </a:path>
              </a:pathLst>
            </a:custGeom>
            <a:blipFill>
              <a:blip r:embed="rId2">
                <a:alphaModFix amt="0"/>
              </a:blip>
              <a:stretch>
                <a:fillRect l="-78303" t="0" r="-78303" b="0"/>
              </a:stretch>
            </a:blipFill>
          </p:spPr>
        </p:sp>
        <p:sp>
          <p:nvSpPr>
            <p:cNvPr name="TextBox 39" id="39"/>
            <p:cNvSpPr txBox="true"/>
            <p:nvPr/>
          </p:nvSpPr>
          <p:spPr>
            <a:xfrm>
              <a:off x="0" y="-19050"/>
              <a:ext cx="670560" cy="689610"/>
            </a:xfrm>
            <a:prstGeom prst="rect">
              <a:avLst/>
            </a:prstGeom>
          </p:spPr>
          <p:txBody>
            <a:bodyPr anchor="ctr" rtlCol="false" tIns="0" lIns="0" bIns="0" rIns="0"/>
            <a:lstStyle/>
            <a:p>
              <a:pPr algn="ctr">
                <a:lnSpc>
                  <a:spcPts val="2160"/>
                </a:lnSpc>
              </a:pPr>
              <a:r>
                <a:rPr lang="en-US" sz="1800" b="true">
                  <a:solidFill>
                    <a:srgbClr val="1F3338"/>
                  </a:solidFill>
                  <a:latin typeface="Arial Bold"/>
                  <a:ea typeface="Arial Bold"/>
                  <a:cs typeface="Arial Bold"/>
                  <a:sym typeface="Arial Bold"/>
                </a:rPr>
                <a:t>3</a:t>
              </a:r>
            </a:p>
          </p:txBody>
        </p:sp>
      </p:grpSp>
      <p:sp>
        <p:nvSpPr>
          <p:cNvPr name="TextBox 40" id="40"/>
          <p:cNvSpPr txBox="true"/>
          <p:nvPr/>
        </p:nvSpPr>
        <p:spPr>
          <a:xfrm rot="0">
            <a:off x="1691640" y="5403342"/>
            <a:ext cx="8321040" cy="384810"/>
          </a:xfrm>
          <a:prstGeom prst="rect">
            <a:avLst/>
          </a:prstGeom>
        </p:spPr>
        <p:txBody>
          <a:bodyPr anchor="t" rtlCol="false" tIns="0" lIns="0" bIns="0" rIns="0">
            <a:spAutoFit/>
          </a:bodyPr>
          <a:lstStyle/>
          <a:p>
            <a:pPr algn="l">
              <a:lnSpc>
                <a:spcPts val="1980"/>
              </a:lnSpc>
            </a:pPr>
            <a:r>
              <a:rPr lang="en-US" sz="1650" b="true">
                <a:solidFill>
                  <a:srgbClr val="FFFFFF"/>
                </a:solidFill>
                <a:latin typeface="Arial Bold"/>
                <a:ea typeface="Arial Bold"/>
                <a:cs typeface="Arial Bold"/>
                <a:sym typeface="Arial Bold"/>
              </a:rPr>
              <a:t>Code Runs in a Sandboxed Container</a:t>
            </a:r>
          </a:p>
        </p:txBody>
      </p:sp>
      <p:sp>
        <p:nvSpPr>
          <p:cNvPr name="TextBox 41" id="41"/>
          <p:cNvSpPr txBox="true"/>
          <p:nvPr/>
        </p:nvSpPr>
        <p:spPr>
          <a:xfrm rot="0">
            <a:off x="1691640" y="5823966"/>
            <a:ext cx="8321040" cy="659130"/>
          </a:xfrm>
          <a:prstGeom prst="rect">
            <a:avLst/>
          </a:prstGeom>
        </p:spPr>
        <p:txBody>
          <a:bodyPr anchor="t" rtlCol="false" tIns="0" lIns="0" bIns="0" rIns="0">
            <a:spAutoFit/>
          </a:bodyPr>
          <a:lstStyle/>
          <a:p>
            <a:pPr algn="l">
              <a:lnSpc>
                <a:spcPts val="1500"/>
              </a:lnSpc>
            </a:pPr>
            <a:r>
              <a:rPr lang="en-US" sz="1250">
                <a:solidFill>
                  <a:srgbClr val="FFFFFF"/>
                </a:solidFill>
                <a:latin typeface="Arial"/>
                <a:ea typeface="Arial"/>
                <a:cs typeface="Arial"/>
                <a:sym typeface="Arial"/>
              </a:rPr>
              <a:t>The container is fully isolated from the host and from other candidates’ sessions — no shared state, no side effects.</a:t>
            </a:r>
          </a:p>
        </p:txBody>
      </p:sp>
      <p:grpSp>
        <p:nvGrpSpPr>
          <p:cNvPr name="Group 42" id="42"/>
          <p:cNvGrpSpPr/>
          <p:nvPr/>
        </p:nvGrpSpPr>
        <p:grpSpPr>
          <a:xfrm rot="0">
            <a:off x="5682996" y="6620256"/>
            <a:ext cx="292608" cy="292608"/>
            <a:chOff x="0" y="0"/>
            <a:chExt cx="390144" cy="390144"/>
          </a:xfrm>
        </p:grpSpPr>
        <p:sp>
          <p:nvSpPr>
            <p:cNvPr name="Freeform 43" id="43"/>
            <p:cNvSpPr/>
            <p:nvPr/>
          </p:nvSpPr>
          <p:spPr>
            <a:xfrm flipH="false" flipV="false" rot="0">
              <a:off x="0" y="0"/>
              <a:ext cx="390144" cy="390144"/>
            </a:xfrm>
            <a:custGeom>
              <a:avLst/>
              <a:gdLst/>
              <a:ahLst/>
              <a:cxnLst/>
              <a:rect r="r" b="b" t="t" l="l"/>
              <a:pathLst>
                <a:path h="390144" w="390144">
                  <a:moveTo>
                    <a:pt x="0" y="195072"/>
                  </a:moveTo>
                  <a:lnTo>
                    <a:pt x="97536" y="195072"/>
                  </a:lnTo>
                  <a:lnTo>
                    <a:pt x="97536" y="0"/>
                  </a:lnTo>
                  <a:lnTo>
                    <a:pt x="292608" y="0"/>
                  </a:lnTo>
                  <a:lnTo>
                    <a:pt x="292608" y="195072"/>
                  </a:lnTo>
                  <a:lnTo>
                    <a:pt x="390144" y="195072"/>
                  </a:lnTo>
                  <a:lnTo>
                    <a:pt x="195072" y="390144"/>
                  </a:lnTo>
                  <a:close/>
                </a:path>
              </a:pathLst>
            </a:custGeom>
            <a:solidFill>
              <a:srgbClr val="5A6B6E"/>
            </a:solidFill>
          </p:spPr>
        </p:sp>
      </p:grpSp>
      <p:grpSp>
        <p:nvGrpSpPr>
          <p:cNvPr name="Group 44" id="44"/>
          <p:cNvGrpSpPr/>
          <p:nvPr/>
        </p:nvGrpSpPr>
        <p:grpSpPr>
          <a:xfrm rot="0">
            <a:off x="640080" y="6940296"/>
            <a:ext cx="10378440" cy="1371600"/>
            <a:chOff x="0" y="0"/>
            <a:chExt cx="13837920" cy="1828800"/>
          </a:xfrm>
        </p:grpSpPr>
        <p:sp>
          <p:nvSpPr>
            <p:cNvPr name="Freeform 45" id="45"/>
            <p:cNvSpPr/>
            <p:nvPr/>
          </p:nvSpPr>
          <p:spPr>
            <a:xfrm flipH="false" flipV="false" rot="0">
              <a:off x="0" y="0"/>
              <a:ext cx="13837920" cy="1828800"/>
            </a:xfrm>
            <a:custGeom>
              <a:avLst/>
              <a:gdLst/>
              <a:ahLst/>
              <a:cxnLst/>
              <a:rect r="r" b="b" t="t" l="l"/>
              <a:pathLst>
                <a:path h="1828800" w="13837920">
                  <a:moveTo>
                    <a:pt x="0" y="109728"/>
                  </a:moveTo>
                  <a:cubicBezTo>
                    <a:pt x="0" y="49149"/>
                    <a:pt x="49149" y="0"/>
                    <a:pt x="109728" y="0"/>
                  </a:cubicBezTo>
                  <a:lnTo>
                    <a:pt x="13728192" y="0"/>
                  </a:lnTo>
                  <a:cubicBezTo>
                    <a:pt x="13788771" y="0"/>
                    <a:pt x="13837920" y="49149"/>
                    <a:pt x="13837920" y="109728"/>
                  </a:cubicBezTo>
                  <a:lnTo>
                    <a:pt x="13837920" y="1719072"/>
                  </a:lnTo>
                  <a:cubicBezTo>
                    <a:pt x="13837920" y="1779651"/>
                    <a:pt x="13788771" y="1828800"/>
                    <a:pt x="13728192" y="1828800"/>
                  </a:cubicBezTo>
                  <a:lnTo>
                    <a:pt x="109728" y="1828800"/>
                  </a:lnTo>
                  <a:cubicBezTo>
                    <a:pt x="49149" y="1828800"/>
                    <a:pt x="0" y="1779651"/>
                    <a:pt x="0" y="1719072"/>
                  </a:cubicBezTo>
                  <a:close/>
                </a:path>
              </a:pathLst>
            </a:custGeom>
            <a:solidFill>
              <a:srgbClr val="C8DAE4"/>
            </a:solidFill>
          </p:spPr>
        </p:sp>
      </p:grpSp>
      <p:grpSp>
        <p:nvGrpSpPr>
          <p:cNvPr name="Group 46" id="46"/>
          <p:cNvGrpSpPr/>
          <p:nvPr/>
        </p:nvGrpSpPr>
        <p:grpSpPr>
          <a:xfrm rot="0">
            <a:off x="914400" y="7374636"/>
            <a:ext cx="502920" cy="502920"/>
            <a:chOff x="0" y="0"/>
            <a:chExt cx="670560" cy="670560"/>
          </a:xfrm>
        </p:grpSpPr>
        <p:sp>
          <p:nvSpPr>
            <p:cNvPr name="Freeform 47" id="47"/>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FFFFFF"/>
            </a:solidFill>
          </p:spPr>
        </p:sp>
      </p:grpSp>
      <p:grpSp>
        <p:nvGrpSpPr>
          <p:cNvPr name="Group 48" id="48"/>
          <p:cNvGrpSpPr/>
          <p:nvPr/>
        </p:nvGrpSpPr>
        <p:grpSpPr>
          <a:xfrm rot="0">
            <a:off x="914400" y="7374636"/>
            <a:ext cx="502920" cy="502920"/>
            <a:chOff x="0" y="0"/>
            <a:chExt cx="670560" cy="670560"/>
          </a:xfrm>
        </p:grpSpPr>
        <p:sp>
          <p:nvSpPr>
            <p:cNvPr name="Freeform 49" id="49"/>
            <p:cNvSpPr/>
            <p:nvPr/>
          </p:nvSpPr>
          <p:spPr>
            <a:xfrm flipH="false" flipV="false" rot="0">
              <a:off x="0" y="0"/>
              <a:ext cx="670560" cy="670560"/>
            </a:xfrm>
            <a:custGeom>
              <a:avLst/>
              <a:gdLst/>
              <a:ahLst/>
              <a:cxnLst/>
              <a:rect r="r" b="b" t="t" l="l"/>
              <a:pathLst>
                <a:path h="670560" w="670560">
                  <a:moveTo>
                    <a:pt x="0" y="0"/>
                  </a:moveTo>
                  <a:lnTo>
                    <a:pt x="670560" y="0"/>
                  </a:lnTo>
                  <a:lnTo>
                    <a:pt x="670560" y="670560"/>
                  </a:lnTo>
                  <a:lnTo>
                    <a:pt x="0" y="670560"/>
                  </a:lnTo>
                  <a:close/>
                </a:path>
              </a:pathLst>
            </a:custGeom>
            <a:blipFill>
              <a:blip r:embed="rId2">
                <a:alphaModFix amt="0"/>
              </a:blip>
              <a:stretch>
                <a:fillRect l="-78303" t="0" r="-78303" b="0"/>
              </a:stretch>
            </a:blipFill>
          </p:spPr>
        </p:sp>
        <p:sp>
          <p:nvSpPr>
            <p:cNvPr name="TextBox 50" id="50"/>
            <p:cNvSpPr txBox="true"/>
            <p:nvPr/>
          </p:nvSpPr>
          <p:spPr>
            <a:xfrm>
              <a:off x="0" y="-19050"/>
              <a:ext cx="670560" cy="689610"/>
            </a:xfrm>
            <a:prstGeom prst="rect">
              <a:avLst/>
            </a:prstGeom>
          </p:spPr>
          <p:txBody>
            <a:bodyPr anchor="ctr" rtlCol="false" tIns="0" lIns="0" bIns="0" rIns="0"/>
            <a:lstStyle/>
            <a:p>
              <a:pPr algn="ctr">
                <a:lnSpc>
                  <a:spcPts val="2160"/>
                </a:lnSpc>
              </a:pPr>
              <a:r>
                <a:rPr lang="en-US" sz="1800" b="true">
                  <a:solidFill>
                    <a:srgbClr val="1F3338"/>
                  </a:solidFill>
                  <a:latin typeface="Arial Bold"/>
                  <a:ea typeface="Arial Bold"/>
                  <a:cs typeface="Arial Bold"/>
                  <a:sym typeface="Arial Bold"/>
                </a:rPr>
                <a:t>4</a:t>
              </a:r>
            </a:p>
          </p:txBody>
        </p:sp>
      </p:grpSp>
      <p:sp>
        <p:nvSpPr>
          <p:cNvPr name="TextBox 51" id="51"/>
          <p:cNvSpPr txBox="true"/>
          <p:nvPr/>
        </p:nvSpPr>
        <p:spPr>
          <a:xfrm rot="0">
            <a:off x="1691640" y="7122414"/>
            <a:ext cx="8321040" cy="384810"/>
          </a:xfrm>
          <a:prstGeom prst="rect">
            <a:avLst/>
          </a:prstGeom>
        </p:spPr>
        <p:txBody>
          <a:bodyPr anchor="t" rtlCol="false" tIns="0" lIns="0" bIns="0" rIns="0">
            <a:spAutoFit/>
          </a:bodyPr>
          <a:lstStyle/>
          <a:p>
            <a:pPr algn="l">
              <a:lnSpc>
                <a:spcPts val="1980"/>
              </a:lnSpc>
            </a:pPr>
            <a:r>
              <a:rPr lang="en-US" sz="1650" b="true">
                <a:solidFill>
                  <a:srgbClr val="1F3338"/>
                </a:solidFill>
                <a:latin typeface="Arial Bold"/>
                <a:ea typeface="Arial Bold"/>
                <a:cs typeface="Arial Bold"/>
                <a:sym typeface="Arial Bold"/>
              </a:rPr>
              <a:t>Runtime Feedback Returned</a:t>
            </a:r>
          </a:p>
        </p:txBody>
      </p:sp>
      <p:sp>
        <p:nvSpPr>
          <p:cNvPr name="TextBox 52" id="52"/>
          <p:cNvSpPr txBox="true"/>
          <p:nvPr/>
        </p:nvSpPr>
        <p:spPr>
          <a:xfrm rot="0">
            <a:off x="1691640" y="7543038"/>
            <a:ext cx="8321040" cy="659130"/>
          </a:xfrm>
          <a:prstGeom prst="rect">
            <a:avLst/>
          </a:prstGeom>
        </p:spPr>
        <p:txBody>
          <a:bodyPr anchor="t" rtlCol="false" tIns="0" lIns="0" bIns="0" rIns="0">
            <a:spAutoFit/>
          </a:bodyPr>
          <a:lstStyle/>
          <a:p>
            <a:pPr algn="l">
              <a:lnSpc>
                <a:spcPts val="1500"/>
              </a:lnSpc>
            </a:pPr>
            <a:r>
              <a:rPr lang="en-US" sz="1250">
                <a:solidFill>
                  <a:srgbClr val="1F3338"/>
                </a:solidFill>
                <a:latin typeface="Arial"/>
                <a:ea typeface="Arial"/>
                <a:cs typeface="Arial"/>
                <a:sym typeface="Arial"/>
              </a:rPr>
              <a:t>Output or errors are sent back to the candidate’s editor in real time, before final submission.</a:t>
            </a:r>
          </a:p>
        </p:txBody>
      </p:sp>
      <p:grpSp>
        <p:nvGrpSpPr>
          <p:cNvPr name="Group 53" id="53"/>
          <p:cNvGrpSpPr/>
          <p:nvPr/>
        </p:nvGrpSpPr>
        <p:grpSpPr>
          <a:xfrm rot="0">
            <a:off x="10131552" y="7342632"/>
            <a:ext cx="566928" cy="566928"/>
            <a:chOff x="0" y="0"/>
            <a:chExt cx="755904" cy="755904"/>
          </a:xfrm>
        </p:grpSpPr>
        <p:sp>
          <p:nvSpPr>
            <p:cNvPr name="Freeform 54" id="54" descr="icon_bolt.png"/>
            <p:cNvSpPr/>
            <p:nvPr/>
          </p:nvSpPr>
          <p:spPr>
            <a:xfrm flipH="false" flipV="false" rot="0">
              <a:off x="0" y="0"/>
              <a:ext cx="755904" cy="755904"/>
            </a:xfrm>
            <a:custGeom>
              <a:avLst/>
              <a:gdLst/>
              <a:ahLst/>
              <a:cxnLst/>
              <a:rect r="r" b="b" t="t" l="l"/>
              <a:pathLst>
                <a:path h="755904" w="755904">
                  <a:moveTo>
                    <a:pt x="0" y="0"/>
                  </a:moveTo>
                  <a:lnTo>
                    <a:pt x="755904" y="0"/>
                  </a:lnTo>
                  <a:lnTo>
                    <a:pt x="755904" y="755904"/>
                  </a:lnTo>
                  <a:lnTo>
                    <a:pt x="0" y="755904"/>
                  </a:lnTo>
                  <a:lnTo>
                    <a:pt x="0" y="0"/>
                  </a:lnTo>
                  <a:close/>
                </a:path>
              </a:pathLst>
            </a:custGeom>
            <a:blipFill>
              <a:blip r:embed="rId5"/>
              <a:stretch>
                <a:fillRect l="0" t="0" r="0" b="0"/>
              </a:stretch>
            </a:blipFill>
          </p:spPr>
        </p:sp>
      </p:grpSp>
      <p:grpSp>
        <p:nvGrpSpPr>
          <p:cNvPr name="Group 55" id="55"/>
          <p:cNvGrpSpPr/>
          <p:nvPr/>
        </p:nvGrpSpPr>
        <p:grpSpPr>
          <a:xfrm rot="0">
            <a:off x="11750040" y="1783080"/>
            <a:ext cx="2674620" cy="658368"/>
            <a:chOff x="0" y="0"/>
            <a:chExt cx="3566160" cy="877824"/>
          </a:xfrm>
        </p:grpSpPr>
        <p:sp>
          <p:nvSpPr>
            <p:cNvPr name="Freeform 56" id="56"/>
            <p:cNvSpPr/>
            <p:nvPr/>
          </p:nvSpPr>
          <p:spPr>
            <a:xfrm flipH="false" flipV="false" rot="0">
              <a:off x="0" y="0"/>
              <a:ext cx="3566160" cy="877824"/>
            </a:xfrm>
            <a:custGeom>
              <a:avLst/>
              <a:gdLst/>
              <a:ahLst/>
              <a:cxnLst/>
              <a:rect r="r" b="b" t="t" l="l"/>
              <a:pathLst>
                <a:path h="877824" w="3566160">
                  <a:moveTo>
                    <a:pt x="0" y="122936"/>
                  </a:moveTo>
                  <a:cubicBezTo>
                    <a:pt x="0" y="54991"/>
                    <a:pt x="54991" y="0"/>
                    <a:pt x="122936" y="0"/>
                  </a:cubicBezTo>
                  <a:lnTo>
                    <a:pt x="3443224" y="0"/>
                  </a:lnTo>
                  <a:cubicBezTo>
                    <a:pt x="3511042" y="0"/>
                    <a:pt x="3566160" y="54991"/>
                    <a:pt x="3566160" y="122936"/>
                  </a:cubicBezTo>
                  <a:lnTo>
                    <a:pt x="3566160" y="754888"/>
                  </a:lnTo>
                  <a:cubicBezTo>
                    <a:pt x="3566160" y="822706"/>
                    <a:pt x="3511169" y="877824"/>
                    <a:pt x="3443224" y="877824"/>
                  </a:cubicBezTo>
                  <a:lnTo>
                    <a:pt x="122936" y="877824"/>
                  </a:lnTo>
                  <a:cubicBezTo>
                    <a:pt x="54991" y="877824"/>
                    <a:pt x="0" y="822833"/>
                    <a:pt x="0" y="754888"/>
                  </a:cubicBezTo>
                  <a:close/>
                </a:path>
              </a:pathLst>
            </a:custGeom>
            <a:solidFill>
              <a:srgbClr val="FFFFFF"/>
            </a:solidFill>
          </p:spPr>
        </p:sp>
      </p:grpSp>
      <p:grpSp>
        <p:nvGrpSpPr>
          <p:cNvPr name="Group 57" id="57"/>
          <p:cNvGrpSpPr/>
          <p:nvPr/>
        </p:nvGrpSpPr>
        <p:grpSpPr>
          <a:xfrm rot="0">
            <a:off x="11951208" y="1911096"/>
            <a:ext cx="402336" cy="402336"/>
            <a:chOff x="0" y="0"/>
            <a:chExt cx="536448" cy="536448"/>
          </a:xfrm>
        </p:grpSpPr>
        <p:sp>
          <p:nvSpPr>
            <p:cNvPr name="Freeform 58" id="58" descr="docker_logo.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4"/>
              <a:stretch>
                <a:fillRect l="0" t="0" r="0" b="0"/>
              </a:stretch>
            </a:blipFill>
          </p:spPr>
        </p:sp>
      </p:grpSp>
      <p:sp>
        <p:nvSpPr>
          <p:cNvPr name="TextBox 59" id="59"/>
          <p:cNvSpPr txBox="true"/>
          <p:nvPr/>
        </p:nvSpPr>
        <p:spPr>
          <a:xfrm rot="0">
            <a:off x="12518136" y="1855470"/>
            <a:ext cx="1769364" cy="311658"/>
          </a:xfrm>
          <a:prstGeom prst="rect">
            <a:avLst/>
          </a:prstGeom>
        </p:spPr>
        <p:txBody>
          <a:bodyPr anchor="t" rtlCol="false" tIns="0" lIns="0" bIns="0" rIns="0">
            <a:spAutoFit/>
          </a:bodyPr>
          <a:lstStyle/>
          <a:p>
            <a:pPr algn="l">
              <a:lnSpc>
                <a:spcPts val="1559"/>
              </a:lnSpc>
            </a:pPr>
            <a:r>
              <a:rPr lang="en-US" sz="1299" b="true">
                <a:solidFill>
                  <a:srgbClr val="1F3338"/>
                </a:solidFill>
                <a:latin typeface="Arial Bold"/>
                <a:ea typeface="Arial Bold"/>
                <a:cs typeface="Arial Bold"/>
                <a:sym typeface="Arial Bold"/>
              </a:rPr>
              <a:t>Docker</a:t>
            </a:r>
          </a:p>
        </p:txBody>
      </p:sp>
      <p:sp>
        <p:nvSpPr>
          <p:cNvPr name="TextBox 60" id="60"/>
          <p:cNvSpPr txBox="true"/>
          <p:nvPr/>
        </p:nvSpPr>
        <p:spPr>
          <a:xfrm rot="0">
            <a:off x="12518136" y="2157603"/>
            <a:ext cx="1769364" cy="238125"/>
          </a:xfrm>
          <a:prstGeom prst="rect">
            <a:avLst/>
          </a:prstGeom>
        </p:spPr>
        <p:txBody>
          <a:bodyPr anchor="t" rtlCol="false" tIns="0" lIns="0" bIns="0" rIns="0">
            <a:spAutoFit/>
          </a:bodyPr>
          <a:lstStyle/>
          <a:p>
            <a:pPr algn="l">
              <a:lnSpc>
                <a:spcPts val="1260"/>
              </a:lnSpc>
            </a:pPr>
            <a:r>
              <a:rPr lang="en-US" sz="1050">
                <a:solidFill>
                  <a:srgbClr val="5A6B6E"/>
                </a:solidFill>
                <a:latin typeface="Arial"/>
                <a:ea typeface="Arial"/>
                <a:cs typeface="Arial"/>
                <a:sym typeface="Arial"/>
              </a:rPr>
              <a:t>Container runtime</a:t>
            </a:r>
          </a:p>
        </p:txBody>
      </p:sp>
      <p:grpSp>
        <p:nvGrpSpPr>
          <p:cNvPr name="Group 61" id="61"/>
          <p:cNvGrpSpPr/>
          <p:nvPr/>
        </p:nvGrpSpPr>
        <p:grpSpPr>
          <a:xfrm rot="0">
            <a:off x="14698980" y="1783080"/>
            <a:ext cx="2674620" cy="658368"/>
            <a:chOff x="0" y="0"/>
            <a:chExt cx="3566160" cy="877824"/>
          </a:xfrm>
        </p:grpSpPr>
        <p:sp>
          <p:nvSpPr>
            <p:cNvPr name="Freeform 62" id="62"/>
            <p:cNvSpPr/>
            <p:nvPr/>
          </p:nvSpPr>
          <p:spPr>
            <a:xfrm flipH="false" flipV="false" rot="0">
              <a:off x="0" y="0"/>
              <a:ext cx="3566160" cy="877824"/>
            </a:xfrm>
            <a:custGeom>
              <a:avLst/>
              <a:gdLst/>
              <a:ahLst/>
              <a:cxnLst/>
              <a:rect r="r" b="b" t="t" l="l"/>
              <a:pathLst>
                <a:path h="877824" w="3566160">
                  <a:moveTo>
                    <a:pt x="0" y="122936"/>
                  </a:moveTo>
                  <a:cubicBezTo>
                    <a:pt x="0" y="54991"/>
                    <a:pt x="54991" y="0"/>
                    <a:pt x="122936" y="0"/>
                  </a:cubicBezTo>
                  <a:lnTo>
                    <a:pt x="3443224" y="0"/>
                  </a:lnTo>
                  <a:cubicBezTo>
                    <a:pt x="3511042" y="0"/>
                    <a:pt x="3566160" y="54991"/>
                    <a:pt x="3566160" y="122936"/>
                  </a:cubicBezTo>
                  <a:lnTo>
                    <a:pt x="3566160" y="754888"/>
                  </a:lnTo>
                  <a:cubicBezTo>
                    <a:pt x="3566160" y="822706"/>
                    <a:pt x="3511169" y="877824"/>
                    <a:pt x="3443224" y="877824"/>
                  </a:cubicBezTo>
                  <a:lnTo>
                    <a:pt x="122936" y="877824"/>
                  </a:lnTo>
                  <a:cubicBezTo>
                    <a:pt x="54991" y="877824"/>
                    <a:pt x="0" y="822833"/>
                    <a:pt x="0" y="754888"/>
                  </a:cubicBezTo>
                  <a:close/>
                </a:path>
              </a:pathLst>
            </a:custGeom>
            <a:solidFill>
              <a:srgbClr val="FFFFFF"/>
            </a:solidFill>
          </p:spPr>
        </p:sp>
      </p:grpSp>
      <p:grpSp>
        <p:nvGrpSpPr>
          <p:cNvPr name="Group 63" id="63"/>
          <p:cNvGrpSpPr/>
          <p:nvPr/>
        </p:nvGrpSpPr>
        <p:grpSpPr>
          <a:xfrm rot="0">
            <a:off x="14900148" y="1911096"/>
            <a:ext cx="402336" cy="402336"/>
            <a:chOff x="0" y="0"/>
            <a:chExt cx="536448" cy="536448"/>
          </a:xfrm>
        </p:grpSpPr>
        <p:sp>
          <p:nvSpPr>
            <p:cNvPr name="Freeform 64" id="64" descr="laravel_logo.png"/>
            <p:cNvSpPr/>
            <p:nvPr/>
          </p:nvSpPr>
          <p:spPr>
            <a:xfrm flipH="false" flipV="false" rot="0">
              <a:off x="0" y="0"/>
              <a:ext cx="536448" cy="536448"/>
            </a:xfrm>
            <a:custGeom>
              <a:avLst/>
              <a:gdLst/>
              <a:ahLst/>
              <a:cxnLst/>
              <a:rect r="r" b="b" t="t" l="l"/>
              <a:pathLst>
                <a:path h="536448" w="536448">
                  <a:moveTo>
                    <a:pt x="0" y="0"/>
                  </a:moveTo>
                  <a:lnTo>
                    <a:pt x="536448" y="0"/>
                  </a:lnTo>
                  <a:lnTo>
                    <a:pt x="536448" y="536448"/>
                  </a:lnTo>
                  <a:lnTo>
                    <a:pt x="0" y="536448"/>
                  </a:lnTo>
                  <a:lnTo>
                    <a:pt x="0" y="0"/>
                  </a:lnTo>
                  <a:close/>
                </a:path>
              </a:pathLst>
            </a:custGeom>
            <a:blipFill>
              <a:blip r:embed="rId6"/>
              <a:stretch>
                <a:fillRect l="0" t="0" r="0" b="0"/>
              </a:stretch>
            </a:blipFill>
          </p:spPr>
        </p:sp>
      </p:grpSp>
      <p:sp>
        <p:nvSpPr>
          <p:cNvPr name="TextBox 65" id="65"/>
          <p:cNvSpPr txBox="true"/>
          <p:nvPr/>
        </p:nvSpPr>
        <p:spPr>
          <a:xfrm rot="0">
            <a:off x="15467076" y="1855470"/>
            <a:ext cx="1769364" cy="311658"/>
          </a:xfrm>
          <a:prstGeom prst="rect">
            <a:avLst/>
          </a:prstGeom>
        </p:spPr>
        <p:txBody>
          <a:bodyPr anchor="t" rtlCol="false" tIns="0" lIns="0" bIns="0" rIns="0">
            <a:spAutoFit/>
          </a:bodyPr>
          <a:lstStyle/>
          <a:p>
            <a:pPr algn="l">
              <a:lnSpc>
                <a:spcPts val="1559"/>
              </a:lnSpc>
            </a:pPr>
            <a:r>
              <a:rPr lang="en-US" sz="1299" b="true">
                <a:solidFill>
                  <a:srgbClr val="1F3338"/>
                </a:solidFill>
                <a:latin typeface="Arial Bold"/>
                <a:ea typeface="Arial Bold"/>
                <a:cs typeface="Arial Bold"/>
                <a:sym typeface="Arial Bold"/>
              </a:rPr>
              <a:t>Laravel</a:t>
            </a:r>
          </a:p>
        </p:txBody>
      </p:sp>
      <p:sp>
        <p:nvSpPr>
          <p:cNvPr name="TextBox 66" id="66"/>
          <p:cNvSpPr txBox="true"/>
          <p:nvPr/>
        </p:nvSpPr>
        <p:spPr>
          <a:xfrm rot="0">
            <a:off x="15467076" y="2157603"/>
            <a:ext cx="1769364" cy="238125"/>
          </a:xfrm>
          <a:prstGeom prst="rect">
            <a:avLst/>
          </a:prstGeom>
        </p:spPr>
        <p:txBody>
          <a:bodyPr anchor="t" rtlCol="false" tIns="0" lIns="0" bIns="0" rIns="0">
            <a:spAutoFit/>
          </a:bodyPr>
          <a:lstStyle/>
          <a:p>
            <a:pPr algn="l">
              <a:lnSpc>
                <a:spcPts val="1260"/>
              </a:lnSpc>
            </a:pPr>
            <a:r>
              <a:rPr lang="en-US" sz="1050">
                <a:solidFill>
                  <a:srgbClr val="5A6B6E"/>
                </a:solidFill>
                <a:latin typeface="Arial"/>
                <a:ea typeface="Arial"/>
                <a:cs typeface="Arial"/>
                <a:sym typeface="Arial"/>
              </a:rPr>
              <a:t>Service framework</a:t>
            </a:r>
          </a:p>
        </p:txBody>
      </p:sp>
      <p:grpSp>
        <p:nvGrpSpPr>
          <p:cNvPr name="Group 67" id="67"/>
          <p:cNvGrpSpPr/>
          <p:nvPr/>
        </p:nvGrpSpPr>
        <p:grpSpPr>
          <a:xfrm rot="0">
            <a:off x="11750040" y="2761488"/>
            <a:ext cx="5623560" cy="3246120"/>
            <a:chOff x="0" y="0"/>
            <a:chExt cx="7498080" cy="4328160"/>
          </a:xfrm>
        </p:grpSpPr>
        <p:sp>
          <p:nvSpPr>
            <p:cNvPr name="Freeform 68" id="68"/>
            <p:cNvSpPr/>
            <p:nvPr/>
          </p:nvSpPr>
          <p:spPr>
            <a:xfrm flipH="false" flipV="false" rot="0">
              <a:off x="0" y="0"/>
              <a:ext cx="7498080" cy="4328160"/>
            </a:xfrm>
            <a:custGeom>
              <a:avLst/>
              <a:gdLst/>
              <a:ahLst/>
              <a:cxnLst/>
              <a:rect r="r" b="b" t="t" l="l"/>
              <a:pathLst>
                <a:path h="4328160" w="7498080">
                  <a:moveTo>
                    <a:pt x="0" y="216408"/>
                  </a:moveTo>
                  <a:cubicBezTo>
                    <a:pt x="0" y="96901"/>
                    <a:pt x="96901" y="0"/>
                    <a:pt x="216408" y="0"/>
                  </a:cubicBezTo>
                  <a:lnTo>
                    <a:pt x="7281672" y="0"/>
                  </a:lnTo>
                  <a:cubicBezTo>
                    <a:pt x="7401178" y="0"/>
                    <a:pt x="7498080" y="96901"/>
                    <a:pt x="7498080" y="216408"/>
                  </a:cubicBezTo>
                  <a:lnTo>
                    <a:pt x="7498080" y="4111752"/>
                  </a:lnTo>
                  <a:cubicBezTo>
                    <a:pt x="7498080" y="4231259"/>
                    <a:pt x="7401178" y="4328160"/>
                    <a:pt x="7281672" y="4328160"/>
                  </a:cubicBezTo>
                  <a:lnTo>
                    <a:pt x="216408" y="4328160"/>
                  </a:lnTo>
                  <a:cubicBezTo>
                    <a:pt x="96901" y="4328160"/>
                    <a:pt x="0" y="4231259"/>
                    <a:pt x="0" y="4111752"/>
                  </a:cubicBezTo>
                  <a:close/>
                </a:path>
              </a:pathLst>
            </a:custGeom>
            <a:solidFill>
              <a:srgbClr val="FFFFFF"/>
            </a:solidFill>
          </p:spPr>
        </p:sp>
      </p:grpSp>
      <p:grpSp>
        <p:nvGrpSpPr>
          <p:cNvPr name="Group 69" id="69"/>
          <p:cNvGrpSpPr/>
          <p:nvPr/>
        </p:nvGrpSpPr>
        <p:grpSpPr>
          <a:xfrm rot="0">
            <a:off x="11750040" y="2761488"/>
            <a:ext cx="5623560" cy="566928"/>
            <a:chOff x="0" y="0"/>
            <a:chExt cx="7498080" cy="755904"/>
          </a:xfrm>
        </p:grpSpPr>
        <p:sp>
          <p:nvSpPr>
            <p:cNvPr name="Freeform 70" id="70"/>
            <p:cNvSpPr/>
            <p:nvPr/>
          </p:nvSpPr>
          <p:spPr>
            <a:xfrm flipH="false" flipV="false" rot="0">
              <a:off x="0" y="0"/>
              <a:ext cx="7498080" cy="755904"/>
            </a:xfrm>
            <a:custGeom>
              <a:avLst/>
              <a:gdLst/>
              <a:ahLst/>
              <a:cxnLst/>
              <a:rect r="r" b="b" t="t" l="l"/>
              <a:pathLst>
                <a:path h="755904" w="7498080">
                  <a:moveTo>
                    <a:pt x="0" y="90678"/>
                  </a:moveTo>
                  <a:cubicBezTo>
                    <a:pt x="0" y="40640"/>
                    <a:pt x="40640" y="0"/>
                    <a:pt x="90678" y="0"/>
                  </a:cubicBezTo>
                  <a:lnTo>
                    <a:pt x="7407402" y="0"/>
                  </a:lnTo>
                  <a:cubicBezTo>
                    <a:pt x="7457440" y="0"/>
                    <a:pt x="7498080" y="40640"/>
                    <a:pt x="7498080" y="90678"/>
                  </a:cubicBezTo>
                  <a:lnTo>
                    <a:pt x="7498080" y="665226"/>
                  </a:lnTo>
                  <a:cubicBezTo>
                    <a:pt x="7498080" y="715264"/>
                    <a:pt x="7457440" y="755904"/>
                    <a:pt x="7407402" y="755904"/>
                  </a:cubicBezTo>
                  <a:lnTo>
                    <a:pt x="90678" y="755904"/>
                  </a:lnTo>
                  <a:cubicBezTo>
                    <a:pt x="40640" y="755904"/>
                    <a:pt x="0" y="715264"/>
                    <a:pt x="0" y="665226"/>
                  </a:cubicBezTo>
                  <a:close/>
                </a:path>
              </a:pathLst>
            </a:custGeom>
            <a:solidFill>
              <a:srgbClr val="1F3338"/>
            </a:solidFill>
          </p:spPr>
        </p:sp>
      </p:grpSp>
      <p:grpSp>
        <p:nvGrpSpPr>
          <p:cNvPr name="Group 71" id="71"/>
          <p:cNvGrpSpPr/>
          <p:nvPr/>
        </p:nvGrpSpPr>
        <p:grpSpPr>
          <a:xfrm rot="0">
            <a:off x="12024360" y="2761488"/>
            <a:ext cx="5074920" cy="566928"/>
            <a:chOff x="0" y="0"/>
            <a:chExt cx="6766560" cy="755904"/>
          </a:xfrm>
        </p:grpSpPr>
        <p:sp>
          <p:nvSpPr>
            <p:cNvPr name="Freeform 72" id="72"/>
            <p:cNvSpPr/>
            <p:nvPr/>
          </p:nvSpPr>
          <p:spPr>
            <a:xfrm flipH="false" flipV="false" rot="0">
              <a:off x="0" y="0"/>
              <a:ext cx="6766560" cy="755904"/>
            </a:xfrm>
            <a:custGeom>
              <a:avLst/>
              <a:gdLst/>
              <a:ahLst/>
              <a:cxnLst/>
              <a:rect r="r" b="b" t="t" l="l"/>
              <a:pathLst>
                <a:path h="755904" w="6766560">
                  <a:moveTo>
                    <a:pt x="0" y="0"/>
                  </a:moveTo>
                  <a:lnTo>
                    <a:pt x="6766560" y="0"/>
                  </a:lnTo>
                  <a:lnTo>
                    <a:pt x="6766560" y="755904"/>
                  </a:lnTo>
                  <a:lnTo>
                    <a:pt x="0" y="755904"/>
                  </a:lnTo>
                  <a:close/>
                </a:path>
              </a:pathLst>
            </a:custGeom>
            <a:blipFill>
              <a:blip r:embed="rId2">
                <a:alphaModFix amt="0"/>
              </a:blip>
              <a:stretch>
                <a:fillRect l="0" t="-124422" r="0" b="-124422"/>
              </a:stretch>
            </a:blipFill>
          </p:spPr>
        </p:sp>
        <p:sp>
          <p:nvSpPr>
            <p:cNvPr name="TextBox 73" id="73"/>
            <p:cNvSpPr txBox="true"/>
            <p:nvPr/>
          </p:nvSpPr>
          <p:spPr>
            <a:xfrm>
              <a:off x="0" y="-9525"/>
              <a:ext cx="6766560" cy="765429"/>
            </a:xfrm>
            <a:prstGeom prst="rect">
              <a:avLst/>
            </a:prstGeom>
          </p:spPr>
          <p:txBody>
            <a:bodyPr anchor="ctr" rtlCol="false" tIns="0" lIns="0" bIns="0" rIns="0"/>
            <a:lstStyle/>
            <a:p>
              <a:pPr algn="l">
                <a:lnSpc>
                  <a:spcPts val="1739"/>
                </a:lnSpc>
              </a:pPr>
              <a:r>
                <a:rPr lang="en-US" sz="1449" b="true">
                  <a:solidFill>
                    <a:srgbClr val="FFFFFF"/>
                  </a:solidFill>
                  <a:latin typeface="Arial Bold"/>
                  <a:ea typeface="Arial Bold"/>
                  <a:cs typeface="Arial Bold"/>
                  <a:sym typeface="Arial Bold"/>
                </a:rPr>
                <a:t>Why It Runs in a Sandbox</a:t>
              </a:r>
            </a:p>
          </p:txBody>
        </p:sp>
      </p:grpSp>
      <p:sp>
        <p:nvSpPr>
          <p:cNvPr name="TextBox 74" id="74"/>
          <p:cNvSpPr txBox="true"/>
          <p:nvPr/>
        </p:nvSpPr>
        <p:spPr>
          <a:xfrm rot="0">
            <a:off x="11889644" y="3642741"/>
            <a:ext cx="6021008" cy="1365608"/>
          </a:xfrm>
          <a:prstGeom prst="rect">
            <a:avLst/>
          </a:prstGeom>
        </p:spPr>
        <p:txBody>
          <a:bodyPr anchor="t" rtlCol="false" tIns="0" lIns="0" bIns="0" rIns="0">
            <a:spAutoFit/>
          </a:bodyPr>
          <a:lstStyle/>
          <a:p>
            <a:pPr algn="l">
              <a:lnSpc>
                <a:spcPts val="1779"/>
              </a:lnSpc>
            </a:pPr>
            <a:r>
              <a:rPr lang="en-US" sz="1483">
                <a:solidFill>
                  <a:srgbClr val="1F3338"/>
                </a:solidFill>
                <a:latin typeface="Arial"/>
                <a:ea typeface="Arial"/>
                <a:cs typeface="Arial"/>
                <a:sym typeface="Arial"/>
              </a:rPr>
              <a:t>•  Every submission gets its own disposable container — nothing persists between runs</a:t>
            </a:r>
          </a:p>
          <a:p>
            <a:pPr algn="l">
              <a:lnSpc>
                <a:spcPts val="1779"/>
              </a:lnSpc>
            </a:pPr>
            <a:r>
              <a:rPr lang="en-US" sz="1483">
                <a:solidFill>
                  <a:srgbClr val="1F3338"/>
                </a:solidFill>
                <a:latin typeface="Arial"/>
                <a:ea typeface="Arial"/>
                <a:cs typeface="Arial"/>
                <a:sym typeface="Arial"/>
              </a:rPr>
              <a:t>•  No network access from inside the container: code can’t reach external services</a:t>
            </a:r>
          </a:p>
          <a:p>
            <a:pPr algn="l">
              <a:lnSpc>
                <a:spcPts val="1779"/>
              </a:lnSpc>
            </a:pPr>
            <a:r>
              <a:rPr lang="en-US" sz="1483">
                <a:solidFill>
                  <a:srgbClr val="1F3338"/>
                </a:solidFill>
                <a:latin typeface="Arial"/>
                <a:ea typeface="Arial"/>
                <a:cs typeface="Arial"/>
                <a:sym typeface="Arial"/>
              </a:rPr>
              <a:t>•  CPU, memory, and execution-time limits prevent runaway or malicious scripts</a:t>
            </a:r>
          </a:p>
        </p:txBody>
      </p:sp>
      <p:grpSp>
        <p:nvGrpSpPr>
          <p:cNvPr name="Group 75" id="75"/>
          <p:cNvGrpSpPr/>
          <p:nvPr/>
        </p:nvGrpSpPr>
        <p:grpSpPr>
          <a:xfrm rot="0">
            <a:off x="10131552" y="5623560"/>
            <a:ext cx="566928" cy="566928"/>
            <a:chOff x="0" y="0"/>
            <a:chExt cx="755904" cy="755904"/>
          </a:xfrm>
        </p:grpSpPr>
        <p:sp>
          <p:nvSpPr>
            <p:cNvPr name="Freeform 76" id="76" descr="icon_lock.png"/>
            <p:cNvSpPr/>
            <p:nvPr/>
          </p:nvSpPr>
          <p:spPr>
            <a:xfrm flipH="false" flipV="false" rot="0">
              <a:off x="0" y="0"/>
              <a:ext cx="755904" cy="755904"/>
            </a:xfrm>
            <a:custGeom>
              <a:avLst/>
              <a:gdLst/>
              <a:ahLst/>
              <a:cxnLst/>
              <a:rect r="r" b="b" t="t" l="l"/>
              <a:pathLst>
                <a:path h="755904" w="755904">
                  <a:moveTo>
                    <a:pt x="0" y="0"/>
                  </a:moveTo>
                  <a:lnTo>
                    <a:pt x="755904" y="0"/>
                  </a:lnTo>
                  <a:lnTo>
                    <a:pt x="755904" y="755904"/>
                  </a:lnTo>
                  <a:lnTo>
                    <a:pt x="0" y="755904"/>
                  </a:lnTo>
                  <a:lnTo>
                    <a:pt x="0" y="0"/>
                  </a:lnTo>
                  <a:close/>
                </a:path>
              </a:pathLst>
            </a:custGeom>
            <a:blipFill>
              <a:blip r:embed="rId7"/>
              <a:stretch>
                <a:fillRect l="0" t="0" r="0" b="0"/>
              </a:stretch>
            </a:blipFill>
          </p:spPr>
        </p:sp>
      </p:grpSp>
      <p:sp>
        <p:nvSpPr>
          <p:cNvPr name="TextBox 77" id="77"/>
          <p:cNvSpPr txBox="true"/>
          <p:nvPr/>
        </p:nvSpPr>
        <p:spPr>
          <a:xfrm rot="0">
            <a:off x="640080" y="9719310"/>
            <a:ext cx="7315200" cy="384810"/>
          </a:xfrm>
          <a:prstGeom prst="rect">
            <a:avLst/>
          </a:prstGeom>
        </p:spPr>
        <p:txBody>
          <a:bodyPr anchor="t" rtlCol="false" tIns="0" lIns="0" bIns="0" rIns="0">
            <a:spAutoFit/>
          </a:bodyPr>
          <a:lstStyle/>
          <a:p>
            <a:pPr algn="l">
              <a:lnSpc>
                <a:spcPts val="1439"/>
              </a:lnSpc>
            </a:pPr>
            <a:r>
              <a:rPr lang="en-US" sz="1200">
                <a:solidFill>
                  <a:srgbClr val="5A6B6E"/>
                </a:solidFill>
                <a:latin typeface="Arial"/>
                <a:ea typeface="Arial"/>
                <a:cs typeface="Arial"/>
                <a:sym typeface="Arial"/>
              </a:rPr>
              <a:t>Hire on Demand  •  PFE Defense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417320" y="502920"/>
            <a:ext cx="12801600" cy="694944"/>
            <a:chOff x="0" y="0"/>
            <a:chExt cx="17068800" cy="926592"/>
          </a:xfrm>
        </p:grpSpPr>
        <p:sp>
          <p:nvSpPr>
            <p:cNvPr name="Freeform 3" id="3"/>
            <p:cNvSpPr/>
            <p:nvPr/>
          </p:nvSpPr>
          <p:spPr>
            <a:xfrm flipH="false" flipV="false" rot="0">
              <a:off x="0" y="0"/>
              <a:ext cx="17068800" cy="926592"/>
            </a:xfrm>
            <a:custGeom>
              <a:avLst/>
              <a:gdLst/>
              <a:ahLst/>
              <a:cxnLst/>
              <a:rect r="r" b="b" t="t" l="l"/>
              <a:pathLst>
                <a:path h="926592" w="17068800">
                  <a:moveTo>
                    <a:pt x="0" y="0"/>
                  </a:moveTo>
                  <a:lnTo>
                    <a:pt x="17068800" y="0"/>
                  </a:lnTo>
                  <a:lnTo>
                    <a:pt x="17068800" y="926592"/>
                  </a:lnTo>
                  <a:lnTo>
                    <a:pt x="0" y="926592"/>
                  </a:lnTo>
                  <a:close/>
                </a:path>
              </a:pathLst>
            </a:custGeom>
            <a:blipFill>
              <a:blip r:embed="rId2">
                <a:alphaModFix amt="0"/>
              </a:blip>
              <a:stretch>
                <a:fillRect l="0" t="-308685" r="0" b="-308685"/>
              </a:stretch>
            </a:blipFill>
          </p:spPr>
        </p:sp>
      </p:grpSp>
      <p:grpSp>
        <p:nvGrpSpPr>
          <p:cNvPr name="Group 4" id="4"/>
          <p:cNvGrpSpPr/>
          <p:nvPr/>
        </p:nvGrpSpPr>
        <p:grpSpPr>
          <a:xfrm rot="0">
            <a:off x="1417320" y="488632"/>
            <a:ext cx="12801600" cy="709232"/>
            <a:chOff x="0" y="0"/>
            <a:chExt cx="17068800" cy="945642"/>
          </a:xfrm>
        </p:grpSpPr>
        <p:sp>
          <p:nvSpPr>
            <p:cNvPr name="Freeform 5" id="5"/>
            <p:cNvSpPr/>
            <p:nvPr/>
          </p:nvSpPr>
          <p:spPr>
            <a:xfrm flipH="false" flipV="false" rot="0">
              <a:off x="0" y="0"/>
              <a:ext cx="17068800" cy="945642"/>
            </a:xfrm>
            <a:custGeom>
              <a:avLst/>
              <a:gdLst/>
              <a:ahLst/>
              <a:cxnLst/>
              <a:rect r="r" b="b" t="t" l="l"/>
              <a:pathLst>
                <a:path h="945642" w="17068800">
                  <a:moveTo>
                    <a:pt x="0" y="0"/>
                  </a:moveTo>
                  <a:lnTo>
                    <a:pt x="17068800" y="0"/>
                  </a:lnTo>
                  <a:lnTo>
                    <a:pt x="17068800" y="945642"/>
                  </a:lnTo>
                  <a:lnTo>
                    <a:pt x="0" y="945642"/>
                  </a:lnTo>
                  <a:close/>
                </a:path>
              </a:pathLst>
            </a:custGeom>
            <a:blipFill>
              <a:blip r:embed="rId3">
                <a:alphaModFix amt="0"/>
              </a:blip>
              <a:stretch>
                <a:fillRect l="0" t="-301459" r="0" b="-301459"/>
              </a:stretch>
            </a:blipFill>
          </p:spPr>
        </p:sp>
      </p:grpSp>
      <p:grpSp>
        <p:nvGrpSpPr>
          <p:cNvPr name="Group 6" id="6"/>
          <p:cNvGrpSpPr/>
          <p:nvPr/>
        </p:nvGrpSpPr>
        <p:grpSpPr>
          <a:xfrm rot="0">
            <a:off x="640080" y="488633"/>
            <a:ext cx="12801600" cy="723519"/>
            <a:chOff x="0" y="0"/>
            <a:chExt cx="17068800" cy="964692"/>
          </a:xfrm>
        </p:grpSpPr>
        <p:sp>
          <p:nvSpPr>
            <p:cNvPr name="Freeform 7" id="7"/>
            <p:cNvSpPr/>
            <p:nvPr/>
          </p:nvSpPr>
          <p:spPr>
            <a:xfrm flipH="false" flipV="false" rot="0">
              <a:off x="0" y="0"/>
              <a:ext cx="17068800" cy="964693"/>
            </a:xfrm>
            <a:custGeom>
              <a:avLst/>
              <a:gdLst/>
              <a:ahLst/>
              <a:cxnLst/>
              <a:rect r="r" b="b" t="t" l="l"/>
              <a:pathLst>
                <a:path h="964693" w="17068800">
                  <a:moveTo>
                    <a:pt x="0" y="0"/>
                  </a:moveTo>
                  <a:lnTo>
                    <a:pt x="17068800" y="0"/>
                  </a:lnTo>
                  <a:lnTo>
                    <a:pt x="17068800" y="964693"/>
                  </a:lnTo>
                  <a:lnTo>
                    <a:pt x="0" y="964693"/>
                  </a:lnTo>
                  <a:close/>
                </a:path>
              </a:pathLst>
            </a:custGeom>
            <a:blipFill>
              <a:blip r:embed="rId4">
                <a:alphaModFix amt="0"/>
              </a:blip>
              <a:stretch>
                <a:fillRect l="0" t="-294758" r="0" b="-294758"/>
              </a:stretch>
            </a:blipFill>
          </p:spPr>
        </p:sp>
        <p:sp>
          <p:nvSpPr>
            <p:cNvPr name="TextBox 8" id="8"/>
            <p:cNvSpPr txBox="true"/>
            <p:nvPr/>
          </p:nvSpPr>
          <p:spPr>
            <a:xfrm>
              <a:off x="0" y="-19050"/>
              <a:ext cx="17068800" cy="983742"/>
            </a:xfrm>
            <a:prstGeom prst="rect">
              <a:avLst/>
            </a:prstGeom>
          </p:spPr>
          <p:txBody>
            <a:bodyPr anchor="ctr" rtlCol="false" tIns="0" lIns="0" bIns="0" rIns="0"/>
            <a:lstStyle/>
            <a:p>
              <a:pPr algn="l">
                <a:lnSpc>
                  <a:spcPts val="3120"/>
                </a:lnSpc>
              </a:pPr>
              <a:r>
                <a:rPr lang="en-US" sz="2600" b="true">
                  <a:solidFill>
                    <a:srgbClr val="1F3338"/>
                  </a:solidFill>
                  <a:latin typeface="Poppins Bold"/>
                  <a:ea typeface="Poppins Bold"/>
                  <a:cs typeface="Poppins Bold"/>
                  <a:sym typeface="Poppins Bold"/>
                </a:rPr>
                <a:t>AI-Powered Evaluation &amp; Scoring</a:t>
              </a:r>
            </a:p>
          </p:txBody>
        </p:sp>
      </p:grpSp>
      <p:grpSp>
        <p:nvGrpSpPr>
          <p:cNvPr name="Group 9" id="9"/>
          <p:cNvGrpSpPr/>
          <p:nvPr/>
        </p:nvGrpSpPr>
        <p:grpSpPr>
          <a:xfrm rot="0">
            <a:off x="890588" y="6925628"/>
            <a:ext cx="3339465" cy="962025"/>
            <a:chOff x="0" y="0"/>
            <a:chExt cx="4452620" cy="1282700"/>
          </a:xfrm>
        </p:grpSpPr>
        <p:sp>
          <p:nvSpPr>
            <p:cNvPr name="Freeform 10" id="10"/>
            <p:cNvSpPr/>
            <p:nvPr/>
          </p:nvSpPr>
          <p:spPr>
            <a:xfrm flipH="false" flipV="false" rot="0">
              <a:off x="0" y="0"/>
              <a:ext cx="4452620" cy="1282700"/>
            </a:xfrm>
            <a:custGeom>
              <a:avLst/>
              <a:gdLst/>
              <a:ahLst/>
              <a:cxnLst/>
              <a:rect r="r" b="b" t="t" l="l"/>
              <a:pathLst>
                <a:path h="1282700" w="4452620">
                  <a:moveTo>
                    <a:pt x="0" y="0"/>
                  </a:moveTo>
                  <a:lnTo>
                    <a:pt x="4452620" y="0"/>
                  </a:lnTo>
                  <a:lnTo>
                    <a:pt x="4452620" y="1282700"/>
                  </a:lnTo>
                  <a:lnTo>
                    <a:pt x="0" y="1282700"/>
                  </a:lnTo>
                  <a:close/>
                </a:path>
              </a:pathLst>
            </a:custGeom>
            <a:solidFill>
              <a:srgbClr val="DCDFF7"/>
            </a:solidFill>
            <a:ln w="19050" cap="sq">
              <a:solidFill>
                <a:srgbClr val="F3F5F4"/>
              </a:solidFill>
              <a:prstDash val="solid"/>
              <a:miter/>
            </a:ln>
          </p:spPr>
        </p:sp>
      </p:grpSp>
      <p:grpSp>
        <p:nvGrpSpPr>
          <p:cNvPr name="Group 11" id="11"/>
          <p:cNvGrpSpPr/>
          <p:nvPr/>
        </p:nvGrpSpPr>
        <p:grpSpPr>
          <a:xfrm rot="0">
            <a:off x="914400" y="7059168"/>
            <a:ext cx="3291840" cy="365760"/>
            <a:chOff x="0" y="0"/>
            <a:chExt cx="4389120" cy="487680"/>
          </a:xfrm>
        </p:grpSpPr>
        <p:sp>
          <p:nvSpPr>
            <p:cNvPr name="Freeform 12" id="12"/>
            <p:cNvSpPr/>
            <p:nvPr/>
          </p:nvSpPr>
          <p:spPr>
            <a:xfrm flipH="false" flipV="false" rot="0">
              <a:off x="0" y="0"/>
              <a:ext cx="4389120" cy="487680"/>
            </a:xfrm>
            <a:custGeom>
              <a:avLst/>
              <a:gdLst/>
              <a:ahLst/>
              <a:cxnLst/>
              <a:rect r="r" b="b" t="t" l="l"/>
              <a:pathLst>
                <a:path h="487680" w="4389120">
                  <a:moveTo>
                    <a:pt x="0" y="0"/>
                  </a:moveTo>
                  <a:lnTo>
                    <a:pt x="4389120" y="0"/>
                  </a:lnTo>
                  <a:lnTo>
                    <a:pt x="4389120" y="487680"/>
                  </a:lnTo>
                  <a:lnTo>
                    <a:pt x="0" y="487680"/>
                  </a:lnTo>
                  <a:close/>
                </a:path>
              </a:pathLst>
            </a:custGeom>
            <a:blipFill>
              <a:blip r:embed="rId2">
                <a:alphaModFix amt="0"/>
              </a:blip>
              <a:stretch>
                <a:fillRect l="0" t="-125242" r="0" b="-125244"/>
              </a:stretch>
            </a:blipFill>
          </p:spPr>
        </p:sp>
      </p:grpSp>
      <p:grpSp>
        <p:nvGrpSpPr>
          <p:cNvPr name="Group 13" id="13"/>
          <p:cNvGrpSpPr/>
          <p:nvPr/>
        </p:nvGrpSpPr>
        <p:grpSpPr>
          <a:xfrm rot="0">
            <a:off x="914400" y="7044880"/>
            <a:ext cx="3291840" cy="380047"/>
            <a:chOff x="0" y="0"/>
            <a:chExt cx="4389120" cy="506730"/>
          </a:xfrm>
        </p:grpSpPr>
        <p:sp>
          <p:nvSpPr>
            <p:cNvPr name="Freeform 14" id="14"/>
            <p:cNvSpPr/>
            <p:nvPr/>
          </p:nvSpPr>
          <p:spPr>
            <a:xfrm flipH="false" flipV="false" rot="0">
              <a:off x="0" y="0"/>
              <a:ext cx="4389120" cy="506730"/>
            </a:xfrm>
            <a:custGeom>
              <a:avLst/>
              <a:gdLst/>
              <a:ahLst/>
              <a:cxnLst/>
              <a:rect r="r" b="b" t="t" l="l"/>
              <a:pathLst>
                <a:path h="506730" w="4389120">
                  <a:moveTo>
                    <a:pt x="0" y="0"/>
                  </a:moveTo>
                  <a:lnTo>
                    <a:pt x="4389120" y="0"/>
                  </a:lnTo>
                  <a:lnTo>
                    <a:pt x="4389120" y="506730"/>
                  </a:lnTo>
                  <a:lnTo>
                    <a:pt x="0" y="506730"/>
                  </a:lnTo>
                  <a:close/>
                </a:path>
              </a:pathLst>
            </a:custGeom>
            <a:blipFill>
              <a:blip r:embed="rId3">
                <a:alphaModFix amt="0"/>
              </a:blip>
              <a:stretch>
                <a:fillRect l="0" t="-118654" r="0" b="-118656"/>
              </a:stretch>
            </a:blipFill>
          </p:spPr>
        </p:sp>
      </p:grpSp>
      <p:grpSp>
        <p:nvGrpSpPr>
          <p:cNvPr name="Group 15" id="15"/>
          <p:cNvGrpSpPr/>
          <p:nvPr/>
        </p:nvGrpSpPr>
        <p:grpSpPr>
          <a:xfrm rot="0">
            <a:off x="914400" y="7030593"/>
            <a:ext cx="3291840" cy="394335"/>
            <a:chOff x="0" y="0"/>
            <a:chExt cx="4389120" cy="525780"/>
          </a:xfrm>
        </p:grpSpPr>
        <p:sp>
          <p:nvSpPr>
            <p:cNvPr name="Freeform 16" id="16"/>
            <p:cNvSpPr/>
            <p:nvPr/>
          </p:nvSpPr>
          <p:spPr>
            <a:xfrm flipH="false" flipV="false" rot="0">
              <a:off x="0" y="0"/>
              <a:ext cx="4389120" cy="525779"/>
            </a:xfrm>
            <a:custGeom>
              <a:avLst/>
              <a:gdLst/>
              <a:ahLst/>
              <a:cxnLst/>
              <a:rect r="r" b="b" t="t" l="l"/>
              <a:pathLst>
                <a:path h="525779" w="4389120">
                  <a:moveTo>
                    <a:pt x="0" y="0"/>
                  </a:moveTo>
                  <a:lnTo>
                    <a:pt x="4389120" y="0"/>
                  </a:lnTo>
                  <a:lnTo>
                    <a:pt x="4389120" y="525779"/>
                  </a:lnTo>
                  <a:lnTo>
                    <a:pt x="0" y="525779"/>
                  </a:lnTo>
                  <a:close/>
                </a:path>
              </a:pathLst>
            </a:custGeom>
            <a:blipFill>
              <a:blip r:embed="rId4">
                <a:alphaModFix amt="0"/>
              </a:blip>
              <a:stretch>
                <a:fillRect l="0" t="-112657" r="0" b="-112657"/>
              </a:stretch>
            </a:blipFill>
          </p:spPr>
        </p:sp>
        <p:sp>
          <p:nvSpPr>
            <p:cNvPr name="TextBox 17" id="17"/>
            <p:cNvSpPr txBox="true"/>
            <p:nvPr/>
          </p:nvSpPr>
          <p:spPr>
            <a:xfrm>
              <a:off x="0" y="-19050"/>
              <a:ext cx="4389120" cy="544830"/>
            </a:xfrm>
            <a:prstGeom prst="rect">
              <a:avLst/>
            </a:prstGeom>
          </p:spPr>
          <p:txBody>
            <a:bodyPr anchor="ctr" rtlCol="false" tIns="0" lIns="0" bIns="0" rIns="0"/>
            <a:lstStyle/>
            <a:p>
              <a:pPr algn="ctr">
                <a:lnSpc>
                  <a:spcPts val="1680"/>
                </a:lnSpc>
              </a:pPr>
              <a:r>
                <a:rPr lang="en-US" sz="1400" b="true">
                  <a:solidFill>
                    <a:srgbClr val="1F3338"/>
                  </a:solidFill>
                  <a:latin typeface="Poppins Bold"/>
                  <a:ea typeface="Poppins Bold"/>
                  <a:cs typeface="Poppins Bold"/>
                  <a:sym typeface="Poppins Bold"/>
                </a:rPr>
                <a:t>Novice</a:t>
              </a:r>
            </a:p>
          </p:txBody>
        </p:sp>
      </p:grpSp>
      <p:grpSp>
        <p:nvGrpSpPr>
          <p:cNvPr name="Group 18" id="18"/>
          <p:cNvGrpSpPr/>
          <p:nvPr/>
        </p:nvGrpSpPr>
        <p:grpSpPr>
          <a:xfrm rot="0">
            <a:off x="914400" y="7424928"/>
            <a:ext cx="3291840" cy="320040"/>
            <a:chOff x="0" y="0"/>
            <a:chExt cx="4389120" cy="426720"/>
          </a:xfrm>
        </p:grpSpPr>
        <p:sp>
          <p:nvSpPr>
            <p:cNvPr name="Freeform 19" id="19"/>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2">
                <a:alphaModFix amt="0"/>
              </a:blip>
              <a:stretch>
                <a:fillRect l="0" t="-150276" r="0" b="-150279"/>
              </a:stretch>
            </a:blipFill>
          </p:spPr>
        </p:sp>
      </p:grpSp>
      <p:grpSp>
        <p:nvGrpSpPr>
          <p:cNvPr name="Group 20" id="20"/>
          <p:cNvGrpSpPr/>
          <p:nvPr/>
        </p:nvGrpSpPr>
        <p:grpSpPr>
          <a:xfrm rot="0">
            <a:off x="914400" y="7424928"/>
            <a:ext cx="3291840" cy="320040"/>
            <a:chOff x="0" y="0"/>
            <a:chExt cx="4389120" cy="426720"/>
          </a:xfrm>
        </p:grpSpPr>
        <p:sp>
          <p:nvSpPr>
            <p:cNvPr name="Freeform 21" id="21"/>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3">
                <a:alphaModFix amt="0"/>
              </a:blip>
              <a:stretch>
                <a:fillRect l="0" t="-150276" r="0" b="-150279"/>
              </a:stretch>
            </a:blipFill>
          </p:spPr>
        </p:sp>
      </p:grpSp>
      <p:grpSp>
        <p:nvGrpSpPr>
          <p:cNvPr name="Group 22" id="22"/>
          <p:cNvGrpSpPr/>
          <p:nvPr/>
        </p:nvGrpSpPr>
        <p:grpSpPr>
          <a:xfrm rot="0">
            <a:off x="914400" y="7424928"/>
            <a:ext cx="3291840" cy="320040"/>
            <a:chOff x="0" y="0"/>
            <a:chExt cx="4389120" cy="426720"/>
          </a:xfrm>
        </p:grpSpPr>
        <p:sp>
          <p:nvSpPr>
            <p:cNvPr name="Freeform 23" id="23"/>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4">
                <a:alphaModFix amt="0"/>
              </a:blip>
              <a:stretch>
                <a:fillRect l="0" t="-150417" r="0" b="-150417"/>
              </a:stretch>
            </a:blipFill>
          </p:spPr>
        </p:sp>
        <p:sp>
          <p:nvSpPr>
            <p:cNvPr name="TextBox 24" id="24"/>
            <p:cNvSpPr txBox="true"/>
            <p:nvPr/>
          </p:nvSpPr>
          <p:spPr>
            <a:xfrm>
              <a:off x="0" y="0"/>
              <a:ext cx="4389120" cy="426720"/>
            </a:xfrm>
            <a:prstGeom prst="rect">
              <a:avLst/>
            </a:prstGeom>
          </p:spPr>
          <p:txBody>
            <a:bodyPr anchor="ctr" rtlCol="false" tIns="0" lIns="0" bIns="0" rIns="0"/>
            <a:lstStyle/>
            <a:p>
              <a:pPr algn="ctr">
                <a:lnSpc>
                  <a:spcPts val="1377"/>
                </a:lnSpc>
              </a:pPr>
              <a:r>
                <a:rPr lang="en-US" sz="1149">
                  <a:solidFill>
                    <a:srgbClr val="1F3338"/>
                  </a:solidFill>
                  <a:latin typeface="Poppins"/>
                  <a:ea typeface="Poppins"/>
                  <a:cs typeface="Poppins"/>
                  <a:sym typeface="Poppins"/>
                </a:rPr>
                <a:t>0–40%</a:t>
              </a:r>
            </a:p>
          </p:txBody>
        </p:sp>
      </p:grpSp>
      <p:grpSp>
        <p:nvGrpSpPr>
          <p:cNvPr name="Group 25" id="25"/>
          <p:cNvGrpSpPr/>
          <p:nvPr/>
        </p:nvGrpSpPr>
        <p:grpSpPr>
          <a:xfrm rot="0">
            <a:off x="4182428" y="6925628"/>
            <a:ext cx="3339465" cy="962025"/>
            <a:chOff x="0" y="0"/>
            <a:chExt cx="4452620" cy="1282700"/>
          </a:xfrm>
        </p:grpSpPr>
        <p:sp>
          <p:nvSpPr>
            <p:cNvPr name="Freeform 26" id="26"/>
            <p:cNvSpPr/>
            <p:nvPr/>
          </p:nvSpPr>
          <p:spPr>
            <a:xfrm flipH="false" flipV="false" rot="0">
              <a:off x="0" y="0"/>
              <a:ext cx="4452620" cy="1282700"/>
            </a:xfrm>
            <a:custGeom>
              <a:avLst/>
              <a:gdLst/>
              <a:ahLst/>
              <a:cxnLst/>
              <a:rect r="r" b="b" t="t" l="l"/>
              <a:pathLst>
                <a:path h="1282700" w="4452620">
                  <a:moveTo>
                    <a:pt x="0" y="0"/>
                  </a:moveTo>
                  <a:lnTo>
                    <a:pt x="4452620" y="0"/>
                  </a:lnTo>
                  <a:lnTo>
                    <a:pt x="4452620" y="1282700"/>
                  </a:lnTo>
                  <a:lnTo>
                    <a:pt x="0" y="1282700"/>
                  </a:lnTo>
                  <a:close/>
                </a:path>
              </a:pathLst>
            </a:custGeom>
            <a:solidFill>
              <a:srgbClr val="B8BEEF"/>
            </a:solidFill>
            <a:ln w="19050" cap="sq">
              <a:solidFill>
                <a:srgbClr val="F3F5F4"/>
              </a:solidFill>
              <a:prstDash val="solid"/>
              <a:miter/>
            </a:ln>
          </p:spPr>
        </p:sp>
      </p:grpSp>
      <p:grpSp>
        <p:nvGrpSpPr>
          <p:cNvPr name="Group 27" id="27"/>
          <p:cNvGrpSpPr/>
          <p:nvPr/>
        </p:nvGrpSpPr>
        <p:grpSpPr>
          <a:xfrm rot="0">
            <a:off x="4206240" y="7059168"/>
            <a:ext cx="3291840" cy="365760"/>
            <a:chOff x="0" y="0"/>
            <a:chExt cx="4389120" cy="487680"/>
          </a:xfrm>
        </p:grpSpPr>
        <p:sp>
          <p:nvSpPr>
            <p:cNvPr name="Freeform 28" id="28"/>
            <p:cNvSpPr/>
            <p:nvPr/>
          </p:nvSpPr>
          <p:spPr>
            <a:xfrm flipH="false" flipV="false" rot="0">
              <a:off x="0" y="0"/>
              <a:ext cx="4389120" cy="487680"/>
            </a:xfrm>
            <a:custGeom>
              <a:avLst/>
              <a:gdLst/>
              <a:ahLst/>
              <a:cxnLst/>
              <a:rect r="r" b="b" t="t" l="l"/>
              <a:pathLst>
                <a:path h="487680" w="4389120">
                  <a:moveTo>
                    <a:pt x="0" y="0"/>
                  </a:moveTo>
                  <a:lnTo>
                    <a:pt x="4389120" y="0"/>
                  </a:lnTo>
                  <a:lnTo>
                    <a:pt x="4389120" y="487680"/>
                  </a:lnTo>
                  <a:lnTo>
                    <a:pt x="0" y="487680"/>
                  </a:lnTo>
                  <a:close/>
                </a:path>
              </a:pathLst>
            </a:custGeom>
            <a:blipFill>
              <a:blip r:embed="rId2">
                <a:alphaModFix amt="0"/>
              </a:blip>
              <a:stretch>
                <a:fillRect l="0" t="-125242" r="0" b="-125244"/>
              </a:stretch>
            </a:blipFill>
          </p:spPr>
        </p:sp>
      </p:grpSp>
      <p:grpSp>
        <p:nvGrpSpPr>
          <p:cNvPr name="Group 29" id="29"/>
          <p:cNvGrpSpPr/>
          <p:nvPr/>
        </p:nvGrpSpPr>
        <p:grpSpPr>
          <a:xfrm rot="0">
            <a:off x="4206240" y="7044880"/>
            <a:ext cx="3291840" cy="380047"/>
            <a:chOff x="0" y="0"/>
            <a:chExt cx="4389120" cy="506730"/>
          </a:xfrm>
        </p:grpSpPr>
        <p:sp>
          <p:nvSpPr>
            <p:cNvPr name="Freeform 30" id="30"/>
            <p:cNvSpPr/>
            <p:nvPr/>
          </p:nvSpPr>
          <p:spPr>
            <a:xfrm flipH="false" flipV="false" rot="0">
              <a:off x="0" y="0"/>
              <a:ext cx="4389120" cy="506730"/>
            </a:xfrm>
            <a:custGeom>
              <a:avLst/>
              <a:gdLst/>
              <a:ahLst/>
              <a:cxnLst/>
              <a:rect r="r" b="b" t="t" l="l"/>
              <a:pathLst>
                <a:path h="506730" w="4389120">
                  <a:moveTo>
                    <a:pt x="0" y="0"/>
                  </a:moveTo>
                  <a:lnTo>
                    <a:pt x="4389120" y="0"/>
                  </a:lnTo>
                  <a:lnTo>
                    <a:pt x="4389120" y="506730"/>
                  </a:lnTo>
                  <a:lnTo>
                    <a:pt x="0" y="506730"/>
                  </a:lnTo>
                  <a:close/>
                </a:path>
              </a:pathLst>
            </a:custGeom>
            <a:blipFill>
              <a:blip r:embed="rId3">
                <a:alphaModFix amt="0"/>
              </a:blip>
              <a:stretch>
                <a:fillRect l="0" t="-118654" r="0" b="-118656"/>
              </a:stretch>
            </a:blipFill>
          </p:spPr>
        </p:sp>
      </p:grpSp>
      <p:grpSp>
        <p:nvGrpSpPr>
          <p:cNvPr name="Group 31" id="31"/>
          <p:cNvGrpSpPr/>
          <p:nvPr/>
        </p:nvGrpSpPr>
        <p:grpSpPr>
          <a:xfrm rot="0">
            <a:off x="4206240" y="7030593"/>
            <a:ext cx="3291840" cy="394335"/>
            <a:chOff x="0" y="0"/>
            <a:chExt cx="4389120" cy="525780"/>
          </a:xfrm>
        </p:grpSpPr>
        <p:sp>
          <p:nvSpPr>
            <p:cNvPr name="Freeform 32" id="32"/>
            <p:cNvSpPr/>
            <p:nvPr/>
          </p:nvSpPr>
          <p:spPr>
            <a:xfrm flipH="false" flipV="false" rot="0">
              <a:off x="0" y="0"/>
              <a:ext cx="4389120" cy="525779"/>
            </a:xfrm>
            <a:custGeom>
              <a:avLst/>
              <a:gdLst/>
              <a:ahLst/>
              <a:cxnLst/>
              <a:rect r="r" b="b" t="t" l="l"/>
              <a:pathLst>
                <a:path h="525779" w="4389120">
                  <a:moveTo>
                    <a:pt x="0" y="0"/>
                  </a:moveTo>
                  <a:lnTo>
                    <a:pt x="4389120" y="0"/>
                  </a:lnTo>
                  <a:lnTo>
                    <a:pt x="4389120" y="525779"/>
                  </a:lnTo>
                  <a:lnTo>
                    <a:pt x="0" y="525779"/>
                  </a:lnTo>
                  <a:close/>
                </a:path>
              </a:pathLst>
            </a:custGeom>
            <a:blipFill>
              <a:blip r:embed="rId4">
                <a:alphaModFix amt="0"/>
              </a:blip>
              <a:stretch>
                <a:fillRect l="0" t="-112657" r="0" b="-112657"/>
              </a:stretch>
            </a:blipFill>
          </p:spPr>
        </p:sp>
        <p:sp>
          <p:nvSpPr>
            <p:cNvPr name="TextBox 33" id="33"/>
            <p:cNvSpPr txBox="true"/>
            <p:nvPr/>
          </p:nvSpPr>
          <p:spPr>
            <a:xfrm>
              <a:off x="0" y="-19050"/>
              <a:ext cx="4389120" cy="544830"/>
            </a:xfrm>
            <a:prstGeom prst="rect">
              <a:avLst/>
            </a:prstGeom>
          </p:spPr>
          <p:txBody>
            <a:bodyPr anchor="ctr" rtlCol="false" tIns="0" lIns="0" bIns="0" rIns="0"/>
            <a:lstStyle/>
            <a:p>
              <a:pPr algn="ctr">
                <a:lnSpc>
                  <a:spcPts val="1680"/>
                </a:lnSpc>
              </a:pPr>
              <a:r>
                <a:rPr lang="en-US" sz="1400" b="true">
                  <a:solidFill>
                    <a:srgbClr val="1F3338"/>
                  </a:solidFill>
                  <a:latin typeface="Poppins Bold"/>
                  <a:ea typeface="Poppins Bold"/>
                  <a:cs typeface="Poppins Bold"/>
                  <a:sym typeface="Poppins Bold"/>
                </a:rPr>
                <a:t>Developing</a:t>
              </a:r>
            </a:p>
          </p:txBody>
        </p:sp>
      </p:grpSp>
      <p:grpSp>
        <p:nvGrpSpPr>
          <p:cNvPr name="Group 34" id="34"/>
          <p:cNvGrpSpPr/>
          <p:nvPr/>
        </p:nvGrpSpPr>
        <p:grpSpPr>
          <a:xfrm rot="0">
            <a:off x="4206240" y="7424928"/>
            <a:ext cx="3291840" cy="320040"/>
            <a:chOff x="0" y="0"/>
            <a:chExt cx="4389120" cy="426720"/>
          </a:xfrm>
        </p:grpSpPr>
        <p:sp>
          <p:nvSpPr>
            <p:cNvPr name="Freeform 35" id="35"/>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2">
                <a:alphaModFix amt="0"/>
              </a:blip>
              <a:stretch>
                <a:fillRect l="0" t="-150276" r="0" b="-150279"/>
              </a:stretch>
            </a:blipFill>
          </p:spPr>
        </p:sp>
      </p:grpSp>
      <p:grpSp>
        <p:nvGrpSpPr>
          <p:cNvPr name="Group 36" id="36"/>
          <p:cNvGrpSpPr/>
          <p:nvPr/>
        </p:nvGrpSpPr>
        <p:grpSpPr>
          <a:xfrm rot="0">
            <a:off x="4206240" y="7424928"/>
            <a:ext cx="3291840" cy="320040"/>
            <a:chOff x="0" y="0"/>
            <a:chExt cx="4389120" cy="426720"/>
          </a:xfrm>
        </p:grpSpPr>
        <p:sp>
          <p:nvSpPr>
            <p:cNvPr name="Freeform 37" id="37"/>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3">
                <a:alphaModFix amt="0"/>
              </a:blip>
              <a:stretch>
                <a:fillRect l="0" t="-150276" r="0" b="-150279"/>
              </a:stretch>
            </a:blipFill>
          </p:spPr>
        </p:sp>
      </p:grpSp>
      <p:grpSp>
        <p:nvGrpSpPr>
          <p:cNvPr name="Group 38" id="38"/>
          <p:cNvGrpSpPr/>
          <p:nvPr/>
        </p:nvGrpSpPr>
        <p:grpSpPr>
          <a:xfrm rot="0">
            <a:off x="4206240" y="7424928"/>
            <a:ext cx="3291840" cy="320040"/>
            <a:chOff x="0" y="0"/>
            <a:chExt cx="4389120" cy="426720"/>
          </a:xfrm>
        </p:grpSpPr>
        <p:sp>
          <p:nvSpPr>
            <p:cNvPr name="Freeform 39" id="39"/>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4">
                <a:alphaModFix amt="0"/>
              </a:blip>
              <a:stretch>
                <a:fillRect l="0" t="-150417" r="0" b="-150417"/>
              </a:stretch>
            </a:blipFill>
          </p:spPr>
        </p:sp>
        <p:sp>
          <p:nvSpPr>
            <p:cNvPr name="TextBox 40" id="40"/>
            <p:cNvSpPr txBox="true"/>
            <p:nvPr/>
          </p:nvSpPr>
          <p:spPr>
            <a:xfrm>
              <a:off x="0" y="0"/>
              <a:ext cx="4389120" cy="426720"/>
            </a:xfrm>
            <a:prstGeom prst="rect">
              <a:avLst/>
            </a:prstGeom>
          </p:spPr>
          <p:txBody>
            <a:bodyPr anchor="ctr" rtlCol="false" tIns="0" lIns="0" bIns="0" rIns="0"/>
            <a:lstStyle/>
            <a:p>
              <a:pPr algn="ctr">
                <a:lnSpc>
                  <a:spcPts val="1377"/>
                </a:lnSpc>
              </a:pPr>
              <a:r>
                <a:rPr lang="en-US" sz="1149">
                  <a:solidFill>
                    <a:srgbClr val="1F3338"/>
                  </a:solidFill>
                  <a:latin typeface="Poppins"/>
                  <a:ea typeface="Poppins"/>
                  <a:cs typeface="Poppins"/>
                  <a:sym typeface="Poppins"/>
                </a:rPr>
                <a:t>41–60%</a:t>
              </a:r>
            </a:p>
          </p:txBody>
        </p:sp>
      </p:grpSp>
      <p:grpSp>
        <p:nvGrpSpPr>
          <p:cNvPr name="Group 41" id="41"/>
          <p:cNvGrpSpPr/>
          <p:nvPr/>
        </p:nvGrpSpPr>
        <p:grpSpPr>
          <a:xfrm rot="0">
            <a:off x="7474268" y="6925628"/>
            <a:ext cx="3339465" cy="962025"/>
            <a:chOff x="0" y="0"/>
            <a:chExt cx="4452620" cy="1282700"/>
          </a:xfrm>
        </p:grpSpPr>
        <p:sp>
          <p:nvSpPr>
            <p:cNvPr name="Freeform 42" id="42"/>
            <p:cNvSpPr/>
            <p:nvPr/>
          </p:nvSpPr>
          <p:spPr>
            <a:xfrm flipH="false" flipV="false" rot="0">
              <a:off x="0" y="0"/>
              <a:ext cx="4452620" cy="1282700"/>
            </a:xfrm>
            <a:custGeom>
              <a:avLst/>
              <a:gdLst/>
              <a:ahLst/>
              <a:cxnLst/>
              <a:rect r="r" b="b" t="t" l="l"/>
              <a:pathLst>
                <a:path h="1282700" w="4452620">
                  <a:moveTo>
                    <a:pt x="0" y="0"/>
                  </a:moveTo>
                  <a:lnTo>
                    <a:pt x="4452620" y="0"/>
                  </a:lnTo>
                  <a:lnTo>
                    <a:pt x="4452620" y="1282700"/>
                  </a:lnTo>
                  <a:lnTo>
                    <a:pt x="0" y="1282700"/>
                  </a:lnTo>
                  <a:close/>
                </a:path>
              </a:pathLst>
            </a:custGeom>
            <a:solidFill>
              <a:srgbClr val="949CE8"/>
            </a:solidFill>
            <a:ln w="19050" cap="sq">
              <a:solidFill>
                <a:srgbClr val="F3F5F4"/>
              </a:solidFill>
              <a:prstDash val="solid"/>
              <a:miter/>
            </a:ln>
          </p:spPr>
        </p:sp>
      </p:grpSp>
      <p:grpSp>
        <p:nvGrpSpPr>
          <p:cNvPr name="Group 43" id="43"/>
          <p:cNvGrpSpPr/>
          <p:nvPr/>
        </p:nvGrpSpPr>
        <p:grpSpPr>
          <a:xfrm rot="0">
            <a:off x="7498080" y="7059168"/>
            <a:ext cx="3291840" cy="365760"/>
            <a:chOff x="0" y="0"/>
            <a:chExt cx="4389120" cy="487680"/>
          </a:xfrm>
        </p:grpSpPr>
        <p:sp>
          <p:nvSpPr>
            <p:cNvPr name="Freeform 44" id="44"/>
            <p:cNvSpPr/>
            <p:nvPr/>
          </p:nvSpPr>
          <p:spPr>
            <a:xfrm flipH="false" flipV="false" rot="0">
              <a:off x="0" y="0"/>
              <a:ext cx="4389120" cy="487680"/>
            </a:xfrm>
            <a:custGeom>
              <a:avLst/>
              <a:gdLst/>
              <a:ahLst/>
              <a:cxnLst/>
              <a:rect r="r" b="b" t="t" l="l"/>
              <a:pathLst>
                <a:path h="487680" w="4389120">
                  <a:moveTo>
                    <a:pt x="0" y="0"/>
                  </a:moveTo>
                  <a:lnTo>
                    <a:pt x="4389120" y="0"/>
                  </a:lnTo>
                  <a:lnTo>
                    <a:pt x="4389120" y="487680"/>
                  </a:lnTo>
                  <a:lnTo>
                    <a:pt x="0" y="487680"/>
                  </a:lnTo>
                  <a:close/>
                </a:path>
              </a:pathLst>
            </a:custGeom>
            <a:blipFill>
              <a:blip r:embed="rId2">
                <a:alphaModFix amt="0"/>
              </a:blip>
              <a:stretch>
                <a:fillRect l="0" t="-125242" r="0" b="-125244"/>
              </a:stretch>
            </a:blipFill>
          </p:spPr>
        </p:sp>
      </p:grpSp>
      <p:grpSp>
        <p:nvGrpSpPr>
          <p:cNvPr name="Group 45" id="45"/>
          <p:cNvGrpSpPr/>
          <p:nvPr/>
        </p:nvGrpSpPr>
        <p:grpSpPr>
          <a:xfrm rot="0">
            <a:off x="7498080" y="7044880"/>
            <a:ext cx="3291840" cy="380047"/>
            <a:chOff x="0" y="0"/>
            <a:chExt cx="4389120" cy="506730"/>
          </a:xfrm>
        </p:grpSpPr>
        <p:sp>
          <p:nvSpPr>
            <p:cNvPr name="Freeform 46" id="46"/>
            <p:cNvSpPr/>
            <p:nvPr/>
          </p:nvSpPr>
          <p:spPr>
            <a:xfrm flipH="false" flipV="false" rot="0">
              <a:off x="0" y="0"/>
              <a:ext cx="4389120" cy="506730"/>
            </a:xfrm>
            <a:custGeom>
              <a:avLst/>
              <a:gdLst/>
              <a:ahLst/>
              <a:cxnLst/>
              <a:rect r="r" b="b" t="t" l="l"/>
              <a:pathLst>
                <a:path h="506730" w="4389120">
                  <a:moveTo>
                    <a:pt x="0" y="0"/>
                  </a:moveTo>
                  <a:lnTo>
                    <a:pt x="4389120" y="0"/>
                  </a:lnTo>
                  <a:lnTo>
                    <a:pt x="4389120" y="506730"/>
                  </a:lnTo>
                  <a:lnTo>
                    <a:pt x="0" y="506730"/>
                  </a:lnTo>
                  <a:close/>
                </a:path>
              </a:pathLst>
            </a:custGeom>
            <a:blipFill>
              <a:blip r:embed="rId3">
                <a:alphaModFix amt="0"/>
              </a:blip>
              <a:stretch>
                <a:fillRect l="0" t="-118654" r="0" b="-118656"/>
              </a:stretch>
            </a:blipFill>
          </p:spPr>
        </p:sp>
      </p:grpSp>
      <p:grpSp>
        <p:nvGrpSpPr>
          <p:cNvPr name="Group 47" id="47"/>
          <p:cNvGrpSpPr/>
          <p:nvPr/>
        </p:nvGrpSpPr>
        <p:grpSpPr>
          <a:xfrm rot="0">
            <a:off x="7498080" y="7030593"/>
            <a:ext cx="3291840" cy="394335"/>
            <a:chOff x="0" y="0"/>
            <a:chExt cx="4389120" cy="525780"/>
          </a:xfrm>
        </p:grpSpPr>
        <p:sp>
          <p:nvSpPr>
            <p:cNvPr name="Freeform 48" id="48"/>
            <p:cNvSpPr/>
            <p:nvPr/>
          </p:nvSpPr>
          <p:spPr>
            <a:xfrm flipH="false" flipV="false" rot="0">
              <a:off x="0" y="0"/>
              <a:ext cx="4389120" cy="525779"/>
            </a:xfrm>
            <a:custGeom>
              <a:avLst/>
              <a:gdLst/>
              <a:ahLst/>
              <a:cxnLst/>
              <a:rect r="r" b="b" t="t" l="l"/>
              <a:pathLst>
                <a:path h="525779" w="4389120">
                  <a:moveTo>
                    <a:pt x="0" y="0"/>
                  </a:moveTo>
                  <a:lnTo>
                    <a:pt x="4389120" y="0"/>
                  </a:lnTo>
                  <a:lnTo>
                    <a:pt x="4389120" y="525779"/>
                  </a:lnTo>
                  <a:lnTo>
                    <a:pt x="0" y="525779"/>
                  </a:lnTo>
                  <a:close/>
                </a:path>
              </a:pathLst>
            </a:custGeom>
            <a:blipFill>
              <a:blip r:embed="rId4">
                <a:alphaModFix amt="0"/>
              </a:blip>
              <a:stretch>
                <a:fillRect l="0" t="-112657" r="0" b="-112657"/>
              </a:stretch>
            </a:blipFill>
          </p:spPr>
        </p:sp>
        <p:sp>
          <p:nvSpPr>
            <p:cNvPr name="TextBox 49" id="49"/>
            <p:cNvSpPr txBox="true"/>
            <p:nvPr/>
          </p:nvSpPr>
          <p:spPr>
            <a:xfrm>
              <a:off x="0" y="-19050"/>
              <a:ext cx="4389120" cy="544830"/>
            </a:xfrm>
            <a:prstGeom prst="rect">
              <a:avLst/>
            </a:prstGeom>
          </p:spPr>
          <p:txBody>
            <a:bodyPr anchor="ctr" rtlCol="false" tIns="0" lIns="0" bIns="0" rIns="0"/>
            <a:lstStyle/>
            <a:p>
              <a:pPr algn="ctr">
                <a:lnSpc>
                  <a:spcPts val="1680"/>
                </a:lnSpc>
              </a:pPr>
              <a:r>
                <a:rPr lang="en-US" sz="1400" b="true">
                  <a:solidFill>
                    <a:srgbClr val="FFFFFF"/>
                  </a:solidFill>
                  <a:latin typeface="Poppins Bold"/>
                  <a:ea typeface="Poppins Bold"/>
                  <a:cs typeface="Poppins Bold"/>
                  <a:sym typeface="Poppins Bold"/>
                </a:rPr>
                <a:t>Proficient</a:t>
              </a:r>
            </a:p>
          </p:txBody>
        </p:sp>
      </p:grpSp>
      <p:grpSp>
        <p:nvGrpSpPr>
          <p:cNvPr name="Group 50" id="50"/>
          <p:cNvGrpSpPr/>
          <p:nvPr/>
        </p:nvGrpSpPr>
        <p:grpSpPr>
          <a:xfrm rot="0">
            <a:off x="7498080" y="7424928"/>
            <a:ext cx="3291840" cy="320040"/>
            <a:chOff x="0" y="0"/>
            <a:chExt cx="4389120" cy="426720"/>
          </a:xfrm>
        </p:grpSpPr>
        <p:sp>
          <p:nvSpPr>
            <p:cNvPr name="Freeform 51" id="51"/>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2">
                <a:alphaModFix amt="0"/>
              </a:blip>
              <a:stretch>
                <a:fillRect l="0" t="-150276" r="0" b="-150279"/>
              </a:stretch>
            </a:blipFill>
          </p:spPr>
        </p:sp>
      </p:grpSp>
      <p:grpSp>
        <p:nvGrpSpPr>
          <p:cNvPr name="Group 52" id="52"/>
          <p:cNvGrpSpPr/>
          <p:nvPr/>
        </p:nvGrpSpPr>
        <p:grpSpPr>
          <a:xfrm rot="0">
            <a:off x="7498080" y="7424928"/>
            <a:ext cx="3291840" cy="320040"/>
            <a:chOff x="0" y="0"/>
            <a:chExt cx="4389120" cy="426720"/>
          </a:xfrm>
        </p:grpSpPr>
        <p:sp>
          <p:nvSpPr>
            <p:cNvPr name="Freeform 53" id="53"/>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3">
                <a:alphaModFix amt="0"/>
              </a:blip>
              <a:stretch>
                <a:fillRect l="0" t="-150276" r="0" b="-150279"/>
              </a:stretch>
            </a:blipFill>
          </p:spPr>
        </p:sp>
      </p:grpSp>
      <p:grpSp>
        <p:nvGrpSpPr>
          <p:cNvPr name="Group 54" id="54"/>
          <p:cNvGrpSpPr/>
          <p:nvPr/>
        </p:nvGrpSpPr>
        <p:grpSpPr>
          <a:xfrm rot="0">
            <a:off x="7498080" y="7424928"/>
            <a:ext cx="3291840" cy="320040"/>
            <a:chOff x="0" y="0"/>
            <a:chExt cx="4389120" cy="426720"/>
          </a:xfrm>
        </p:grpSpPr>
        <p:sp>
          <p:nvSpPr>
            <p:cNvPr name="Freeform 55" id="55"/>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4">
                <a:alphaModFix amt="0"/>
              </a:blip>
              <a:stretch>
                <a:fillRect l="0" t="-150417" r="0" b="-150417"/>
              </a:stretch>
            </a:blipFill>
          </p:spPr>
        </p:sp>
        <p:sp>
          <p:nvSpPr>
            <p:cNvPr name="TextBox 56" id="56"/>
            <p:cNvSpPr txBox="true"/>
            <p:nvPr/>
          </p:nvSpPr>
          <p:spPr>
            <a:xfrm>
              <a:off x="0" y="0"/>
              <a:ext cx="4389120" cy="426720"/>
            </a:xfrm>
            <a:prstGeom prst="rect">
              <a:avLst/>
            </a:prstGeom>
          </p:spPr>
          <p:txBody>
            <a:bodyPr anchor="ctr" rtlCol="false" tIns="0" lIns="0" bIns="0" rIns="0"/>
            <a:lstStyle/>
            <a:p>
              <a:pPr algn="ctr">
                <a:lnSpc>
                  <a:spcPts val="1377"/>
                </a:lnSpc>
              </a:pPr>
              <a:r>
                <a:rPr lang="en-US" sz="1149">
                  <a:solidFill>
                    <a:srgbClr val="FFFFFF"/>
                  </a:solidFill>
                  <a:latin typeface="Poppins"/>
                  <a:ea typeface="Poppins"/>
                  <a:cs typeface="Poppins"/>
                  <a:sym typeface="Poppins"/>
                </a:rPr>
                <a:t>61–75%</a:t>
              </a:r>
            </a:p>
          </p:txBody>
        </p:sp>
      </p:grpSp>
      <p:grpSp>
        <p:nvGrpSpPr>
          <p:cNvPr name="Group 57" id="57"/>
          <p:cNvGrpSpPr/>
          <p:nvPr/>
        </p:nvGrpSpPr>
        <p:grpSpPr>
          <a:xfrm rot="0">
            <a:off x="10766107" y="6925628"/>
            <a:ext cx="3339465" cy="962025"/>
            <a:chOff x="0" y="0"/>
            <a:chExt cx="4452620" cy="1282700"/>
          </a:xfrm>
        </p:grpSpPr>
        <p:sp>
          <p:nvSpPr>
            <p:cNvPr name="Freeform 58" id="58"/>
            <p:cNvSpPr/>
            <p:nvPr/>
          </p:nvSpPr>
          <p:spPr>
            <a:xfrm flipH="false" flipV="false" rot="0">
              <a:off x="0" y="0"/>
              <a:ext cx="4452620" cy="1282700"/>
            </a:xfrm>
            <a:custGeom>
              <a:avLst/>
              <a:gdLst/>
              <a:ahLst/>
              <a:cxnLst/>
              <a:rect r="r" b="b" t="t" l="l"/>
              <a:pathLst>
                <a:path h="1282700" w="4452620">
                  <a:moveTo>
                    <a:pt x="0" y="0"/>
                  </a:moveTo>
                  <a:lnTo>
                    <a:pt x="4452620" y="0"/>
                  </a:lnTo>
                  <a:lnTo>
                    <a:pt x="4452620" y="1282700"/>
                  </a:lnTo>
                  <a:lnTo>
                    <a:pt x="0" y="1282700"/>
                  </a:lnTo>
                  <a:close/>
                </a:path>
              </a:pathLst>
            </a:custGeom>
            <a:solidFill>
              <a:srgbClr val="737AE6"/>
            </a:solidFill>
            <a:ln w="19050" cap="sq">
              <a:solidFill>
                <a:srgbClr val="F3F5F4"/>
              </a:solidFill>
              <a:prstDash val="solid"/>
              <a:miter/>
            </a:ln>
          </p:spPr>
        </p:sp>
      </p:grpSp>
      <p:grpSp>
        <p:nvGrpSpPr>
          <p:cNvPr name="Group 59" id="59"/>
          <p:cNvGrpSpPr/>
          <p:nvPr/>
        </p:nvGrpSpPr>
        <p:grpSpPr>
          <a:xfrm rot="0">
            <a:off x="10789920" y="7059168"/>
            <a:ext cx="3291840" cy="365760"/>
            <a:chOff x="0" y="0"/>
            <a:chExt cx="4389120" cy="487680"/>
          </a:xfrm>
        </p:grpSpPr>
        <p:sp>
          <p:nvSpPr>
            <p:cNvPr name="Freeform 60" id="60"/>
            <p:cNvSpPr/>
            <p:nvPr/>
          </p:nvSpPr>
          <p:spPr>
            <a:xfrm flipH="false" flipV="false" rot="0">
              <a:off x="0" y="0"/>
              <a:ext cx="4389120" cy="487680"/>
            </a:xfrm>
            <a:custGeom>
              <a:avLst/>
              <a:gdLst/>
              <a:ahLst/>
              <a:cxnLst/>
              <a:rect r="r" b="b" t="t" l="l"/>
              <a:pathLst>
                <a:path h="487680" w="4389120">
                  <a:moveTo>
                    <a:pt x="0" y="0"/>
                  </a:moveTo>
                  <a:lnTo>
                    <a:pt x="4389120" y="0"/>
                  </a:lnTo>
                  <a:lnTo>
                    <a:pt x="4389120" y="487680"/>
                  </a:lnTo>
                  <a:lnTo>
                    <a:pt x="0" y="487680"/>
                  </a:lnTo>
                  <a:close/>
                </a:path>
              </a:pathLst>
            </a:custGeom>
            <a:blipFill>
              <a:blip r:embed="rId2">
                <a:alphaModFix amt="0"/>
              </a:blip>
              <a:stretch>
                <a:fillRect l="0" t="-125242" r="0" b="-125244"/>
              </a:stretch>
            </a:blipFill>
          </p:spPr>
        </p:sp>
      </p:grpSp>
      <p:grpSp>
        <p:nvGrpSpPr>
          <p:cNvPr name="Group 61" id="61"/>
          <p:cNvGrpSpPr/>
          <p:nvPr/>
        </p:nvGrpSpPr>
        <p:grpSpPr>
          <a:xfrm rot="0">
            <a:off x="10789920" y="7044880"/>
            <a:ext cx="3291840" cy="380047"/>
            <a:chOff x="0" y="0"/>
            <a:chExt cx="4389120" cy="506730"/>
          </a:xfrm>
        </p:grpSpPr>
        <p:sp>
          <p:nvSpPr>
            <p:cNvPr name="Freeform 62" id="62"/>
            <p:cNvSpPr/>
            <p:nvPr/>
          </p:nvSpPr>
          <p:spPr>
            <a:xfrm flipH="false" flipV="false" rot="0">
              <a:off x="0" y="0"/>
              <a:ext cx="4389120" cy="506730"/>
            </a:xfrm>
            <a:custGeom>
              <a:avLst/>
              <a:gdLst/>
              <a:ahLst/>
              <a:cxnLst/>
              <a:rect r="r" b="b" t="t" l="l"/>
              <a:pathLst>
                <a:path h="506730" w="4389120">
                  <a:moveTo>
                    <a:pt x="0" y="0"/>
                  </a:moveTo>
                  <a:lnTo>
                    <a:pt x="4389120" y="0"/>
                  </a:lnTo>
                  <a:lnTo>
                    <a:pt x="4389120" y="506730"/>
                  </a:lnTo>
                  <a:lnTo>
                    <a:pt x="0" y="506730"/>
                  </a:lnTo>
                  <a:close/>
                </a:path>
              </a:pathLst>
            </a:custGeom>
            <a:blipFill>
              <a:blip r:embed="rId3">
                <a:alphaModFix amt="0"/>
              </a:blip>
              <a:stretch>
                <a:fillRect l="0" t="-118654" r="0" b="-118656"/>
              </a:stretch>
            </a:blipFill>
          </p:spPr>
        </p:sp>
      </p:grpSp>
      <p:grpSp>
        <p:nvGrpSpPr>
          <p:cNvPr name="Group 63" id="63"/>
          <p:cNvGrpSpPr/>
          <p:nvPr/>
        </p:nvGrpSpPr>
        <p:grpSpPr>
          <a:xfrm rot="0">
            <a:off x="10789920" y="7030593"/>
            <a:ext cx="3291840" cy="394335"/>
            <a:chOff x="0" y="0"/>
            <a:chExt cx="4389120" cy="525780"/>
          </a:xfrm>
        </p:grpSpPr>
        <p:sp>
          <p:nvSpPr>
            <p:cNvPr name="Freeform 64" id="64"/>
            <p:cNvSpPr/>
            <p:nvPr/>
          </p:nvSpPr>
          <p:spPr>
            <a:xfrm flipH="false" flipV="false" rot="0">
              <a:off x="0" y="0"/>
              <a:ext cx="4389120" cy="525779"/>
            </a:xfrm>
            <a:custGeom>
              <a:avLst/>
              <a:gdLst/>
              <a:ahLst/>
              <a:cxnLst/>
              <a:rect r="r" b="b" t="t" l="l"/>
              <a:pathLst>
                <a:path h="525779" w="4389120">
                  <a:moveTo>
                    <a:pt x="0" y="0"/>
                  </a:moveTo>
                  <a:lnTo>
                    <a:pt x="4389120" y="0"/>
                  </a:lnTo>
                  <a:lnTo>
                    <a:pt x="4389120" y="525779"/>
                  </a:lnTo>
                  <a:lnTo>
                    <a:pt x="0" y="525779"/>
                  </a:lnTo>
                  <a:close/>
                </a:path>
              </a:pathLst>
            </a:custGeom>
            <a:blipFill>
              <a:blip r:embed="rId4">
                <a:alphaModFix amt="0"/>
              </a:blip>
              <a:stretch>
                <a:fillRect l="0" t="-112657" r="0" b="-112657"/>
              </a:stretch>
            </a:blipFill>
          </p:spPr>
        </p:sp>
        <p:sp>
          <p:nvSpPr>
            <p:cNvPr name="TextBox 65" id="65"/>
            <p:cNvSpPr txBox="true"/>
            <p:nvPr/>
          </p:nvSpPr>
          <p:spPr>
            <a:xfrm>
              <a:off x="0" y="-19050"/>
              <a:ext cx="4389120" cy="544830"/>
            </a:xfrm>
            <a:prstGeom prst="rect">
              <a:avLst/>
            </a:prstGeom>
          </p:spPr>
          <p:txBody>
            <a:bodyPr anchor="ctr" rtlCol="false" tIns="0" lIns="0" bIns="0" rIns="0"/>
            <a:lstStyle/>
            <a:p>
              <a:pPr algn="ctr">
                <a:lnSpc>
                  <a:spcPts val="1680"/>
                </a:lnSpc>
              </a:pPr>
              <a:r>
                <a:rPr lang="en-US" sz="1400" b="true">
                  <a:solidFill>
                    <a:srgbClr val="FFFFFF"/>
                  </a:solidFill>
                  <a:latin typeface="Poppins Bold"/>
                  <a:ea typeface="Poppins Bold"/>
                  <a:cs typeface="Poppins Bold"/>
                  <a:sym typeface="Poppins Bold"/>
                </a:rPr>
                <a:t>Skilled</a:t>
              </a:r>
            </a:p>
          </p:txBody>
        </p:sp>
      </p:grpSp>
      <p:grpSp>
        <p:nvGrpSpPr>
          <p:cNvPr name="Group 66" id="66"/>
          <p:cNvGrpSpPr/>
          <p:nvPr/>
        </p:nvGrpSpPr>
        <p:grpSpPr>
          <a:xfrm rot="0">
            <a:off x="10789920" y="7424928"/>
            <a:ext cx="3291840" cy="320040"/>
            <a:chOff x="0" y="0"/>
            <a:chExt cx="4389120" cy="426720"/>
          </a:xfrm>
        </p:grpSpPr>
        <p:sp>
          <p:nvSpPr>
            <p:cNvPr name="Freeform 67" id="67"/>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2">
                <a:alphaModFix amt="0"/>
              </a:blip>
              <a:stretch>
                <a:fillRect l="0" t="-150276" r="0" b="-150279"/>
              </a:stretch>
            </a:blipFill>
          </p:spPr>
        </p:sp>
      </p:grpSp>
      <p:grpSp>
        <p:nvGrpSpPr>
          <p:cNvPr name="Group 68" id="68"/>
          <p:cNvGrpSpPr/>
          <p:nvPr/>
        </p:nvGrpSpPr>
        <p:grpSpPr>
          <a:xfrm rot="0">
            <a:off x="10789920" y="7424928"/>
            <a:ext cx="3291840" cy="320040"/>
            <a:chOff x="0" y="0"/>
            <a:chExt cx="4389120" cy="426720"/>
          </a:xfrm>
        </p:grpSpPr>
        <p:sp>
          <p:nvSpPr>
            <p:cNvPr name="Freeform 69" id="69"/>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3">
                <a:alphaModFix amt="0"/>
              </a:blip>
              <a:stretch>
                <a:fillRect l="0" t="-150276" r="0" b="-150279"/>
              </a:stretch>
            </a:blipFill>
          </p:spPr>
        </p:sp>
      </p:grpSp>
      <p:grpSp>
        <p:nvGrpSpPr>
          <p:cNvPr name="Group 70" id="70"/>
          <p:cNvGrpSpPr/>
          <p:nvPr/>
        </p:nvGrpSpPr>
        <p:grpSpPr>
          <a:xfrm rot="0">
            <a:off x="10789920" y="7424928"/>
            <a:ext cx="3291840" cy="320040"/>
            <a:chOff x="0" y="0"/>
            <a:chExt cx="4389120" cy="426720"/>
          </a:xfrm>
        </p:grpSpPr>
        <p:sp>
          <p:nvSpPr>
            <p:cNvPr name="Freeform 71" id="71"/>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4">
                <a:alphaModFix amt="0"/>
              </a:blip>
              <a:stretch>
                <a:fillRect l="0" t="-150417" r="0" b="-150417"/>
              </a:stretch>
            </a:blipFill>
          </p:spPr>
        </p:sp>
        <p:sp>
          <p:nvSpPr>
            <p:cNvPr name="TextBox 72" id="72"/>
            <p:cNvSpPr txBox="true"/>
            <p:nvPr/>
          </p:nvSpPr>
          <p:spPr>
            <a:xfrm>
              <a:off x="0" y="0"/>
              <a:ext cx="4389120" cy="426720"/>
            </a:xfrm>
            <a:prstGeom prst="rect">
              <a:avLst/>
            </a:prstGeom>
          </p:spPr>
          <p:txBody>
            <a:bodyPr anchor="ctr" rtlCol="false" tIns="0" lIns="0" bIns="0" rIns="0"/>
            <a:lstStyle/>
            <a:p>
              <a:pPr algn="ctr">
                <a:lnSpc>
                  <a:spcPts val="1377"/>
                </a:lnSpc>
              </a:pPr>
              <a:r>
                <a:rPr lang="en-US" sz="1149">
                  <a:solidFill>
                    <a:srgbClr val="FFFFFF"/>
                  </a:solidFill>
                  <a:latin typeface="Poppins"/>
                  <a:ea typeface="Poppins"/>
                  <a:cs typeface="Poppins"/>
                  <a:sym typeface="Poppins"/>
                </a:rPr>
                <a:t>76–90%</a:t>
              </a:r>
            </a:p>
          </p:txBody>
        </p:sp>
      </p:grpSp>
      <p:grpSp>
        <p:nvGrpSpPr>
          <p:cNvPr name="Group 73" id="73"/>
          <p:cNvGrpSpPr/>
          <p:nvPr/>
        </p:nvGrpSpPr>
        <p:grpSpPr>
          <a:xfrm rot="0">
            <a:off x="14057948" y="6925628"/>
            <a:ext cx="3339465" cy="962025"/>
            <a:chOff x="0" y="0"/>
            <a:chExt cx="4452620" cy="1282700"/>
          </a:xfrm>
        </p:grpSpPr>
        <p:sp>
          <p:nvSpPr>
            <p:cNvPr name="Freeform 74" id="74"/>
            <p:cNvSpPr/>
            <p:nvPr/>
          </p:nvSpPr>
          <p:spPr>
            <a:xfrm flipH="false" flipV="false" rot="0">
              <a:off x="0" y="0"/>
              <a:ext cx="4452620" cy="1282700"/>
            </a:xfrm>
            <a:custGeom>
              <a:avLst/>
              <a:gdLst/>
              <a:ahLst/>
              <a:cxnLst/>
              <a:rect r="r" b="b" t="t" l="l"/>
              <a:pathLst>
                <a:path h="1282700" w="4452620">
                  <a:moveTo>
                    <a:pt x="0" y="0"/>
                  </a:moveTo>
                  <a:lnTo>
                    <a:pt x="4452620" y="0"/>
                  </a:lnTo>
                  <a:lnTo>
                    <a:pt x="4452620" y="1282700"/>
                  </a:lnTo>
                  <a:lnTo>
                    <a:pt x="0" y="1282700"/>
                  </a:lnTo>
                  <a:close/>
                </a:path>
              </a:pathLst>
            </a:custGeom>
            <a:solidFill>
              <a:srgbClr val="4E54B8"/>
            </a:solidFill>
            <a:ln w="19050" cap="sq">
              <a:solidFill>
                <a:srgbClr val="F3F5F4"/>
              </a:solidFill>
              <a:prstDash val="solid"/>
              <a:miter/>
            </a:ln>
          </p:spPr>
        </p:sp>
      </p:grpSp>
      <p:grpSp>
        <p:nvGrpSpPr>
          <p:cNvPr name="Group 75" id="75"/>
          <p:cNvGrpSpPr/>
          <p:nvPr/>
        </p:nvGrpSpPr>
        <p:grpSpPr>
          <a:xfrm rot="0">
            <a:off x="14081760" y="7059168"/>
            <a:ext cx="3291840" cy="365760"/>
            <a:chOff x="0" y="0"/>
            <a:chExt cx="4389120" cy="487680"/>
          </a:xfrm>
        </p:grpSpPr>
        <p:sp>
          <p:nvSpPr>
            <p:cNvPr name="Freeform 76" id="76"/>
            <p:cNvSpPr/>
            <p:nvPr/>
          </p:nvSpPr>
          <p:spPr>
            <a:xfrm flipH="false" flipV="false" rot="0">
              <a:off x="0" y="0"/>
              <a:ext cx="4389120" cy="487680"/>
            </a:xfrm>
            <a:custGeom>
              <a:avLst/>
              <a:gdLst/>
              <a:ahLst/>
              <a:cxnLst/>
              <a:rect r="r" b="b" t="t" l="l"/>
              <a:pathLst>
                <a:path h="487680" w="4389120">
                  <a:moveTo>
                    <a:pt x="0" y="0"/>
                  </a:moveTo>
                  <a:lnTo>
                    <a:pt x="4389120" y="0"/>
                  </a:lnTo>
                  <a:lnTo>
                    <a:pt x="4389120" y="487680"/>
                  </a:lnTo>
                  <a:lnTo>
                    <a:pt x="0" y="487680"/>
                  </a:lnTo>
                  <a:close/>
                </a:path>
              </a:pathLst>
            </a:custGeom>
            <a:blipFill>
              <a:blip r:embed="rId2">
                <a:alphaModFix amt="0"/>
              </a:blip>
              <a:stretch>
                <a:fillRect l="0" t="-125242" r="0" b="-125244"/>
              </a:stretch>
            </a:blipFill>
          </p:spPr>
        </p:sp>
      </p:grpSp>
      <p:grpSp>
        <p:nvGrpSpPr>
          <p:cNvPr name="Group 77" id="77"/>
          <p:cNvGrpSpPr/>
          <p:nvPr/>
        </p:nvGrpSpPr>
        <p:grpSpPr>
          <a:xfrm rot="0">
            <a:off x="14081760" y="7044880"/>
            <a:ext cx="3291840" cy="380047"/>
            <a:chOff x="0" y="0"/>
            <a:chExt cx="4389120" cy="506730"/>
          </a:xfrm>
        </p:grpSpPr>
        <p:sp>
          <p:nvSpPr>
            <p:cNvPr name="Freeform 78" id="78"/>
            <p:cNvSpPr/>
            <p:nvPr/>
          </p:nvSpPr>
          <p:spPr>
            <a:xfrm flipH="false" flipV="false" rot="0">
              <a:off x="0" y="0"/>
              <a:ext cx="4389120" cy="506730"/>
            </a:xfrm>
            <a:custGeom>
              <a:avLst/>
              <a:gdLst/>
              <a:ahLst/>
              <a:cxnLst/>
              <a:rect r="r" b="b" t="t" l="l"/>
              <a:pathLst>
                <a:path h="506730" w="4389120">
                  <a:moveTo>
                    <a:pt x="0" y="0"/>
                  </a:moveTo>
                  <a:lnTo>
                    <a:pt x="4389120" y="0"/>
                  </a:lnTo>
                  <a:lnTo>
                    <a:pt x="4389120" y="506730"/>
                  </a:lnTo>
                  <a:lnTo>
                    <a:pt x="0" y="506730"/>
                  </a:lnTo>
                  <a:close/>
                </a:path>
              </a:pathLst>
            </a:custGeom>
            <a:blipFill>
              <a:blip r:embed="rId3">
                <a:alphaModFix amt="0"/>
              </a:blip>
              <a:stretch>
                <a:fillRect l="0" t="-118654" r="0" b="-118656"/>
              </a:stretch>
            </a:blipFill>
          </p:spPr>
        </p:sp>
      </p:grpSp>
      <p:grpSp>
        <p:nvGrpSpPr>
          <p:cNvPr name="Group 79" id="79"/>
          <p:cNvGrpSpPr/>
          <p:nvPr/>
        </p:nvGrpSpPr>
        <p:grpSpPr>
          <a:xfrm rot="0">
            <a:off x="14081760" y="7030593"/>
            <a:ext cx="3291840" cy="394335"/>
            <a:chOff x="0" y="0"/>
            <a:chExt cx="4389120" cy="525780"/>
          </a:xfrm>
        </p:grpSpPr>
        <p:sp>
          <p:nvSpPr>
            <p:cNvPr name="Freeform 80" id="80"/>
            <p:cNvSpPr/>
            <p:nvPr/>
          </p:nvSpPr>
          <p:spPr>
            <a:xfrm flipH="false" flipV="false" rot="0">
              <a:off x="0" y="0"/>
              <a:ext cx="4389120" cy="525779"/>
            </a:xfrm>
            <a:custGeom>
              <a:avLst/>
              <a:gdLst/>
              <a:ahLst/>
              <a:cxnLst/>
              <a:rect r="r" b="b" t="t" l="l"/>
              <a:pathLst>
                <a:path h="525779" w="4389120">
                  <a:moveTo>
                    <a:pt x="0" y="0"/>
                  </a:moveTo>
                  <a:lnTo>
                    <a:pt x="4389120" y="0"/>
                  </a:lnTo>
                  <a:lnTo>
                    <a:pt x="4389120" y="525779"/>
                  </a:lnTo>
                  <a:lnTo>
                    <a:pt x="0" y="525779"/>
                  </a:lnTo>
                  <a:close/>
                </a:path>
              </a:pathLst>
            </a:custGeom>
            <a:blipFill>
              <a:blip r:embed="rId4">
                <a:alphaModFix amt="0"/>
              </a:blip>
              <a:stretch>
                <a:fillRect l="0" t="-112657" r="0" b="-112657"/>
              </a:stretch>
            </a:blipFill>
          </p:spPr>
        </p:sp>
        <p:sp>
          <p:nvSpPr>
            <p:cNvPr name="TextBox 81" id="81"/>
            <p:cNvSpPr txBox="true"/>
            <p:nvPr/>
          </p:nvSpPr>
          <p:spPr>
            <a:xfrm>
              <a:off x="0" y="-19050"/>
              <a:ext cx="4389120" cy="544830"/>
            </a:xfrm>
            <a:prstGeom prst="rect">
              <a:avLst/>
            </a:prstGeom>
          </p:spPr>
          <p:txBody>
            <a:bodyPr anchor="ctr" rtlCol="false" tIns="0" lIns="0" bIns="0" rIns="0"/>
            <a:lstStyle/>
            <a:p>
              <a:pPr algn="ctr">
                <a:lnSpc>
                  <a:spcPts val="1680"/>
                </a:lnSpc>
              </a:pPr>
              <a:r>
                <a:rPr lang="en-US" sz="1400" b="true">
                  <a:solidFill>
                    <a:srgbClr val="FFFFFF"/>
                  </a:solidFill>
                  <a:latin typeface="Poppins Bold"/>
                  <a:ea typeface="Poppins Bold"/>
                  <a:cs typeface="Poppins Bold"/>
                  <a:sym typeface="Poppins Bold"/>
                </a:rPr>
                <a:t>Master</a:t>
              </a:r>
            </a:p>
          </p:txBody>
        </p:sp>
      </p:grpSp>
      <p:grpSp>
        <p:nvGrpSpPr>
          <p:cNvPr name="Group 82" id="82"/>
          <p:cNvGrpSpPr/>
          <p:nvPr/>
        </p:nvGrpSpPr>
        <p:grpSpPr>
          <a:xfrm rot="0">
            <a:off x="14081760" y="7424928"/>
            <a:ext cx="3291840" cy="320040"/>
            <a:chOff x="0" y="0"/>
            <a:chExt cx="4389120" cy="426720"/>
          </a:xfrm>
        </p:grpSpPr>
        <p:sp>
          <p:nvSpPr>
            <p:cNvPr name="Freeform 83" id="83"/>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2">
                <a:alphaModFix amt="0"/>
              </a:blip>
              <a:stretch>
                <a:fillRect l="0" t="-150276" r="0" b="-150279"/>
              </a:stretch>
            </a:blipFill>
          </p:spPr>
        </p:sp>
      </p:grpSp>
      <p:grpSp>
        <p:nvGrpSpPr>
          <p:cNvPr name="Group 84" id="84"/>
          <p:cNvGrpSpPr/>
          <p:nvPr/>
        </p:nvGrpSpPr>
        <p:grpSpPr>
          <a:xfrm rot="0">
            <a:off x="14081760" y="7424928"/>
            <a:ext cx="3291840" cy="320040"/>
            <a:chOff x="0" y="0"/>
            <a:chExt cx="4389120" cy="426720"/>
          </a:xfrm>
        </p:grpSpPr>
        <p:sp>
          <p:nvSpPr>
            <p:cNvPr name="Freeform 85" id="85"/>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3">
                <a:alphaModFix amt="0"/>
              </a:blip>
              <a:stretch>
                <a:fillRect l="0" t="-150276" r="0" b="-150279"/>
              </a:stretch>
            </a:blipFill>
          </p:spPr>
        </p:sp>
      </p:grpSp>
      <p:grpSp>
        <p:nvGrpSpPr>
          <p:cNvPr name="Group 86" id="86"/>
          <p:cNvGrpSpPr/>
          <p:nvPr/>
        </p:nvGrpSpPr>
        <p:grpSpPr>
          <a:xfrm rot="0">
            <a:off x="14081760" y="7424928"/>
            <a:ext cx="3291840" cy="320040"/>
            <a:chOff x="0" y="0"/>
            <a:chExt cx="4389120" cy="426720"/>
          </a:xfrm>
        </p:grpSpPr>
        <p:sp>
          <p:nvSpPr>
            <p:cNvPr name="Freeform 87" id="87"/>
            <p:cNvSpPr/>
            <p:nvPr/>
          </p:nvSpPr>
          <p:spPr>
            <a:xfrm flipH="false" flipV="false" rot="0">
              <a:off x="0" y="0"/>
              <a:ext cx="4389120" cy="426720"/>
            </a:xfrm>
            <a:custGeom>
              <a:avLst/>
              <a:gdLst/>
              <a:ahLst/>
              <a:cxnLst/>
              <a:rect r="r" b="b" t="t" l="l"/>
              <a:pathLst>
                <a:path h="426720" w="4389120">
                  <a:moveTo>
                    <a:pt x="0" y="0"/>
                  </a:moveTo>
                  <a:lnTo>
                    <a:pt x="4389120" y="0"/>
                  </a:lnTo>
                  <a:lnTo>
                    <a:pt x="4389120" y="426720"/>
                  </a:lnTo>
                  <a:lnTo>
                    <a:pt x="0" y="426720"/>
                  </a:lnTo>
                  <a:close/>
                </a:path>
              </a:pathLst>
            </a:custGeom>
            <a:blipFill>
              <a:blip r:embed="rId4">
                <a:alphaModFix amt="0"/>
              </a:blip>
              <a:stretch>
                <a:fillRect l="0" t="-150417" r="0" b="-150417"/>
              </a:stretch>
            </a:blipFill>
          </p:spPr>
        </p:sp>
        <p:sp>
          <p:nvSpPr>
            <p:cNvPr name="TextBox 88" id="88"/>
            <p:cNvSpPr txBox="true"/>
            <p:nvPr/>
          </p:nvSpPr>
          <p:spPr>
            <a:xfrm>
              <a:off x="0" y="0"/>
              <a:ext cx="4389120" cy="426720"/>
            </a:xfrm>
            <a:prstGeom prst="rect">
              <a:avLst/>
            </a:prstGeom>
          </p:spPr>
          <p:txBody>
            <a:bodyPr anchor="ctr" rtlCol="false" tIns="0" lIns="0" bIns="0" rIns="0"/>
            <a:lstStyle/>
            <a:p>
              <a:pPr algn="ctr">
                <a:lnSpc>
                  <a:spcPts val="1377"/>
                </a:lnSpc>
              </a:pPr>
              <a:r>
                <a:rPr lang="en-US" sz="1149">
                  <a:solidFill>
                    <a:srgbClr val="FFFFFF"/>
                  </a:solidFill>
                  <a:latin typeface="Poppins"/>
                  <a:ea typeface="Poppins"/>
                  <a:cs typeface="Poppins"/>
                  <a:sym typeface="Poppins"/>
                </a:rPr>
                <a:t>91–100%</a:t>
              </a:r>
            </a:p>
          </p:txBody>
        </p:sp>
      </p:grpSp>
      <p:grpSp>
        <p:nvGrpSpPr>
          <p:cNvPr name="Group 89" id="89"/>
          <p:cNvGrpSpPr/>
          <p:nvPr/>
        </p:nvGrpSpPr>
        <p:grpSpPr>
          <a:xfrm rot="0">
            <a:off x="914400" y="6565392"/>
            <a:ext cx="3657600" cy="320040"/>
            <a:chOff x="0" y="0"/>
            <a:chExt cx="4876800" cy="426720"/>
          </a:xfrm>
        </p:grpSpPr>
        <p:sp>
          <p:nvSpPr>
            <p:cNvPr name="Freeform 90" id="90"/>
            <p:cNvSpPr/>
            <p:nvPr/>
          </p:nvSpPr>
          <p:spPr>
            <a:xfrm flipH="false" flipV="false" rot="0">
              <a:off x="0" y="0"/>
              <a:ext cx="4876800" cy="426720"/>
            </a:xfrm>
            <a:custGeom>
              <a:avLst/>
              <a:gdLst/>
              <a:ahLst/>
              <a:cxnLst/>
              <a:rect r="r" b="b" t="t" l="l"/>
              <a:pathLst>
                <a:path h="426720" w="4876800">
                  <a:moveTo>
                    <a:pt x="0" y="0"/>
                  </a:moveTo>
                  <a:lnTo>
                    <a:pt x="4876800" y="0"/>
                  </a:lnTo>
                  <a:lnTo>
                    <a:pt x="4876800" y="426720"/>
                  </a:lnTo>
                  <a:lnTo>
                    <a:pt x="0" y="426720"/>
                  </a:lnTo>
                  <a:close/>
                </a:path>
              </a:pathLst>
            </a:custGeom>
            <a:blipFill>
              <a:blip r:embed="rId2">
                <a:alphaModFix amt="0"/>
              </a:blip>
              <a:stretch>
                <a:fillRect l="0" t="-172532" r="0" b="-172529"/>
              </a:stretch>
            </a:blipFill>
          </p:spPr>
        </p:sp>
      </p:grpSp>
      <p:grpSp>
        <p:nvGrpSpPr>
          <p:cNvPr name="Group 91" id="91"/>
          <p:cNvGrpSpPr/>
          <p:nvPr/>
        </p:nvGrpSpPr>
        <p:grpSpPr>
          <a:xfrm rot="0">
            <a:off x="914400" y="6558248"/>
            <a:ext cx="3657600" cy="327184"/>
            <a:chOff x="0" y="0"/>
            <a:chExt cx="4876800" cy="436245"/>
          </a:xfrm>
        </p:grpSpPr>
        <p:sp>
          <p:nvSpPr>
            <p:cNvPr name="Freeform 92" id="92"/>
            <p:cNvSpPr/>
            <p:nvPr/>
          </p:nvSpPr>
          <p:spPr>
            <a:xfrm flipH="false" flipV="false" rot="0">
              <a:off x="0" y="0"/>
              <a:ext cx="4876800" cy="436245"/>
            </a:xfrm>
            <a:custGeom>
              <a:avLst/>
              <a:gdLst/>
              <a:ahLst/>
              <a:cxnLst/>
              <a:rect r="r" b="b" t="t" l="l"/>
              <a:pathLst>
                <a:path h="436245" w="4876800">
                  <a:moveTo>
                    <a:pt x="0" y="0"/>
                  </a:moveTo>
                  <a:lnTo>
                    <a:pt x="4876800" y="0"/>
                  </a:lnTo>
                  <a:lnTo>
                    <a:pt x="4876800" y="436245"/>
                  </a:lnTo>
                  <a:lnTo>
                    <a:pt x="0" y="436245"/>
                  </a:lnTo>
                  <a:close/>
                </a:path>
              </a:pathLst>
            </a:custGeom>
            <a:blipFill>
              <a:blip r:embed="rId3">
                <a:alphaModFix amt="0"/>
              </a:blip>
              <a:stretch>
                <a:fillRect l="0" t="-167673" r="0" b="-167671"/>
              </a:stretch>
            </a:blipFill>
          </p:spPr>
        </p:sp>
      </p:grpSp>
      <p:grpSp>
        <p:nvGrpSpPr>
          <p:cNvPr name="Group 93" id="93"/>
          <p:cNvGrpSpPr/>
          <p:nvPr/>
        </p:nvGrpSpPr>
        <p:grpSpPr>
          <a:xfrm rot="0">
            <a:off x="914400" y="6551104"/>
            <a:ext cx="3657600" cy="334328"/>
            <a:chOff x="0" y="0"/>
            <a:chExt cx="4876800" cy="445770"/>
          </a:xfrm>
        </p:grpSpPr>
        <p:sp>
          <p:nvSpPr>
            <p:cNvPr name="Freeform 94" id="94"/>
            <p:cNvSpPr/>
            <p:nvPr/>
          </p:nvSpPr>
          <p:spPr>
            <a:xfrm flipH="false" flipV="false" rot="0">
              <a:off x="0" y="0"/>
              <a:ext cx="4876800" cy="445770"/>
            </a:xfrm>
            <a:custGeom>
              <a:avLst/>
              <a:gdLst/>
              <a:ahLst/>
              <a:cxnLst/>
              <a:rect r="r" b="b" t="t" l="l"/>
              <a:pathLst>
                <a:path h="445770" w="4876800">
                  <a:moveTo>
                    <a:pt x="0" y="0"/>
                  </a:moveTo>
                  <a:lnTo>
                    <a:pt x="4876800" y="0"/>
                  </a:lnTo>
                  <a:lnTo>
                    <a:pt x="4876800" y="445770"/>
                  </a:lnTo>
                  <a:lnTo>
                    <a:pt x="0" y="445770"/>
                  </a:lnTo>
                  <a:close/>
                </a:path>
              </a:pathLst>
            </a:custGeom>
            <a:blipFill>
              <a:blip r:embed="rId4">
                <a:alphaModFix amt="0"/>
              </a:blip>
              <a:stretch>
                <a:fillRect l="0" t="-163169" r="0" b="-163169"/>
              </a:stretch>
            </a:blipFill>
          </p:spPr>
        </p:sp>
        <p:sp>
          <p:nvSpPr>
            <p:cNvPr name="TextBox 95" id="95"/>
            <p:cNvSpPr txBox="true"/>
            <p:nvPr/>
          </p:nvSpPr>
          <p:spPr>
            <a:xfrm>
              <a:off x="0" y="-9525"/>
              <a:ext cx="4876800" cy="455295"/>
            </a:xfrm>
            <a:prstGeom prst="rect">
              <a:avLst/>
            </a:prstGeom>
          </p:spPr>
          <p:txBody>
            <a:bodyPr anchor="ctr" rtlCol="false" tIns="0" lIns="0" bIns="0" rIns="0"/>
            <a:lstStyle/>
            <a:p>
              <a:pPr algn="l">
                <a:lnSpc>
                  <a:spcPts val="1557"/>
                </a:lnSpc>
              </a:pPr>
              <a:r>
                <a:rPr lang="en-US" sz="1299" b="true">
                  <a:solidFill>
                    <a:srgbClr val="8A9A9E"/>
                  </a:solidFill>
                  <a:latin typeface="Poppins Bold"/>
                  <a:ea typeface="Poppins Bold"/>
                  <a:cs typeface="Poppins Bold"/>
                  <a:sym typeface="Poppins Bold"/>
                </a:rPr>
                <a:t>Competency stage</a:t>
              </a:r>
            </a:p>
          </p:txBody>
        </p:sp>
      </p:grpSp>
      <p:grpSp>
        <p:nvGrpSpPr>
          <p:cNvPr name="Group 96" id="96"/>
          <p:cNvGrpSpPr/>
          <p:nvPr/>
        </p:nvGrpSpPr>
        <p:grpSpPr>
          <a:xfrm rot="0">
            <a:off x="640080" y="9738360"/>
            <a:ext cx="7315200" cy="365760"/>
            <a:chOff x="0" y="0"/>
            <a:chExt cx="9753600" cy="487680"/>
          </a:xfrm>
        </p:grpSpPr>
        <p:sp>
          <p:nvSpPr>
            <p:cNvPr name="Freeform 97" id="97"/>
            <p:cNvSpPr/>
            <p:nvPr/>
          </p:nvSpPr>
          <p:spPr>
            <a:xfrm flipH="false" flipV="false" rot="0">
              <a:off x="0" y="0"/>
              <a:ext cx="9753600" cy="487680"/>
            </a:xfrm>
            <a:custGeom>
              <a:avLst/>
              <a:gdLst/>
              <a:ahLst/>
              <a:cxnLst/>
              <a:rect r="r" b="b" t="t" l="l"/>
              <a:pathLst>
                <a:path h="487680" w="9753600">
                  <a:moveTo>
                    <a:pt x="0" y="0"/>
                  </a:moveTo>
                  <a:lnTo>
                    <a:pt x="9753600" y="0"/>
                  </a:lnTo>
                  <a:lnTo>
                    <a:pt x="9753600" y="487680"/>
                  </a:lnTo>
                  <a:lnTo>
                    <a:pt x="0" y="487680"/>
                  </a:lnTo>
                  <a:close/>
                </a:path>
              </a:pathLst>
            </a:custGeom>
            <a:blipFill>
              <a:blip r:embed="rId2">
                <a:alphaModFix amt="0"/>
              </a:blip>
              <a:stretch>
                <a:fillRect l="0" t="-339429" r="0" b="-339429"/>
              </a:stretch>
            </a:blipFill>
          </p:spPr>
        </p:sp>
      </p:grpSp>
      <p:grpSp>
        <p:nvGrpSpPr>
          <p:cNvPr name="Group 98" id="98"/>
          <p:cNvGrpSpPr/>
          <p:nvPr/>
        </p:nvGrpSpPr>
        <p:grpSpPr>
          <a:xfrm rot="0">
            <a:off x="640080" y="9724072"/>
            <a:ext cx="7315200" cy="380047"/>
            <a:chOff x="0" y="0"/>
            <a:chExt cx="9753600" cy="506730"/>
          </a:xfrm>
        </p:grpSpPr>
        <p:sp>
          <p:nvSpPr>
            <p:cNvPr name="Freeform 99" id="99"/>
            <p:cNvSpPr/>
            <p:nvPr/>
          </p:nvSpPr>
          <p:spPr>
            <a:xfrm flipH="false" flipV="false" rot="0">
              <a:off x="0" y="0"/>
              <a:ext cx="9753600" cy="506730"/>
            </a:xfrm>
            <a:custGeom>
              <a:avLst/>
              <a:gdLst/>
              <a:ahLst/>
              <a:cxnLst/>
              <a:rect r="r" b="b" t="t" l="l"/>
              <a:pathLst>
                <a:path h="506730" w="9753600">
                  <a:moveTo>
                    <a:pt x="0" y="0"/>
                  </a:moveTo>
                  <a:lnTo>
                    <a:pt x="9753600" y="0"/>
                  </a:lnTo>
                  <a:lnTo>
                    <a:pt x="9753600" y="506730"/>
                  </a:lnTo>
                  <a:lnTo>
                    <a:pt x="0" y="506730"/>
                  </a:lnTo>
                  <a:close/>
                </a:path>
              </a:pathLst>
            </a:custGeom>
            <a:blipFill>
              <a:blip r:embed="rId3">
                <a:alphaModFix amt="0"/>
              </a:blip>
              <a:stretch>
                <a:fillRect l="0" t="-324789" r="0" b="-324789"/>
              </a:stretch>
            </a:blipFill>
          </p:spPr>
        </p:sp>
      </p:grpSp>
      <p:grpSp>
        <p:nvGrpSpPr>
          <p:cNvPr name="Group 100" id="100"/>
          <p:cNvGrpSpPr/>
          <p:nvPr/>
        </p:nvGrpSpPr>
        <p:grpSpPr>
          <a:xfrm rot="0">
            <a:off x="640080" y="9709785"/>
            <a:ext cx="7315200" cy="394335"/>
            <a:chOff x="0" y="0"/>
            <a:chExt cx="9753600" cy="525780"/>
          </a:xfrm>
        </p:grpSpPr>
        <p:sp>
          <p:nvSpPr>
            <p:cNvPr name="Freeform 101" id="101"/>
            <p:cNvSpPr/>
            <p:nvPr/>
          </p:nvSpPr>
          <p:spPr>
            <a:xfrm flipH="false" flipV="false" rot="0">
              <a:off x="0" y="0"/>
              <a:ext cx="9753600" cy="525779"/>
            </a:xfrm>
            <a:custGeom>
              <a:avLst/>
              <a:gdLst/>
              <a:ahLst/>
              <a:cxnLst/>
              <a:rect r="r" b="b" t="t" l="l"/>
              <a:pathLst>
                <a:path h="525779" w="9753600">
                  <a:moveTo>
                    <a:pt x="0" y="0"/>
                  </a:moveTo>
                  <a:lnTo>
                    <a:pt x="9753600" y="0"/>
                  </a:lnTo>
                  <a:lnTo>
                    <a:pt x="9753600" y="525779"/>
                  </a:lnTo>
                  <a:lnTo>
                    <a:pt x="0" y="525779"/>
                  </a:lnTo>
                  <a:close/>
                </a:path>
              </a:pathLst>
            </a:custGeom>
            <a:blipFill>
              <a:blip r:embed="rId4">
                <a:alphaModFix amt="0"/>
              </a:blip>
              <a:stretch>
                <a:fillRect l="0" t="-311461" r="0" b="-311462"/>
              </a:stretch>
            </a:blipFill>
          </p:spPr>
        </p:sp>
        <p:sp>
          <p:nvSpPr>
            <p:cNvPr name="TextBox 102" id="102"/>
            <p:cNvSpPr txBox="true"/>
            <p:nvPr/>
          </p:nvSpPr>
          <p:spPr>
            <a:xfrm>
              <a:off x="0" y="-19050"/>
              <a:ext cx="9753600" cy="544830"/>
            </a:xfrm>
            <a:prstGeom prst="rect">
              <a:avLst/>
            </a:prstGeom>
          </p:spPr>
          <p:txBody>
            <a:bodyPr anchor="ctr" rtlCol="false" tIns="0" lIns="0" bIns="0" rIns="0"/>
            <a:lstStyle/>
            <a:p>
              <a:pPr algn="l">
                <a:lnSpc>
                  <a:spcPts val="1320"/>
                </a:lnSpc>
              </a:pPr>
              <a:r>
                <a:rPr lang="en-US" sz="1100">
                  <a:solidFill>
                    <a:srgbClr val="8A9A9E"/>
                  </a:solidFill>
                  <a:latin typeface="Poppins"/>
                  <a:ea typeface="Poppins"/>
                  <a:cs typeface="Poppins"/>
                  <a:sym typeface="Poppins"/>
                </a:rPr>
                <a:t>Hire on Demand  •  PFE Defense</a:t>
              </a:r>
            </a:p>
          </p:txBody>
        </p:sp>
      </p:grpSp>
      <p:grpSp>
        <p:nvGrpSpPr>
          <p:cNvPr name="Group 103" id="103"/>
          <p:cNvGrpSpPr/>
          <p:nvPr/>
        </p:nvGrpSpPr>
        <p:grpSpPr>
          <a:xfrm rot="0">
            <a:off x="17007840" y="9738360"/>
            <a:ext cx="640080" cy="365760"/>
            <a:chOff x="0" y="0"/>
            <a:chExt cx="853440" cy="487680"/>
          </a:xfrm>
        </p:grpSpPr>
        <p:sp>
          <p:nvSpPr>
            <p:cNvPr name="Freeform 104" id="104"/>
            <p:cNvSpPr/>
            <p:nvPr/>
          </p:nvSpPr>
          <p:spPr>
            <a:xfrm flipH="false" flipV="false" rot="0">
              <a:off x="0" y="0"/>
              <a:ext cx="853440" cy="487680"/>
            </a:xfrm>
            <a:custGeom>
              <a:avLst/>
              <a:gdLst/>
              <a:ahLst/>
              <a:cxnLst/>
              <a:rect r="r" b="b" t="t" l="l"/>
              <a:pathLst>
                <a:path h="487680" w="853440">
                  <a:moveTo>
                    <a:pt x="0" y="0"/>
                  </a:moveTo>
                  <a:lnTo>
                    <a:pt x="853440" y="0"/>
                  </a:lnTo>
                  <a:lnTo>
                    <a:pt x="853440" y="487680"/>
                  </a:lnTo>
                  <a:lnTo>
                    <a:pt x="0" y="487680"/>
                  </a:lnTo>
                  <a:close/>
                </a:path>
              </a:pathLst>
            </a:custGeom>
            <a:blipFill>
              <a:blip r:embed="rId2">
                <a:alphaModFix amt="0"/>
              </a:blip>
              <a:stretch>
                <a:fillRect l="-23367" t="0" r="-23367" b="0"/>
              </a:stretch>
            </a:blipFill>
          </p:spPr>
        </p:sp>
      </p:grpSp>
      <p:grpSp>
        <p:nvGrpSpPr>
          <p:cNvPr name="Group 105" id="105"/>
          <p:cNvGrpSpPr/>
          <p:nvPr/>
        </p:nvGrpSpPr>
        <p:grpSpPr>
          <a:xfrm rot="0">
            <a:off x="17007840" y="9724072"/>
            <a:ext cx="640080" cy="380047"/>
            <a:chOff x="0" y="0"/>
            <a:chExt cx="853440" cy="506730"/>
          </a:xfrm>
        </p:grpSpPr>
        <p:sp>
          <p:nvSpPr>
            <p:cNvPr name="Freeform 106" id="106"/>
            <p:cNvSpPr/>
            <p:nvPr/>
          </p:nvSpPr>
          <p:spPr>
            <a:xfrm flipH="false" flipV="false" rot="0">
              <a:off x="0" y="0"/>
              <a:ext cx="853440" cy="506730"/>
            </a:xfrm>
            <a:custGeom>
              <a:avLst/>
              <a:gdLst/>
              <a:ahLst/>
              <a:cxnLst/>
              <a:rect r="r" b="b" t="t" l="l"/>
              <a:pathLst>
                <a:path h="506730" w="853440">
                  <a:moveTo>
                    <a:pt x="0" y="0"/>
                  </a:moveTo>
                  <a:lnTo>
                    <a:pt x="853440" y="0"/>
                  </a:lnTo>
                  <a:lnTo>
                    <a:pt x="853440" y="506730"/>
                  </a:lnTo>
                  <a:lnTo>
                    <a:pt x="0" y="506730"/>
                  </a:lnTo>
                  <a:close/>
                </a:path>
              </a:pathLst>
            </a:custGeom>
            <a:blipFill>
              <a:blip r:embed="rId3">
                <a:alphaModFix amt="0"/>
              </a:blip>
              <a:stretch>
                <a:fillRect l="-26233" t="0" r="-26232" b="0"/>
              </a:stretch>
            </a:blipFill>
          </p:spPr>
        </p:sp>
      </p:grpSp>
      <p:sp>
        <p:nvSpPr>
          <p:cNvPr name="TextBox 107" id="107"/>
          <p:cNvSpPr txBox="true"/>
          <p:nvPr/>
        </p:nvSpPr>
        <p:spPr>
          <a:xfrm rot="0">
            <a:off x="914400" y="2084070"/>
            <a:ext cx="3383280" cy="293370"/>
          </a:xfrm>
          <a:prstGeom prst="rect">
            <a:avLst/>
          </a:prstGeom>
        </p:spPr>
        <p:txBody>
          <a:bodyPr anchor="t" rtlCol="false" tIns="0" lIns="0" bIns="0" rIns="0">
            <a:spAutoFit/>
          </a:bodyPr>
          <a:lstStyle/>
          <a:p>
            <a:pPr algn="l">
              <a:lnSpc>
                <a:spcPts val="1500"/>
              </a:lnSpc>
            </a:pPr>
            <a:r>
              <a:rPr lang="en-US" sz="1250" b="true">
                <a:solidFill>
                  <a:srgbClr val="737AE6"/>
                </a:solidFill>
                <a:latin typeface="Arial Bold"/>
                <a:ea typeface="Arial Bold"/>
                <a:cs typeface="Arial Bold"/>
                <a:sym typeface="Arial Bold"/>
              </a:rPr>
              <a:t>ANSWER TYPE</a:t>
            </a:r>
          </a:p>
        </p:txBody>
      </p:sp>
      <p:sp>
        <p:nvSpPr>
          <p:cNvPr name="TextBox 108" id="108"/>
          <p:cNvSpPr txBox="true"/>
          <p:nvPr/>
        </p:nvSpPr>
        <p:spPr>
          <a:xfrm rot="0">
            <a:off x="4800600" y="2084070"/>
            <a:ext cx="3566160" cy="293370"/>
          </a:xfrm>
          <a:prstGeom prst="rect">
            <a:avLst/>
          </a:prstGeom>
        </p:spPr>
        <p:txBody>
          <a:bodyPr anchor="t" rtlCol="false" tIns="0" lIns="0" bIns="0" rIns="0">
            <a:spAutoFit/>
          </a:bodyPr>
          <a:lstStyle/>
          <a:p>
            <a:pPr algn="l">
              <a:lnSpc>
                <a:spcPts val="1500"/>
              </a:lnSpc>
            </a:pPr>
            <a:r>
              <a:rPr lang="en-US" sz="1250" b="true">
                <a:solidFill>
                  <a:srgbClr val="737AE6"/>
                </a:solidFill>
                <a:latin typeface="Arial Bold"/>
                <a:ea typeface="Arial Bold"/>
                <a:cs typeface="Arial Bold"/>
                <a:sym typeface="Arial Bold"/>
              </a:rPr>
              <a:t>GRADING METHOD</a:t>
            </a:r>
          </a:p>
        </p:txBody>
      </p:sp>
      <p:sp>
        <p:nvSpPr>
          <p:cNvPr name="TextBox 109" id="109"/>
          <p:cNvSpPr txBox="true"/>
          <p:nvPr/>
        </p:nvSpPr>
        <p:spPr>
          <a:xfrm rot="0">
            <a:off x="8869680" y="2084070"/>
            <a:ext cx="3246120" cy="293370"/>
          </a:xfrm>
          <a:prstGeom prst="rect">
            <a:avLst/>
          </a:prstGeom>
        </p:spPr>
        <p:txBody>
          <a:bodyPr anchor="t" rtlCol="false" tIns="0" lIns="0" bIns="0" rIns="0">
            <a:spAutoFit/>
          </a:bodyPr>
          <a:lstStyle/>
          <a:p>
            <a:pPr algn="l">
              <a:lnSpc>
                <a:spcPts val="1500"/>
              </a:lnSpc>
            </a:pPr>
            <a:r>
              <a:rPr lang="en-US" sz="1250" b="true">
                <a:solidFill>
                  <a:srgbClr val="737AE6"/>
                </a:solidFill>
                <a:latin typeface="Arial Bold"/>
                <a:ea typeface="Arial Bold"/>
                <a:cs typeface="Arial Bold"/>
                <a:sym typeface="Arial Bold"/>
              </a:rPr>
              <a:t>CHEATING CHECK</a:t>
            </a:r>
          </a:p>
        </p:txBody>
      </p:sp>
      <p:sp>
        <p:nvSpPr>
          <p:cNvPr name="TextBox 110" id="110"/>
          <p:cNvSpPr txBox="true"/>
          <p:nvPr/>
        </p:nvSpPr>
        <p:spPr>
          <a:xfrm rot="0">
            <a:off x="12618720" y="2084070"/>
            <a:ext cx="3520440" cy="293370"/>
          </a:xfrm>
          <a:prstGeom prst="rect">
            <a:avLst/>
          </a:prstGeom>
        </p:spPr>
        <p:txBody>
          <a:bodyPr anchor="t" rtlCol="false" tIns="0" lIns="0" bIns="0" rIns="0">
            <a:spAutoFit/>
          </a:bodyPr>
          <a:lstStyle/>
          <a:p>
            <a:pPr algn="l">
              <a:lnSpc>
                <a:spcPts val="1500"/>
              </a:lnSpc>
            </a:pPr>
            <a:r>
              <a:rPr lang="en-US" sz="1250" b="true">
                <a:solidFill>
                  <a:srgbClr val="737AE6"/>
                </a:solidFill>
                <a:latin typeface="Arial Bold"/>
                <a:ea typeface="Arial Bold"/>
                <a:cs typeface="Arial Bold"/>
                <a:sym typeface="Arial Bold"/>
              </a:rPr>
              <a:t>FINAL SCORE</a:t>
            </a:r>
          </a:p>
        </p:txBody>
      </p:sp>
      <p:grpSp>
        <p:nvGrpSpPr>
          <p:cNvPr name="Group 111" id="111"/>
          <p:cNvGrpSpPr/>
          <p:nvPr/>
        </p:nvGrpSpPr>
        <p:grpSpPr>
          <a:xfrm rot="0">
            <a:off x="914400" y="2560320"/>
            <a:ext cx="3383280" cy="1280160"/>
            <a:chOff x="0" y="0"/>
            <a:chExt cx="4511040" cy="1706880"/>
          </a:xfrm>
        </p:grpSpPr>
        <p:sp>
          <p:nvSpPr>
            <p:cNvPr name="Freeform 112" id="112"/>
            <p:cNvSpPr/>
            <p:nvPr/>
          </p:nvSpPr>
          <p:spPr>
            <a:xfrm flipH="false" flipV="false" rot="0">
              <a:off x="0" y="0"/>
              <a:ext cx="4511040" cy="1706880"/>
            </a:xfrm>
            <a:custGeom>
              <a:avLst/>
              <a:gdLst/>
              <a:ahLst/>
              <a:cxnLst/>
              <a:rect r="r" b="b" t="t" l="l"/>
              <a:pathLst>
                <a:path h="1706880" w="4511040">
                  <a:moveTo>
                    <a:pt x="0" y="136525"/>
                  </a:moveTo>
                  <a:cubicBezTo>
                    <a:pt x="0" y="61087"/>
                    <a:pt x="61087" y="0"/>
                    <a:pt x="136525" y="0"/>
                  </a:cubicBezTo>
                  <a:lnTo>
                    <a:pt x="4374515" y="0"/>
                  </a:lnTo>
                  <a:cubicBezTo>
                    <a:pt x="4449953" y="0"/>
                    <a:pt x="4511040" y="61087"/>
                    <a:pt x="4511040" y="136525"/>
                  </a:cubicBezTo>
                  <a:lnTo>
                    <a:pt x="4511040" y="1570355"/>
                  </a:lnTo>
                  <a:cubicBezTo>
                    <a:pt x="4511040" y="1645793"/>
                    <a:pt x="4449953" y="1706880"/>
                    <a:pt x="4374515" y="1706880"/>
                  </a:cubicBezTo>
                  <a:lnTo>
                    <a:pt x="136525" y="1706880"/>
                  </a:lnTo>
                  <a:cubicBezTo>
                    <a:pt x="61087" y="1706880"/>
                    <a:pt x="0" y="1645793"/>
                    <a:pt x="0" y="1570355"/>
                  </a:cubicBezTo>
                  <a:close/>
                </a:path>
              </a:pathLst>
            </a:custGeom>
            <a:solidFill>
              <a:srgbClr val="FFFFFF"/>
            </a:solidFill>
          </p:spPr>
        </p:sp>
      </p:grpSp>
      <p:grpSp>
        <p:nvGrpSpPr>
          <p:cNvPr name="Group 113" id="113"/>
          <p:cNvGrpSpPr/>
          <p:nvPr/>
        </p:nvGrpSpPr>
        <p:grpSpPr>
          <a:xfrm rot="0">
            <a:off x="1188720" y="2948940"/>
            <a:ext cx="502920" cy="502920"/>
            <a:chOff x="0" y="0"/>
            <a:chExt cx="670560" cy="670560"/>
          </a:xfrm>
        </p:grpSpPr>
        <p:sp>
          <p:nvSpPr>
            <p:cNvPr name="Freeform 114" id="114" descr="checkbox.png"/>
            <p:cNvSpPr/>
            <p:nvPr/>
          </p:nvSpPr>
          <p:spPr>
            <a:xfrm flipH="false" flipV="false" rot="0">
              <a:off x="0" y="0"/>
              <a:ext cx="670560" cy="670560"/>
            </a:xfrm>
            <a:custGeom>
              <a:avLst/>
              <a:gdLst/>
              <a:ahLst/>
              <a:cxnLst/>
              <a:rect r="r" b="b" t="t" l="l"/>
              <a:pathLst>
                <a:path h="670560" w="670560">
                  <a:moveTo>
                    <a:pt x="0" y="0"/>
                  </a:moveTo>
                  <a:lnTo>
                    <a:pt x="670560" y="0"/>
                  </a:lnTo>
                  <a:lnTo>
                    <a:pt x="670560" y="670560"/>
                  </a:lnTo>
                  <a:lnTo>
                    <a:pt x="0" y="670560"/>
                  </a:lnTo>
                  <a:lnTo>
                    <a:pt x="0" y="0"/>
                  </a:lnTo>
                  <a:close/>
                </a:path>
              </a:pathLst>
            </a:custGeom>
            <a:blipFill>
              <a:blip r:embed="rId5"/>
              <a:stretch>
                <a:fillRect l="0" t="0" r="0" b="0"/>
              </a:stretch>
            </a:blipFill>
          </p:spPr>
        </p:sp>
      </p:grpSp>
      <p:grpSp>
        <p:nvGrpSpPr>
          <p:cNvPr name="Group 115" id="115"/>
          <p:cNvGrpSpPr/>
          <p:nvPr/>
        </p:nvGrpSpPr>
        <p:grpSpPr>
          <a:xfrm rot="0">
            <a:off x="1874520" y="2560320"/>
            <a:ext cx="2286000" cy="1280160"/>
            <a:chOff x="0" y="0"/>
            <a:chExt cx="3048000" cy="1706880"/>
          </a:xfrm>
        </p:grpSpPr>
        <p:sp>
          <p:nvSpPr>
            <p:cNvPr name="Freeform 116" id="116"/>
            <p:cNvSpPr/>
            <p:nvPr/>
          </p:nvSpPr>
          <p:spPr>
            <a:xfrm flipH="false" flipV="false" rot="0">
              <a:off x="0" y="0"/>
              <a:ext cx="3048000" cy="1706880"/>
            </a:xfrm>
            <a:custGeom>
              <a:avLst/>
              <a:gdLst/>
              <a:ahLst/>
              <a:cxnLst/>
              <a:rect r="r" b="b" t="t" l="l"/>
              <a:pathLst>
                <a:path h="1706880" w="3048000">
                  <a:moveTo>
                    <a:pt x="0" y="0"/>
                  </a:moveTo>
                  <a:lnTo>
                    <a:pt x="3048000" y="0"/>
                  </a:lnTo>
                  <a:lnTo>
                    <a:pt x="3048000" y="1706880"/>
                  </a:lnTo>
                  <a:lnTo>
                    <a:pt x="0" y="1706880"/>
                  </a:lnTo>
                  <a:close/>
                </a:path>
              </a:pathLst>
            </a:custGeom>
            <a:blipFill>
              <a:blip r:embed="rId4">
                <a:alphaModFix amt="0"/>
              </a:blip>
              <a:stretch>
                <a:fillRect l="-21850" t="0" r="-21850" b="0"/>
              </a:stretch>
            </a:blipFill>
          </p:spPr>
        </p:sp>
        <p:sp>
          <p:nvSpPr>
            <p:cNvPr name="TextBox 117" id="117"/>
            <p:cNvSpPr txBox="true"/>
            <p:nvPr/>
          </p:nvSpPr>
          <p:spPr>
            <a:xfrm>
              <a:off x="0" y="-19050"/>
              <a:ext cx="3048000" cy="1725930"/>
            </a:xfrm>
            <a:prstGeom prst="rect">
              <a:avLst/>
            </a:prstGeom>
          </p:spPr>
          <p:txBody>
            <a:bodyPr anchor="ctr" rtlCol="false" tIns="0" lIns="0" bIns="0" rIns="0"/>
            <a:lstStyle/>
            <a:p>
              <a:pPr algn="l">
                <a:lnSpc>
                  <a:spcPts val="1800"/>
                </a:lnSpc>
              </a:pPr>
              <a:r>
                <a:rPr lang="en-US" sz="1500" b="true">
                  <a:solidFill>
                    <a:srgbClr val="1F3338"/>
                  </a:solidFill>
                  <a:latin typeface="Arial Bold"/>
                  <a:ea typeface="Arial Bold"/>
                  <a:cs typeface="Arial Bold"/>
                  <a:sym typeface="Arial Bold"/>
                </a:rPr>
                <a:t>Radio / Checkbox</a:t>
              </a:r>
            </a:p>
          </p:txBody>
        </p:sp>
      </p:grpSp>
      <p:grpSp>
        <p:nvGrpSpPr>
          <p:cNvPr name="Group 118" id="118"/>
          <p:cNvGrpSpPr/>
          <p:nvPr/>
        </p:nvGrpSpPr>
        <p:grpSpPr>
          <a:xfrm rot="0">
            <a:off x="914400" y="4206240"/>
            <a:ext cx="3383280" cy="1280160"/>
            <a:chOff x="0" y="0"/>
            <a:chExt cx="4511040" cy="1706880"/>
          </a:xfrm>
        </p:grpSpPr>
        <p:sp>
          <p:nvSpPr>
            <p:cNvPr name="Freeform 119" id="119"/>
            <p:cNvSpPr/>
            <p:nvPr/>
          </p:nvSpPr>
          <p:spPr>
            <a:xfrm flipH="false" flipV="false" rot="0">
              <a:off x="0" y="0"/>
              <a:ext cx="4511040" cy="1706880"/>
            </a:xfrm>
            <a:custGeom>
              <a:avLst/>
              <a:gdLst/>
              <a:ahLst/>
              <a:cxnLst/>
              <a:rect r="r" b="b" t="t" l="l"/>
              <a:pathLst>
                <a:path h="1706880" w="4511040">
                  <a:moveTo>
                    <a:pt x="0" y="136525"/>
                  </a:moveTo>
                  <a:cubicBezTo>
                    <a:pt x="0" y="61087"/>
                    <a:pt x="61087" y="0"/>
                    <a:pt x="136525" y="0"/>
                  </a:cubicBezTo>
                  <a:lnTo>
                    <a:pt x="4374515" y="0"/>
                  </a:lnTo>
                  <a:cubicBezTo>
                    <a:pt x="4449953" y="0"/>
                    <a:pt x="4511040" y="61087"/>
                    <a:pt x="4511040" y="136525"/>
                  </a:cubicBezTo>
                  <a:lnTo>
                    <a:pt x="4511040" y="1570355"/>
                  </a:lnTo>
                  <a:cubicBezTo>
                    <a:pt x="4511040" y="1645793"/>
                    <a:pt x="4449953" y="1706880"/>
                    <a:pt x="4374515" y="1706880"/>
                  </a:cubicBezTo>
                  <a:lnTo>
                    <a:pt x="136525" y="1706880"/>
                  </a:lnTo>
                  <a:cubicBezTo>
                    <a:pt x="61087" y="1706880"/>
                    <a:pt x="0" y="1645793"/>
                    <a:pt x="0" y="1570355"/>
                  </a:cubicBezTo>
                  <a:close/>
                </a:path>
              </a:pathLst>
            </a:custGeom>
            <a:solidFill>
              <a:srgbClr val="FFFFFF"/>
            </a:solidFill>
          </p:spPr>
        </p:sp>
      </p:grpSp>
      <p:grpSp>
        <p:nvGrpSpPr>
          <p:cNvPr name="Group 120" id="120"/>
          <p:cNvGrpSpPr/>
          <p:nvPr/>
        </p:nvGrpSpPr>
        <p:grpSpPr>
          <a:xfrm rot="0">
            <a:off x="1188720" y="4594860"/>
            <a:ext cx="502920" cy="502920"/>
            <a:chOff x="0" y="0"/>
            <a:chExt cx="670560" cy="670560"/>
          </a:xfrm>
        </p:grpSpPr>
        <p:sp>
          <p:nvSpPr>
            <p:cNvPr name="Freeform 121" id="121" descr="code.png"/>
            <p:cNvSpPr/>
            <p:nvPr/>
          </p:nvSpPr>
          <p:spPr>
            <a:xfrm flipH="false" flipV="false" rot="0">
              <a:off x="0" y="0"/>
              <a:ext cx="670560" cy="670560"/>
            </a:xfrm>
            <a:custGeom>
              <a:avLst/>
              <a:gdLst/>
              <a:ahLst/>
              <a:cxnLst/>
              <a:rect r="r" b="b" t="t" l="l"/>
              <a:pathLst>
                <a:path h="670560" w="670560">
                  <a:moveTo>
                    <a:pt x="0" y="0"/>
                  </a:moveTo>
                  <a:lnTo>
                    <a:pt x="670560" y="0"/>
                  </a:lnTo>
                  <a:lnTo>
                    <a:pt x="670560" y="670560"/>
                  </a:lnTo>
                  <a:lnTo>
                    <a:pt x="0" y="670560"/>
                  </a:lnTo>
                  <a:lnTo>
                    <a:pt x="0" y="0"/>
                  </a:lnTo>
                  <a:close/>
                </a:path>
              </a:pathLst>
            </a:custGeom>
            <a:blipFill>
              <a:blip r:embed="rId6"/>
              <a:stretch>
                <a:fillRect l="0" t="0" r="0" b="0"/>
              </a:stretch>
            </a:blipFill>
          </p:spPr>
        </p:sp>
      </p:grpSp>
      <p:grpSp>
        <p:nvGrpSpPr>
          <p:cNvPr name="Group 122" id="122"/>
          <p:cNvGrpSpPr/>
          <p:nvPr/>
        </p:nvGrpSpPr>
        <p:grpSpPr>
          <a:xfrm rot="0">
            <a:off x="1874520" y="4206240"/>
            <a:ext cx="2286000" cy="1280160"/>
            <a:chOff x="0" y="0"/>
            <a:chExt cx="3048000" cy="1706880"/>
          </a:xfrm>
        </p:grpSpPr>
        <p:sp>
          <p:nvSpPr>
            <p:cNvPr name="Freeform 123" id="123"/>
            <p:cNvSpPr/>
            <p:nvPr/>
          </p:nvSpPr>
          <p:spPr>
            <a:xfrm flipH="false" flipV="false" rot="0">
              <a:off x="0" y="0"/>
              <a:ext cx="3048000" cy="1706880"/>
            </a:xfrm>
            <a:custGeom>
              <a:avLst/>
              <a:gdLst/>
              <a:ahLst/>
              <a:cxnLst/>
              <a:rect r="r" b="b" t="t" l="l"/>
              <a:pathLst>
                <a:path h="1706880" w="3048000">
                  <a:moveTo>
                    <a:pt x="0" y="0"/>
                  </a:moveTo>
                  <a:lnTo>
                    <a:pt x="3048000" y="0"/>
                  </a:lnTo>
                  <a:lnTo>
                    <a:pt x="3048000" y="1706880"/>
                  </a:lnTo>
                  <a:lnTo>
                    <a:pt x="0" y="1706880"/>
                  </a:lnTo>
                  <a:close/>
                </a:path>
              </a:pathLst>
            </a:custGeom>
            <a:blipFill>
              <a:blip r:embed="rId4">
                <a:alphaModFix amt="0"/>
              </a:blip>
              <a:stretch>
                <a:fillRect l="-21850" t="0" r="-21850" b="0"/>
              </a:stretch>
            </a:blipFill>
          </p:spPr>
        </p:sp>
        <p:sp>
          <p:nvSpPr>
            <p:cNvPr name="TextBox 124" id="124"/>
            <p:cNvSpPr txBox="true"/>
            <p:nvPr/>
          </p:nvSpPr>
          <p:spPr>
            <a:xfrm>
              <a:off x="0" y="-19050"/>
              <a:ext cx="3048000" cy="1725930"/>
            </a:xfrm>
            <a:prstGeom prst="rect">
              <a:avLst/>
            </a:prstGeom>
          </p:spPr>
          <p:txBody>
            <a:bodyPr anchor="ctr" rtlCol="false" tIns="0" lIns="0" bIns="0" rIns="0"/>
            <a:lstStyle/>
            <a:p>
              <a:pPr algn="l">
                <a:lnSpc>
                  <a:spcPts val="1800"/>
                </a:lnSpc>
              </a:pPr>
              <a:r>
                <a:rPr lang="en-US" sz="1500" b="true">
                  <a:solidFill>
                    <a:srgbClr val="1F3338"/>
                  </a:solidFill>
                  <a:latin typeface="Arial Bold"/>
                  <a:ea typeface="Arial Bold"/>
                  <a:cs typeface="Arial Bold"/>
                  <a:sym typeface="Arial Bold"/>
                </a:rPr>
                <a:t>Code Editor</a:t>
              </a:r>
            </a:p>
          </p:txBody>
        </p:sp>
      </p:grpSp>
      <p:grpSp>
        <p:nvGrpSpPr>
          <p:cNvPr name="Group 125" id="125"/>
          <p:cNvGrpSpPr/>
          <p:nvPr/>
        </p:nvGrpSpPr>
        <p:grpSpPr>
          <a:xfrm rot="0">
            <a:off x="4343400" y="3054096"/>
            <a:ext cx="411480" cy="292608"/>
            <a:chOff x="0" y="0"/>
            <a:chExt cx="548640" cy="390144"/>
          </a:xfrm>
        </p:grpSpPr>
        <p:sp>
          <p:nvSpPr>
            <p:cNvPr name="Freeform 126" id="126"/>
            <p:cNvSpPr/>
            <p:nvPr/>
          </p:nvSpPr>
          <p:spPr>
            <a:xfrm flipH="false" flipV="false" rot="0">
              <a:off x="0" y="0"/>
              <a:ext cx="548640" cy="390144"/>
            </a:xfrm>
            <a:custGeom>
              <a:avLst/>
              <a:gdLst/>
              <a:ahLst/>
              <a:cxnLst/>
              <a:rect r="r" b="b" t="t" l="l"/>
              <a:pathLst>
                <a:path h="390144" w="548640">
                  <a:moveTo>
                    <a:pt x="0" y="97536"/>
                  </a:moveTo>
                  <a:lnTo>
                    <a:pt x="353568" y="97536"/>
                  </a:lnTo>
                  <a:lnTo>
                    <a:pt x="353568" y="0"/>
                  </a:lnTo>
                  <a:lnTo>
                    <a:pt x="548640" y="195072"/>
                  </a:lnTo>
                  <a:lnTo>
                    <a:pt x="353568" y="390144"/>
                  </a:lnTo>
                  <a:lnTo>
                    <a:pt x="353568" y="292608"/>
                  </a:lnTo>
                  <a:lnTo>
                    <a:pt x="0" y="292608"/>
                  </a:lnTo>
                  <a:close/>
                </a:path>
              </a:pathLst>
            </a:custGeom>
            <a:solidFill>
              <a:srgbClr val="5A6B6E"/>
            </a:solidFill>
          </p:spPr>
        </p:sp>
      </p:grpSp>
      <p:grpSp>
        <p:nvGrpSpPr>
          <p:cNvPr name="Group 127" id="127"/>
          <p:cNvGrpSpPr/>
          <p:nvPr/>
        </p:nvGrpSpPr>
        <p:grpSpPr>
          <a:xfrm rot="0">
            <a:off x="4343400" y="4700016"/>
            <a:ext cx="411480" cy="292608"/>
            <a:chOff x="0" y="0"/>
            <a:chExt cx="548640" cy="390144"/>
          </a:xfrm>
        </p:grpSpPr>
        <p:sp>
          <p:nvSpPr>
            <p:cNvPr name="Freeform 128" id="128"/>
            <p:cNvSpPr/>
            <p:nvPr/>
          </p:nvSpPr>
          <p:spPr>
            <a:xfrm flipH="false" flipV="false" rot="0">
              <a:off x="0" y="0"/>
              <a:ext cx="548640" cy="390144"/>
            </a:xfrm>
            <a:custGeom>
              <a:avLst/>
              <a:gdLst/>
              <a:ahLst/>
              <a:cxnLst/>
              <a:rect r="r" b="b" t="t" l="l"/>
              <a:pathLst>
                <a:path h="390144" w="548640">
                  <a:moveTo>
                    <a:pt x="0" y="97536"/>
                  </a:moveTo>
                  <a:lnTo>
                    <a:pt x="353568" y="97536"/>
                  </a:lnTo>
                  <a:lnTo>
                    <a:pt x="353568" y="0"/>
                  </a:lnTo>
                  <a:lnTo>
                    <a:pt x="548640" y="195072"/>
                  </a:lnTo>
                  <a:lnTo>
                    <a:pt x="353568" y="390144"/>
                  </a:lnTo>
                  <a:lnTo>
                    <a:pt x="353568" y="292608"/>
                  </a:lnTo>
                  <a:lnTo>
                    <a:pt x="0" y="292608"/>
                  </a:lnTo>
                  <a:close/>
                </a:path>
              </a:pathLst>
            </a:custGeom>
            <a:solidFill>
              <a:srgbClr val="5A6B6E"/>
            </a:solidFill>
          </p:spPr>
        </p:sp>
      </p:grpSp>
      <p:grpSp>
        <p:nvGrpSpPr>
          <p:cNvPr name="Group 129" id="129"/>
          <p:cNvGrpSpPr/>
          <p:nvPr/>
        </p:nvGrpSpPr>
        <p:grpSpPr>
          <a:xfrm rot="0">
            <a:off x="4800600" y="2560320"/>
            <a:ext cx="3566160" cy="1280160"/>
            <a:chOff x="0" y="0"/>
            <a:chExt cx="4754880" cy="1706880"/>
          </a:xfrm>
        </p:grpSpPr>
        <p:sp>
          <p:nvSpPr>
            <p:cNvPr name="Freeform 130" id="130"/>
            <p:cNvSpPr/>
            <p:nvPr/>
          </p:nvSpPr>
          <p:spPr>
            <a:xfrm flipH="false" flipV="false" rot="0">
              <a:off x="0" y="0"/>
              <a:ext cx="4754880" cy="1706880"/>
            </a:xfrm>
            <a:custGeom>
              <a:avLst/>
              <a:gdLst/>
              <a:ahLst/>
              <a:cxnLst/>
              <a:rect r="r" b="b" t="t" l="l"/>
              <a:pathLst>
                <a:path h="1706880" w="4754880">
                  <a:moveTo>
                    <a:pt x="0" y="136525"/>
                  </a:moveTo>
                  <a:cubicBezTo>
                    <a:pt x="0" y="61087"/>
                    <a:pt x="61087" y="0"/>
                    <a:pt x="136525" y="0"/>
                  </a:cubicBezTo>
                  <a:lnTo>
                    <a:pt x="4618355" y="0"/>
                  </a:lnTo>
                  <a:cubicBezTo>
                    <a:pt x="4693793" y="0"/>
                    <a:pt x="4754880" y="61087"/>
                    <a:pt x="4754880" y="136525"/>
                  </a:cubicBezTo>
                  <a:lnTo>
                    <a:pt x="4754880" y="1570355"/>
                  </a:lnTo>
                  <a:cubicBezTo>
                    <a:pt x="4754880" y="1645793"/>
                    <a:pt x="4693793" y="1706880"/>
                    <a:pt x="4618355" y="1706880"/>
                  </a:cubicBezTo>
                  <a:lnTo>
                    <a:pt x="136525" y="1706880"/>
                  </a:lnTo>
                  <a:cubicBezTo>
                    <a:pt x="61087" y="1706880"/>
                    <a:pt x="0" y="1645793"/>
                    <a:pt x="0" y="1570355"/>
                  </a:cubicBezTo>
                  <a:close/>
                </a:path>
              </a:pathLst>
            </a:custGeom>
            <a:solidFill>
              <a:srgbClr val="C8DAE4"/>
            </a:solidFill>
          </p:spPr>
        </p:sp>
      </p:grpSp>
      <p:grpSp>
        <p:nvGrpSpPr>
          <p:cNvPr name="Group 131" id="131"/>
          <p:cNvGrpSpPr/>
          <p:nvPr/>
        </p:nvGrpSpPr>
        <p:grpSpPr>
          <a:xfrm rot="0">
            <a:off x="5074920" y="2560320"/>
            <a:ext cx="3017520" cy="1280160"/>
            <a:chOff x="0" y="0"/>
            <a:chExt cx="4023360" cy="1706880"/>
          </a:xfrm>
        </p:grpSpPr>
        <p:sp>
          <p:nvSpPr>
            <p:cNvPr name="Freeform 132" id="132"/>
            <p:cNvSpPr/>
            <p:nvPr/>
          </p:nvSpPr>
          <p:spPr>
            <a:xfrm flipH="false" flipV="false" rot="0">
              <a:off x="0" y="0"/>
              <a:ext cx="4023360" cy="1706880"/>
            </a:xfrm>
            <a:custGeom>
              <a:avLst/>
              <a:gdLst/>
              <a:ahLst/>
              <a:cxnLst/>
              <a:rect r="r" b="b" t="t" l="l"/>
              <a:pathLst>
                <a:path h="1706880" w="4023360">
                  <a:moveTo>
                    <a:pt x="0" y="0"/>
                  </a:moveTo>
                  <a:lnTo>
                    <a:pt x="4023360" y="0"/>
                  </a:lnTo>
                  <a:lnTo>
                    <a:pt x="4023360" y="1706880"/>
                  </a:lnTo>
                  <a:lnTo>
                    <a:pt x="0" y="1706880"/>
                  </a:lnTo>
                  <a:close/>
                </a:path>
              </a:pathLst>
            </a:custGeom>
            <a:blipFill>
              <a:blip r:embed="rId4">
                <a:alphaModFix amt="0"/>
              </a:blip>
              <a:stretch>
                <a:fillRect l="-4431" t="0" r="-4431" b="0"/>
              </a:stretch>
            </a:blipFill>
          </p:spPr>
        </p:sp>
        <p:sp>
          <p:nvSpPr>
            <p:cNvPr name="TextBox 133" id="133"/>
            <p:cNvSpPr txBox="true"/>
            <p:nvPr/>
          </p:nvSpPr>
          <p:spPr>
            <a:xfrm>
              <a:off x="0" y="-19050"/>
              <a:ext cx="4023360" cy="1725930"/>
            </a:xfrm>
            <a:prstGeom prst="rect">
              <a:avLst/>
            </a:prstGeom>
          </p:spPr>
          <p:txBody>
            <a:bodyPr anchor="ctr" rtlCol="false" tIns="0" lIns="0" bIns="0" rIns="0"/>
            <a:lstStyle/>
            <a:p>
              <a:pPr algn="l">
                <a:lnSpc>
                  <a:spcPts val="1620"/>
                </a:lnSpc>
              </a:pPr>
              <a:r>
                <a:rPr lang="en-US" sz="1350">
                  <a:solidFill>
                    <a:srgbClr val="1F3338"/>
                  </a:solidFill>
                  <a:latin typeface="Arial"/>
                  <a:ea typeface="Arial"/>
                  <a:cs typeface="Arial"/>
                  <a:sym typeface="Arial"/>
                </a:rPr>
                <a:t>Exact match against correct answer(s)</a:t>
              </a:r>
            </a:p>
          </p:txBody>
        </p:sp>
      </p:grpSp>
      <p:grpSp>
        <p:nvGrpSpPr>
          <p:cNvPr name="Group 134" id="134"/>
          <p:cNvGrpSpPr/>
          <p:nvPr/>
        </p:nvGrpSpPr>
        <p:grpSpPr>
          <a:xfrm rot="0">
            <a:off x="4800600" y="4206240"/>
            <a:ext cx="3566160" cy="1280160"/>
            <a:chOff x="0" y="0"/>
            <a:chExt cx="4754880" cy="1706880"/>
          </a:xfrm>
        </p:grpSpPr>
        <p:sp>
          <p:nvSpPr>
            <p:cNvPr name="Freeform 135" id="135"/>
            <p:cNvSpPr/>
            <p:nvPr/>
          </p:nvSpPr>
          <p:spPr>
            <a:xfrm flipH="false" flipV="false" rot="0">
              <a:off x="0" y="0"/>
              <a:ext cx="4754880" cy="1706880"/>
            </a:xfrm>
            <a:custGeom>
              <a:avLst/>
              <a:gdLst/>
              <a:ahLst/>
              <a:cxnLst/>
              <a:rect r="r" b="b" t="t" l="l"/>
              <a:pathLst>
                <a:path h="1706880" w="4754880">
                  <a:moveTo>
                    <a:pt x="0" y="136525"/>
                  </a:moveTo>
                  <a:cubicBezTo>
                    <a:pt x="0" y="61087"/>
                    <a:pt x="61087" y="0"/>
                    <a:pt x="136525" y="0"/>
                  </a:cubicBezTo>
                  <a:lnTo>
                    <a:pt x="4618355" y="0"/>
                  </a:lnTo>
                  <a:cubicBezTo>
                    <a:pt x="4693793" y="0"/>
                    <a:pt x="4754880" y="61087"/>
                    <a:pt x="4754880" y="136525"/>
                  </a:cubicBezTo>
                  <a:lnTo>
                    <a:pt x="4754880" y="1570355"/>
                  </a:lnTo>
                  <a:cubicBezTo>
                    <a:pt x="4754880" y="1645793"/>
                    <a:pt x="4693793" y="1706880"/>
                    <a:pt x="4618355" y="1706880"/>
                  </a:cubicBezTo>
                  <a:lnTo>
                    <a:pt x="136525" y="1706880"/>
                  </a:lnTo>
                  <a:cubicBezTo>
                    <a:pt x="61087" y="1706880"/>
                    <a:pt x="0" y="1645793"/>
                    <a:pt x="0" y="1570355"/>
                  </a:cubicBezTo>
                  <a:close/>
                </a:path>
              </a:pathLst>
            </a:custGeom>
            <a:solidFill>
              <a:srgbClr val="1F3338"/>
            </a:solidFill>
          </p:spPr>
        </p:sp>
      </p:grpSp>
      <p:sp>
        <p:nvSpPr>
          <p:cNvPr name="TextBox 136" id="136"/>
          <p:cNvSpPr txBox="true"/>
          <p:nvPr/>
        </p:nvSpPr>
        <p:spPr>
          <a:xfrm rot="0">
            <a:off x="5074920" y="4900422"/>
            <a:ext cx="3017520" cy="659130"/>
          </a:xfrm>
          <a:prstGeom prst="rect">
            <a:avLst/>
          </a:prstGeom>
        </p:spPr>
        <p:txBody>
          <a:bodyPr anchor="t" rtlCol="false" tIns="0" lIns="0" bIns="0" rIns="0">
            <a:spAutoFit/>
          </a:bodyPr>
          <a:lstStyle/>
          <a:p>
            <a:pPr algn="l">
              <a:lnSpc>
                <a:spcPts val="1559"/>
              </a:lnSpc>
            </a:pPr>
            <a:r>
              <a:rPr lang="en-US" sz="1299" b="true">
                <a:solidFill>
                  <a:srgbClr val="FFFFFF"/>
                </a:solidFill>
                <a:latin typeface="Arial Bold"/>
                <a:ea typeface="Arial Bold"/>
                <a:cs typeface="Arial Bold"/>
                <a:sym typeface="Arial Bold"/>
              </a:rPr>
              <a:t>Graded by GPT-5.4 mini — binary 0 / 1</a:t>
            </a:r>
          </a:p>
        </p:txBody>
      </p:sp>
      <p:grpSp>
        <p:nvGrpSpPr>
          <p:cNvPr name="Group 137" id="137"/>
          <p:cNvGrpSpPr/>
          <p:nvPr/>
        </p:nvGrpSpPr>
        <p:grpSpPr>
          <a:xfrm rot="0">
            <a:off x="8412480" y="3877056"/>
            <a:ext cx="411480" cy="292608"/>
            <a:chOff x="0" y="0"/>
            <a:chExt cx="548640" cy="390144"/>
          </a:xfrm>
        </p:grpSpPr>
        <p:sp>
          <p:nvSpPr>
            <p:cNvPr name="Freeform 138" id="138"/>
            <p:cNvSpPr/>
            <p:nvPr/>
          </p:nvSpPr>
          <p:spPr>
            <a:xfrm flipH="false" flipV="false" rot="0">
              <a:off x="0" y="0"/>
              <a:ext cx="548640" cy="390144"/>
            </a:xfrm>
            <a:custGeom>
              <a:avLst/>
              <a:gdLst/>
              <a:ahLst/>
              <a:cxnLst/>
              <a:rect r="r" b="b" t="t" l="l"/>
              <a:pathLst>
                <a:path h="390144" w="548640">
                  <a:moveTo>
                    <a:pt x="0" y="97536"/>
                  </a:moveTo>
                  <a:lnTo>
                    <a:pt x="353568" y="97536"/>
                  </a:lnTo>
                  <a:lnTo>
                    <a:pt x="353568" y="0"/>
                  </a:lnTo>
                  <a:lnTo>
                    <a:pt x="548640" y="195072"/>
                  </a:lnTo>
                  <a:lnTo>
                    <a:pt x="353568" y="390144"/>
                  </a:lnTo>
                  <a:lnTo>
                    <a:pt x="353568" y="292608"/>
                  </a:lnTo>
                  <a:lnTo>
                    <a:pt x="0" y="292608"/>
                  </a:lnTo>
                  <a:close/>
                </a:path>
              </a:pathLst>
            </a:custGeom>
            <a:solidFill>
              <a:srgbClr val="5A6B6E"/>
            </a:solidFill>
          </p:spPr>
        </p:sp>
      </p:grpSp>
      <p:grpSp>
        <p:nvGrpSpPr>
          <p:cNvPr name="Group 139" id="139"/>
          <p:cNvGrpSpPr/>
          <p:nvPr/>
        </p:nvGrpSpPr>
        <p:grpSpPr>
          <a:xfrm rot="0">
            <a:off x="8869680" y="2560320"/>
            <a:ext cx="3246120" cy="2926080"/>
            <a:chOff x="0" y="0"/>
            <a:chExt cx="4328160" cy="3901440"/>
          </a:xfrm>
        </p:grpSpPr>
        <p:sp>
          <p:nvSpPr>
            <p:cNvPr name="Freeform 140" id="140"/>
            <p:cNvSpPr/>
            <p:nvPr/>
          </p:nvSpPr>
          <p:spPr>
            <a:xfrm flipH="false" flipV="false" rot="0">
              <a:off x="0" y="0"/>
              <a:ext cx="4328160" cy="3901440"/>
            </a:xfrm>
            <a:custGeom>
              <a:avLst/>
              <a:gdLst/>
              <a:ahLst/>
              <a:cxnLst/>
              <a:rect r="r" b="b" t="t" l="l"/>
              <a:pathLst>
                <a:path h="3901440" w="4328160">
                  <a:moveTo>
                    <a:pt x="0" y="312166"/>
                  </a:moveTo>
                  <a:cubicBezTo>
                    <a:pt x="0" y="139700"/>
                    <a:pt x="139700" y="0"/>
                    <a:pt x="312166" y="0"/>
                  </a:cubicBezTo>
                  <a:lnTo>
                    <a:pt x="4015994" y="0"/>
                  </a:lnTo>
                  <a:cubicBezTo>
                    <a:pt x="4188460" y="0"/>
                    <a:pt x="4328160" y="139700"/>
                    <a:pt x="4328160" y="312166"/>
                  </a:cubicBezTo>
                  <a:lnTo>
                    <a:pt x="4328160" y="3589274"/>
                  </a:lnTo>
                  <a:cubicBezTo>
                    <a:pt x="4328160" y="3761613"/>
                    <a:pt x="4188460" y="3901440"/>
                    <a:pt x="4015994" y="3901440"/>
                  </a:cubicBezTo>
                  <a:lnTo>
                    <a:pt x="312166" y="3901440"/>
                  </a:lnTo>
                  <a:cubicBezTo>
                    <a:pt x="139700" y="3901440"/>
                    <a:pt x="0" y="3761740"/>
                    <a:pt x="0" y="3589274"/>
                  </a:cubicBezTo>
                  <a:close/>
                </a:path>
              </a:pathLst>
            </a:custGeom>
            <a:solidFill>
              <a:srgbClr val="C8DAE4"/>
            </a:solidFill>
          </p:spPr>
        </p:sp>
      </p:grpSp>
      <p:grpSp>
        <p:nvGrpSpPr>
          <p:cNvPr name="Group 141" id="141"/>
          <p:cNvGrpSpPr/>
          <p:nvPr/>
        </p:nvGrpSpPr>
        <p:grpSpPr>
          <a:xfrm rot="0">
            <a:off x="9189720" y="2926080"/>
            <a:ext cx="548640" cy="548640"/>
            <a:chOff x="0" y="0"/>
            <a:chExt cx="731520" cy="731520"/>
          </a:xfrm>
        </p:grpSpPr>
        <p:sp>
          <p:nvSpPr>
            <p:cNvPr name="Freeform 142" id="142" descr="shiel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7"/>
              <a:stretch>
                <a:fillRect l="0" t="0" r="0" b="0"/>
              </a:stretch>
            </a:blipFill>
          </p:spPr>
        </p:sp>
      </p:grpSp>
      <p:sp>
        <p:nvSpPr>
          <p:cNvPr name="TextBox 143" id="143"/>
          <p:cNvSpPr txBox="true"/>
          <p:nvPr/>
        </p:nvSpPr>
        <p:spPr>
          <a:xfrm rot="0">
            <a:off x="9162288" y="3638550"/>
            <a:ext cx="2660904" cy="1664970"/>
          </a:xfrm>
          <a:prstGeom prst="rect">
            <a:avLst/>
          </a:prstGeom>
        </p:spPr>
        <p:txBody>
          <a:bodyPr anchor="t" rtlCol="false" tIns="0" lIns="0" bIns="0" rIns="0">
            <a:spAutoFit/>
          </a:bodyPr>
          <a:lstStyle/>
          <a:p>
            <a:pPr algn="l">
              <a:lnSpc>
                <a:spcPts val="1680"/>
              </a:lnSpc>
            </a:pPr>
            <a:r>
              <a:rPr lang="en-US" sz="1400" b="true">
                <a:solidFill>
                  <a:srgbClr val="1F3338"/>
                </a:solidFill>
                <a:latin typeface="Arial Bold"/>
                <a:ea typeface="Arial Bold"/>
                <a:cs typeface="Arial Bold"/>
                <a:sym typeface="Arial Bold"/>
              </a:rPr>
              <a:t>Flagged (cheating) questions are zeroed before scoring</a:t>
            </a:r>
          </a:p>
        </p:txBody>
      </p:sp>
      <p:grpSp>
        <p:nvGrpSpPr>
          <p:cNvPr name="Group 144" id="144"/>
          <p:cNvGrpSpPr/>
          <p:nvPr/>
        </p:nvGrpSpPr>
        <p:grpSpPr>
          <a:xfrm rot="0">
            <a:off x="12161520" y="3877056"/>
            <a:ext cx="411480" cy="292608"/>
            <a:chOff x="0" y="0"/>
            <a:chExt cx="548640" cy="390144"/>
          </a:xfrm>
        </p:grpSpPr>
        <p:sp>
          <p:nvSpPr>
            <p:cNvPr name="Freeform 145" id="145"/>
            <p:cNvSpPr/>
            <p:nvPr/>
          </p:nvSpPr>
          <p:spPr>
            <a:xfrm flipH="false" flipV="false" rot="0">
              <a:off x="0" y="0"/>
              <a:ext cx="548640" cy="390144"/>
            </a:xfrm>
            <a:custGeom>
              <a:avLst/>
              <a:gdLst/>
              <a:ahLst/>
              <a:cxnLst/>
              <a:rect r="r" b="b" t="t" l="l"/>
              <a:pathLst>
                <a:path h="390144" w="548640">
                  <a:moveTo>
                    <a:pt x="0" y="97536"/>
                  </a:moveTo>
                  <a:lnTo>
                    <a:pt x="353568" y="97536"/>
                  </a:lnTo>
                  <a:lnTo>
                    <a:pt x="353568" y="0"/>
                  </a:lnTo>
                  <a:lnTo>
                    <a:pt x="548640" y="195072"/>
                  </a:lnTo>
                  <a:lnTo>
                    <a:pt x="353568" y="390144"/>
                  </a:lnTo>
                  <a:lnTo>
                    <a:pt x="353568" y="292608"/>
                  </a:lnTo>
                  <a:lnTo>
                    <a:pt x="0" y="292608"/>
                  </a:lnTo>
                  <a:close/>
                </a:path>
              </a:pathLst>
            </a:custGeom>
            <a:solidFill>
              <a:srgbClr val="5A6B6E"/>
            </a:solidFill>
          </p:spPr>
        </p:sp>
      </p:grpSp>
      <p:grpSp>
        <p:nvGrpSpPr>
          <p:cNvPr name="Group 146" id="146"/>
          <p:cNvGrpSpPr/>
          <p:nvPr/>
        </p:nvGrpSpPr>
        <p:grpSpPr>
          <a:xfrm rot="0">
            <a:off x="12618720" y="2560320"/>
            <a:ext cx="3520440" cy="2926080"/>
            <a:chOff x="0" y="0"/>
            <a:chExt cx="4693920" cy="3901440"/>
          </a:xfrm>
        </p:grpSpPr>
        <p:sp>
          <p:nvSpPr>
            <p:cNvPr name="Freeform 147" id="147"/>
            <p:cNvSpPr/>
            <p:nvPr/>
          </p:nvSpPr>
          <p:spPr>
            <a:xfrm flipH="false" flipV="false" rot="0">
              <a:off x="0" y="0"/>
              <a:ext cx="4693920" cy="3901440"/>
            </a:xfrm>
            <a:custGeom>
              <a:avLst/>
              <a:gdLst/>
              <a:ahLst/>
              <a:cxnLst/>
              <a:rect r="r" b="b" t="t" l="l"/>
              <a:pathLst>
                <a:path h="3901440" w="4693920">
                  <a:moveTo>
                    <a:pt x="0" y="312166"/>
                  </a:moveTo>
                  <a:cubicBezTo>
                    <a:pt x="0" y="139700"/>
                    <a:pt x="139700" y="0"/>
                    <a:pt x="312166" y="0"/>
                  </a:cubicBezTo>
                  <a:lnTo>
                    <a:pt x="4381754" y="0"/>
                  </a:lnTo>
                  <a:cubicBezTo>
                    <a:pt x="4554220" y="0"/>
                    <a:pt x="4693920" y="139700"/>
                    <a:pt x="4693920" y="312166"/>
                  </a:cubicBezTo>
                  <a:lnTo>
                    <a:pt x="4693920" y="3589274"/>
                  </a:lnTo>
                  <a:cubicBezTo>
                    <a:pt x="4693920" y="3761613"/>
                    <a:pt x="4554220" y="3901440"/>
                    <a:pt x="4381754" y="3901440"/>
                  </a:cubicBezTo>
                  <a:lnTo>
                    <a:pt x="312166" y="3901440"/>
                  </a:lnTo>
                  <a:cubicBezTo>
                    <a:pt x="139700" y="3901440"/>
                    <a:pt x="0" y="3761740"/>
                    <a:pt x="0" y="3589274"/>
                  </a:cubicBezTo>
                  <a:close/>
                </a:path>
              </a:pathLst>
            </a:custGeom>
            <a:solidFill>
              <a:srgbClr val="737AE6"/>
            </a:solidFill>
          </p:spPr>
        </p:sp>
      </p:grpSp>
      <p:grpSp>
        <p:nvGrpSpPr>
          <p:cNvPr name="Group 148" id="148"/>
          <p:cNvGrpSpPr/>
          <p:nvPr/>
        </p:nvGrpSpPr>
        <p:grpSpPr>
          <a:xfrm rot="0">
            <a:off x="12938760" y="2926080"/>
            <a:ext cx="548640" cy="548640"/>
            <a:chOff x="0" y="0"/>
            <a:chExt cx="731520" cy="731520"/>
          </a:xfrm>
        </p:grpSpPr>
        <p:sp>
          <p:nvSpPr>
            <p:cNvPr name="Freeform 149" id="149" descr="percent.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8"/>
              <a:stretch>
                <a:fillRect l="0" t="0" r="0" b="0"/>
              </a:stretch>
            </a:blipFill>
          </p:spPr>
        </p:sp>
      </p:grpSp>
      <p:sp>
        <p:nvSpPr>
          <p:cNvPr name="TextBox 150" id="150"/>
          <p:cNvSpPr txBox="true"/>
          <p:nvPr/>
        </p:nvSpPr>
        <p:spPr>
          <a:xfrm rot="0">
            <a:off x="12911328" y="3638550"/>
            <a:ext cx="2935224" cy="430530"/>
          </a:xfrm>
          <a:prstGeom prst="rect">
            <a:avLst/>
          </a:prstGeom>
        </p:spPr>
        <p:txBody>
          <a:bodyPr anchor="t" rtlCol="false" tIns="0" lIns="0" bIns="0" rIns="0">
            <a:spAutoFit/>
          </a:bodyPr>
          <a:lstStyle/>
          <a:p>
            <a:pPr algn="l">
              <a:lnSpc>
                <a:spcPts val="2040"/>
              </a:lnSpc>
            </a:pPr>
            <a:r>
              <a:rPr lang="en-US" sz="1700" b="true">
                <a:solidFill>
                  <a:srgbClr val="FFFFFF"/>
                </a:solidFill>
                <a:latin typeface="Arial Bold"/>
                <a:ea typeface="Arial Bold"/>
                <a:cs typeface="Arial Bold"/>
                <a:sym typeface="Arial Bold"/>
              </a:rPr>
              <a:t>Final Score %</a:t>
            </a:r>
          </a:p>
        </p:txBody>
      </p:sp>
      <p:sp>
        <p:nvSpPr>
          <p:cNvPr name="TextBox 151" id="151"/>
          <p:cNvSpPr txBox="true"/>
          <p:nvPr/>
        </p:nvSpPr>
        <p:spPr>
          <a:xfrm rot="0">
            <a:off x="12911328" y="4059174"/>
            <a:ext cx="2935224" cy="1207770"/>
          </a:xfrm>
          <a:prstGeom prst="rect">
            <a:avLst/>
          </a:prstGeom>
        </p:spPr>
        <p:txBody>
          <a:bodyPr anchor="t" rtlCol="false" tIns="0" lIns="0" bIns="0" rIns="0">
            <a:spAutoFit/>
          </a:bodyPr>
          <a:lstStyle/>
          <a:p>
            <a:pPr algn="l">
              <a:lnSpc>
                <a:spcPts val="1500"/>
              </a:lnSpc>
            </a:pPr>
            <a:r>
              <a:rPr lang="en-US" sz="1250" i="true">
                <a:solidFill>
                  <a:srgbClr val="FFFFFF"/>
                </a:solidFill>
                <a:latin typeface="Arial Italics"/>
                <a:ea typeface="Arial Italics"/>
                <a:cs typeface="Arial Italics"/>
                <a:sym typeface="Arial Italics"/>
              </a:rPr>
              <a:t>Mapped to a competency stage</a:t>
            </a:r>
          </a:p>
        </p:txBody>
      </p:sp>
      <p:grpSp>
        <p:nvGrpSpPr>
          <p:cNvPr name="Group 152" id="152"/>
          <p:cNvGrpSpPr/>
          <p:nvPr/>
        </p:nvGrpSpPr>
        <p:grpSpPr>
          <a:xfrm rot="0">
            <a:off x="14241780" y="5623560"/>
            <a:ext cx="274320" cy="365760"/>
            <a:chOff x="0" y="0"/>
            <a:chExt cx="365760" cy="487680"/>
          </a:xfrm>
        </p:grpSpPr>
        <p:sp>
          <p:nvSpPr>
            <p:cNvPr name="Freeform 153" id="153"/>
            <p:cNvSpPr/>
            <p:nvPr/>
          </p:nvSpPr>
          <p:spPr>
            <a:xfrm flipH="false" flipV="false" rot="0">
              <a:off x="0" y="0"/>
              <a:ext cx="365760" cy="487680"/>
            </a:xfrm>
            <a:custGeom>
              <a:avLst/>
              <a:gdLst/>
              <a:ahLst/>
              <a:cxnLst/>
              <a:rect r="r" b="b" t="t" l="l"/>
              <a:pathLst>
                <a:path h="487680" w="365760">
                  <a:moveTo>
                    <a:pt x="0" y="304800"/>
                  </a:moveTo>
                  <a:lnTo>
                    <a:pt x="91440" y="304800"/>
                  </a:lnTo>
                  <a:lnTo>
                    <a:pt x="91440" y="0"/>
                  </a:lnTo>
                  <a:lnTo>
                    <a:pt x="274320" y="0"/>
                  </a:lnTo>
                  <a:lnTo>
                    <a:pt x="274320" y="304800"/>
                  </a:lnTo>
                  <a:lnTo>
                    <a:pt x="365760" y="304800"/>
                  </a:lnTo>
                  <a:lnTo>
                    <a:pt x="182880" y="487680"/>
                  </a:lnTo>
                  <a:close/>
                </a:path>
              </a:pathLst>
            </a:custGeom>
            <a:solidFill>
              <a:srgbClr val="5A6B6E"/>
            </a:solidFill>
          </p:spPr>
        </p:sp>
      </p:grpSp>
      <p:sp>
        <p:nvSpPr>
          <p:cNvPr name="TextBox 154" id="154"/>
          <p:cNvSpPr txBox="true"/>
          <p:nvPr/>
        </p:nvSpPr>
        <p:spPr>
          <a:xfrm rot="0">
            <a:off x="914400" y="5604510"/>
            <a:ext cx="10972800" cy="339090"/>
          </a:xfrm>
          <a:prstGeom prst="rect">
            <a:avLst/>
          </a:prstGeom>
        </p:spPr>
        <p:txBody>
          <a:bodyPr anchor="t" rtlCol="false" tIns="0" lIns="0" bIns="0" rIns="0">
            <a:spAutoFit/>
          </a:bodyPr>
          <a:lstStyle/>
          <a:p>
            <a:pPr algn="l">
              <a:lnSpc>
                <a:spcPts val="1439"/>
              </a:lnSpc>
            </a:pPr>
            <a:r>
              <a:rPr lang="en-US" sz="1200" i="true">
                <a:solidFill>
                  <a:srgbClr val="5A6B6E"/>
                </a:solidFill>
                <a:latin typeface="Arial Italics"/>
                <a:ea typeface="Arial Italics"/>
                <a:cs typeface="Arial Italics"/>
                <a:sym typeface="Arial Italics"/>
              </a:rPr>
              <a:t>Grading runs first, then the cheating check overrides any flagged answer to zero — so a proctoring violation can never inflate a score.</a:t>
            </a:r>
          </a:p>
        </p:txBody>
      </p:sp>
      <p:grpSp>
        <p:nvGrpSpPr>
          <p:cNvPr name="Group 155" id="155"/>
          <p:cNvGrpSpPr/>
          <p:nvPr/>
        </p:nvGrpSpPr>
        <p:grpSpPr>
          <a:xfrm rot="0">
            <a:off x="5074920" y="4389120"/>
            <a:ext cx="438912" cy="438912"/>
            <a:chOff x="0" y="0"/>
            <a:chExt cx="585216" cy="585216"/>
          </a:xfrm>
        </p:grpSpPr>
        <p:sp>
          <p:nvSpPr>
            <p:cNvPr name="Freeform 156" id="156" descr="openai.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9"/>
              <a:stretch>
                <a:fillRect l="0" t="0" r="0" b="0"/>
              </a:stretch>
            </a:blip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2127647" y="796147"/>
            <a:ext cx="15511196" cy="1235412"/>
            <a:chOff x="0" y="0"/>
            <a:chExt cx="20681594" cy="1647215"/>
          </a:xfrm>
        </p:grpSpPr>
        <p:sp>
          <p:nvSpPr>
            <p:cNvPr name="Freeform 7" id="7"/>
            <p:cNvSpPr/>
            <p:nvPr/>
          </p:nvSpPr>
          <p:spPr>
            <a:xfrm flipH="false" flipV="false" rot="0">
              <a:off x="0" y="0"/>
              <a:ext cx="20681569" cy="1647190"/>
            </a:xfrm>
            <a:custGeom>
              <a:avLst/>
              <a:gdLst/>
              <a:ahLst/>
              <a:cxnLst/>
              <a:rect r="r" b="b" t="t" l="l"/>
              <a:pathLst>
                <a:path h="1647190" w="20681569">
                  <a:moveTo>
                    <a:pt x="0" y="0"/>
                  </a:moveTo>
                  <a:lnTo>
                    <a:pt x="20681569" y="0"/>
                  </a:lnTo>
                  <a:lnTo>
                    <a:pt x="20681569" y="1647190"/>
                  </a:lnTo>
                  <a:lnTo>
                    <a:pt x="0" y="1647190"/>
                  </a:lnTo>
                  <a:close/>
                </a:path>
              </a:pathLst>
            </a:custGeom>
            <a:blipFill>
              <a:blip r:embed="rId3">
                <a:alphaModFix amt="0"/>
              </a:blip>
              <a:stretch>
                <a:fillRect l="0" t="-194477" r="0" b="-194478"/>
              </a:stretch>
            </a:blipFill>
          </p:spPr>
        </p:sp>
      </p:grpSp>
      <p:grpSp>
        <p:nvGrpSpPr>
          <p:cNvPr name="Group 8" id="8"/>
          <p:cNvGrpSpPr/>
          <p:nvPr/>
        </p:nvGrpSpPr>
        <p:grpSpPr>
          <a:xfrm rot="0">
            <a:off x="1681515" y="0"/>
            <a:ext cx="15511196" cy="1256836"/>
            <a:chOff x="0" y="0"/>
            <a:chExt cx="20681594" cy="1675782"/>
          </a:xfrm>
        </p:grpSpPr>
        <p:sp>
          <p:nvSpPr>
            <p:cNvPr name="Freeform 9" id="9"/>
            <p:cNvSpPr/>
            <p:nvPr/>
          </p:nvSpPr>
          <p:spPr>
            <a:xfrm flipH="false" flipV="false" rot="0">
              <a:off x="0" y="0"/>
              <a:ext cx="20681595" cy="1675786"/>
            </a:xfrm>
            <a:custGeom>
              <a:avLst/>
              <a:gdLst/>
              <a:ahLst/>
              <a:cxnLst/>
              <a:rect r="r" b="b" t="t" l="l"/>
              <a:pathLst>
                <a:path h="1675786" w="20681595">
                  <a:moveTo>
                    <a:pt x="0" y="0"/>
                  </a:moveTo>
                  <a:lnTo>
                    <a:pt x="20681595" y="0"/>
                  </a:lnTo>
                  <a:lnTo>
                    <a:pt x="20681595" y="1675786"/>
                  </a:lnTo>
                  <a:lnTo>
                    <a:pt x="0" y="1675786"/>
                  </a:lnTo>
                  <a:close/>
                </a:path>
              </a:pathLst>
            </a:custGeom>
            <a:blipFill>
              <a:blip r:embed="rId4">
                <a:alphaModFix amt="0"/>
              </a:blip>
              <a:stretch>
                <a:fillRect l="0" t="-190473" r="0" b="-190473"/>
              </a:stretch>
            </a:blipFill>
          </p:spPr>
        </p:sp>
        <p:sp>
          <p:nvSpPr>
            <p:cNvPr name="TextBox 10" id="10"/>
            <p:cNvSpPr txBox="true"/>
            <p:nvPr/>
          </p:nvSpPr>
          <p:spPr>
            <a:xfrm>
              <a:off x="0" y="-28575"/>
              <a:ext cx="20681594" cy="1704357"/>
            </a:xfrm>
            <a:prstGeom prst="rect">
              <a:avLst/>
            </a:prstGeom>
          </p:spPr>
          <p:txBody>
            <a:bodyPr anchor="ctr" rtlCol="false" tIns="0" lIns="0" bIns="0" rIns="0"/>
            <a:lstStyle/>
            <a:p>
              <a:pPr algn="l">
                <a:lnSpc>
                  <a:spcPts val="3602"/>
                </a:lnSpc>
              </a:pPr>
              <a:r>
                <a:rPr lang="en-US" sz="3002" b="true">
                  <a:solidFill>
                    <a:srgbClr val="000000"/>
                  </a:solidFill>
                  <a:latin typeface="Poppins Bold"/>
                  <a:ea typeface="Poppins Bold"/>
                  <a:cs typeface="Poppins Bold"/>
                  <a:sym typeface="Poppins Bold"/>
                </a:rPr>
                <a:t>Implementation : Assessment &amp; Results </a:t>
              </a:r>
            </a:p>
          </p:txBody>
        </p:sp>
      </p:grpSp>
      <p:grpSp>
        <p:nvGrpSpPr>
          <p:cNvPr name="Group 11" id="11"/>
          <p:cNvGrpSpPr/>
          <p:nvPr/>
        </p:nvGrpSpPr>
        <p:grpSpPr>
          <a:xfrm rot="0">
            <a:off x="686333" y="9718519"/>
            <a:ext cx="8236039" cy="411804"/>
            <a:chOff x="0" y="0"/>
            <a:chExt cx="10981385" cy="549072"/>
          </a:xfrm>
        </p:grpSpPr>
        <p:sp>
          <p:nvSpPr>
            <p:cNvPr name="Freeform 12" id="12"/>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3" id="13"/>
          <p:cNvGrpSpPr/>
          <p:nvPr/>
        </p:nvGrpSpPr>
        <p:grpSpPr>
          <a:xfrm rot="0">
            <a:off x="193019" y="9863834"/>
            <a:ext cx="8236039" cy="426091"/>
            <a:chOff x="0" y="0"/>
            <a:chExt cx="10981385" cy="568122"/>
          </a:xfrm>
        </p:grpSpPr>
        <p:sp>
          <p:nvSpPr>
            <p:cNvPr name="Freeform 14" id="14"/>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5" id="15"/>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6" id="16"/>
          <p:cNvGrpSpPr/>
          <p:nvPr/>
        </p:nvGrpSpPr>
        <p:grpSpPr>
          <a:xfrm rot="0">
            <a:off x="16242830" y="9718519"/>
            <a:ext cx="1372676" cy="411804"/>
            <a:chOff x="0" y="0"/>
            <a:chExt cx="1830235" cy="549072"/>
          </a:xfrm>
        </p:grpSpPr>
        <p:sp>
          <p:nvSpPr>
            <p:cNvPr name="Freeform 17" id="17"/>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grpSp>
        <p:nvGrpSpPr>
          <p:cNvPr name="Group 18" id="18"/>
          <p:cNvGrpSpPr/>
          <p:nvPr/>
        </p:nvGrpSpPr>
        <p:grpSpPr>
          <a:xfrm rot="0">
            <a:off x="-43796" y="915296"/>
            <a:ext cx="5029200" cy="8948537"/>
            <a:chOff x="0" y="0"/>
            <a:chExt cx="6705600" cy="11931383"/>
          </a:xfrm>
        </p:grpSpPr>
        <p:sp>
          <p:nvSpPr>
            <p:cNvPr name="Freeform 19" id="19" descr="assessment_pre.png"/>
            <p:cNvSpPr/>
            <p:nvPr/>
          </p:nvSpPr>
          <p:spPr>
            <a:xfrm flipH="false" flipV="false" rot="0">
              <a:off x="0" y="0"/>
              <a:ext cx="6705600" cy="11931396"/>
            </a:xfrm>
            <a:custGeom>
              <a:avLst/>
              <a:gdLst/>
              <a:ahLst/>
              <a:cxnLst/>
              <a:rect r="r" b="b" t="t" l="l"/>
              <a:pathLst>
                <a:path h="11931396" w="6705600">
                  <a:moveTo>
                    <a:pt x="0" y="0"/>
                  </a:moveTo>
                  <a:lnTo>
                    <a:pt x="6705600" y="0"/>
                  </a:lnTo>
                  <a:lnTo>
                    <a:pt x="6705600" y="11931396"/>
                  </a:lnTo>
                  <a:lnTo>
                    <a:pt x="0" y="11931396"/>
                  </a:lnTo>
                  <a:lnTo>
                    <a:pt x="0" y="0"/>
                  </a:lnTo>
                  <a:close/>
                </a:path>
              </a:pathLst>
            </a:custGeom>
            <a:blipFill>
              <a:blip r:embed="rId5"/>
              <a:stretch>
                <a:fillRect l="0" t="0" r="0" b="0"/>
              </a:stretch>
            </a:blipFill>
          </p:spPr>
        </p:sp>
      </p:grpSp>
      <p:sp>
        <p:nvSpPr>
          <p:cNvPr name="Freeform 20" id="20"/>
          <p:cNvSpPr/>
          <p:nvPr/>
        </p:nvSpPr>
        <p:spPr>
          <a:xfrm flipH="false" flipV="false" rot="0">
            <a:off x="5119889" y="2874601"/>
            <a:ext cx="4628871" cy="4239139"/>
          </a:xfrm>
          <a:custGeom>
            <a:avLst/>
            <a:gdLst/>
            <a:ahLst/>
            <a:cxnLst/>
            <a:rect r="r" b="b" t="t" l="l"/>
            <a:pathLst>
              <a:path h="4239139" w="4628871">
                <a:moveTo>
                  <a:pt x="0" y="0"/>
                </a:moveTo>
                <a:lnTo>
                  <a:pt x="4628871" y="0"/>
                </a:lnTo>
                <a:lnTo>
                  <a:pt x="4628871" y="4239139"/>
                </a:lnTo>
                <a:lnTo>
                  <a:pt x="0" y="4239139"/>
                </a:lnTo>
                <a:lnTo>
                  <a:pt x="0" y="0"/>
                </a:lnTo>
                <a:close/>
              </a:path>
            </a:pathLst>
          </a:custGeom>
          <a:blipFill>
            <a:blip r:embed="rId6"/>
            <a:stretch>
              <a:fillRect l="0" t="0" r="0" b="0"/>
            </a:stretch>
          </a:blipFill>
        </p:spPr>
      </p:sp>
      <p:grpSp>
        <p:nvGrpSpPr>
          <p:cNvPr name="Group 21" id="21"/>
          <p:cNvGrpSpPr/>
          <p:nvPr/>
        </p:nvGrpSpPr>
        <p:grpSpPr>
          <a:xfrm rot="0">
            <a:off x="9883245" y="1695717"/>
            <a:ext cx="8221123" cy="6895565"/>
            <a:chOff x="0" y="0"/>
            <a:chExt cx="7437120" cy="6237973"/>
          </a:xfrm>
        </p:grpSpPr>
        <p:sp>
          <p:nvSpPr>
            <p:cNvPr name="Freeform 22" id="22" descr="image.png"/>
            <p:cNvSpPr/>
            <p:nvPr/>
          </p:nvSpPr>
          <p:spPr>
            <a:xfrm flipH="false" flipV="false" rot="0">
              <a:off x="0" y="0"/>
              <a:ext cx="7437120" cy="6237986"/>
            </a:xfrm>
            <a:custGeom>
              <a:avLst/>
              <a:gdLst/>
              <a:ahLst/>
              <a:cxnLst/>
              <a:rect r="r" b="b" t="t" l="l"/>
              <a:pathLst>
                <a:path h="6237986" w="7437120">
                  <a:moveTo>
                    <a:pt x="0" y="0"/>
                  </a:moveTo>
                  <a:lnTo>
                    <a:pt x="7437120" y="0"/>
                  </a:lnTo>
                  <a:lnTo>
                    <a:pt x="7437120" y="6237986"/>
                  </a:lnTo>
                  <a:lnTo>
                    <a:pt x="0" y="6237986"/>
                  </a:lnTo>
                  <a:lnTo>
                    <a:pt x="0" y="0"/>
                  </a:lnTo>
                  <a:close/>
                </a:path>
              </a:pathLst>
            </a:custGeom>
            <a:blipFill>
              <a:blip r:embed="rId7"/>
              <a:stretch>
                <a:fillRect l="0" t="0" r="0" b="0"/>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0556028" y="9790854"/>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686333" y="-104943"/>
            <a:ext cx="1784471" cy="1495408"/>
            <a:chOff x="0" y="0"/>
            <a:chExt cx="2379294" cy="1993877"/>
          </a:xfrm>
        </p:grpSpPr>
        <p:sp>
          <p:nvSpPr>
            <p:cNvPr name="Freeform 7" id="7"/>
            <p:cNvSpPr/>
            <p:nvPr/>
          </p:nvSpPr>
          <p:spPr>
            <a:xfrm flipH="false" flipV="false" rot="0">
              <a:off x="0" y="0"/>
              <a:ext cx="2379295" cy="1993877"/>
            </a:xfrm>
            <a:custGeom>
              <a:avLst/>
              <a:gdLst/>
              <a:ahLst/>
              <a:cxnLst/>
              <a:rect r="r" b="b" t="t" l="l"/>
              <a:pathLst>
                <a:path h="1993877" w="2379295">
                  <a:moveTo>
                    <a:pt x="0" y="0"/>
                  </a:moveTo>
                  <a:lnTo>
                    <a:pt x="2379295" y="0"/>
                  </a:lnTo>
                  <a:lnTo>
                    <a:pt x="2379295" y="1993877"/>
                  </a:lnTo>
                  <a:lnTo>
                    <a:pt x="0" y="1993877"/>
                  </a:lnTo>
                  <a:close/>
                </a:path>
              </a:pathLst>
            </a:custGeom>
            <a:blipFill>
              <a:blip r:embed="rId4">
                <a:alphaModFix amt="0"/>
              </a:blip>
              <a:stretch>
                <a:fillRect l="-41907" t="0" r="-41907" b="14520"/>
              </a:stretch>
            </a:blipFill>
          </p:spPr>
        </p:sp>
        <p:sp>
          <p:nvSpPr>
            <p:cNvPr name="TextBox 8" id="8"/>
            <p:cNvSpPr txBox="true"/>
            <p:nvPr/>
          </p:nvSpPr>
          <p:spPr>
            <a:xfrm>
              <a:off x="0" y="-47625"/>
              <a:ext cx="2379294" cy="2041502"/>
            </a:xfrm>
            <a:prstGeom prst="rect">
              <a:avLst/>
            </a:prstGeom>
          </p:spPr>
          <p:txBody>
            <a:bodyPr anchor="ctr" rtlCol="false" tIns="0" lIns="0" bIns="0" rIns="0"/>
            <a:lstStyle/>
            <a:p>
              <a:pPr algn="l">
                <a:lnSpc>
                  <a:spcPts val="7204"/>
                </a:lnSpc>
              </a:pPr>
            </a:p>
          </p:txBody>
        </p:sp>
      </p:grpSp>
      <p:grpSp>
        <p:nvGrpSpPr>
          <p:cNvPr name="Group 9" id="9"/>
          <p:cNvGrpSpPr/>
          <p:nvPr/>
        </p:nvGrpSpPr>
        <p:grpSpPr>
          <a:xfrm rot="0">
            <a:off x="686333" y="133631"/>
            <a:ext cx="15511196" cy="1256836"/>
            <a:chOff x="0" y="0"/>
            <a:chExt cx="20681594" cy="1675782"/>
          </a:xfrm>
        </p:grpSpPr>
        <p:sp>
          <p:nvSpPr>
            <p:cNvPr name="Freeform 10" id="10"/>
            <p:cNvSpPr/>
            <p:nvPr/>
          </p:nvSpPr>
          <p:spPr>
            <a:xfrm flipH="false" flipV="false" rot="0">
              <a:off x="0" y="0"/>
              <a:ext cx="20681595" cy="1675786"/>
            </a:xfrm>
            <a:custGeom>
              <a:avLst/>
              <a:gdLst/>
              <a:ahLst/>
              <a:cxnLst/>
              <a:rect r="r" b="b" t="t" l="l"/>
              <a:pathLst>
                <a:path h="1675786" w="20681595">
                  <a:moveTo>
                    <a:pt x="0" y="0"/>
                  </a:moveTo>
                  <a:lnTo>
                    <a:pt x="20681595" y="0"/>
                  </a:lnTo>
                  <a:lnTo>
                    <a:pt x="20681595" y="1675786"/>
                  </a:lnTo>
                  <a:lnTo>
                    <a:pt x="0" y="1675786"/>
                  </a:lnTo>
                  <a:close/>
                </a:path>
              </a:pathLst>
            </a:custGeom>
            <a:blipFill>
              <a:blip r:embed="rId4">
                <a:alphaModFix amt="0"/>
              </a:blip>
              <a:stretch>
                <a:fillRect l="0" t="-190473" r="0" b="-190473"/>
              </a:stretch>
            </a:blipFill>
          </p:spPr>
        </p:sp>
        <p:sp>
          <p:nvSpPr>
            <p:cNvPr name="TextBox 11" id="11"/>
            <p:cNvSpPr txBox="true"/>
            <p:nvPr/>
          </p:nvSpPr>
          <p:spPr>
            <a:xfrm>
              <a:off x="0" y="-28575"/>
              <a:ext cx="20681594" cy="1704357"/>
            </a:xfrm>
            <a:prstGeom prst="rect">
              <a:avLst/>
            </a:prstGeom>
          </p:spPr>
          <p:txBody>
            <a:bodyPr anchor="ctr" rtlCol="false" tIns="0" lIns="0" bIns="0" rIns="0"/>
            <a:lstStyle/>
            <a:p>
              <a:pPr algn="l">
                <a:lnSpc>
                  <a:spcPts val="3602"/>
                </a:lnSpc>
              </a:pPr>
              <a:r>
                <a:rPr lang="en-US" sz="3002" b="true">
                  <a:solidFill>
                    <a:srgbClr val="000000"/>
                  </a:solidFill>
                  <a:latin typeface="Poppins Bold"/>
                  <a:ea typeface="Poppins Bold"/>
                  <a:cs typeface="Poppins Bold"/>
                  <a:sym typeface="Poppins Bold"/>
                </a:rPr>
                <a:t>Implementation : Assessment &amp; Results</a:t>
              </a:r>
            </a:p>
          </p:txBody>
        </p:sp>
      </p:grpSp>
      <p:grpSp>
        <p:nvGrpSpPr>
          <p:cNvPr name="Group 12" id="12"/>
          <p:cNvGrpSpPr/>
          <p:nvPr/>
        </p:nvGrpSpPr>
        <p:grpSpPr>
          <a:xfrm rot="0">
            <a:off x="686333" y="9718519"/>
            <a:ext cx="8236039" cy="411804"/>
            <a:chOff x="0" y="0"/>
            <a:chExt cx="10981385" cy="549072"/>
          </a:xfrm>
        </p:grpSpPr>
        <p:sp>
          <p:nvSpPr>
            <p:cNvPr name="Freeform 13" id="13"/>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4" id="14"/>
          <p:cNvGrpSpPr/>
          <p:nvPr/>
        </p:nvGrpSpPr>
        <p:grpSpPr>
          <a:xfrm rot="0">
            <a:off x="686333" y="9704232"/>
            <a:ext cx="8236039" cy="426091"/>
            <a:chOff x="0" y="0"/>
            <a:chExt cx="10981385" cy="568122"/>
          </a:xfrm>
        </p:grpSpPr>
        <p:sp>
          <p:nvSpPr>
            <p:cNvPr name="Freeform 15" id="15"/>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6" id="16"/>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7" id="17"/>
          <p:cNvGrpSpPr/>
          <p:nvPr/>
        </p:nvGrpSpPr>
        <p:grpSpPr>
          <a:xfrm rot="0">
            <a:off x="16242830" y="9718519"/>
            <a:ext cx="1372676" cy="411804"/>
            <a:chOff x="0" y="0"/>
            <a:chExt cx="1830235" cy="549072"/>
          </a:xfrm>
        </p:grpSpPr>
        <p:sp>
          <p:nvSpPr>
            <p:cNvPr name="Freeform 18" id="18"/>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grpSp>
        <p:nvGrpSpPr>
          <p:cNvPr name="Group 19" id="19"/>
          <p:cNvGrpSpPr/>
          <p:nvPr/>
        </p:nvGrpSpPr>
        <p:grpSpPr>
          <a:xfrm rot="0">
            <a:off x="165474" y="1304034"/>
            <a:ext cx="7159408" cy="7783229"/>
            <a:chOff x="0" y="0"/>
            <a:chExt cx="6400800" cy="6958520"/>
          </a:xfrm>
        </p:grpSpPr>
        <p:sp>
          <p:nvSpPr>
            <p:cNvPr name="Freeform 20" id="20" descr="image.png"/>
            <p:cNvSpPr/>
            <p:nvPr/>
          </p:nvSpPr>
          <p:spPr>
            <a:xfrm flipH="false" flipV="false" rot="0">
              <a:off x="0" y="0"/>
              <a:ext cx="6400800" cy="6958584"/>
            </a:xfrm>
            <a:custGeom>
              <a:avLst/>
              <a:gdLst/>
              <a:ahLst/>
              <a:cxnLst/>
              <a:rect r="r" b="b" t="t" l="l"/>
              <a:pathLst>
                <a:path h="6958584" w="6400800">
                  <a:moveTo>
                    <a:pt x="0" y="0"/>
                  </a:moveTo>
                  <a:lnTo>
                    <a:pt x="6400800" y="0"/>
                  </a:lnTo>
                  <a:lnTo>
                    <a:pt x="6400800" y="6958584"/>
                  </a:lnTo>
                  <a:lnTo>
                    <a:pt x="0" y="6958584"/>
                  </a:lnTo>
                  <a:lnTo>
                    <a:pt x="0" y="0"/>
                  </a:lnTo>
                  <a:close/>
                </a:path>
              </a:pathLst>
            </a:custGeom>
            <a:blipFill>
              <a:blip r:embed="rId5"/>
              <a:stretch>
                <a:fillRect l="0" t="0" r="0" b="0"/>
              </a:stretch>
            </a:blipFill>
          </p:spPr>
        </p:sp>
      </p:grpSp>
      <p:sp>
        <p:nvSpPr>
          <p:cNvPr name="Freeform 21" id="21"/>
          <p:cNvSpPr/>
          <p:nvPr/>
        </p:nvSpPr>
        <p:spPr>
          <a:xfrm flipH="false" flipV="false" rot="0">
            <a:off x="13069117" y="686333"/>
            <a:ext cx="6367041" cy="9080862"/>
          </a:xfrm>
          <a:custGeom>
            <a:avLst/>
            <a:gdLst/>
            <a:ahLst/>
            <a:cxnLst/>
            <a:rect r="r" b="b" t="t" l="l"/>
            <a:pathLst>
              <a:path h="9080862" w="6367041">
                <a:moveTo>
                  <a:pt x="0" y="0"/>
                </a:moveTo>
                <a:lnTo>
                  <a:pt x="6367041" y="0"/>
                </a:lnTo>
                <a:lnTo>
                  <a:pt x="6367041" y="9080862"/>
                </a:lnTo>
                <a:lnTo>
                  <a:pt x="0" y="9080862"/>
                </a:lnTo>
                <a:lnTo>
                  <a:pt x="0" y="0"/>
                </a:lnTo>
                <a:close/>
              </a:path>
            </a:pathLst>
          </a:custGeom>
          <a:blipFill>
            <a:blip r:embed="rId6"/>
            <a:stretch>
              <a:fillRect l="0" t="0" r="0" b="0"/>
            </a:stretch>
          </a:blipFill>
        </p:spPr>
      </p:sp>
      <p:sp>
        <p:nvSpPr>
          <p:cNvPr name="Freeform 22" id="22"/>
          <p:cNvSpPr/>
          <p:nvPr/>
        </p:nvSpPr>
        <p:spPr>
          <a:xfrm flipH="false" flipV="false" rot="0">
            <a:off x="7500695" y="3188755"/>
            <a:ext cx="5777953" cy="2725082"/>
          </a:xfrm>
          <a:custGeom>
            <a:avLst/>
            <a:gdLst/>
            <a:ahLst/>
            <a:cxnLst/>
            <a:rect r="r" b="b" t="t" l="l"/>
            <a:pathLst>
              <a:path h="2725082" w="5777953">
                <a:moveTo>
                  <a:pt x="0" y="0"/>
                </a:moveTo>
                <a:lnTo>
                  <a:pt x="5777953" y="0"/>
                </a:lnTo>
                <a:lnTo>
                  <a:pt x="5777953" y="2725082"/>
                </a:lnTo>
                <a:lnTo>
                  <a:pt x="0" y="2725082"/>
                </a:lnTo>
                <a:lnTo>
                  <a:pt x="0" y="0"/>
                </a:lnTo>
                <a:close/>
              </a:path>
            </a:pathLst>
          </a:custGeom>
          <a:blipFill>
            <a:blip r:embed="rId7"/>
            <a:stretch>
              <a:fillRect l="0" t="0" r="-2511"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7533048" y="273749"/>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2287249" y="446103"/>
            <a:ext cx="11695264" cy="1235412"/>
            <a:chOff x="0" y="0"/>
            <a:chExt cx="15593685" cy="1647215"/>
          </a:xfrm>
        </p:grpSpPr>
        <p:sp>
          <p:nvSpPr>
            <p:cNvPr name="Freeform 7" id="7"/>
            <p:cNvSpPr/>
            <p:nvPr/>
          </p:nvSpPr>
          <p:spPr>
            <a:xfrm flipH="false" flipV="false" rot="0">
              <a:off x="0" y="0"/>
              <a:ext cx="15593665" cy="1647190"/>
            </a:xfrm>
            <a:custGeom>
              <a:avLst/>
              <a:gdLst/>
              <a:ahLst/>
              <a:cxnLst/>
              <a:rect r="r" b="b" t="t" l="l"/>
              <a:pathLst>
                <a:path h="1647190" w="15593665">
                  <a:moveTo>
                    <a:pt x="0" y="0"/>
                  </a:moveTo>
                  <a:lnTo>
                    <a:pt x="15593665" y="0"/>
                  </a:lnTo>
                  <a:lnTo>
                    <a:pt x="15593665" y="1647190"/>
                  </a:lnTo>
                  <a:lnTo>
                    <a:pt x="0" y="1647190"/>
                  </a:lnTo>
                  <a:close/>
                </a:path>
              </a:pathLst>
            </a:custGeom>
            <a:blipFill>
              <a:blip r:embed="rId4">
                <a:alphaModFix amt="0"/>
              </a:blip>
              <a:stretch>
                <a:fillRect l="0" t="-194647" r="-32628" b="-194648"/>
              </a:stretch>
            </a:blipFill>
          </p:spPr>
        </p:sp>
      </p:grpSp>
      <p:grpSp>
        <p:nvGrpSpPr>
          <p:cNvPr name="Group 8" id="8"/>
          <p:cNvGrpSpPr/>
          <p:nvPr/>
        </p:nvGrpSpPr>
        <p:grpSpPr>
          <a:xfrm rot="0">
            <a:off x="404936" y="0"/>
            <a:ext cx="9663969" cy="1256836"/>
            <a:chOff x="0" y="0"/>
            <a:chExt cx="12885292" cy="1675782"/>
          </a:xfrm>
        </p:grpSpPr>
        <p:sp>
          <p:nvSpPr>
            <p:cNvPr name="Freeform 9" id="9"/>
            <p:cNvSpPr/>
            <p:nvPr/>
          </p:nvSpPr>
          <p:spPr>
            <a:xfrm flipH="false" flipV="false" rot="0">
              <a:off x="0" y="0"/>
              <a:ext cx="12885293" cy="1675786"/>
            </a:xfrm>
            <a:custGeom>
              <a:avLst/>
              <a:gdLst/>
              <a:ahLst/>
              <a:cxnLst/>
              <a:rect r="r" b="b" t="t" l="l"/>
              <a:pathLst>
                <a:path h="1675786" w="12885293">
                  <a:moveTo>
                    <a:pt x="0" y="0"/>
                  </a:moveTo>
                  <a:lnTo>
                    <a:pt x="12885293" y="0"/>
                  </a:lnTo>
                  <a:lnTo>
                    <a:pt x="12885293" y="1675786"/>
                  </a:lnTo>
                  <a:lnTo>
                    <a:pt x="0" y="1675786"/>
                  </a:lnTo>
                  <a:close/>
                </a:path>
              </a:pathLst>
            </a:custGeom>
            <a:blipFill>
              <a:blip r:embed="rId4">
                <a:alphaModFix amt="0"/>
              </a:blip>
              <a:stretch>
                <a:fillRect l="0" t="-190473" r="-60505" b="-190473"/>
              </a:stretch>
            </a:blipFill>
          </p:spPr>
        </p:sp>
        <p:sp>
          <p:nvSpPr>
            <p:cNvPr name="TextBox 10" id="10"/>
            <p:cNvSpPr txBox="true"/>
            <p:nvPr/>
          </p:nvSpPr>
          <p:spPr>
            <a:xfrm>
              <a:off x="0" y="-28575"/>
              <a:ext cx="12885292" cy="1704357"/>
            </a:xfrm>
            <a:prstGeom prst="rect">
              <a:avLst/>
            </a:prstGeom>
          </p:spPr>
          <p:txBody>
            <a:bodyPr anchor="ctr" rtlCol="false" tIns="0" lIns="0" bIns="0" rIns="0"/>
            <a:lstStyle/>
            <a:p>
              <a:pPr algn="l">
                <a:lnSpc>
                  <a:spcPts val="3602"/>
                </a:lnSpc>
              </a:pPr>
              <a:r>
                <a:rPr lang="en-US" sz="3002" b="true">
                  <a:solidFill>
                    <a:srgbClr val="000000"/>
                  </a:solidFill>
                  <a:latin typeface="Poppins Bold"/>
                  <a:ea typeface="Poppins Bold"/>
                  <a:cs typeface="Poppins Bold"/>
                  <a:sym typeface="Poppins Bold"/>
                </a:rPr>
                <a:t>Implementation : Assessment &amp; Results</a:t>
              </a:r>
            </a:p>
          </p:txBody>
        </p:sp>
      </p:grpSp>
      <p:grpSp>
        <p:nvGrpSpPr>
          <p:cNvPr name="Group 11" id="11"/>
          <p:cNvGrpSpPr/>
          <p:nvPr/>
        </p:nvGrpSpPr>
        <p:grpSpPr>
          <a:xfrm rot="0">
            <a:off x="686333" y="9718519"/>
            <a:ext cx="8236039" cy="411804"/>
            <a:chOff x="0" y="0"/>
            <a:chExt cx="10981385" cy="549072"/>
          </a:xfrm>
        </p:grpSpPr>
        <p:sp>
          <p:nvSpPr>
            <p:cNvPr name="Freeform 12" id="12"/>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3" id="13"/>
          <p:cNvGrpSpPr/>
          <p:nvPr/>
        </p:nvGrpSpPr>
        <p:grpSpPr>
          <a:xfrm rot="0">
            <a:off x="686333" y="9704232"/>
            <a:ext cx="8236039" cy="426091"/>
            <a:chOff x="0" y="0"/>
            <a:chExt cx="10981385" cy="568122"/>
          </a:xfrm>
        </p:grpSpPr>
        <p:sp>
          <p:nvSpPr>
            <p:cNvPr name="Freeform 14" id="14"/>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5" id="15"/>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6" id="16"/>
          <p:cNvGrpSpPr/>
          <p:nvPr/>
        </p:nvGrpSpPr>
        <p:grpSpPr>
          <a:xfrm rot="0">
            <a:off x="16242830" y="9718519"/>
            <a:ext cx="1372676" cy="411804"/>
            <a:chOff x="0" y="0"/>
            <a:chExt cx="1830235" cy="549072"/>
          </a:xfrm>
        </p:grpSpPr>
        <p:sp>
          <p:nvSpPr>
            <p:cNvPr name="Freeform 17" id="17"/>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sp>
        <p:nvSpPr>
          <p:cNvPr name="Freeform 18" id="18"/>
          <p:cNvSpPr/>
          <p:nvPr/>
        </p:nvSpPr>
        <p:spPr>
          <a:xfrm flipH="false" flipV="false" rot="0">
            <a:off x="116450" y="1028700"/>
            <a:ext cx="8018430" cy="6725557"/>
          </a:xfrm>
          <a:custGeom>
            <a:avLst/>
            <a:gdLst/>
            <a:ahLst/>
            <a:cxnLst/>
            <a:rect r="r" b="b" t="t" l="l"/>
            <a:pathLst>
              <a:path h="6725557" w="8018430">
                <a:moveTo>
                  <a:pt x="0" y="0"/>
                </a:moveTo>
                <a:lnTo>
                  <a:pt x="8018430" y="0"/>
                </a:lnTo>
                <a:lnTo>
                  <a:pt x="8018430" y="6725557"/>
                </a:lnTo>
                <a:lnTo>
                  <a:pt x="0" y="6725557"/>
                </a:lnTo>
                <a:lnTo>
                  <a:pt x="0" y="0"/>
                </a:lnTo>
                <a:close/>
              </a:path>
            </a:pathLst>
          </a:custGeom>
          <a:blipFill>
            <a:blip r:embed="rId5"/>
            <a:stretch>
              <a:fillRect l="0" t="0" r="0" b="0"/>
            </a:stretch>
          </a:blipFill>
        </p:spPr>
      </p:sp>
      <p:sp>
        <p:nvSpPr>
          <p:cNvPr name="Freeform 19" id="19"/>
          <p:cNvSpPr/>
          <p:nvPr/>
        </p:nvSpPr>
        <p:spPr>
          <a:xfrm flipH="false" flipV="false" rot="0">
            <a:off x="8423240" y="1063809"/>
            <a:ext cx="9864760" cy="5153636"/>
          </a:xfrm>
          <a:custGeom>
            <a:avLst/>
            <a:gdLst/>
            <a:ahLst/>
            <a:cxnLst/>
            <a:rect r="r" b="b" t="t" l="l"/>
            <a:pathLst>
              <a:path h="5153636" w="9864760">
                <a:moveTo>
                  <a:pt x="0" y="0"/>
                </a:moveTo>
                <a:lnTo>
                  <a:pt x="9864760" y="0"/>
                </a:lnTo>
                <a:lnTo>
                  <a:pt x="9864760" y="5153636"/>
                </a:lnTo>
                <a:lnTo>
                  <a:pt x="0" y="5153636"/>
                </a:lnTo>
                <a:lnTo>
                  <a:pt x="0" y="0"/>
                </a:lnTo>
                <a:close/>
              </a:path>
            </a:pathLst>
          </a:custGeom>
          <a:blipFill>
            <a:blip r:embed="rId6"/>
            <a:stretch>
              <a:fillRect l="0" t="0" r="0" b="0"/>
            </a:stretch>
          </a:blipFill>
        </p:spPr>
      </p:sp>
      <p:sp>
        <p:nvSpPr>
          <p:cNvPr name="Freeform 20" id="20"/>
          <p:cNvSpPr/>
          <p:nvPr/>
        </p:nvSpPr>
        <p:spPr>
          <a:xfrm flipH="false" flipV="false" rot="0">
            <a:off x="10435325" y="6524665"/>
            <a:ext cx="7180182" cy="3712546"/>
          </a:xfrm>
          <a:custGeom>
            <a:avLst/>
            <a:gdLst/>
            <a:ahLst/>
            <a:cxnLst/>
            <a:rect r="r" b="b" t="t" l="l"/>
            <a:pathLst>
              <a:path h="3712546" w="7180182">
                <a:moveTo>
                  <a:pt x="0" y="0"/>
                </a:moveTo>
                <a:lnTo>
                  <a:pt x="7180181" y="0"/>
                </a:lnTo>
                <a:lnTo>
                  <a:pt x="7180181" y="3712546"/>
                </a:lnTo>
                <a:lnTo>
                  <a:pt x="0" y="3712546"/>
                </a:lnTo>
                <a:lnTo>
                  <a:pt x="0" y="0"/>
                </a:lnTo>
                <a:close/>
              </a:path>
            </a:pathLst>
          </a:custGeom>
          <a:blipFill>
            <a:blip r:embed="rId7"/>
            <a:stretch>
              <a:fillRect l="0" t="0" r="0" b="0"/>
            </a:stretch>
          </a:blipFill>
        </p:spPr>
      </p:sp>
      <p:sp>
        <p:nvSpPr>
          <p:cNvPr name="Freeform 21" id="21"/>
          <p:cNvSpPr/>
          <p:nvPr/>
        </p:nvSpPr>
        <p:spPr>
          <a:xfrm flipH="false" flipV="false" rot="0">
            <a:off x="4924182" y="6981343"/>
            <a:ext cx="5391315" cy="2829777"/>
          </a:xfrm>
          <a:custGeom>
            <a:avLst/>
            <a:gdLst/>
            <a:ahLst/>
            <a:cxnLst/>
            <a:rect r="r" b="b" t="t" l="l"/>
            <a:pathLst>
              <a:path h="2829777" w="5391315">
                <a:moveTo>
                  <a:pt x="0" y="0"/>
                </a:moveTo>
                <a:lnTo>
                  <a:pt x="5391314" y="0"/>
                </a:lnTo>
                <a:lnTo>
                  <a:pt x="5391314" y="2829777"/>
                </a:lnTo>
                <a:lnTo>
                  <a:pt x="0" y="2829777"/>
                </a:lnTo>
                <a:lnTo>
                  <a:pt x="0" y="0"/>
                </a:lnTo>
                <a:close/>
              </a:path>
            </a:pathLst>
          </a:custGeom>
          <a:blipFill>
            <a:blip r:embed="rId8"/>
            <a:stretch>
              <a:fillRect l="0" t="0" r="0" b="0"/>
            </a:stretch>
          </a:blipFill>
        </p:spPr>
      </p:sp>
      <p:sp>
        <p:nvSpPr>
          <p:cNvPr name="Freeform 22" id="22"/>
          <p:cNvSpPr/>
          <p:nvPr/>
        </p:nvSpPr>
        <p:spPr>
          <a:xfrm flipH="false" flipV="false" rot="0">
            <a:off x="116450" y="6975638"/>
            <a:ext cx="4687903" cy="2636945"/>
          </a:xfrm>
          <a:custGeom>
            <a:avLst/>
            <a:gdLst/>
            <a:ahLst/>
            <a:cxnLst/>
            <a:rect r="r" b="b" t="t" l="l"/>
            <a:pathLst>
              <a:path h="2636945" w="4687903">
                <a:moveTo>
                  <a:pt x="0" y="0"/>
                </a:moveTo>
                <a:lnTo>
                  <a:pt x="4687903" y="0"/>
                </a:lnTo>
                <a:lnTo>
                  <a:pt x="4687903" y="2636945"/>
                </a:lnTo>
                <a:lnTo>
                  <a:pt x="0" y="2636945"/>
                </a:lnTo>
                <a:lnTo>
                  <a:pt x="0" y="0"/>
                </a:lnTo>
                <a:close/>
              </a:path>
            </a:pathLst>
          </a:custGeom>
          <a:blipFill>
            <a:blip r:embed="rId9"/>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7533048" y="273749"/>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2287249" y="446103"/>
            <a:ext cx="11695264" cy="1235412"/>
            <a:chOff x="0" y="0"/>
            <a:chExt cx="15593685" cy="1647215"/>
          </a:xfrm>
        </p:grpSpPr>
        <p:sp>
          <p:nvSpPr>
            <p:cNvPr name="Freeform 7" id="7"/>
            <p:cNvSpPr/>
            <p:nvPr/>
          </p:nvSpPr>
          <p:spPr>
            <a:xfrm flipH="false" flipV="false" rot="0">
              <a:off x="0" y="0"/>
              <a:ext cx="15593665" cy="1647190"/>
            </a:xfrm>
            <a:custGeom>
              <a:avLst/>
              <a:gdLst/>
              <a:ahLst/>
              <a:cxnLst/>
              <a:rect r="r" b="b" t="t" l="l"/>
              <a:pathLst>
                <a:path h="1647190" w="15593665">
                  <a:moveTo>
                    <a:pt x="0" y="0"/>
                  </a:moveTo>
                  <a:lnTo>
                    <a:pt x="15593665" y="0"/>
                  </a:lnTo>
                  <a:lnTo>
                    <a:pt x="15593665" y="1647190"/>
                  </a:lnTo>
                  <a:lnTo>
                    <a:pt x="0" y="1647190"/>
                  </a:lnTo>
                  <a:close/>
                </a:path>
              </a:pathLst>
            </a:custGeom>
            <a:blipFill>
              <a:blip r:embed="rId4">
                <a:alphaModFix amt="0"/>
              </a:blip>
              <a:stretch>
                <a:fillRect l="0" t="-194647" r="-32628" b="-194648"/>
              </a:stretch>
            </a:blipFill>
          </p:spPr>
        </p:sp>
      </p:grpSp>
      <p:grpSp>
        <p:nvGrpSpPr>
          <p:cNvPr name="Group 8" id="8"/>
          <p:cNvGrpSpPr/>
          <p:nvPr/>
        </p:nvGrpSpPr>
        <p:grpSpPr>
          <a:xfrm rot="0">
            <a:off x="317881" y="-182315"/>
            <a:ext cx="9663969" cy="1256836"/>
            <a:chOff x="0" y="0"/>
            <a:chExt cx="12885292" cy="1675782"/>
          </a:xfrm>
        </p:grpSpPr>
        <p:sp>
          <p:nvSpPr>
            <p:cNvPr name="Freeform 9" id="9"/>
            <p:cNvSpPr/>
            <p:nvPr/>
          </p:nvSpPr>
          <p:spPr>
            <a:xfrm flipH="false" flipV="false" rot="0">
              <a:off x="0" y="0"/>
              <a:ext cx="12885293" cy="1675786"/>
            </a:xfrm>
            <a:custGeom>
              <a:avLst/>
              <a:gdLst/>
              <a:ahLst/>
              <a:cxnLst/>
              <a:rect r="r" b="b" t="t" l="l"/>
              <a:pathLst>
                <a:path h="1675786" w="12885293">
                  <a:moveTo>
                    <a:pt x="0" y="0"/>
                  </a:moveTo>
                  <a:lnTo>
                    <a:pt x="12885293" y="0"/>
                  </a:lnTo>
                  <a:lnTo>
                    <a:pt x="12885293" y="1675786"/>
                  </a:lnTo>
                  <a:lnTo>
                    <a:pt x="0" y="1675786"/>
                  </a:lnTo>
                  <a:close/>
                </a:path>
              </a:pathLst>
            </a:custGeom>
            <a:blipFill>
              <a:blip r:embed="rId4">
                <a:alphaModFix amt="0"/>
              </a:blip>
              <a:stretch>
                <a:fillRect l="0" t="-190473" r="-60505" b="-190473"/>
              </a:stretch>
            </a:blipFill>
          </p:spPr>
        </p:sp>
        <p:sp>
          <p:nvSpPr>
            <p:cNvPr name="TextBox 10" id="10"/>
            <p:cNvSpPr txBox="true"/>
            <p:nvPr/>
          </p:nvSpPr>
          <p:spPr>
            <a:xfrm>
              <a:off x="0" y="-28575"/>
              <a:ext cx="12885292" cy="1704357"/>
            </a:xfrm>
            <a:prstGeom prst="rect">
              <a:avLst/>
            </a:prstGeom>
          </p:spPr>
          <p:txBody>
            <a:bodyPr anchor="ctr" rtlCol="false" tIns="0" lIns="0" bIns="0" rIns="0"/>
            <a:lstStyle/>
            <a:p>
              <a:pPr algn="l">
                <a:lnSpc>
                  <a:spcPts val="3602"/>
                </a:lnSpc>
              </a:pPr>
              <a:r>
                <a:rPr lang="en-US" sz="3002" b="true">
                  <a:solidFill>
                    <a:srgbClr val="000000"/>
                  </a:solidFill>
                  <a:latin typeface="Poppins Bold"/>
                  <a:ea typeface="Poppins Bold"/>
                  <a:cs typeface="Poppins Bold"/>
                  <a:sym typeface="Poppins Bold"/>
                </a:rPr>
                <a:t>Implementation : Assessment &amp; Results </a:t>
              </a:r>
            </a:p>
          </p:txBody>
        </p:sp>
      </p:grpSp>
      <p:grpSp>
        <p:nvGrpSpPr>
          <p:cNvPr name="Group 11" id="11"/>
          <p:cNvGrpSpPr/>
          <p:nvPr/>
        </p:nvGrpSpPr>
        <p:grpSpPr>
          <a:xfrm rot="0">
            <a:off x="686333" y="9718519"/>
            <a:ext cx="8236039" cy="411804"/>
            <a:chOff x="0" y="0"/>
            <a:chExt cx="10981385" cy="549072"/>
          </a:xfrm>
        </p:grpSpPr>
        <p:sp>
          <p:nvSpPr>
            <p:cNvPr name="Freeform 12" id="12"/>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3" id="13"/>
          <p:cNvGrpSpPr/>
          <p:nvPr/>
        </p:nvGrpSpPr>
        <p:grpSpPr>
          <a:xfrm rot="0">
            <a:off x="686333" y="9704232"/>
            <a:ext cx="8236039" cy="426091"/>
            <a:chOff x="0" y="0"/>
            <a:chExt cx="10981385" cy="568122"/>
          </a:xfrm>
        </p:grpSpPr>
        <p:sp>
          <p:nvSpPr>
            <p:cNvPr name="Freeform 14" id="14"/>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5" id="15"/>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6" id="16"/>
          <p:cNvGrpSpPr/>
          <p:nvPr/>
        </p:nvGrpSpPr>
        <p:grpSpPr>
          <a:xfrm rot="0">
            <a:off x="16242830" y="9718519"/>
            <a:ext cx="1372676" cy="411804"/>
            <a:chOff x="0" y="0"/>
            <a:chExt cx="1830235" cy="549072"/>
          </a:xfrm>
        </p:grpSpPr>
        <p:sp>
          <p:nvSpPr>
            <p:cNvPr name="Freeform 17" id="17"/>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sp>
        <p:nvSpPr>
          <p:cNvPr name="Freeform 18" id="18"/>
          <p:cNvSpPr/>
          <p:nvPr/>
        </p:nvSpPr>
        <p:spPr>
          <a:xfrm flipH="false" flipV="false" rot="0">
            <a:off x="3150678" y="854298"/>
            <a:ext cx="5993322" cy="9770872"/>
          </a:xfrm>
          <a:custGeom>
            <a:avLst/>
            <a:gdLst/>
            <a:ahLst/>
            <a:cxnLst/>
            <a:rect r="r" b="b" t="t" l="l"/>
            <a:pathLst>
              <a:path h="9770872" w="5993322">
                <a:moveTo>
                  <a:pt x="0" y="0"/>
                </a:moveTo>
                <a:lnTo>
                  <a:pt x="5993322" y="0"/>
                </a:lnTo>
                <a:lnTo>
                  <a:pt x="5993322" y="9770872"/>
                </a:lnTo>
                <a:lnTo>
                  <a:pt x="0" y="9770872"/>
                </a:lnTo>
                <a:lnTo>
                  <a:pt x="0" y="0"/>
                </a:lnTo>
                <a:close/>
              </a:path>
            </a:pathLst>
          </a:custGeom>
          <a:blipFill>
            <a:blip r:embed="rId5"/>
            <a:stretch>
              <a:fillRect l="0" t="0" r="0" b="0"/>
            </a:stretch>
          </a:blipFill>
        </p:spPr>
      </p:sp>
      <p:sp>
        <p:nvSpPr>
          <p:cNvPr name="Freeform 19" id="19"/>
          <p:cNvSpPr/>
          <p:nvPr/>
        </p:nvSpPr>
        <p:spPr>
          <a:xfrm flipH="false" flipV="false" rot="0">
            <a:off x="10171196" y="963129"/>
            <a:ext cx="6071634" cy="9079936"/>
          </a:xfrm>
          <a:custGeom>
            <a:avLst/>
            <a:gdLst/>
            <a:ahLst/>
            <a:cxnLst/>
            <a:rect r="r" b="b" t="t" l="l"/>
            <a:pathLst>
              <a:path h="9079936" w="6071634">
                <a:moveTo>
                  <a:pt x="0" y="0"/>
                </a:moveTo>
                <a:lnTo>
                  <a:pt x="6071634" y="0"/>
                </a:lnTo>
                <a:lnTo>
                  <a:pt x="6071634" y="9079936"/>
                </a:lnTo>
                <a:lnTo>
                  <a:pt x="0" y="9079936"/>
                </a:lnTo>
                <a:lnTo>
                  <a:pt x="0" y="0"/>
                </a:lnTo>
                <a:close/>
              </a:path>
            </a:pathLst>
          </a:custGeom>
          <a:blipFill>
            <a:blip r:embed="rId6"/>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685800" y="502920"/>
            <a:ext cx="1371600" cy="914400"/>
            <a:chOff x="0" y="0"/>
            <a:chExt cx="1828800" cy="1219200"/>
          </a:xfrm>
        </p:grpSpPr>
        <p:sp>
          <p:nvSpPr>
            <p:cNvPr name="Freeform 3" id="3"/>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2">
                <a:alphaModFix amt="0"/>
              </a:blip>
              <a:stretch>
                <a:fillRect l="-35595" t="0" r="-35595" b="0"/>
              </a:stretch>
            </a:blipFill>
          </p:spPr>
        </p:sp>
      </p:grpSp>
      <p:grpSp>
        <p:nvGrpSpPr>
          <p:cNvPr name="Group 4" id="4"/>
          <p:cNvGrpSpPr/>
          <p:nvPr/>
        </p:nvGrpSpPr>
        <p:grpSpPr>
          <a:xfrm rot="0">
            <a:off x="1965960" y="521208"/>
            <a:ext cx="13716000" cy="822960"/>
            <a:chOff x="0" y="0"/>
            <a:chExt cx="18288000" cy="1097280"/>
          </a:xfrm>
        </p:grpSpPr>
        <p:sp>
          <p:nvSpPr>
            <p:cNvPr name="Freeform 5" id="5"/>
            <p:cNvSpPr/>
            <p:nvPr/>
          </p:nvSpPr>
          <p:spPr>
            <a:xfrm flipH="false" flipV="false" rot="0">
              <a:off x="0" y="0"/>
              <a:ext cx="18288000" cy="1097280"/>
            </a:xfrm>
            <a:custGeom>
              <a:avLst/>
              <a:gdLst/>
              <a:ahLst/>
              <a:cxnLst/>
              <a:rect r="r" b="b" t="t" l="l"/>
              <a:pathLst>
                <a:path h="1097280" w="18288000">
                  <a:moveTo>
                    <a:pt x="0" y="0"/>
                  </a:moveTo>
                  <a:lnTo>
                    <a:pt x="18288000" y="0"/>
                  </a:lnTo>
                  <a:lnTo>
                    <a:pt x="18288000" y="1097280"/>
                  </a:lnTo>
                  <a:lnTo>
                    <a:pt x="0" y="1097280"/>
                  </a:lnTo>
                  <a:close/>
                </a:path>
              </a:pathLst>
            </a:custGeom>
            <a:blipFill>
              <a:blip r:embed="rId2">
                <a:alphaModFix amt="0"/>
              </a:blip>
              <a:stretch>
                <a:fillRect l="0" t="-274524" r="0" b="-274525"/>
              </a:stretch>
            </a:blipFill>
          </p:spPr>
        </p:sp>
      </p:grpSp>
      <p:grpSp>
        <p:nvGrpSpPr>
          <p:cNvPr name="Group 6" id="6"/>
          <p:cNvGrpSpPr/>
          <p:nvPr/>
        </p:nvGrpSpPr>
        <p:grpSpPr>
          <a:xfrm rot="0">
            <a:off x="806291" y="506920"/>
            <a:ext cx="13716000" cy="837248"/>
            <a:chOff x="0" y="0"/>
            <a:chExt cx="18288000" cy="1116330"/>
          </a:xfrm>
        </p:grpSpPr>
        <p:sp>
          <p:nvSpPr>
            <p:cNvPr name="Freeform 7" id="7"/>
            <p:cNvSpPr/>
            <p:nvPr/>
          </p:nvSpPr>
          <p:spPr>
            <a:xfrm flipH="false" flipV="false" rot="0">
              <a:off x="0" y="0"/>
              <a:ext cx="18288000" cy="1116330"/>
            </a:xfrm>
            <a:custGeom>
              <a:avLst/>
              <a:gdLst/>
              <a:ahLst/>
              <a:cxnLst/>
              <a:rect r="r" b="b" t="t" l="l"/>
              <a:pathLst>
                <a:path h="1116330" w="18288000">
                  <a:moveTo>
                    <a:pt x="0" y="0"/>
                  </a:moveTo>
                  <a:lnTo>
                    <a:pt x="18288000" y="0"/>
                  </a:lnTo>
                  <a:lnTo>
                    <a:pt x="18288000" y="1116330"/>
                  </a:lnTo>
                  <a:lnTo>
                    <a:pt x="0" y="1116330"/>
                  </a:lnTo>
                  <a:close/>
                </a:path>
              </a:pathLst>
            </a:custGeom>
            <a:blipFill>
              <a:blip r:embed="rId3">
                <a:alphaModFix amt="0"/>
              </a:blip>
              <a:stretch>
                <a:fillRect l="0" t="-269208" r="0" b="-269208"/>
              </a:stretch>
            </a:blipFill>
          </p:spPr>
        </p:sp>
        <p:sp>
          <p:nvSpPr>
            <p:cNvPr name="TextBox 8" id="8"/>
            <p:cNvSpPr txBox="true"/>
            <p:nvPr/>
          </p:nvSpPr>
          <p:spPr>
            <a:xfrm>
              <a:off x="0" y="-19050"/>
              <a:ext cx="18288000" cy="1135380"/>
            </a:xfrm>
            <a:prstGeom prst="rect">
              <a:avLst/>
            </a:prstGeom>
          </p:spPr>
          <p:txBody>
            <a:bodyPr anchor="ctr" rtlCol="false" tIns="0" lIns="0" bIns="0" rIns="0"/>
            <a:lstStyle/>
            <a:p>
              <a:pPr algn="l">
                <a:lnSpc>
                  <a:spcPts val="3120"/>
                </a:lnSpc>
              </a:pPr>
              <a:r>
                <a:rPr lang="en-US" sz="2600" b="true">
                  <a:solidFill>
                    <a:srgbClr val="000000"/>
                  </a:solidFill>
                  <a:latin typeface="Poppins Bold"/>
                  <a:ea typeface="Poppins Bold"/>
                  <a:cs typeface="Poppins Bold"/>
                  <a:sym typeface="Poppins Bold"/>
                </a:rPr>
                <a:t>Skill Ranking &amp; Leaderboard</a:t>
              </a:r>
            </a:p>
          </p:txBody>
        </p:sp>
      </p:grpSp>
      <p:grpSp>
        <p:nvGrpSpPr>
          <p:cNvPr name="Group 9" id="9"/>
          <p:cNvGrpSpPr/>
          <p:nvPr/>
        </p:nvGrpSpPr>
        <p:grpSpPr>
          <a:xfrm rot="0">
            <a:off x="5029200" y="1554480"/>
            <a:ext cx="8229600" cy="731520"/>
            <a:chOff x="0" y="0"/>
            <a:chExt cx="10972800" cy="975360"/>
          </a:xfrm>
        </p:grpSpPr>
        <p:sp>
          <p:nvSpPr>
            <p:cNvPr name="Freeform 10" id="10"/>
            <p:cNvSpPr/>
            <p:nvPr/>
          </p:nvSpPr>
          <p:spPr>
            <a:xfrm flipH="false" flipV="false" rot="0">
              <a:off x="0" y="0"/>
              <a:ext cx="10972800" cy="975360"/>
            </a:xfrm>
            <a:custGeom>
              <a:avLst/>
              <a:gdLst/>
              <a:ahLst/>
              <a:cxnLst/>
              <a:rect r="r" b="b" t="t" l="l"/>
              <a:pathLst>
                <a:path h="975360" w="10972800">
                  <a:moveTo>
                    <a:pt x="0" y="146304"/>
                  </a:moveTo>
                  <a:cubicBezTo>
                    <a:pt x="0" y="65532"/>
                    <a:pt x="65532" y="0"/>
                    <a:pt x="146304" y="0"/>
                  </a:cubicBezTo>
                  <a:lnTo>
                    <a:pt x="10826496" y="0"/>
                  </a:lnTo>
                  <a:cubicBezTo>
                    <a:pt x="10907268" y="0"/>
                    <a:pt x="10972800" y="65532"/>
                    <a:pt x="10972800" y="146304"/>
                  </a:cubicBezTo>
                  <a:lnTo>
                    <a:pt x="10972800" y="829056"/>
                  </a:lnTo>
                  <a:cubicBezTo>
                    <a:pt x="10972800" y="909828"/>
                    <a:pt x="10907268" y="975360"/>
                    <a:pt x="10826496" y="975360"/>
                  </a:cubicBezTo>
                  <a:lnTo>
                    <a:pt x="146304" y="975360"/>
                  </a:lnTo>
                  <a:cubicBezTo>
                    <a:pt x="65532" y="975360"/>
                    <a:pt x="0" y="909828"/>
                    <a:pt x="0" y="829056"/>
                  </a:cubicBezTo>
                  <a:close/>
                </a:path>
              </a:pathLst>
            </a:custGeom>
            <a:solidFill>
              <a:srgbClr val="737AE6"/>
            </a:solidFill>
          </p:spPr>
        </p:sp>
      </p:grpSp>
      <p:grpSp>
        <p:nvGrpSpPr>
          <p:cNvPr name="Group 11" id="11"/>
          <p:cNvGrpSpPr/>
          <p:nvPr/>
        </p:nvGrpSpPr>
        <p:grpSpPr>
          <a:xfrm rot="0">
            <a:off x="5029200" y="1554480"/>
            <a:ext cx="8229600" cy="731520"/>
            <a:chOff x="0" y="0"/>
            <a:chExt cx="10972800" cy="975360"/>
          </a:xfrm>
        </p:grpSpPr>
        <p:sp>
          <p:nvSpPr>
            <p:cNvPr name="Freeform 12" id="12"/>
            <p:cNvSpPr/>
            <p:nvPr/>
          </p:nvSpPr>
          <p:spPr>
            <a:xfrm flipH="false" flipV="false" rot="0">
              <a:off x="0" y="0"/>
              <a:ext cx="10972800" cy="975360"/>
            </a:xfrm>
            <a:custGeom>
              <a:avLst/>
              <a:gdLst/>
              <a:ahLst/>
              <a:cxnLst/>
              <a:rect r="r" b="b" t="t" l="l"/>
              <a:pathLst>
                <a:path h="975360" w="10972800">
                  <a:moveTo>
                    <a:pt x="0" y="0"/>
                  </a:moveTo>
                  <a:lnTo>
                    <a:pt x="10972800" y="0"/>
                  </a:lnTo>
                  <a:lnTo>
                    <a:pt x="10972800" y="975360"/>
                  </a:lnTo>
                  <a:lnTo>
                    <a:pt x="0" y="975360"/>
                  </a:lnTo>
                  <a:close/>
                </a:path>
              </a:pathLst>
            </a:custGeom>
            <a:blipFill>
              <a:blip r:embed="rId2">
                <a:alphaModFix amt="0"/>
              </a:blip>
              <a:stretch>
                <a:fillRect l="0" t="-169054" r="0" b="-169053"/>
              </a:stretch>
            </a:blipFill>
          </p:spPr>
        </p:sp>
      </p:grpSp>
      <p:grpSp>
        <p:nvGrpSpPr>
          <p:cNvPr name="Group 13" id="13"/>
          <p:cNvGrpSpPr/>
          <p:nvPr/>
        </p:nvGrpSpPr>
        <p:grpSpPr>
          <a:xfrm rot="0">
            <a:off x="5029200" y="1540192"/>
            <a:ext cx="8229600" cy="745807"/>
            <a:chOff x="0" y="0"/>
            <a:chExt cx="10972800" cy="994410"/>
          </a:xfrm>
        </p:grpSpPr>
        <p:sp>
          <p:nvSpPr>
            <p:cNvPr name="Freeform 14" id="14"/>
            <p:cNvSpPr/>
            <p:nvPr/>
          </p:nvSpPr>
          <p:spPr>
            <a:xfrm flipH="false" flipV="false" rot="0">
              <a:off x="0" y="0"/>
              <a:ext cx="10972800" cy="994410"/>
            </a:xfrm>
            <a:custGeom>
              <a:avLst/>
              <a:gdLst/>
              <a:ahLst/>
              <a:cxnLst/>
              <a:rect r="r" b="b" t="t" l="l"/>
              <a:pathLst>
                <a:path h="994410" w="10972800">
                  <a:moveTo>
                    <a:pt x="0" y="0"/>
                  </a:moveTo>
                  <a:lnTo>
                    <a:pt x="10972800" y="0"/>
                  </a:lnTo>
                  <a:lnTo>
                    <a:pt x="10972800" y="994410"/>
                  </a:lnTo>
                  <a:lnTo>
                    <a:pt x="0" y="994410"/>
                  </a:lnTo>
                  <a:close/>
                </a:path>
              </a:pathLst>
            </a:custGeom>
            <a:blipFill>
              <a:blip r:embed="rId3">
                <a:alphaModFix amt="0"/>
              </a:blip>
              <a:stretch>
                <a:fillRect l="0" t="-165007" r="0" b="-165007"/>
              </a:stretch>
            </a:blipFill>
          </p:spPr>
        </p:sp>
        <p:sp>
          <p:nvSpPr>
            <p:cNvPr name="TextBox 15" id="15"/>
            <p:cNvSpPr txBox="true"/>
            <p:nvPr/>
          </p:nvSpPr>
          <p:spPr>
            <a:xfrm>
              <a:off x="0" y="-19050"/>
              <a:ext cx="10972800" cy="1013460"/>
            </a:xfrm>
            <a:prstGeom prst="rect">
              <a:avLst/>
            </a:prstGeom>
          </p:spPr>
          <p:txBody>
            <a:bodyPr anchor="ctr" rtlCol="false" tIns="0" lIns="0" bIns="0" rIns="0"/>
            <a:lstStyle/>
            <a:p>
              <a:pPr algn="ctr">
                <a:lnSpc>
                  <a:spcPts val="1800"/>
                </a:lnSpc>
              </a:pPr>
              <a:r>
                <a:rPr lang="en-US" sz="1500" b="true">
                  <a:solidFill>
                    <a:srgbClr val="FFFFFF"/>
                  </a:solidFill>
                  <a:latin typeface="Poppins Bold"/>
                  <a:ea typeface="Poppins Bold"/>
                  <a:cs typeface="Poppins Bold"/>
                  <a:sym typeface="Poppins Bold"/>
                </a:rPr>
                <a:t>Candidate Picks a Skill  →  Leaderboard Generated for That Skill</a:t>
              </a:r>
            </a:p>
          </p:txBody>
        </p:sp>
      </p:grpSp>
      <p:grpSp>
        <p:nvGrpSpPr>
          <p:cNvPr name="Group 16" id="16"/>
          <p:cNvGrpSpPr/>
          <p:nvPr/>
        </p:nvGrpSpPr>
        <p:grpSpPr>
          <a:xfrm rot="0">
            <a:off x="8869680" y="2331720"/>
            <a:ext cx="548640" cy="365760"/>
            <a:chOff x="0" y="0"/>
            <a:chExt cx="731520" cy="487680"/>
          </a:xfrm>
        </p:grpSpPr>
        <p:sp>
          <p:nvSpPr>
            <p:cNvPr name="Freeform 17" id="17"/>
            <p:cNvSpPr/>
            <p:nvPr/>
          </p:nvSpPr>
          <p:spPr>
            <a:xfrm flipH="false" flipV="false" rot="0">
              <a:off x="0" y="0"/>
              <a:ext cx="731520" cy="487680"/>
            </a:xfrm>
            <a:custGeom>
              <a:avLst/>
              <a:gdLst/>
              <a:ahLst/>
              <a:cxnLst/>
              <a:rect r="r" b="b" t="t" l="l"/>
              <a:pathLst>
                <a:path h="487680" w="731520">
                  <a:moveTo>
                    <a:pt x="0" y="243840"/>
                  </a:moveTo>
                  <a:lnTo>
                    <a:pt x="182880" y="243840"/>
                  </a:lnTo>
                  <a:lnTo>
                    <a:pt x="182880" y="0"/>
                  </a:lnTo>
                  <a:lnTo>
                    <a:pt x="548640" y="0"/>
                  </a:lnTo>
                  <a:lnTo>
                    <a:pt x="548640" y="243840"/>
                  </a:lnTo>
                  <a:lnTo>
                    <a:pt x="731520" y="243840"/>
                  </a:lnTo>
                  <a:lnTo>
                    <a:pt x="365760" y="487680"/>
                  </a:lnTo>
                  <a:close/>
                </a:path>
              </a:pathLst>
            </a:custGeom>
            <a:solidFill>
              <a:srgbClr val="737AE6"/>
            </a:solidFill>
          </p:spPr>
        </p:sp>
      </p:grpSp>
      <p:grpSp>
        <p:nvGrpSpPr>
          <p:cNvPr name="Group 18" id="18"/>
          <p:cNvGrpSpPr/>
          <p:nvPr/>
        </p:nvGrpSpPr>
        <p:grpSpPr>
          <a:xfrm rot="0">
            <a:off x="3200400" y="2788920"/>
            <a:ext cx="11887200" cy="1051560"/>
            <a:chOff x="0" y="0"/>
            <a:chExt cx="15849600" cy="1402080"/>
          </a:xfrm>
        </p:grpSpPr>
        <p:sp>
          <p:nvSpPr>
            <p:cNvPr name="Freeform 19" id="19"/>
            <p:cNvSpPr/>
            <p:nvPr/>
          </p:nvSpPr>
          <p:spPr>
            <a:xfrm flipH="false" flipV="false" rot="0">
              <a:off x="0" y="0"/>
              <a:ext cx="15849600" cy="1402080"/>
            </a:xfrm>
            <a:custGeom>
              <a:avLst/>
              <a:gdLst/>
              <a:ahLst/>
              <a:cxnLst/>
              <a:rect r="r" b="b" t="t" l="l"/>
              <a:pathLst>
                <a:path h="1402080" w="15849600">
                  <a:moveTo>
                    <a:pt x="0" y="170688"/>
                  </a:moveTo>
                  <a:cubicBezTo>
                    <a:pt x="0" y="76454"/>
                    <a:pt x="76454" y="0"/>
                    <a:pt x="170688" y="0"/>
                  </a:cubicBezTo>
                  <a:lnTo>
                    <a:pt x="15678913" y="0"/>
                  </a:lnTo>
                  <a:cubicBezTo>
                    <a:pt x="15773147" y="0"/>
                    <a:pt x="15849600" y="76454"/>
                    <a:pt x="15849600" y="170688"/>
                  </a:cubicBezTo>
                  <a:lnTo>
                    <a:pt x="15849600" y="1231392"/>
                  </a:lnTo>
                  <a:cubicBezTo>
                    <a:pt x="15849600" y="1325626"/>
                    <a:pt x="15773147" y="1402080"/>
                    <a:pt x="15678913" y="1402080"/>
                  </a:cubicBezTo>
                  <a:lnTo>
                    <a:pt x="170688" y="1402080"/>
                  </a:lnTo>
                  <a:cubicBezTo>
                    <a:pt x="76454" y="1402080"/>
                    <a:pt x="0" y="1325626"/>
                    <a:pt x="0" y="1231392"/>
                  </a:cubicBezTo>
                  <a:close/>
                </a:path>
              </a:pathLst>
            </a:custGeom>
            <a:solidFill>
              <a:srgbClr val="737AE6"/>
            </a:solidFill>
          </p:spPr>
        </p:sp>
      </p:grpSp>
      <p:grpSp>
        <p:nvGrpSpPr>
          <p:cNvPr name="Group 20" id="20"/>
          <p:cNvGrpSpPr/>
          <p:nvPr/>
        </p:nvGrpSpPr>
        <p:grpSpPr>
          <a:xfrm rot="0">
            <a:off x="3657600" y="2935224"/>
            <a:ext cx="10972800" cy="411480"/>
            <a:chOff x="0" y="0"/>
            <a:chExt cx="14630400" cy="548640"/>
          </a:xfrm>
        </p:grpSpPr>
        <p:sp>
          <p:nvSpPr>
            <p:cNvPr name="Freeform 21" id="21"/>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240" r="0" b="-469238"/>
              </a:stretch>
            </a:blipFill>
          </p:spPr>
        </p:sp>
      </p:grpSp>
      <p:grpSp>
        <p:nvGrpSpPr>
          <p:cNvPr name="Group 22" id="22"/>
          <p:cNvGrpSpPr/>
          <p:nvPr/>
        </p:nvGrpSpPr>
        <p:grpSpPr>
          <a:xfrm rot="0">
            <a:off x="3657600" y="2920936"/>
            <a:ext cx="10972800" cy="425768"/>
            <a:chOff x="0" y="0"/>
            <a:chExt cx="14630400" cy="567690"/>
          </a:xfrm>
        </p:grpSpPr>
        <p:sp>
          <p:nvSpPr>
            <p:cNvPr name="Freeform 23" id="23"/>
            <p:cNvSpPr/>
            <p:nvPr/>
          </p:nvSpPr>
          <p:spPr>
            <a:xfrm flipH="false" flipV="false" rot="0">
              <a:off x="0" y="0"/>
              <a:ext cx="14630400" cy="567690"/>
            </a:xfrm>
            <a:custGeom>
              <a:avLst/>
              <a:gdLst/>
              <a:ahLst/>
              <a:cxnLst/>
              <a:rect r="r" b="b" t="t" l="l"/>
              <a:pathLst>
                <a:path h="567690" w="14630400">
                  <a:moveTo>
                    <a:pt x="0" y="0"/>
                  </a:moveTo>
                  <a:lnTo>
                    <a:pt x="14630400" y="0"/>
                  </a:lnTo>
                  <a:lnTo>
                    <a:pt x="14630400" y="567690"/>
                  </a:lnTo>
                  <a:lnTo>
                    <a:pt x="0" y="567690"/>
                  </a:lnTo>
                  <a:close/>
                </a:path>
              </a:pathLst>
            </a:custGeom>
            <a:blipFill>
              <a:blip r:embed="rId3">
                <a:alphaModFix amt="0"/>
              </a:blip>
              <a:stretch>
                <a:fillRect l="0" t="-452164" r="0" b="-452164"/>
              </a:stretch>
            </a:blipFill>
          </p:spPr>
        </p:sp>
        <p:sp>
          <p:nvSpPr>
            <p:cNvPr name="TextBox 24" id="24"/>
            <p:cNvSpPr txBox="true"/>
            <p:nvPr/>
          </p:nvSpPr>
          <p:spPr>
            <a:xfrm>
              <a:off x="0" y="-19050"/>
              <a:ext cx="14630400" cy="586740"/>
            </a:xfrm>
            <a:prstGeom prst="rect">
              <a:avLst/>
            </a:prstGeom>
          </p:spPr>
          <p:txBody>
            <a:bodyPr anchor="ctr" rtlCol="false" tIns="0" lIns="0" bIns="0" rIns="0"/>
            <a:lstStyle/>
            <a:p>
              <a:pPr algn="ctr">
                <a:lnSpc>
                  <a:spcPts val="2279"/>
                </a:lnSpc>
              </a:pPr>
              <a:r>
                <a:rPr lang="en-US" sz="1899" b="true">
                  <a:solidFill>
                    <a:srgbClr val="FFFFFF"/>
                  </a:solidFill>
                  <a:latin typeface="Poppins Bold"/>
                  <a:ea typeface="Poppins Bold"/>
                  <a:cs typeface="Poppins Bold"/>
                  <a:sym typeface="Poppins Bold"/>
                </a:rPr>
                <a:t>Geographic Filter (Optional)</a:t>
              </a:r>
            </a:p>
          </p:txBody>
        </p:sp>
      </p:grpSp>
      <p:grpSp>
        <p:nvGrpSpPr>
          <p:cNvPr name="Group 25" id="25"/>
          <p:cNvGrpSpPr/>
          <p:nvPr/>
        </p:nvGrpSpPr>
        <p:grpSpPr>
          <a:xfrm rot="0">
            <a:off x="3931920" y="3364992"/>
            <a:ext cx="10424160" cy="384048"/>
            <a:chOff x="0" y="0"/>
            <a:chExt cx="13898880" cy="512064"/>
          </a:xfrm>
        </p:grpSpPr>
        <p:sp>
          <p:nvSpPr>
            <p:cNvPr name="Freeform 26" id="26"/>
            <p:cNvSpPr/>
            <p:nvPr/>
          </p:nvSpPr>
          <p:spPr>
            <a:xfrm flipH="false" flipV="false" rot="0">
              <a:off x="0" y="0"/>
              <a:ext cx="13898880" cy="512064"/>
            </a:xfrm>
            <a:custGeom>
              <a:avLst/>
              <a:gdLst/>
              <a:ahLst/>
              <a:cxnLst/>
              <a:rect r="r" b="b" t="t" l="l"/>
              <a:pathLst>
                <a:path h="512064" w="13898880">
                  <a:moveTo>
                    <a:pt x="0" y="0"/>
                  </a:moveTo>
                  <a:lnTo>
                    <a:pt x="13898880" y="0"/>
                  </a:lnTo>
                  <a:lnTo>
                    <a:pt x="13898880" y="512064"/>
                  </a:lnTo>
                  <a:lnTo>
                    <a:pt x="0" y="512064"/>
                  </a:lnTo>
                  <a:close/>
                </a:path>
              </a:pathLst>
            </a:custGeom>
            <a:blipFill>
              <a:blip r:embed="rId2">
                <a:alphaModFix amt="0"/>
              </a:blip>
              <a:stretch>
                <a:fillRect l="0" t="-478511" r="0" b="-478511"/>
              </a:stretch>
            </a:blipFill>
          </p:spPr>
        </p:sp>
      </p:grpSp>
      <p:grpSp>
        <p:nvGrpSpPr>
          <p:cNvPr name="Group 27" id="27"/>
          <p:cNvGrpSpPr/>
          <p:nvPr/>
        </p:nvGrpSpPr>
        <p:grpSpPr>
          <a:xfrm rot="0">
            <a:off x="3931920" y="3357848"/>
            <a:ext cx="10424160" cy="391192"/>
            <a:chOff x="0" y="0"/>
            <a:chExt cx="13898880" cy="521589"/>
          </a:xfrm>
        </p:grpSpPr>
        <p:sp>
          <p:nvSpPr>
            <p:cNvPr name="Freeform 28" id="28"/>
            <p:cNvSpPr/>
            <p:nvPr/>
          </p:nvSpPr>
          <p:spPr>
            <a:xfrm flipH="false" flipV="false" rot="0">
              <a:off x="0" y="0"/>
              <a:ext cx="13898880" cy="521589"/>
            </a:xfrm>
            <a:custGeom>
              <a:avLst/>
              <a:gdLst/>
              <a:ahLst/>
              <a:cxnLst/>
              <a:rect r="r" b="b" t="t" l="l"/>
              <a:pathLst>
                <a:path h="521589" w="13898880">
                  <a:moveTo>
                    <a:pt x="0" y="0"/>
                  </a:moveTo>
                  <a:lnTo>
                    <a:pt x="13898880" y="0"/>
                  </a:lnTo>
                  <a:lnTo>
                    <a:pt x="13898880" y="521589"/>
                  </a:lnTo>
                  <a:lnTo>
                    <a:pt x="0" y="521589"/>
                  </a:lnTo>
                  <a:close/>
                </a:path>
              </a:pathLst>
            </a:custGeom>
            <a:blipFill>
              <a:blip r:embed="rId3">
                <a:alphaModFix amt="0"/>
              </a:blip>
              <a:stretch>
                <a:fillRect l="0" t="-469221" r="0" b="-469221"/>
              </a:stretch>
            </a:blipFill>
          </p:spPr>
        </p:sp>
        <p:sp>
          <p:nvSpPr>
            <p:cNvPr name="TextBox 29" id="29"/>
            <p:cNvSpPr txBox="true"/>
            <p:nvPr/>
          </p:nvSpPr>
          <p:spPr>
            <a:xfrm>
              <a:off x="0" y="-9525"/>
              <a:ext cx="13898880" cy="531114"/>
            </a:xfrm>
            <a:prstGeom prst="rect">
              <a:avLst/>
            </a:prstGeom>
          </p:spPr>
          <p:txBody>
            <a:bodyPr anchor="ctr" rtlCol="false" tIns="0" lIns="0" bIns="0" rIns="0"/>
            <a:lstStyle/>
            <a:p>
              <a:pPr algn="ctr">
                <a:lnSpc>
                  <a:spcPts val="1500"/>
                </a:lnSpc>
              </a:pPr>
              <a:r>
                <a:rPr lang="en-US" sz="1250" i="true">
                  <a:solidFill>
                    <a:srgbClr val="FFFFFF"/>
                  </a:solidFill>
                  <a:latin typeface="Poppins Italics"/>
                  <a:ea typeface="Poppins Italics"/>
                  <a:cs typeface="Poppins Italics"/>
                  <a:sym typeface="Poppins Italics"/>
                </a:rPr>
                <a:t>Narrows the same leaderboard to a region : Continent  →  Country  →  State</a:t>
              </a:r>
            </a:p>
          </p:txBody>
        </p:sp>
      </p:grpSp>
      <p:sp>
        <p:nvSpPr>
          <p:cNvPr name="AutoShape 30" id="30"/>
          <p:cNvSpPr/>
          <p:nvPr/>
        </p:nvSpPr>
        <p:spPr>
          <a:xfrm rot="24960">
            <a:off x="5254942" y="4068128"/>
            <a:ext cx="3937645" cy="0"/>
          </a:xfrm>
          <a:prstGeom prst="line">
            <a:avLst/>
          </a:prstGeom>
          <a:ln cap="rnd" w="19050">
            <a:solidFill>
              <a:srgbClr val="737AE6"/>
            </a:solidFill>
            <a:prstDash val="solid"/>
            <a:headEnd type="none" len="sm" w="sm"/>
            <a:tailEnd type="triangle" len="med" w="lg"/>
          </a:ln>
        </p:spPr>
      </p:sp>
      <p:sp>
        <p:nvSpPr>
          <p:cNvPr name="AutoShape 31" id="31"/>
          <p:cNvSpPr/>
          <p:nvPr/>
        </p:nvSpPr>
        <p:spPr>
          <a:xfrm rot="24960">
            <a:off x="9095422" y="4068128"/>
            <a:ext cx="3937645" cy="0"/>
          </a:xfrm>
          <a:prstGeom prst="line">
            <a:avLst/>
          </a:prstGeom>
          <a:ln cap="rnd" w="19050">
            <a:solidFill>
              <a:srgbClr val="737AE6"/>
            </a:solidFill>
            <a:prstDash val="solid"/>
            <a:headEnd type="none" len="sm" w="sm"/>
            <a:tailEnd type="triangle" len="med" w="lg"/>
          </a:ln>
        </p:spPr>
      </p:sp>
      <p:sp>
        <p:nvSpPr>
          <p:cNvPr name="Freeform 32" id="32"/>
          <p:cNvSpPr/>
          <p:nvPr/>
        </p:nvSpPr>
        <p:spPr>
          <a:xfrm flipH="false" flipV="false" rot="0">
            <a:off x="1806578" y="4321178"/>
            <a:ext cx="6993922" cy="1233202"/>
          </a:xfrm>
          <a:custGeom>
            <a:avLst/>
            <a:gdLst/>
            <a:ahLst/>
            <a:cxnLst/>
            <a:rect r="r" b="b" t="t" l="l"/>
            <a:pathLst>
              <a:path h="1233202" w="6993922">
                <a:moveTo>
                  <a:pt x="0" y="0"/>
                </a:moveTo>
                <a:lnTo>
                  <a:pt x="6993922" y="0"/>
                </a:lnTo>
                <a:lnTo>
                  <a:pt x="6993922" y="1233202"/>
                </a:lnTo>
                <a:lnTo>
                  <a:pt x="0" y="12332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3" id="33"/>
          <p:cNvGrpSpPr/>
          <p:nvPr/>
        </p:nvGrpSpPr>
        <p:grpSpPr>
          <a:xfrm rot="0">
            <a:off x="2194560" y="4480560"/>
            <a:ext cx="6217920" cy="411480"/>
            <a:chOff x="0" y="0"/>
            <a:chExt cx="8290560" cy="548640"/>
          </a:xfrm>
        </p:grpSpPr>
        <p:sp>
          <p:nvSpPr>
            <p:cNvPr name="Freeform 34" id="34"/>
            <p:cNvSpPr/>
            <p:nvPr/>
          </p:nvSpPr>
          <p:spPr>
            <a:xfrm flipH="false" flipV="false" rot="0">
              <a:off x="0" y="0"/>
              <a:ext cx="8290560" cy="548640"/>
            </a:xfrm>
            <a:custGeom>
              <a:avLst/>
              <a:gdLst/>
              <a:ahLst/>
              <a:cxnLst/>
              <a:rect r="r" b="b" t="t" l="l"/>
              <a:pathLst>
                <a:path h="548640" w="8290560">
                  <a:moveTo>
                    <a:pt x="0" y="0"/>
                  </a:moveTo>
                  <a:lnTo>
                    <a:pt x="8290560" y="0"/>
                  </a:lnTo>
                  <a:lnTo>
                    <a:pt x="8290560" y="548640"/>
                  </a:lnTo>
                  <a:lnTo>
                    <a:pt x="0" y="548640"/>
                  </a:lnTo>
                  <a:close/>
                </a:path>
              </a:pathLst>
            </a:custGeom>
            <a:blipFill>
              <a:blip r:embed="rId2">
                <a:alphaModFix amt="0"/>
              </a:blip>
              <a:stretch>
                <a:fillRect l="0" t="-244236" r="0" b="-244236"/>
              </a:stretch>
            </a:blipFill>
          </p:spPr>
        </p:sp>
      </p:grpSp>
      <p:grpSp>
        <p:nvGrpSpPr>
          <p:cNvPr name="Group 35" id="35"/>
          <p:cNvGrpSpPr/>
          <p:nvPr/>
        </p:nvGrpSpPr>
        <p:grpSpPr>
          <a:xfrm rot="0">
            <a:off x="2194560" y="4459129"/>
            <a:ext cx="6217920" cy="432911"/>
            <a:chOff x="0" y="0"/>
            <a:chExt cx="8290560" cy="577215"/>
          </a:xfrm>
        </p:grpSpPr>
        <p:sp>
          <p:nvSpPr>
            <p:cNvPr name="Freeform 36" id="36"/>
            <p:cNvSpPr/>
            <p:nvPr/>
          </p:nvSpPr>
          <p:spPr>
            <a:xfrm flipH="false" flipV="false" rot="0">
              <a:off x="0" y="0"/>
              <a:ext cx="8290560" cy="577215"/>
            </a:xfrm>
            <a:custGeom>
              <a:avLst/>
              <a:gdLst/>
              <a:ahLst/>
              <a:cxnLst/>
              <a:rect r="r" b="b" t="t" l="l"/>
              <a:pathLst>
                <a:path h="577215" w="8290560">
                  <a:moveTo>
                    <a:pt x="0" y="0"/>
                  </a:moveTo>
                  <a:lnTo>
                    <a:pt x="8290560" y="0"/>
                  </a:lnTo>
                  <a:lnTo>
                    <a:pt x="8290560" y="577215"/>
                  </a:lnTo>
                  <a:lnTo>
                    <a:pt x="0" y="577215"/>
                  </a:lnTo>
                  <a:close/>
                </a:path>
              </a:pathLst>
            </a:custGeom>
            <a:blipFill>
              <a:blip r:embed="rId3">
                <a:alphaModFix amt="0"/>
              </a:blip>
              <a:stretch>
                <a:fillRect l="0" t="-229864" r="0" b="-229864"/>
              </a:stretch>
            </a:blipFill>
          </p:spPr>
        </p:sp>
        <p:sp>
          <p:nvSpPr>
            <p:cNvPr name="TextBox 37" id="37"/>
            <p:cNvSpPr txBox="true"/>
            <p:nvPr/>
          </p:nvSpPr>
          <p:spPr>
            <a:xfrm>
              <a:off x="0" y="-28575"/>
              <a:ext cx="8290560" cy="605790"/>
            </a:xfrm>
            <a:prstGeom prst="rect">
              <a:avLst/>
            </a:prstGeom>
          </p:spPr>
          <p:txBody>
            <a:bodyPr anchor="ctr" rtlCol="false" tIns="0" lIns="0" bIns="0" rIns="0"/>
            <a:lstStyle/>
            <a:p>
              <a:pPr algn="l">
                <a:lnSpc>
                  <a:spcPts val="2040"/>
                </a:lnSpc>
              </a:pPr>
              <a:r>
                <a:rPr lang="en-US" sz="1700" b="true">
                  <a:solidFill>
                    <a:srgbClr val="737AE6"/>
                  </a:solidFill>
                  <a:latin typeface="Poppins Bold"/>
                  <a:ea typeface="Poppins Bold"/>
                  <a:cs typeface="Poppins Bold"/>
                  <a:sym typeface="Poppins Bold"/>
                </a:rPr>
                <a:t>✓  Your Entry</a:t>
              </a:r>
            </a:p>
          </p:txBody>
        </p:sp>
      </p:grpSp>
      <p:sp>
        <p:nvSpPr>
          <p:cNvPr name="TextBox 38" id="38"/>
          <p:cNvSpPr txBox="true"/>
          <p:nvPr/>
        </p:nvSpPr>
        <p:spPr>
          <a:xfrm rot="0">
            <a:off x="2194560" y="4891278"/>
            <a:ext cx="6217920" cy="567690"/>
          </a:xfrm>
          <a:prstGeom prst="rect">
            <a:avLst/>
          </a:prstGeom>
        </p:spPr>
        <p:txBody>
          <a:bodyPr anchor="t" rtlCol="false" tIns="0" lIns="0" bIns="0" rIns="0">
            <a:spAutoFit/>
          </a:bodyPr>
          <a:lstStyle/>
          <a:p>
            <a:pPr algn="l">
              <a:lnSpc>
                <a:spcPts val="1500"/>
              </a:lnSpc>
            </a:pPr>
            <a:r>
              <a:rPr lang="en-US" sz="1250">
                <a:solidFill>
                  <a:srgbClr val="1F3338"/>
                </a:solidFill>
                <a:latin typeface="Poppins"/>
                <a:ea typeface="Poppins"/>
                <a:cs typeface="Poppins"/>
                <a:sym typeface="Poppins"/>
              </a:rPr>
              <a:t>Full identity shown — name, photo, exact rank and score</a:t>
            </a:r>
          </a:p>
        </p:txBody>
      </p:sp>
      <p:sp>
        <p:nvSpPr>
          <p:cNvPr name="Freeform 39" id="39"/>
          <p:cNvSpPr/>
          <p:nvPr/>
        </p:nvSpPr>
        <p:spPr>
          <a:xfrm flipH="false" flipV="false" rot="0">
            <a:off x="9487538" y="4321178"/>
            <a:ext cx="6993922" cy="1233202"/>
          </a:xfrm>
          <a:custGeom>
            <a:avLst/>
            <a:gdLst/>
            <a:ahLst/>
            <a:cxnLst/>
            <a:rect r="r" b="b" t="t" l="l"/>
            <a:pathLst>
              <a:path h="1233202" w="6993922">
                <a:moveTo>
                  <a:pt x="0" y="0"/>
                </a:moveTo>
                <a:lnTo>
                  <a:pt x="6993922" y="0"/>
                </a:lnTo>
                <a:lnTo>
                  <a:pt x="6993922" y="1233202"/>
                </a:lnTo>
                <a:lnTo>
                  <a:pt x="0" y="12332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40" id="40"/>
          <p:cNvGrpSpPr/>
          <p:nvPr/>
        </p:nvGrpSpPr>
        <p:grpSpPr>
          <a:xfrm rot="0">
            <a:off x="9875520" y="4480560"/>
            <a:ext cx="6217920" cy="411480"/>
            <a:chOff x="0" y="0"/>
            <a:chExt cx="8290560" cy="548640"/>
          </a:xfrm>
        </p:grpSpPr>
        <p:sp>
          <p:nvSpPr>
            <p:cNvPr name="Freeform 41" id="41"/>
            <p:cNvSpPr/>
            <p:nvPr/>
          </p:nvSpPr>
          <p:spPr>
            <a:xfrm flipH="false" flipV="false" rot="0">
              <a:off x="0" y="0"/>
              <a:ext cx="8290560" cy="548640"/>
            </a:xfrm>
            <a:custGeom>
              <a:avLst/>
              <a:gdLst/>
              <a:ahLst/>
              <a:cxnLst/>
              <a:rect r="r" b="b" t="t" l="l"/>
              <a:pathLst>
                <a:path h="548640" w="8290560">
                  <a:moveTo>
                    <a:pt x="0" y="0"/>
                  </a:moveTo>
                  <a:lnTo>
                    <a:pt x="8290560" y="0"/>
                  </a:lnTo>
                  <a:lnTo>
                    <a:pt x="8290560" y="548640"/>
                  </a:lnTo>
                  <a:lnTo>
                    <a:pt x="0" y="548640"/>
                  </a:lnTo>
                  <a:close/>
                </a:path>
              </a:pathLst>
            </a:custGeom>
            <a:blipFill>
              <a:blip r:embed="rId2">
                <a:alphaModFix amt="0"/>
              </a:blip>
              <a:stretch>
                <a:fillRect l="0" t="-244236" r="0" b="-244236"/>
              </a:stretch>
            </a:blipFill>
          </p:spPr>
        </p:sp>
      </p:grpSp>
      <p:grpSp>
        <p:nvGrpSpPr>
          <p:cNvPr name="Group 42" id="42"/>
          <p:cNvGrpSpPr/>
          <p:nvPr/>
        </p:nvGrpSpPr>
        <p:grpSpPr>
          <a:xfrm rot="0">
            <a:off x="9875520" y="4459129"/>
            <a:ext cx="6217920" cy="432911"/>
            <a:chOff x="0" y="0"/>
            <a:chExt cx="8290560" cy="577215"/>
          </a:xfrm>
        </p:grpSpPr>
        <p:sp>
          <p:nvSpPr>
            <p:cNvPr name="Freeform 43" id="43"/>
            <p:cNvSpPr/>
            <p:nvPr/>
          </p:nvSpPr>
          <p:spPr>
            <a:xfrm flipH="false" flipV="false" rot="0">
              <a:off x="0" y="0"/>
              <a:ext cx="8290560" cy="577215"/>
            </a:xfrm>
            <a:custGeom>
              <a:avLst/>
              <a:gdLst/>
              <a:ahLst/>
              <a:cxnLst/>
              <a:rect r="r" b="b" t="t" l="l"/>
              <a:pathLst>
                <a:path h="577215" w="8290560">
                  <a:moveTo>
                    <a:pt x="0" y="0"/>
                  </a:moveTo>
                  <a:lnTo>
                    <a:pt x="8290560" y="0"/>
                  </a:lnTo>
                  <a:lnTo>
                    <a:pt x="8290560" y="577215"/>
                  </a:lnTo>
                  <a:lnTo>
                    <a:pt x="0" y="577215"/>
                  </a:lnTo>
                  <a:close/>
                </a:path>
              </a:pathLst>
            </a:custGeom>
            <a:blipFill>
              <a:blip r:embed="rId3">
                <a:alphaModFix amt="0"/>
              </a:blip>
              <a:stretch>
                <a:fillRect l="0" t="-229864" r="0" b="-229864"/>
              </a:stretch>
            </a:blipFill>
          </p:spPr>
        </p:sp>
        <p:sp>
          <p:nvSpPr>
            <p:cNvPr name="TextBox 44" id="44"/>
            <p:cNvSpPr txBox="true"/>
            <p:nvPr/>
          </p:nvSpPr>
          <p:spPr>
            <a:xfrm>
              <a:off x="0" y="-28575"/>
              <a:ext cx="8290560" cy="605790"/>
            </a:xfrm>
            <a:prstGeom prst="rect">
              <a:avLst/>
            </a:prstGeom>
          </p:spPr>
          <p:txBody>
            <a:bodyPr anchor="ctr" rtlCol="false" tIns="0" lIns="0" bIns="0" rIns="0"/>
            <a:lstStyle/>
            <a:p>
              <a:pPr algn="l">
                <a:lnSpc>
                  <a:spcPts val="2040"/>
                </a:lnSpc>
              </a:pPr>
              <a:r>
                <a:rPr lang="en-US" sz="1700" b="true">
                  <a:solidFill>
                    <a:srgbClr val="1F3338"/>
                  </a:solidFill>
                  <a:latin typeface="Poppins Bold"/>
                  <a:ea typeface="Poppins Bold"/>
                  <a:cs typeface="Poppins Bold"/>
                  <a:sym typeface="Poppins Bold"/>
                </a:rPr>
                <a:t>○  Other Candidates</a:t>
              </a:r>
            </a:p>
          </p:txBody>
        </p:sp>
      </p:grpSp>
      <p:sp>
        <p:nvSpPr>
          <p:cNvPr name="TextBox 45" id="45"/>
          <p:cNvSpPr txBox="true"/>
          <p:nvPr/>
        </p:nvSpPr>
        <p:spPr>
          <a:xfrm rot="0">
            <a:off x="9875520" y="4891278"/>
            <a:ext cx="6217920" cy="567690"/>
          </a:xfrm>
          <a:prstGeom prst="rect">
            <a:avLst/>
          </a:prstGeom>
        </p:spPr>
        <p:txBody>
          <a:bodyPr anchor="t" rtlCol="false" tIns="0" lIns="0" bIns="0" rIns="0">
            <a:spAutoFit/>
          </a:bodyPr>
          <a:lstStyle/>
          <a:p>
            <a:pPr algn="l">
              <a:lnSpc>
                <a:spcPts val="1500"/>
              </a:lnSpc>
            </a:pPr>
            <a:r>
              <a:rPr lang="en-US" sz="1250">
                <a:solidFill>
                  <a:srgbClr val="1F3338"/>
                </a:solidFill>
                <a:latin typeface="Poppins"/>
                <a:ea typeface="Poppins"/>
                <a:cs typeface="Poppins"/>
                <a:sym typeface="Poppins"/>
              </a:rPr>
              <a:t>Identity hidden — rank and score still visible, name and photo anonymized</a:t>
            </a:r>
          </a:p>
        </p:txBody>
      </p:sp>
      <p:sp>
        <p:nvSpPr>
          <p:cNvPr name="Freeform 46" id="46"/>
          <p:cNvSpPr/>
          <p:nvPr/>
        </p:nvSpPr>
        <p:spPr>
          <a:xfrm flipH="false" flipV="false" rot="0">
            <a:off x="806291" y="5881211"/>
            <a:ext cx="5245418" cy="2502217"/>
          </a:xfrm>
          <a:custGeom>
            <a:avLst/>
            <a:gdLst/>
            <a:ahLst/>
            <a:cxnLst/>
            <a:rect r="r" b="b" t="t" l="l"/>
            <a:pathLst>
              <a:path h="2502217" w="5245418">
                <a:moveTo>
                  <a:pt x="0" y="0"/>
                </a:moveTo>
                <a:lnTo>
                  <a:pt x="5245418" y="0"/>
                </a:lnTo>
                <a:lnTo>
                  <a:pt x="5245418" y="2502218"/>
                </a:lnTo>
                <a:lnTo>
                  <a:pt x="0" y="25022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47" id="47"/>
          <p:cNvGrpSpPr/>
          <p:nvPr/>
        </p:nvGrpSpPr>
        <p:grpSpPr>
          <a:xfrm rot="0">
            <a:off x="1143000" y="6117336"/>
            <a:ext cx="4572000" cy="384048"/>
            <a:chOff x="0" y="0"/>
            <a:chExt cx="6096000" cy="512064"/>
          </a:xfrm>
        </p:grpSpPr>
        <p:sp>
          <p:nvSpPr>
            <p:cNvPr name="Freeform 48" id="48"/>
            <p:cNvSpPr/>
            <p:nvPr/>
          </p:nvSpPr>
          <p:spPr>
            <a:xfrm flipH="false" flipV="false" rot="0">
              <a:off x="0" y="0"/>
              <a:ext cx="6096000" cy="512064"/>
            </a:xfrm>
            <a:custGeom>
              <a:avLst/>
              <a:gdLst/>
              <a:ahLst/>
              <a:cxnLst/>
              <a:rect r="r" b="b" t="t" l="l"/>
              <a:pathLst>
                <a:path h="512064" w="6096000">
                  <a:moveTo>
                    <a:pt x="0" y="0"/>
                  </a:moveTo>
                  <a:lnTo>
                    <a:pt x="6096000" y="0"/>
                  </a:lnTo>
                  <a:lnTo>
                    <a:pt x="6096000" y="512064"/>
                  </a:lnTo>
                  <a:lnTo>
                    <a:pt x="0" y="512064"/>
                  </a:lnTo>
                  <a:close/>
                </a:path>
              </a:pathLst>
            </a:custGeom>
            <a:blipFill>
              <a:blip r:embed="rId2">
                <a:alphaModFix amt="0"/>
              </a:blip>
              <a:stretch>
                <a:fillRect l="0" t="-181803" r="0" b="-181803"/>
              </a:stretch>
            </a:blipFill>
          </p:spPr>
        </p:sp>
      </p:grpSp>
      <p:grpSp>
        <p:nvGrpSpPr>
          <p:cNvPr name="Group 49" id="49"/>
          <p:cNvGrpSpPr/>
          <p:nvPr/>
        </p:nvGrpSpPr>
        <p:grpSpPr>
          <a:xfrm rot="0">
            <a:off x="1143000" y="6110192"/>
            <a:ext cx="4572000" cy="391192"/>
            <a:chOff x="0" y="0"/>
            <a:chExt cx="6096000" cy="521589"/>
          </a:xfrm>
        </p:grpSpPr>
        <p:sp>
          <p:nvSpPr>
            <p:cNvPr name="Freeform 50" id="50"/>
            <p:cNvSpPr/>
            <p:nvPr/>
          </p:nvSpPr>
          <p:spPr>
            <a:xfrm flipH="false" flipV="false" rot="0">
              <a:off x="0" y="0"/>
              <a:ext cx="6096000" cy="521589"/>
            </a:xfrm>
            <a:custGeom>
              <a:avLst/>
              <a:gdLst/>
              <a:ahLst/>
              <a:cxnLst/>
              <a:rect r="r" b="b" t="t" l="l"/>
              <a:pathLst>
                <a:path h="521589" w="6096000">
                  <a:moveTo>
                    <a:pt x="0" y="0"/>
                  </a:moveTo>
                  <a:lnTo>
                    <a:pt x="6096000" y="0"/>
                  </a:lnTo>
                  <a:lnTo>
                    <a:pt x="6096000" y="521589"/>
                  </a:lnTo>
                  <a:lnTo>
                    <a:pt x="0" y="521589"/>
                  </a:lnTo>
                  <a:close/>
                </a:path>
              </a:pathLst>
            </a:custGeom>
            <a:blipFill>
              <a:blip r:embed="rId3">
                <a:alphaModFix amt="0"/>
              </a:blip>
              <a:stretch>
                <a:fillRect l="0" t="-177728" r="0" b="-177728"/>
              </a:stretch>
            </a:blipFill>
          </p:spPr>
        </p:sp>
        <p:sp>
          <p:nvSpPr>
            <p:cNvPr name="TextBox 51" id="51"/>
            <p:cNvSpPr txBox="true"/>
            <p:nvPr/>
          </p:nvSpPr>
          <p:spPr>
            <a:xfrm>
              <a:off x="0" y="-9525"/>
              <a:ext cx="6096000" cy="531114"/>
            </a:xfrm>
            <a:prstGeom prst="rect">
              <a:avLst/>
            </a:prstGeom>
          </p:spPr>
          <p:txBody>
            <a:bodyPr anchor="ctr" rtlCol="false" tIns="0" lIns="0" bIns="0" rIns="0"/>
            <a:lstStyle/>
            <a:p>
              <a:pPr algn="l">
                <a:lnSpc>
                  <a:spcPts val="1860"/>
                </a:lnSpc>
              </a:pPr>
              <a:r>
                <a:rPr lang="en-US" sz="1550" b="true">
                  <a:solidFill>
                    <a:srgbClr val="737AE6"/>
                  </a:solidFill>
                  <a:latin typeface="Poppins Bold"/>
                  <a:ea typeface="Poppins Bold"/>
                  <a:cs typeface="Poppins Bold"/>
                  <a:sym typeface="Poppins Bold"/>
                </a:rPr>
                <a:t>Worldwide Ranking</a:t>
              </a:r>
            </a:p>
          </p:txBody>
        </p:sp>
      </p:grpSp>
      <p:sp>
        <p:nvSpPr>
          <p:cNvPr name="TextBox 52" id="52"/>
          <p:cNvSpPr txBox="true"/>
          <p:nvPr/>
        </p:nvSpPr>
        <p:spPr>
          <a:xfrm rot="0">
            <a:off x="1143000" y="6592062"/>
            <a:ext cx="4572000" cy="1573530"/>
          </a:xfrm>
          <a:prstGeom prst="rect">
            <a:avLst/>
          </a:prstGeom>
        </p:spPr>
        <p:txBody>
          <a:bodyPr anchor="t" rtlCol="false" tIns="0" lIns="0" bIns="0" rIns="0">
            <a:spAutoFit/>
          </a:bodyPr>
          <a:lstStyle/>
          <a:p>
            <a:pPr algn="l" marL="226219" indent="-75406" lvl="2">
              <a:lnSpc>
                <a:spcPts val="1500"/>
              </a:lnSpc>
              <a:buFont typeface="Arial"/>
              <a:buChar char="⚬"/>
            </a:pPr>
            <a:r>
              <a:rPr lang="en-US" sz="1250">
                <a:solidFill>
                  <a:srgbClr val="1F3338"/>
                </a:solidFill>
                <a:latin typeface="Poppins"/>
                <a:ea typeface="Poppins"/>
                <a:cs typeface="Poppins"/>
                <a:sym typeface="Poppins"/>
              </a:rPr>
              <a:t>Compares your score to every candidate assessed on that skill</a:t>
            </a:r>
          </a:p>
          <a:p>
            <a:pPr algn="l" marL="226219" indent="-75406" lvl="2">
              <a:lnSpc>
                <a:spcPts val="1500"/>
              </a:lnSpc>
              <a:buFont typeface="Arial"/>
              <a:buChar char="⚬"/>
            </a:pPr>
            <a:r>
              <a:rPr lang="en-US" sz="1250">
                <a:solidFill>
                  <a:srgbClr val="1F3338"/>
                </a:solidFill>
                <a:latin typeface="Poppins"/>
                <a:ea typeface="Poppins"/>
                <a:cs typeface="Poppins"/>
                <a:sym typeface="Poppins"/>
              </a:rPr>
              <a:t>Shows your exact position and percentile</a:t>
            </a:r>
          </a:p>
        </p:txBody>
      </p:sp>
      <p:sp>
        <p:nvSpPr>
          <p:cNvPr name="Freeform 53" id="53"/>
          <p:cNvSpPr/>
          <p:nvPr/>
        </p:nvSpPr>
        <p:spPr>
          <a:xfrm flipH="false" flipV="false" rot="0">
            <a:off x="6521291" y="5881211"/>
            <a:ext cx="5245418" cy="2502217"/>
          </a:xfrm>
          <a:custGeom>
            <a:avLst/>
            <a:gdLst/>
            <a:ahLst/>
            <a:cxnLst/>
            <a:rect r="r" b="b" t="t" l="l"/>
            <a:pathLst>
              <a:path h="2502217" w="5245418">
                <a:moveTo>
                  <a:pt x="0" y="0"/>
                </a:moveTo>
                <a:lnTo>
                  <a:pt x="5245418" y="0"/>
                </a:lnTo>
                <a:lnTo>
                  <a:pt x="5245418" y="2502218"/>
                </a:lnTo>
                <a:lnTo>
                  <a:pt x="0" y="25022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54" id="54"/>
          <p:cNvGrpSpPr/>
          <p:nvPr/>
        </p:nvGrpSpPr>
        <p:grpSpPr>
          <a:xfrm rot="0">
            <a:off x="6858000" y="6117336"/>
            <a:ext cx="4572000" cy="384048"/>
            <a:chOff x="0" y="0"/>
            <a:chExt cx="6096000" cy="512064"/>
          </a:xfrm>
        </p:grpSpPr>
        <p:sp>
          <p:nvSpPr>
            <p:cNvPr name="Freeform 55" id="55"/>
            <p:cNvSpPr/>
            <p:nvPr/>
          </p:nvSpPr>
          <p:spPr>
            <a:xfrm flipH="false" flipV="false" rot="0">
              <a:off x="0" y="0"/>
              <a:ext cx="6096000" cy="512064"/>
            </a:xfrm>
            <a:custGeom>
              <a:avLst/>
              <a:gdLst/>
              <a:ahLst/>
              <a:cxnLst/>
              <a:rect r="r" b="b" t="t" l="l"/>
              <a:pathLst>
                <a:path h="512064" w="6096000">
                  <a:moveTo>
                    <a:pt x="0" y="0"/>
                  </a:moveTo>
                  <a:lnTo>
                    <a:pt x="6096000" y="0"/>
                  </a:lnTo>
                  <a:lnTo>
                    <a:pt x="6096000" y="512064"/>
                  </a:lnTo>
                  <a:lnTo>
                    <a:pt x="0" y="512064"/>
                  </a:lnTo>
                  <a:close/>
                </a:path>
              </a:pathLst>
            </a:custGeom>
            <a:blipFill>
              <a:blip r:embed="rId2">
                <a:alphaModFix amt="0"/>
              </a:blip>
              <a:stretch>
                <a:fillRect l="0" t="-181803" r="0" b="-181803"/>
              </a:stretch>
            </a:blipFill>
          </p:spPr>
        </p:sp>
      </p:grpSp>
      <p:grpSp>
        <p:nvGrpSpPr>
          <p:cNvPr name="Group 56" id="56"/>
          <p:cNvGrpSpPr/>
          <p:nvPr/>
        </p:nvGrpSpPr>
        <p:grpSpPr>
          <a:xfrm rot="0">
            <a:off x="6858000" y="6110192"/>
            <a:ext cx="4572000" cy="391192"/>
            <a:chOff x="0" y="0"/>
            <a:chExt cx="6096000" cy="521589"/>
          </a:xfrm>
        </p:grpSpPr>
        <p:sp>
          <p:nvSpPr>
            <p:cNvPr name="Freeform 57" id="57"/>
            <p:cNvSpPr/>
            <p:nvPr/>
          </p:nvSpPr>
          <p:spPr>
            <a:xfrm flipH="false" flipV="false" rot="0">
              <a:off x="0" y="0"/>
              <a:ext cx="6096000" cy="521589"/>
            </a:xfrm>
            <a:custGeom>
              <a:avLst/>
              <a:gdLst/>
              <a:ahLst/>
              <a:cxnLst/>
              <a:rect r="r" b="b" t="t" l="l"/>
              <a:pathLst>
                <a:path h="521589" w="6096000">
                  <a:moveTo>
                    <a:pt x="0" y="0"/>
                  </a:moveTo>
                  <a:lnTo>
                    <a:pt x="6096000" y="0"/>
                  </a:lnTo>
                  <a:lnTo>
                    <a:pt x="6096000" y="521589"/>
                  </a:lnTo>
                  <a:lnTo>
                    <a:pt x="0" y="521589"/>
                  </a:lnTo>
                  <a:close/>
                </a:path>
              </a:pathLst>
            </a:custGeom>
            <a:blipFill>
              <a:blip r:embed="rId3">
                <a:alphaModFix amt="0"/>
              </a:blip>
              <a:stretch>
                <a:fillRect l="0" t="-177728" r="0" b="-177728"/>
              </a:stretch>
            </a:blipFill>
          </p:spPr>
        </p:sp>
        <p:sp>
          <p:nvSpPr>
            <p:cNvPr name="TextBox 58" id="58"/>
            <p:cNvSpPr txBox="true"/>
            <p:nvPr/>
          </p:nvSpPr>
          <p:spPr>
            <a:xfrm>
              <a:off x="0" y="-9525"/>
              <a:ext cx="6096000" cy="531114"/>
            </a:xfrm>
            <a:prstGeom prst="rect">
              <a:avLst/>
            </a:prstGeom>
          </p:spPr>
          <p:txBody>
            <a:bodyPr anchor="ctr" rtlCol="false" tIns="0" lIns="0" bIns="0" rIns="0"/>
            <a:lstStyle/>
            <a:p>
              <a:pPr algn="l">
                <a:lnSpc>
                  <a:spcPts val="1860"/>
                </a:lnSpc>
              </a:pPr>
              <a:r>
                <a:rPr lang="en-US" sz="1550" b="true">
                  <a:solidFill>
                    <a:srgbClr val="737AE6"/>
                  </a:solidFill>
                  <a:latin typeface="Poppins Bold"/>
                  <a:ea typeface="Poppins Bold"/>
                  <a:cs typeface="Poppins Bold"/>
                  <a:sym typeface="Poppins Bold"/>
                </a:rPr>
                <a:t>Regional Ranking</a:t>
              </a:r>
            </a:p>
          </p:txBody>
        </p:sp>
      </p:grpSp>
      <p:sp>
        <p:nvSpPr>
          <p:cNvPr name="TextBox 59" id="59"/>
          <p:cNvSpPr txBox="true"/>
          <p:nvPr/>
        </p:nvSpPr>
        <p:spPr>
          <a:xfrm rot="0">
            <a:off x="6858000" y="6592062"/>
            <a:ext cx="4572000" cy="1573530"/>
          </a:xfrm>
          <a:prstGeom prst="rect">
            <a:avLst/>
          </a:prstGeom>
        </p:spPr>
        <p:txBody>
          <a:bodyPr anchor="t" rtlCol="false" tIns="0" lIns="0" bIns="0" rIns="0">
            <a:spAutoFit/>
          </a:bodyPr>
          <a:lstStyle/>
          <a:p>
            <a:pPr algn="l" marL="226219" indent="-75406" lvl="2">
              <a:lnSpc>
                <a:spcPts val="1500"/>
              </a:lnSpc>
              <a:buFont typeface="Arial"/>
              <a:buChar char="⚬"/>
            </a:pPr>
            <a:r>
              <a:rPr lang="en-US" sz="1250">
                <a:solidFill>
                  <a:srgbClr val="1F3338"/>
                </a:solidFill>
                <a:latin typeface="Poppins"/>
                <a:ea typeface="Poppins"/>
                <a:cs typeface="Poppins"/>
                <a:sym typeface="Poppins"/>
              </a:rPr>
              <a:t>Same comparison, limited to the selected geographic filter</a:t>
            </a:r>
          </a:p>
          <a:p>
            <a:pPr algn="l" marL="226219" indent="-75406" lvl="2">
              <a:lnSpc>
                <a:spcPts val="1500"/>
              </a:lnSpc>
              <a:buFont typeface="Arial"/>
              <a:buChar char="⚬"/>
            </a:pPr>
            <a:r>
              <a:rPr lang="en-US" sz="1250">
                <a:solidFill>
                  <a:srgbClr val="1F3338"/>
                </a:solidFill>
                <a:latin typeface="Poppins"/>
                <a:ea typeface="Poppins"/>
                <a:cs typeface="Poppins"/>
                <a:sym typeface="Poppins"/>
              </a:rPr>
              <a:t>Worldwide and regional percentiles shown side by side</a:t>
            </a:r>
          </a:p>
        </p:txBody>
      </p:sp>
      <p:sp>
        <p:nvSpPr>
          <p:cNvPr name="Freeform 60" id="60"/>
          <p:cNvSpPr/>
          <p:nvPr/>
        </p:nvSpPr>
        <p:spPr>
          <a:xfrm flipH="false" flipV="false" rot="0">
            <a:off x="12236291" y="5881211"/>
            <a:ext cx="5245418" cy="2502217"/>
          </a:xfrm>
          <a:custGeom>
            <a:avLst/>
            <a:gdLst/>
            <a:ahLst/>
            <a:cxnLst/>
            <a:rect r="r" b="b" t="t" l="l"/>
            <a:pathLst>
              <a:path h="2502217" w="5245418">
                <a:moveTo>
                  <a:pt x="0" y="0"/>
                </a:moveTo>
                <a:lnTo>
                  <a:pt x="5245418" y="0"/>
                </a:lnTo>
                <a:lnTo>
                  <a:pt x="5245418" y="2502218"/>
                </a:lnTo>
                <a:lnTo>
                  <a:pt x="0" y="25022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1" id="61"/>
          <p:cNvGrpSpPr/>
          <p:nvPr/>
        </p:nvGrpSpPr>
        <p:grpSpPr>
          <a:xfrm rot="0">
            <a:off x="12573000" y="6117336"/>
            <a:ext cx="4572000" cy="384048"/>
            <a:chOff x="0" y="0"/>
            <a:chExt cx="6096000" cy="512064"/>
          </a:xfrm>
        </p:grpSpPr>
        <p:sp>
          <p:nvSpPr>
            <p:cNvPr name="Freeform 62" id="62"/>
            <p:cNvSpPr/>
            <p:nvPr/>
          </p:nvSpPr>
          <p:spPr>
            <a:xfrm flipH="false" flipV="false" rot="0">
              <a:off x="0" y="0"/>
              <a:ext cx="6096000" cy="512064"/>
            </a:xfrm>
            <a:custGeom>
              <a:avLst/>
              <a:gdLst/>
              <a:ahLst/>
              <a:cxnLst/>
              <a:rect r="r" b="b" t="t" l="l"/>
              <a:pathLst>
                <a:path h="512064" w="6096000">
                  <a:moveTo>
                    <a:pt x="0" y="0"/>
                  </a:moveTo>
                  <a:lnTo>
                    <a:pt x="6096000" y="0"/>
                  </a:lnTo>
                  <a:lnTo>
                    <a:pt x="6096000" y="512064"/>
                  </a:lnTo>
                  <a:lnTo>
                    <a:pt x="0" y="512064"/>
                  </a:lnTo>
                  <a:close/>
                </a:path>
              </a:pathLst>
            </a:custGeom>
            <a:blipFill>
              <a:blip r:embed="rId2">
                <a:alphaModFix amt="0"/>
              </a:blip>
              <a:stretch>
                <a:fillRect l="0" t="-181803" r="0" b="-181803"/>
              </a:stretch>
            </a:blipFill>
          </p:spPr>
        </p:sp>
      </p:grpSp>
      <p:grpSp>
        <p:nvGrpSpPr>
          <p:cNvPr name="Group 63" id="63"/>
          <p:cNvGrpSpPr/>
          <p:nvPr/>
        </p:nvGrpSpPr>
        <p:grpSpPr>
          <a:xfrm rot="0">
            <a:off x="12573000" y="6110192"/>
            <a:ext cx="4572000" cy="391192"/>
            <a:chOff x="0" y="0"/>
            <a:chExt cx="6096000" cy="521589"/>
          </a:xfrm>
        </p:grpSpPr>
        <p:sp>
          <p:nvSpPr>
            <p:cNvPr name="Freeform 64" id="64"/>
            <p:cNvSpPr/>
            <p:nvPr/>
          </p:nvSpPr>
          <p:spPr>
            <a:xfrm flipH="false" flipV="false" rot="0">
              <a:off x="0" y="0"/>
              <a:ext cx="6096000" cy="521589"/>
            </a:xfrm>
            <a:custGeom>
              <a:avLst/>
              <a:gdLst/>
              <a:ahLst/>
              <a:cxnLst/>
              <a:rect r="r" b="b" t="t" l="l"/>
              <a:pathLst>
                <a:path h="521589" w="6096000">
                  <a:moveTo>
                    <a:pt x="0" y="0"/>
                  </a:moveTo>
                  <a:lnTo>
                    <a:pt x="6096000" y="0"/>
                  </a:lnTo>
                  <a:lnTo>
                    <a:pt x="6096000" y="521589"/>
                  </a:lnTo>
                  <a:lnTo>
                    <a:pt x="0" y="521589"/>
                  </a:lnTo>
                  <a:close/>
                </a:path>
              </a:pathLst>
            </a:custGeom>
            <a:blipFill>
              <a:blip r:embed="rId3">
                <a:alphaModFix amt="0"/>
              </a:blip>
              <a:stretch>
                <a:fillRect l="0" t="-177728" r="0" b="-177728"/>
              </a:stretch>
            </a:blipFill>
          </p:spPr>
        </p:sp>
        <p:sp>
          <p:nvSpPr>
            <p:cNvPr name="TextBox 65" id="65"/>
            <p:cNvSpPr txBox="true"/>
            <p:nvPr/>
          </p:nvSpPr>
          <p:spPr>
            <a:xfrm>
              <a:off x="0" y="-9525"/>
              <a:ext cx="6096000" cy="531114"/>
            </a:xfrm>
            <a:prstGeom prst="rect">
              <a:avLst/>
            </a:prstGeom>
          </p:spPr>
          <p:txBody>
            <a:bodyPr anchor="ctr" rtlCol="false" tIns="0" lIns="0" bIns="0" rIns="0"/>
            <a:lstStyle/>
            <a:p>
              <a:pPr algn="l">
                <a:lnSpc>
                  <a:spcPts val="1860"/>
                </a:lnSpc>
              </a:pPr>
              <a:r>
                <a:rPr lang="en-US" sz="1550" b="true">
                  <a:solidFill>
                    <a:srgbClr val="737AE6"/>
                  </a:solidFill>
                  <a:latin typeface="Poppins Bold"/>
                  <a:ea typeface="Poppins Bold"/>
                  <a:cs typeface="Poppins Bold"/>
                  <a:sym typeface="Poppins Bold"/>
                </a:rPr>
                <a:t>Large Leaderboards</a:t>
              </a:r>
            </a:p>
          </p:txBody>
        </p:sp>
      </p:grpSp>
      <p:sp>
        <p:nvSpPr>
          <p:cNvPr name="TextBox 66" id="66"/>
          <p:cNvSpPr txBox="true"/>
          <p:nvPr/>
        </p:nvSpPr>
        <p:spPr>
          <a:xfrm rot="0">
            <a:off x="12573000" y="6592062"/>
            <a:ext cx="4572000" cy="1573530"/>
          </a:xfrm>
          <a:prstGeom prst="rect">
            <a:avLst/>
          </a:prstGeom>
        </p:spPr>
        <p:txBody>
          <a:bodyPr anchor="t" rtlCol="false" tIns="0" lIns="0" bIns="0" rIns="0">
            <a:spAutoFit/>
          </a:bodyPr>
          <a:lstStyle/>
          <a:p>
            <a:pPr algn="l" marL="226219" indent="-75406" lvl="2">
              <a:lnSpc>
                <a:spcPts val="1500"/>
              </a:lnSpc>
              <a:buFont typeface="Arial"/>
              <a:buChar char="⚬"/>
            </a:pPr>
            <a:r>
              <a:rPr lang="en-US" sz="1250">
                <a:solidFill>
                  <a:srgbClr val="1F3338"/>
                </a:solidFill>
                <a:latin typeface="Poppins"/>
                <a:ea typeface="Poppins"/>
                <a:cs typeface="Poppins"/>
                <a:sym typeface="Poppins"/>
              </a:rPr>
              <a:t>Results are loaded page by page, not all at once</a:t>
            </a:r>
          </a:p>
          <a:p>
            <a:pPr algn="l" marL="226219" indent="-75406" lvl="2">
              <a:lnSpc>
                <a:spcPts val="1500"/>
              </a:lnSpc>
              <a:buFont typeface="Arial"/>
              <a:buChar char="⚬"/>
            </a:pPr>
            <a:r>
              <a:rPr lang="en-US" sz="1250">
                <a:solidFill>
                  <a:srgbClr val="1F3338"/>
                </a:solidFill>
                <a:latin typeface="Poppins"/>
                <a:ea typeface="Poppins"/>
                <a:cs typeface="Poppins"/>
                <a:sym typeface="Poppins"/>
              </a:rPr>
              <a:t>Keeps the leaderboard fast even with thousands of candidates</a:t>
            </a:r>
          </a:p>
        </p:txBody>
      </p:sp>
      <p:grpSp>
        <p:nvGrpSpPr>
          <p:cNvPr name="Group 67" id="67"/>
          <p:cNvGrpSpPr/>
          <p:nvPr/>
        </p:nvGrpSpPr>
        <p:grpSpPr>
          <a:xfrm rot="0">
            <a:off x="1143000" y="8641080"/>
            <a:ext cx="7680960" cy="868680"/>
            <a:chOff x="0" y="0"/>
            <a:chExt cx="10241280" cy="1158240"/>
          </a:xfrm>
        </p:grpSpPr>
        <p:sp>
          <p:nvSpPr>
            <p:cNvPr name="Freeform 68" id="68"/>
            <p:cNvSpPr/>
            <p:nvPr/>
          </p:nvSpPr>
          <p:spPr>
            <a:xfrm flipH="false" flipV="false" rot="0">
              <a:off x="0" y="0"/>
              <a:ext cx="10241280" cy="1158240"/>
            </a:xfrm>
            <a:custGeom>
              <a:avLst/>
              <a:gdLst/>
              <a:ahLst/>
              <a:cxnLst/>
              <a:rect r="r" b="b" t="t" l="l"/>
              <a:pathLst>
                <a:path h="1158240" w="10241280">
                  <a:moveTo>
                    <a:pt x="0" y="146304"/>
                  </a:moveTo>
                  <a:cubicBezTo>
                    <a:pt x="0" y="65532"/>
                    <a:pt x="65532" y="0"/>
                    <a:pt x="146304" y="0"/>
                  </a:cubicBezTo>
                  <a:lnTo>
                    <a:pt x="10094976" y="0"/>
                  </a:lnTo>
                  <a:cubicBezTo>
                    <a:pt x="10175748" y="0"/>
                    <a:pt x="10241280" y="65532"/>
                    <a:pt x="10241280" y="146304"/>
                  </a:cubicBezTo>
                  <a:lnTo>
                    <a:pt x="10241280" y="1011936"/>
                  </a:lnTo>
                  <a:cubicBezTo>
                    <a:pt x="10241280" y="1092708"/>
                    <a:pt x="10175748" y="1158240"/>
                    <a:pt x="10094976" y="1158240"/>
                  </a:cubicBezTo>
                  <a:lnTo>
                    <a:pt x="146304" y="1158240"/>
                  </a:lnTo>
                  <a:cubicBezTo>
                    <a:pt x="65532" y="1158240"/>
                    <a:pt x="0" y="1092708"/>
                    <a:pt x="0" y="1011936"/>
                  </a:cubicBezTo>
                  <a:close/>
                </a:path>
              </a:pathLst>
            </a:custGeom>
            <a:solidFill>
              <a:srgbClr val="737AE6"/>
            </a:solidFill>
          </p:spPr>
        </p:sp>
      </p:grpSp>
      <p:grpSp>
        <p:nvGrpSpPr>
          <p:cNvPr name="Group 69" id="69"/>
          <p:cNvGrpSpPr/>
          <p:nvPr/>
        </p:nvGrpSpPr>
        <p:grpSpPr>
          <a:xfrm rot="0">
            <a:off x="1508760" y="8641080"/>
            <a:ext cx="3200400" cy="868680"/>
            <a:chOff x="0" y="0"/>
            <a:chExt cx="4267200" cy="1158240"/>
          </a:xfrm>
        </p:grpSpPr>
        <p:sp>
          <p:nvSpPr>
            <p:cNvPr name="Freeform 70" id="70"/>
            <p:cNvSpPr/>
            <p:nvPr/>
          </p:nvSpPr>
          <p:spPr>
            <a:xfrm flipH="false" flipV="false" rot="0">
              <a:off x="0" y="0"/>
              <a:ext cx="4267200" cy="1158240"/>
            </a:xfrm>
            <a:custGeom>
              <a:avLst/>
              <a:gdLst/>
              <a:ahLst/>
              <a:cxnLst/>
              <a:rect r="r" b="b" t="t" l="l"/>
              <a:pathLst>
                <a:path h="1158240" w="4267200">
                  <a:moveTo>
                    <a:pt x="0" y="0"/>
                  </a:moveTo>
                  <a:lnTo>
                    <a:pt x="4267200" y="0"/>
                  </a:lnTo>
                  <a:lnTo>
                    <a:pt x="4267200" y="1158240"/>
                  </a:lnTo>
                  <a:lnTo>
                    <a:pt x="0" y="1158240"/>
                  </a:lnTo>
                  <a:close/>
                </a:path>
              </a:pathLst>
            </a:custGeom>
            <a:blipFill>
              <a:blip r:embed="rId2">
                <a:alphaModFix amt="0"/>
              </a:blip>
              <a:stretch>
                <a:fillRect l="0" t="-21736" r="0" b="-21736"/>
              </a:stretch>
            </a:blipFill>
          </p:spPr>
        </p:sp>
      </p:grpSp>
      <p:grpSp>
        <p:nvGrpSpPr>
          <p:cNvPr name="Group 71" id="71"/>
          <p:cNvGrpSpPr/>
          <p:nvPr/>
        </p:nvGrpSpPr>
        <p:grpSpPr>
          <a:xfrm rot="0">
            <a:off x="1508760" y="8633936"/>
            <a:ext cx="3200400" cy="875824"/>
            <a:chOff x="0" y="0"/>
            <a:chExt cx="4267200" cy="1167765"/>
          </a:xfrm>
        </p:grpSpPr>
        <p:sp>
          <p:nvSpPr>
            <p:cNvPr name="Freeform 72" id="72"/>
            <p:cNvSpPr/>
            <p:nvPr/>
          </p:nvSpPr>
          <p:spPr>
            <a:xfrm flipH="false" flipV="false" rot="0">
              <a:off x="0" y="0"/>
              <a:ext cx="4267200" cy="1167765"/>
            </a:xfrm>
            <a:custGeom>
              <a:avLst/>
              <a:gdLst/>
              <a:ahLst/>
              <a:cxnLst/>
              <a:rect r="r" b="b" t="t" l="l"/>
              <a:pathLst>
                <a:path h="1167765" w="4267200">
                  <a:moveTo>
                    <a:pt x="0" y="0"/>
                  </a:moveTo>
                  <a:lnTo>
                    <a:pt x="4267200" y="0"/>
                  </a:lnTo>
                  <a:lnTo>
                    <a:pt x="4267200" y="1167765"/>
                  </a:lnTo>
                  <a:lnTo>
                    <a:pt x="0" y="1167765"/>
                  </a:lnTo>
                  <a:close/>
                </a:path>
              </a:pathLst>
            </a:custGeom>
            <a:blipFill>
              <a:blip r:embed="rId3">
                <a:alphaModFix amt="0"/>
              </a:blip>
              <a:stretch>
                <a:fillRect l="0" t="-21201" r="0" b="-21201"/>
              </a:stretch>
            </a:blipFill>
          </p:spPr>
        </p:sp>
        <p:sp>
          <p:nvSpPr>
            <p:cNvPr name="TextBox 73" id="73"/>
            <p:cNvSpPr txBox="true"/>
            <p:nvPr/>
          </p:nvSpPr>
          <p:spPr>
            <a:xfrm>
              <a:off x="0" y="-9525"/>
              <a:ext cx="4267200" cy="1177290"/>
            </a:xfrm>
            <a:prstGeom prst="rect">
              <a:avLst/>
            </a:prstGeom>
          </p:spPr>
          <p:txBody>
            <a:bodyPr anchor="ctr" rtlCol="false" tIns="0" lIns="0" bIns="0" rIns="0"/>
            <a:lstStyle/>
            <a:p>
              <a:pPr algn="l">
                <a:lnSpc>
                  <a:spcPts val="1739"/>
                </a:lnSpc>
              </a:pPr>
              <a:r>
                <a:rPr lang="en-US" sz="1449" b="true">
                  <a:solidFill>
                    <a:srgbClr val="FFFFFF"/>
                  </a:solidFill>
                  <a:latin typeface="Poppins Bold"/>
                  <a:ea typeface="Poppins Bold"/>
                  <a:cs typeface="Poppins Bold"/>
                  <a:sym typeface="Poppins Bold"/>
                </a:rPr>
                <a:t>Example</a:t>
              </a:r>
            </a:p>
          </p:txBody>
        </p:sp>
      </p:grpSp>
      <p:grpSp>
        <p:nvGrpSpPr>
          <p:cNvPr name="Group 74" id="74"/>
          <p:cNvGrpSpPr/>
          <p:nvPr/>
        </p:nvGrpSpPr>
        <p:grpSpPr>
          <a:xfrm rot="0">
            <a:off x="4983480" y="8641080"/>
            <a:ext cx="3474720" cy="868680"/>
            <a:chOff x="0" y="0"/>
            <a:chExt cx="4632960" cy="1158240"/>
          </a:xfrm>
        </p:grpSpPr>
        <p:sp>
          <p:nvSpPr>
            <p:cNvPr name="Freeform 75" id="75"/>
            <p:cNvSpPr/>
            <p:nvPr/>
          </p:nvSpPr>
          <p:spPr>
            <a:xfrm flipH="false" flipV="false" rot="0">
              <a:off x="0" y="0"/>
              <a:ext cx="4632960" cy="1158240"/>
            </a:xfrm>
            <a:custGeom>
              <a:avLst/>
              <a:gdLst/>
              <a:ahLst/>
              <a:cxnLst/>
              <a:rect r="r" b="b" t="t" l="l"/>
              <a:pathLst>
                <a:path h="1158240" w="4632960">
                  <a:moveTo>
                    <a:pt x="0" y="0"/>
                  </a:moveTo>
                  <a:lnTo>
                    <a:pt x="4632960" y="0"/>
                  </a:lnTo>
                  <a:lnTo>
                    <a:pt x="4632960" y="1158240"/>
                  </a:lnTo>
                  <a:lnTo>
                    <a:pt x="0" y="1158240"/>
                  </a:lnTo>
                  <a:close/>
                </a:path>
              </a:pathLst>
            </a:custGeom>
            <a:blipFill>
              <a:blip r:embed="rId2">
                <a:alphaModFix amt="0"/>
              </a:blip>
              <a:stretch>
                <a:fillRect l="0" t="-27885" r="0" b="-27885"/>
              </a:stretch>
            </a:blipFill>
          </p:spPr>
        </p:sp>
      </p:grpSp>
      <p:grpSp>
        <p:nvGrpSpPr>
          <p:cNvPr name="Group 76" id="76"/>
          <p:cNvGrpSpPr/>
          <p:nvPr/>
        </p:nvGrpSpPr>
        <p:grpSpPr>
          <a:xfrm rot="0">
            <a:off x="4983480" y="8633936"/>
            <a:ext cx="3474720" cy="875824"/>
            <a:chOff x="0" y="0"/>
            <a:chExt cx="4632960" cy="1167765"/>
          </a:xfrm>
        </p:grpSpPr>
        <p:sp>
          <p:nvSpPr>
            <p:cNvPr name="Freeform 77" id="77"/>
            <p:cNvSpPr/>
            <p:nvPr/>
          </p:nvSpPr>
          <p:spPr>
            <a:xfrm flipH="false" flipV="false" rot="0">
              <a:off x="0" y="0"/>
              <a:ext cx="4632960" cy="1167765"/>
            </a:xfrm>
            <a:custGeom>
              <a:avLst/>
              <a:gdLst/>
              <a:ahLst/>
              <a:cxnLst/>
              <a:rect r="r" b="b" t="t" l="l"/>
              <a:pathLst>
                <a:path h="1167765" w="4632960">
                  <a:moveTo>
                    <a:pt x="0" y="0"/>
                  </a:moveTo>
                  <a:lnTo>
                    <a:pt x="4632960" y="0"/>
                  </a:lnTo>
                  <a:lnTo>
                    <a:pt x="4632960" y="1167765"/>
                  </a:lnTo>
                  <a:lnTo>
                    <a:pt x="0" y="1167765"/>
                  </a:lnTo>
                  <a:close/>
                </a:path>
              </a:pathLst>
            </a:custGeom>
            <a:blipFill>
              <a:blip r:embed="rId3">
                <a:alphaModFix amt="0"/>
              </a:blip>
              <a:stretch>
                <a:fillRect l="0" t="-27304" r="0" b="-27304"/>
              </a:stretch>
            </a:blipFill>
          </p:spPr>
        </p:sp>
        <p:sp>
          <p:nvSpPr>
            <p:cNvPr name="TextBox 78" id="78"/>
            <p:cNvSpPr txBox="true"/>
            <p:nvPr/>
          </p:nvSpPr>
          <p:spPr>
            <a:xfrm>
              <a:off x="0" y="-9525"/>
              <a:ext cx="4632960" cy="1177290"/>
            </a:xfrm>
            <a:prstGeom prst="rect">
              <a:avLst/>
            </a:prstGeom>
          </p:spPr>
          <p:txBody>
            <a:bodyPr anchor="ctr" rtlCol="false" tIns="0" lIns="0" bIns="0" rIns="0"/>
            <a:lstStyle/>
            <a:p>
              <a:pPr algn="r">
                <a:lnSpc>
                  <a:spcPts val="1558"/>
                </a:lnSpc>
              </a:pPr>
              <a:r>
                <a:rPr lang="en-US" sz="1299">
                  <a:solidFill>
                    <a:srgbClr val="FFFFFF"/>
                  </a:solidFill>
                  <a:latin typeface="Poppins"/>
                  <a:ea typeface="Poppins"/>
                  <a:cs typeface="Poppins"/>
                  <a:sym typeface="Poppins"/>
                </a:rPr>
                <a:t>Skill : React · Country : Tunisia</a:t>
              </a:r>
            </a:p>
          </p:txBody>
        </p:sp>
      </p:grpSp>
      <p:grpSp>
        <p:nvGrpSpPr>
          <p:cNvPr name="Group 79" id="79"/>
          <p:cNvGrpSpPr/>
          <p:nvPr/>
        </p:nvGrpSpPr>
        <p:grpSpPr>
          <a:xfrm rot="0">
            <a:off x="9464040" y="8641080"/>
            <a:ext cx="7680960" cy="868680"/>
            <a:chOff x="0" y="0"/>
            <a:chExt cx="10241280" cy="1158240"/>
          </a:xfrm>
        </p:grpSpPr>
        <p:sp>
          <p:nvSpPr>
            <p:cNvPr name="Freeform 80" id="80"/>
            <p:cNvSpPr/>
            <p:nvPr/>
          </p:nvSpPr>
          <p:spPr>
            <a:xfrm flipH="false" flipV="false" rot="0">
              <a:off x="0" y="0"/>
              <a:ext cx="10241280" cy="1158240"/>
            </a:xfrm>
            <a:custGeom>
              <a:avLst/>
              <a:gdLst/>
              <a:ahLst/>
              <a:cxnLst/>
              <a:rect r="r" b="b" t="t" l="l"/>
              <a:pathLst>
                <a:path h="1158240" w="10241280">
                  <a:moveTo>
                    <a:pt x="0" y="146304"/>
                  </a:moveTo>
                  <a:cubicBezTo>
                    <a:pt x="0" y="65532"/>
                    <a:pt x="65532" y="0"/>
                    <a:pt x="146304" y="0"/>
                  </a:cubicBezTo>
                  <a:lnTo>
                    <a:pt x="10094976" y="0"/>
                  </a:lnTo>
                  <a:cubicBezTo>
                    <a:pt x="10175748" y="0"/>
                    <a:pt x="10241280" y="65532"/>
                    <a:pt x="10241280" y="146304"/>
                  </a:cubicBezTo>
                  <a:lnTo>
                    <a:pt x="10241280" y="1011936"/>
                  </a:lnTo>
                  <a:cubicBezTo>
                    <a:pt x="10241280" y="1092708"/>
                    <a:pt x="10175748" y="1158240"/>
                    <a:pt x="10094976" y="1158240"/>
                  </a:cubicBezTo>
                  <a:lnTo>
                    <a:pt x="146304" y="1158240"/>
                  </a:lnTo>
                  <a:cubicBezTo>
                    <a:pt x="65532" y="1158240"/>
                    <a:pt x="0" y="1092708"/>
                    <a:pt x="0" y="1011936"/>
                  </a:cubicBezTo>
                  <a:close/>
                </a:path>
              </a:pathLst>
            </a:custGeom>
            <a:solidFill>
              <a:srgbClr val="C8DAE4"/>
            </a:solidFill>
          </p:spPr>
        </p:sp>
      </p:grpSp>
      <p:grpSp>
        <p:nvGrpSpPr>
          <p:cNvPr name="Group 81" id="81"/>
          <p:cNvGrpSpPr/>
          <p:nvPr/>
        </p:nvGrpSpPr>
        <p:grpSpPr>
          <a:xfrm rot="0">
            <a:off x="9829800" y="8641080"/>
            <a:ext cx="3200400" cy="868680"/>
            <a:chOff x="0" y="0"/>
            <a:chExt cx="4267200" cy="1158240"/>
          </a:xfrm>
        </p:grpSpPr>
        <p:sp>
          <p:nvSpPr>
            <p:cNvPr name="Freeform 82" id="82"/>
            <p:cNvSpPr/>
            <p:nvPr/>
          </p:nvSpPr>
          <p:spPr>
            <a:xfrm flipH="false" flipV="false" rot="0">
              <a:off x="0" y="0"/>
              <a:ext cx="4267200" cy="1158240"/>
            </a:xfrm>
            <a:custGeom>
              <a:avLst/>
              <a:gdLst/>
              <a:ahLst/>
              <a:cxnLst/>
              <a:rect r="r" b="b" t="t" l="l"/>
              <a:pathLst>
                <a:path h="1158240" w="4267200">
                  <a:moveTo>
                    <a:pt x="0" y="0"/>
                  </a:moveTo>
                  <a:lnTo>
                    <a:pt x="4267200" y="0"/>
                  </a:lnTo>
                  <a:lnTo>
                    <a:pt x="4267200" y="1158240"/>
                  </a:lnTo>
                  <a:lnTo>
                    <a:pt x="0" y="1158240"/>
                  </a:lnTo>
                  <a:close/>
                </a:path>
              </a:pathLst>
            </a:custGeom>
            <a:blipFill>
              <a:blip r:embed="rId2">
                <a:alphaModFix amt="0"/>
              </a:blip>
              <a:stretch>
                <a:fillRect l="0" t="-21736" r="0" b="-21736"/>
              </a:stretch>
            </a:blipFill>
          </p:spPr>
        </p:sp>
      </p:grpSp>
      <p:grpSp>
        <p:nvGrpSpPr>
          <p:cNvPr name="Group 83" id="83"/>
          <p:cNvGrpSpPr/>
          <p:nvPr/>
        </p:nvGrpSpPr>
        <p:grpSpPr>
          <a:xfrm rot="0">
            <a:off x="9829800" y="8633936"/>
            <a:ext cx="3200400" cy="875824"/>
            <a:chOff x="0" y="0"/>
            <a:chExt cx="4267200" cy="1167765"/>
          </a:xfrm>
        </p:grpSpPr>
        <p:sp>
          <p:nvSpPr>
            <p:cNvPr name="Freeform 84" id="84"/>
            <p:cNvSpPr/>
            <p:nvPr/>
          </p:nvSpPr>
          <p:spPr>
            <a:xfrm flipH="false" flipV="false" rot="0">
              <a:off x="0" y="0"/>
              <a:ext cx="4267200" cy="1167765"/>
            </a:xfrm>
            <a:custGeom>
              <a:avLst/>
              <a:gdLst/>
              <a:ahLst/>
              <a:cxnLst/>
              <a:rect r="r" b="b" t="t" l="l"/>
              <a:pathLst>
                <a:path h="1167765" w="4267200">
                  <a:moveTo>
                    <a:pt x="0" y="0"/>
                  </a:moveTo>
                  <a:lnTo>
                    <a:pt x="4267200" y="0"/>
                  </a:lnTo>
                  <a:lnTo>
                    <a:pt x="4267200" y="1167765"/>
                  </a:lnTo>
                  <a:lnTo>
                    <a:pt x="0" y="1167765"/>
                  </a:lnTo>
                  <a:close/>
                </a:path>
              </a:pathLst>
            </a:custGeom>
            <a:blipFill>
              <a:blip r:embed="rId3">
                <a:alphaModFix amt="0"/>
              </a:blip>
              <a:stretch>
                <a:fillRect l="0" t="-21201" r="0" b="-21201"/>
              </a:stretch>
            </a:blipFill>
          </p:spPr>
        </p:sp>
        <p:sp>
          <p:nvSpPr>
            <p:cNvPr name="TextBox 85" id="85"/>
            <p:cNvSpPr txBox="true"/>
            <p:nvPr/>
          </p:nvSpPr>
          <p:spPr>
            <a:xfrm>
              <a:off x="0" y="-9525"/>
              <a:ext cx="4267200" cy="1177290"/>
            </a:xfrm>
            <a:prstGeom prst="rect">
              <a:avLst/>
            </a:prstGeom>
          </p:spPr>
          <p:txBody>
            <a:bodyPr anchor="ctr" rtlCol="false" tIns="0" lIns="0" bIns="0" rIns="0"/>
            <a:lstStyle/>
            <a:p>
              <a:pPr algn="l">
                <a:lnSpc>
                  <a:spcPts val="1739"/>
                </a:lnSpc>
              </a:pPr>
              <a:r>
                <a:rPr lang="en-US" sz="1449" b="true">
                  <a:solidFill>
                    <a:srgbClr val="1F3338"/>
                  </a:solidFill>
                  <a:latin typeface="Poppins Bold"/>
                  <a:ea typeface="Poppins Bold"/>
                  <a:cs typeface="Poppins Bold"/>
                  <a:sym typeface="Poppins Bold"/>
                </a:rPr>
                <a:t>Result</a:t>
              </a:r>
            </a:p>
          </p:txBody>
        </p:sp>
      </p:grpSp>
      <p:grpSp>
        <p:nvGrpSpPr>
          <p:cNvPr name="Group 86" id="86"/>
          <p:cNvGrpSpPr/>
          <p:nvPr/>
        </p:nvGrpSpPr>
        <p:grpSpPr>
          <a:xfrm rot="0">
            <a:off x="13304520" y="8641080"/>
            <a:ext cx="3474720" cy="868680"/>
            <a:chOff x="0" y="0"/>
            <a:chExt cx="4632960" cy="1158240"/>
          </a:xfrm>
        </p:grpSpPr>
        <p:sp>
          <p:nvSpPr>
            <p:cNvPr name="Freeform 87" id="87"/>
            <p:cNvSpPr/>
            <p:nvPr/>
          </p:nvSpPr>
          <p:spPr>
            <a:xfrm flipH="false" flipV="false" rot="0">
              <a:off x="0" y="0"/>
              <a:ext cx="4632960" cy="1158240"/>
            </a:xfrm>
            <a:custGeom>
              <a:avLst/>
              <a:gdLst/>
              <a:ahLst/>
              <a:cxnLst/>
              <a:rect r="r" b="b" t="t" l="l"/>
              <a:pathLst>
                <a:path h="1158240" w="4632960">
                  <a:moveTo>
                    <a:pt x="0" y="0"/>
                  </a:moveTo>
                  <a:lnTo>
                    <a:pt x="4632960" y="0"/>
                  </a:lnTo>
                  <a:lnTo>
                    <a:pt x="4632960" y="1158240"/>
                  </a:lnTo>
                  <a:lnTo>
                    <a:pt x="0" y="1158240"/>
                  </a:lnTo>
                  <a:close/>
                </a:path>
              </a:pathLst>
            </a:custGeom>
            <a:blipFill>
              <a:blip r:embed="rId2">
                <a:alphaModFix amt="0"/>
              </a:blip>
              <a:stretch>
                <a:fillRect l="0" t="-27885" r="0" b="-27885"/>
              </a:stretch>
            </a:blipFill>
          </p:spPr>
        </p:sp>
      </p:grpSp>
      <p:grpSp>
        <p:nvGrpSpPr>
          <p:cNvPr name="Group 88" id="88"/>
          <p:cNvGrpSpPr/>
          <p:nvPr/>
        </p:nvGrpSpPr>
        <p:grpSpPr>
          <a:xfrm rot="0">
            <a:off x="13304520" y="8633936"/>
            <a:ext cx="3474720" cy="875824"/>
            <a:chOff x="0" y="0"/>
            <a:chExt cx="4632960" cy="1167765"/>
          </a:xfrm>
        </p:grpSpPr>
        <p:sp>
          <p:nvSpPr>
            <p:cNvPr name="Freeform 89" id="89"/>
            <p:cNvSpPr/>
            <p:nvPr/>
          </p:nvSpPr>
          <p:spPr>
            <a:xfrm flipH="false" flipV="false" rot="0">
              <a:off x="0" y="0"/>
              <a:ext cx="4632960" cy="1167765"/>
            </a:xfrm>
            <a:custGeom>
              <a:avLst/>
              <a:gdLst/>
              <a:ahLst/>
              <a:cxnLst/>
              <a:rect r="r" b="b" t="t" l="l"/>
              <a:pathLst>
                <a:path h="1167765" w="4632960">
                  <a:moveTo>
                    <a:pt x="0" y="0"/>
                  </a:moveTo>
                  <a:lnTo>
                    <a:pt x="4632960" y="0"/>
                  </a:lnTo>
                  <a:lnTo>
                    <a:pt x="4632960" y="1167765"/>
                  </a:lnTo>
                  <a:lnTo>
                    <a:pt x="0" y="1167765"/>
                  </a:lnTo>
                  <a:close/>
                </a:path>
              </a:pathLst>
            </a:custGeom>
            <a:blipFill>
              <a:blip r:embed="rId3">
                <a:alphaModFix amt="0"/>
              </a:blip>
              <a:stretch>
                <a:fillRect l="0" t="-27304" r="0" b="-27304"/>
              </a:stretch>
            </a:blipFill>
          </p:spPr>
        </p:sp>
        <p:sp>
          <p:nvSpPr>
            <p:cNvPr name="TextBox 90" id="90"/>
            <p:cNvSpPr txBox="true"/>
            <p:nvPr/>
          </p:nvSpPr>
          <p:spPr>
            <a:xfrm>
              <a:off x="0" y="-9525"/>
              <a:ext cx="4632960" cy="1177290"/>
            </a:xfrm>
            <a:prstGeom prst="rect">
              <a:avLst/>
            </a:prstGeom>
          </p:spPr>
          <p:txBody>
            <a:bodyPr anchor="ctr" rtlCol="false" tIns="0" lIns="0" bIns="0" rIns="0"/>
            <a:lstStyle/>
            <a:p>
              <a:pPr algn="r">
                <a:lnSpc>
                  <a:spcPts val="1558"/>
                </a:lnSpc>
              </a:pPr>
              <a:r>
                <a:rPr lang="en-US" sz="1299">
                  <a:solidFill>
                    <a:srgbClr val="1F3338"/>
                  </a:solidFill>
                  <a:latin typeface="Poppins"/>
                  <a:ea typeface="Poppins"/>
                  <a:cs typeface="Poppins"/>
                  <a:sym typeface="Poppins"/>
                </a:rPr>
                <a:t>Rank #12 of 340 · Top 4% Worldwide</a:t>
              </a:r>
            </a:p>
          </p:txBody>
        </p:sp>
      </p:grpSp>
      <p:grpSp>
        <p:nvGrpSpPr>
          <p:cNvPr name="Group 91" id="91"/>
          <p:cNvGrpSpPr/>
          <p:nvPr/>
        </p:nvGrpSpPr>
        <p:grpSpPr>
          <a:xfrm rot="0">
            <a:off x="685800" y="9738360"/>
            <a:ext cx="7315200" cy="365760"/>
            <a:chOff x="0" y="0"/>
            <a:chExt cx="9753600" cy="487680"/>
          </a:xfrm>
        </p:grpSpPr>
        <p:sp>
          <p:nvSpPr>
            <p:cNvPr name="Freeform 92" id="92"/>
            <p:cNvSpPr/>
            <p:nvPr/>
          </p:nvSpPr>
          <p:spPr>
            <a:xfrm flipH="false" flipV="false" rot="0">
              <a:off x="0" y="0"/>
              <a:ext cx="9753600" cy="487680"/>
            </a:xfrm>
            <a:custGeom>
              <a:avLst/>
              <a:gdLst/>
              <a:ahLst/>
              <a:cxnLst/>
              <a:rect r="r" b="b" t="t" l="l"/>
              <a:pathLst>
                <a:path h="487680" w="9753600">
                  <a:moveTo>
                    <a:pt x="0" y="0"/>
                  </a:moveTo>
                  <a:lnTo>
                    <a:pt x="9753600" y="0"/>
                  </a:lnTo>
                  <a:lnTo>
                    <a:pt x="9753600" y="487680"/>
                  </a:lnTo>
                  <a:lnTo>
                    <a:pt x="0" y="487680"/>
                  </a:lnTo>
                  <a:close/>
                </a:path>
              </a:pathLst>
            </a:custGeom>
            <a:blipFill>
              <a:blip r:embed="rId2">
                <a:alphaModFix amt="0"/>
              </a:blip>
              <a:stretch>
                <a:fillRect l="0" t="-339429" r="0" b="-339429"/>
              </a:stretch>
            </a:blipFill>
          </p:spPr>
        </p:sp>
      </p:grpSp>
      <p:grpSp>
        <p:nvGrpSpPr>
          <p:cNvPr name="Group 93" id="93"/>
          <p:cNvGrpSpPr/>
          <p:nvPr/>
        </p:nvGrpSpPr>
        <p:grpSpPr>
          <a:xfrm rot="0">
            <a:off x="685800" y="9724072"/>
            <a:ext cx="7315200" cy="380047"/>
            <a:chOff x="0" y="0"/>
            <a:chExt cx="9753600" cy="506730"/>
          </a:xfrm>
        </p:grpSpPr>
        <p:sp>
          <p:nvSpPr>
            <p:cNvPr name="Freeform 94" id="94"/>
            <p:cNvSpPr/>
            <p:nvPr/>
          </p:nvSpPr>
          <p:spPr>
            <a:xfrm flipH="false" flipV="false" rot="0">
              <a:off x="0" y="0"/>
              <a:ext cx="9753600" cy="506730"/>
            </a:xfrm>
            <a:custGeom>
              <a:avLst/>
              <a:gdLst/>
              <a:ahLst/>
              <a:cxnLst/>
              <a:rect r="r" b="b" t="t" l="l"/>
              <a:pathLst>
                <a:path h="506730" w="9753600">
                  <a:moveTo>
                    <a:pt x="0" y="0"/>
                  </a:moveTo>
                  <a:lnTo>
                    <a:pt x="9753600" y="0"/>
                  </a:lnTo>
                  <a:lnTo>
                    <a:pt x="9753600" y="506730"/>
                  </a:lnTo>
                  <a:lnTo>
                    <a:pt x="0" y="506730"/>
                  </a:lnTo>
                  <a:close/>
                </a:path>
              </a:pathLst>
            </a:custGeom>
            <a:blipFill>
              <a:blip r:embed="rId3">
                <a:alphaModFix amt="0"/>
              </a:blip>
              <a:stretch>
                <a:fillRect l="0" t="-325050" r="0" b="-325050"/>
              </a:stretch>
            </a:blipFill>
          </p:spPr>
        </p:sp>
        <p:sp>
          <p:nvSpPr>
            <p:cNvPr name="TextBox 95" id="95"/>
            <p:cNvSpPr txBox="true"/>
            <p:nvPr/>
          </p:nvSpPr>
          <p:spPr>
            <a:xfrm>
              <a:off x="0" y="-19050"/>
              <a:ext cx="9753600" cy="525780"/>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96" id="96"/>
          <p:cNvGrpSpPr/>
          <p:nvPr/>
        </p:nvGrpSpPr>
        <p:grpSpPr>
          <a:xfrm rot="0">
            <a:off x="16642080" y="9738360"/>
            <a:ext cx="960120" cy="365760"/>
            <a:chOff x="0" y="0"/>
            <a:chExt cx="1280160" cy="487680"/>
          </a:xfrm>
        </p:grpSpPr>
        <p:sp>
          <p:nvSpPr>
            <p:cNvPr name="Freeform 97" id="97"/>
            <p:cNvSpPr/>
            <p:nvPr/>
          </p:nvSpPr>
          <p:spPr>
            <a:xfrm flipH="false" flipV="false" rot="0">
              <a:off x="0" y="0"/>
              <a:ext cx="1280160" cy="487680"/>
            </a:xfrm>
            <a:custGeom>
              <a:avLst/>
              <a:gdLst/>
              <a:ahLst/>
              <a:cxnLst/>
              <a:rect r="r" b="b" t="t" l="l"/>
              <a:pathLst>
                <a:path h="487680" w="1280160">
                  <a:moveTo>
                    <a:pt x="0" y="0"/>
                  </a:moveTo>
                  <a:lnTo>
                    <a:pt x="1280160" y="0"/>
                  </a:lnTo>
                  <a:lnTo>
                    <a:pt x="1280160" y="487680"/>
                  </a:lnTo>
                  <a:lnTo>
                    <a:pt x="0" y="487680"/>
                  </a:lnTo>
                  <a:close/>
                </a:path>
              </a:pathLst>
            </a:custGeom>
            <a:blipFill>
              <a:blip r:embed="rId2">
                <a:alphaModFix amt="0"/>
              </a:blip>
              <a:stretch>
                <a:fillRect l="0" t="-1111" r="0" b="-1114"/>
              </a:stretch>
            </a:blip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7533048" y="273749"/>
            <a:ext cx="754952" cy="754952"/>
            <a:chOff x="0" y="0"/>
            <a:chExt cx="1006602" cy="1006602"/>
          </a:xfrm>
        </p:grpSpPr>
        <p:sp>
          <p:nvSpPr>
            <p:cNvPr name="Freeform 3" id="3" descr="/home/claude/work/assets/star_teal.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2287249" y="446103"/>
            <a:ext cx="11695264" cy="1235412"/>
            <a:chOff x="0" y="0"/>
            <a:chExt cx="15593685" cy="1647215"/>
          </a:xfrm>
        </p:grpSpPr>
        <p:sp>
          <p:nvSpPr>
            <p:cNvPr name="Freeform 7" id="7"/>
            <p:cNvSpPr/>
            <p:nvPr/>
          </p:nvSpPr>
          <p:spPr>
            <a:xfrm flipH="false" flipV="false" rot="0">
              <a:off x="0" y="0"/>
              <a:ext cx="15593665" cy="1647190"/>
            </a:xfrm>
            <a:custGeom>
              <a:avLst/>
              <a:gdLst/>
              <a:ahLst/>
              <a:cxnLst/>
              <a:rect r="r" b="b" t="t" l="l"/>
              <a:pathLst>
                <a:path h="1647190" w="15593665">
                  <a:moveTo>
                    <a:pt x="0" y="0"/>
                  </a:moveTo>
                  <a:lnTo>
                    <a:pt x="15593665" y="0"/>
                  </a:lnTo>
                  <a:lnTo>
                    <a:pt x="15593665" y="1647190"/>
                  </a:lnTo>
                  <a:lnTo>
                    <a:pt x="0" y="1647190"/>
                  </a:lnTo>
                  <a:close/>
                </a:path>
              </a:pathLst>
            </a:custGeom>
            <a:blipFill>
              <a:blip r:embed="rId4">
                <a:alphaModFix amt="0"/>
              </a:blip>
              <a:stretch>
                <a:fillRect l="0" t="-194647" r="-32628" b="-194648"/>
              </a:stretch>
            </a:blipFill>
          </p:spPr>
        </p:sp>
      </p:grpSp>
      <p:grpSp>
        <p:nvGrpSpPr>
          <p:cNvPr name="Group 8" id="8"/>
          <p:cNvGrpSpPr/>
          <p:nvPr/>
        </p:nvGrpSpPr>
        <p:grpSpPr>
          <a:xfrm rot="0">
            <a:off x="564538" y="57915"/>
            <a:ext cx="9663969" cy="1256836"/>
            <a:chOff x="0" y="0"/>
            <a:chExt cx="12885292" cy="1675782"/>
          </a:xfrm>
        </p:grpSpPr>
        <p:sp>
          <p:nvSpPr>
            <p:cNvPr name="Freeform 9" id="9"/>
            <p:cNvSpPr/>
            <p:nvPr/>
          </p:nvSpPr>
          <p:spPr>
            <a:xfrm flipH="false" flipV="false" rot="0">
              <a:off x="0" y="0"/>
              <a:ext cx="12885293" cy="1675786"/>
            </a:xfrm>
            <a:custGeom>
              <a:avLst/>
              <a:gdLst/>
              <a:ahLst/>
              <a:cxnLst/>
              <a:rect r="r" b="b" t="t" l="l"/>
              <a:pathLst>
                <a:path h="1675786" w="12885293">
                  <a:moveTo>
                    <a:pt x="0" y="0"/>
                  </a:moveTo>
                  <a:lnTo>
                    <a:pt x="12885293" y="0"/>
                  </a:lnTo>
                  <a:lnTo>
                    <a:pt x="12885293" y="1675786"/>
                  </a:lnTo>
                  <a:lnTo>
                    <a:pt x="0" y="1675786"/>
                  </a:lnTo>
                  <a:close/>
                </a:path>
              </a:pathLst>
            </a:custGeom>
            <a:blipFill>
              <a:blip r:embed="rId4">
                <a:alphaModFix amt="0"/>
              </a:blip>
              <a:stretch>
                <a:fillRect l="0" t="-190473" r="-60505" b="-190473"/>
              </a:stretch>
            </a:blipFill>
          </p:spPr>
        </p:sp>
        <p:sp>
          <p:nvSpPr>
            <p:cNvPr name="TextBox 10" id="10"/>
            <p:cNvSpPr txBox="true"/>
            <p:nvPr/>
          </p:nvSpPr>
          <p:spPr>
            <a:xfrm>
              <a:off x="0" y="-28575"/>
              <a:ext cx="12885292" cy="1704357"/>
            </a:xfrm>
            <a:prstGeom prst="rect">
              <a:avLst/>
            </a:prstGeom>
          </p:spPr>
          <p:txBody>
            <a:bodyPr anchor="ctr" rtlCol="false" tIns="0" lIns="0" bIns="0" rIns="0"/>
            <a:lstStyle/>
            <a:p>
              <a:pPr algn="l">
                <a:lnSpc>
                  <a:spcPts val="3602"/>
                </a:lnSpc>
              </a:pPr>
              <a:r>
                <a:rPr lang="en-US" sz="3002" b="true">
                  <a:solidFill>
                    <a:srgbClr val="000000"/>
                  </a:solidFill>
                  <a:latin typeface="Poppins Bold"/>
                  <a:ea typeface="Poppins Bold"/>
                  <a:cs typeface="Poppins Bold"/>
                  <a:sym typeface="Poppins Bold"/>
                </a:rPr>
                <a:t>Implementation : Assessment, Results &amp; Ranking</a:t>
              </a:r>
            </a:p>
          </p:txBody>
        </p:sp>
      </p:grpSp>
      <p:grpSp>
        <p:nvGrpSpPr>
          <p:cNvPr name="Group 11" id="11"/>
          <p:cNvGrpSpPr/>
          <p:nvPr/>
        </p:nvGrpSpPr>
        <p:grpSpPr>
          <a:xfrm rot="0">
            <a:off x="686333" y="9718519"/>
            <a:ext cx="8236039" cy="411804"/>
            <a:chOff x="0" y="0"/>
            <a:chExt cx="10981385" cy="549072"/>
          </a:xfrm>
        </p:grpSpPr>
        <p:sp>
          <p:nvSpPr>
            <p:cNvPr name="Freeform 12" id="12"/>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3" id="13"/>
          <p:cNvGrpSpPr/>
          <p:nvPr/>
        </p:nvGrpSpPr>
        <p:grpSpPr>
          <a:xfrm rot="0">
            <a:off x="686333" y="9704232"/>
            <a:ext cx="8236039" cy="426091"/>
            <a:chOff x="0" y="0"/>
            <a:chExt cx="10981385" cy="568122"/>
          </a:xfrm>
        </p:grpSpPr>
        <p:sp>
          <p:nvSpPr>
            <p:cNvPr name="Freeform 14" id="14"/>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5" id="15"/>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6" id="16"/>
          <p:cNvGrpSpPr/>
          <p:nvPr/>
        </p:nvGrpSpPr>
        <p:grpSpPr>
          <a:xfrm rot="0">
            <a:off x="16242830" y="9718519"/>
            <a:ext cx="1372676" cy="411804"/>
            <a:chOff x="0" y="0"/>
            <a:chExt cx="1830235" cy="549072"/>
          </a:xfrm>
        </p:grpSpPr>
        <p:sp>
          <p:nvSpPr>
            <p:cNvPr name="Freeform 17" id="17"/>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sp>
        <p:nvSpPr>
          <p:cNvPr name="Freeform 18" id="18"/>
          <p:cNvSpPr/>
          <p:nvPr/>
        </p:nvSpPr>
        <p:spPr>
          <a:xfrm flipH="false" flipV="false" rot="0">
            <a:off x="6532179" y="1173321"/>
            <a:ext cx="3797452" cy="9032592"/>
          </a:xfrm>
          <a:custGeom>
            <a:avLst/>
            <a:gdLst/>
            <a:ahLst/>
            <a:cxnLst/>
            <a:rect r="r" b="b" t="t" l="l"/>
            <a:pathLst>
              <a:path h="9032592" w="3797452">
                <a:moveTo>
                  <a:pt x="0" y="0"/>
                </a:moveTo>
                <a:lnTo>
                  <a:pt x="3797452" y="0"/>
                </a:lnTo>
                <a:lnTo>
                  <a:pt x="3797452" y="9032592"/>
                </a:lnTo>
                <a:lnTo>
                  <a:pt x="0" y="9032592"/>
                </a:lnTo>
                <a:lnTo>
                  <a:pt x="0" y="0"/>
                </a:lnTo>
                <a:close/>
              </a:path>
            </a:pathLst>
          </a:custGeom>
          <a:blipFill>
            <a:blip r:embed="rId5"/>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2127647" y="796147"/>
            <a:ext cx="15099392" cy="1235412"/>
            <a:chOff x="0" y="0"/>
            <a:chExt cx="20132523" cy="1647215"/>
          </a:xfrm>
        </p:grpSpPr>
        <p:sp>
          <p:nvSpPr>
            <p:cNvPr name="Freeform 7" id="7"/>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3">
                <a:alphaModFix amt="0"/>
              </a:blip>
              <a:stretch>
                <a:fillRect l="0" t="-187986" r="0" b="-187987"/>
              </a:stretch>
            </a:blipFill>
          </p:spPr>
        </p:sp>
      </p:grpSp>
      <p:grpSp>
        <p:nvGrpSpPr>
          <p:cNvPr name="Group 8" id="8"/>
          <p:cNvGrpSpPr/>
          <p:nvPr/>
        </p:nvGrpSpPr>
        <p:grpSpPr>
          <a:xfrm rot="0">
            <a:off x="823608" y="556415"/>
            <a:ext cx="15099392" cy="1256836"/>
            <a:chOff x="0" y="0"/>
            <a:chExt cx="20132523" cy="1675782"/>
          </a:xfrm>
        </p:grpSpPr>
        <p:sp>
          <p:nvSpPr>
            <p:cNvPr name="Freeform 9" id="9"/>
            <p:cNvSpPr/>
            <p:nvPr/>
          </p:nvSpPr>
          <p:spPr>
            <a:xfrm flipH="false" flipV="false" rot="0">
              <a:off x="0" y="0"/>
              <a:ext cx="20132523" cy="1675786"/>
            </a:xfrm>
            <a:custGeom>
              <a:avLst/>
              <a:gdLst/>
              <a:ahLst/>
              <a:cxnLst/>
              <a:rect r="r" b="b" t="t" l="l"/>
              <a:pathLst>
                <a:path h="1675786" w="20132523">
                  <a:moveTo>
                    <a:pt x="0" y="0"/>
                  </a:moveTo>
                  <a:lnTo>
                    <a:pt x="20132523" y="0"/>
                  </a:lnTo>
                  <a:lnTo>
                    <a:pt x="20132523" y="1675786"/>
                  </a:lnTo>
                  <a:lnTo>
                    <a:pt x="0" y="1675786"/>
                  </a:lnTo>
                  <a:close/>
                </a:path>
              </a:pathLst>
            </a:custGeom>
            <a:blipFill>
              <a:blip r:embed="rId4">
                <a:alphaModFix amt="0"/>
              </a:blip>
              <a:stretch>
                <a:fillRect l="0" t="-184089" r="0" b="-184088"/>
              </a:stretch>
            </a:blipFill>
          </p:spPr>
        </p:sp>
        <p:sp>
          <p:nvSpPr>
            <p:cNvPr name="TextBox 10" id="10"/>
            <p:cNvSpPr txBox="true"/>
            <p:nvPr/>
          </p:nvSpPr>
          <p:spPr>
            <a:xfrm>
              <a:off x="0" y="-28575"/>
              <a:ext cx="20132523" cy="1704357"/>
            </a:xfrm>
            <a:prstGeom prst="rect">
              <a:avLst/>
            </a:prstGeom>
          </p:spPr>
          <p:txBody>
            <a:bodyPr anchor="ctr" rtlCol="false" tIns="0" lIns="0" bIns="0" rIns="0"/>
            <a:lstStyle/>
            <a:p>
              <a:pPr algn="l">
                <a:lnSpc>
                  <a:spcPts val="3962"/>
                </a:lnSpc>
              </a:pPr>
              <a:r>
                <a:rPr lang="en-US" sz="3302" b="true">
                  <a:solidFill>
                    <a:srgbClr val="000000"/>
                  </a:solidFill>
                  <a:latin typeface="Poppins Bold"/>
                  <a:ea typeface="Poppins Bold"/>
                  <a:cs typeface="Poppins Bold"/>
                  <a:sym typeface="Poppins Bold"/>
                </a:rPr>
                <a:t>Recruiter Experience</a:t>
              </a:r>
            </a:p>
          </p:txBody>
        </p:sp>
      </p:grpSp>
      <p:sp>
        <p:nvSpPr>
          <p:cNvPr name="Freeform 11" id="11"/>
          <p:cNvSpPr/>
          <p:nvPr/>
        </p:nvSpPr>
        <p:spPr>
          <a:xfrm flipH="false" flipV="false" rot="0">
            <a:off x="738283" y="2522763"/>
            <a:ext cx="2580332" cy="719719"/>
          </a:xfrm>
          <a:custGeom>
            <a:avLst/>
            <a:gdLst/>
            <a:ahLst/>
            <a:cxnLst/>
            <a:rect r="r" b="b" t="t" l="l"/>
            <a:pathLst>
              <a:path h="719719" w="2580332">
                <a:moveTo>
                  <a:pt x="0" y="0"/>
                </a:moveTo>
                <a:lnTo>
                  <a:pt x="2580332" y="0"/>
                </a:lnTo>
                <a:lnTo>
                  <a:pt x="2580332" y="719718"/>
                </a:lnTo>
                <a:lnTo>
                  <a:pt x="0" y="7197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823608" y="2539441"/>
            <a:ext cx="2409730" cy="686333"/>
            <a:chOff x="0" y="0"/>
            <a:chExt cx="3212973" cy="915111"/>
          </a:xfrm>
        </p:grpSpPr>
        <p:sp>
          <p:nvSpPr>
            <p:cNvPr name="Freeform 13" id="13"/>
            <p:cNvSpPr/>
            <p:nvPr/>
          </p:nvSpPr>
          <p:spPr>
            <a:xfrm flipH="false" flipV="false" rot="0">
              <a:off x="0" y="0"/>
              <a:ext cx="3212973" cy="915162"/>
            </a:xfrm>
            <a:custGeom>
              <a:avLst/>
              <a:gdLst/>
              <a:ahLst/>
              <a:cxnLst/>
              <a:rect r="r" b="b" t="t" l="l"/>
              <a:pathLst>
                <a:path h="915162" w="3212973">
                  <a:moveTo>
                    <a:pt x="0" y="0"/>
                  </a:moveTo>
                  <a:lnTo>
                    <a:pt x="3212973" y="0"/>
                  </a:lnTo>
                  <a:lnTo>
                    <a:pt x="3212973" y="915162"/>
                  </a:lnTo>
                  <a:lnTo>
                    <a:pt x="0" y="915162"/>
                  </a:lnTo>
                  <a:close/>
                </a:path>
              </a:pathLst>
            </a:custGeom>
            <a:blipFill>
              <a:blip r:embed="rId3">
                <a:alphaModFix amt="0"/>
              </a:blip>
              <a:stretch>
                <a:fillRect l="0" t="-18363" r="0" b="-18358"/>
              </a:stretch>
            </a:blipFill>
          </p:spPr>
        </p:sp>
      </p:grpSp>
      <p:grpSp>
        <p:nvGrpSpPr>
          <p:cNvPr name="Group 14" id="14"/>
          <p:cNvGrpSpPr/>
          <p:nvPr/>
        </p:nvGrpSpPr>
        <p:grpSpPr>
          <a:xfrm rot="0">
            <a:off x="823608" y="2532297"/>
            <a:ext cx="2409730" cy="693477"/>
            <a:chOff x="0" y="0"/>
            <a:chExt cx="3212973" cy="924636"/>
          </a:xfrm>
        </p:grpSpPr>
        <p:sp>
          <p:nvSpPr>
            <p:cNvPr name="Freeform 15" id="15"/>
            <p:cNvSpPr/>
            <p:nvPr/>
          </p:nvSpPr>
          <p:spPr>
            <a:xfrm flipH="false" flipV="false" rot="0">
              <a:off x="0" y="0"/>
              <a:ext cx="3212973" cy="924636"/>
            </a:xfrm>
            <a:custGeom>
              <a:avLst/>
              <a:gdLst/>
              <a:ahLst/>
              <a:cxnLst/>
              <a:rect r="r" b="b" t="t" l="l"/>
              <a:pathLst>
                <a:path h="924636" w="3212973">
                  <a:moveTo>
                    <a:pt x="0" y="0"/>
                  </a:moveTo>
                  <a:lnTo>
                    <a:pt x="3212973" y="0"/>
                  </a:lnTo>
                  <a:lnTo>
                    <a:pt x="3212973" y="924636"/>
                  </a:lnTo>
                  <a:lnTo>
                    <a:pt x="0" y="924636"/>
                  </a:lnTo>
                  <a:close/>
                </a:path>
              </a:pathLst>
            </a:custGeom>
            <a:blipFill>
              <a:blip r:embed="rId4">
                <a:alphaModFix amt="0"/>
              </a:blip>
              <a:stretch>
                <a:fillRect l="0" t="-17707" r="0" b="-17707"/>
              </a:stretch>
            </a:blipFill>
          </p:spPr>
        </p:sp>
        <p:sp>
          <p:nvSpPr>
            <p:cNvPr name="TextBox 16" id="16"/>
            <p:cNvSpPr txBox="true"/>
            <p:nvPr/>
          </p:nvSpPr>
          <p:spPr>
            <a:xfrm>
              <a:off x="0" y="-9525"/>
              <a:ext cx="3212973" cy="934161"/>
            </a:xfrm>
            <a:prstGeom prst="rect">
              <a:avLst/>
            </a:prstGeom>
          </p:spPr>
          <p:txBody>
            <a:bodyPr anchor="ctr" rtlCol="false" tIns="0" lIns="0" bIns="0" rIns="0"/>
            <a:lstStyle/>
            <a:p>
              <a:pPr algn="ctr">
                <a:lnSpc>
                  <a:spcPts val="1890"/>
                </a:lnSpc>
              </a:pPr>
              <a:r>
                <a:rPr lang="en-US" sz="1575" b="true">
                  <a:solidFill>
                    <a:srgbClr val="000000"/>
                  </a:solidFill>
                  <a:latin typeface="Poppins Bold"/>
                  <a:ea typeface="Poppins Bold"/>
                  <a:cs typeface="Poppins Bold"/>
                  <a:sym typeface="Poppins Bold"/>
                </a:rPr>
                <a:t>Search</a:t>
              </a:r>
            </a:p>
          </p:txBody>
        </p:sp>
      </p:grpSp>
      <p:grpSp>
        <p:nvGrpSpPr>
          <p:cNvPr name="Group 17" id="17"/>
          <p:cNvGrpSpPr/>
          <p:nvPr/>
        </p:nvGrpSpPr>
        <p:grpSpPr>
          <a:xfrm rot="0">
            <a:off x="3301965" y="2511990"/>
            <a:ext cx="301990" cy="603980"/>
            <a:chOff x="0" y="0"/>
            <a:chExt cx="402654" cy="805307"/>
          </a:xfrm>
        </p:grpSpPr>
        <p:sp>
          <p:nvSpPr>
            <p:cNvPr name="Freeform 18" id="18"/>
            <p:cNvSpPr/>
            <p:nvPr/>
          </p:nvSpPr>
          <p:spPr>
            <a:xfrm flipH="false" flipV="false" rot="0">
              <a:off x="0" y="0"/>
              <a:ext cx="402590" cy="805307"/>
            </a:xfrm>
            <a:custGeom>
              <a:avLst/>
              <a:gdLst/>
              <a:ahLst/>
              <a:cxnLst/>
              <a:rect r="r" b="b" t="t" l="l"/>
              <a:pathLst>
                <a:path h="805307" w="402590">
                  <a:moveTo>
                    <a:pt x="0" y="0"/>
                  </a:moveTo>
                  <a:lnTo>
                    <a:pt x="402590" y="0"/>
                  </a:lnTo>
                  <a:lnTo>
                    <a:pt x="402590" y="805307"/>
                  </a:lnTo>
                  <a:lnTo>
                    <a:pt x="0" y="805307"/>
                  </a:lnTo>
                  <a:close/>
                </a:path>
              </a:pathLst>
            </a:custGeom>
            <a:blipFill>
              <a:blip r:embed="rId3">
                <a:alphaModFix amt="0"/>
              </a:blip>
              <a:stretch>
                <a:fillRect l="-206817" t="0" r="-206832" b="0"/>
              </a:stretch>
            </a:blipFill>
          </p:spPr>
        </p:sp>
      </p:grpSp>
      <p:grpSp>
        <p:nvGrpSpPr>
          <p:cNvPr name="Group 19" id="19"/>
          <p:cNvGrpSpPr/>
          <p:nvPr/>
        </p:nvGrpSpPr>
        <p:grpSpPr>
          <a:xfrm rot="0">
            <a:off x="3301965" y="2497703"/>
            <a:ext cx="301990" cy="618268"/>
            <a:chOff x="0" y="0"/>
            <a:chExt cx="402654" cy="824357"/>
          </a:xfrm>
        </p:grpSpPr>
        <p:sp>
          <p:nvSpPr>
            <p:cNvPr name="Freeform 20" id="20"/>
            <p:cNvSpPr/>
            <p:nvPr/>
          </p:nvSpPr>
          <p:spPr>
            <a:xfrm flipH="false" flipV="false" rot="0">
              <a:off x="0" y="0"/>
              <a:ext cx="402653" cy="824357"/>
            </a:xfrm>
            <a:custGeom>
              <a:avLst/>
              <a:gdLst/>
              <a:ahLst/>
              <a:cxnLst/>
              <a:rect r="r" b="b" t="t" l="l"/>
              <a:pathLst>
                <a:path h="824357" w="402653">
                  <a:moveTo>
                    <a:pt x="0" y="0"/>
                  </a:moveTo>
                  <a:lnTo>
                    <a:pt x="402653" y="0"/>
                  </a:lnTo>
                  <a:lnTo>
                    <a:pt x="402653" y="824357"/>
                  </a:lnTo>
                  <a:lnTo>
                    <a:pt x="0" y="824357"/>
                  </a:lnTo>
                  <a:close/>
                </a:path>
              </a:pathLst>
            </a:custGeom>
            <a:blipFill>
              <a:blip r:embed="rId4">
                <a:alphaModFix amt="0"/>
              </a:blip>
              <a:stretch>
                <a:fillRect l="-212677" t="0" r="-212677" b="0"/>
              </a:stretch>
            </a:blipFill>
          </p:spPr>
        </p:sp>
        <p:sp>
          <p:nvSpPr>
            <p:cNvPr name="TextBox 21" id="21"/>
            <p:cNvSpPr txBox="true"/>
            <p:nvPr/>
          </p:nvSpPr>
          <p:spPr>
            <a:xfrm>
              <a:off x="0" y="-19050"/>
              <a:ext cx="402654" cy="843407"/>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22" id="22"/>
          <p:cNvSpPr/>
          <p:nvPr/>
        </p:nvSpPr>
        <p:spPr>
          <a:xfrm flipH="false" flipV="false" rot="0">
            <a:off x="3587267" y="2522763"/>
            <a:ext cx="2580332" cy="719719"/>
          </a:xfrm>
          <a:custGeom>
            <a:avLst/>
            <a:gdLst/>
            <a:ahLst/>
            <a:cxnLst/>
            <a:rect r="r" b="b" t="t" l="l"/>
            <a:pathLst>
              <a:path h="719719" w="2580332">
                <a:moveTo>
                  <a:pt x="0" y="0"/>
                </a:moveTo>
                <a:lnTo>
                  <a:pt x="2580332" y="0"/>
                </a:lnTo>
                <a:lnTo>
                  <a:pt x="2580332" y="719718"/>
                </a:lnTo>
                <a:lnTo>
                  <a:pt x="0" y="7197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3" id="23"/>
          <p:cNvGrpSpPr/>
          <p:nvPr/>
        </p:nvGrpSpPr>
        <p:grpSpPr>
          <a:xfrm rot="0">
            <a:off x="3672583" y="2539441"/>
            <a:ext cx="2409730" cy="686333"/>
            <a:chOff x="0" y="0"/>
            <a:chExt cx="3212973" cy="915111"/>
          </a:xfrm>
        </p:grpSpPr>
        <p:sp>
          <p:nvSpPr>
            <p:cNvPr name="Freeform 24" id="24"/>
            <p:cNvSpPr/>
            <p:nvPr/>
          </p:nvSpPr>
          <p:spPr>
            <a:xfrm flipH="false" flipV="false" rot="0">
              <a:off x="0" y="0"/>
              <a:ext cx="3212973" cy="915162"/>
            </a:xfrm>
            <a:custGeom>
              <a:avLst/>
              <a:gdLst/>
              <a:ahLst/>
              <a:cxnLst/>
              <a:rect r="r" b="b" t="t" l="l"/>
              <a:pathLst>
                <a:path h="915162" w="3212973">
                  <a:moveTo>
                    <a:pt x="0" y="0"/>
                  </a:moveTo>
                  <a:lnTo>
                    <a:pt x="3212973" y="0"/>
                  </a:lnTo>
                  <a:lnTo>
                    <a:pt x="3212973" y="915162"/>
                  </a:lnTo>
                  <a:lnTo>
                    <a:pt x="0" y="915162"/>
                  </a:lnTo>
                  <a:close/>
                </a:path>
              </a:pathLst>
            </a:custGeom>
            <a:blipFill>
              <a:blip r:embed="rId3">
                <a:alphaModFix amt="0"/>
              </a:blip>
              <a:stretch>
                <a:fillRect l="0" t="-18363" r="0" b="-18358"/>
              </a:stretch>
            </a:blipFill>
          </p:spPr>
        </p:sp>
      </p:grpSp>
      <p:grpSp>
        <p:nvGrpSpPr>
          <p:cNvPr name="Group 25" id="25"/>
          <p:cNvGrpSpPr/>
          <p:nvPr/>
        </p:nvGrpSpPr>
        <p:grpSpPr>
          <a:xfrm rot="0">
            <a:off x="3587267" y="2467242"/>
            <a:ext cx="2409730" cy="693477"/>
            <a:chOff x="0" y="0"/>
            <a:chExt cx="3212973" cy="924636"/>
          </a:xfrm>
        </p:grpSpPr>
        <p:sp>
          <p:nvSpPr>
            <p:cNvPr name="Freeform 26" id="26"/>
            <p:cNvSpPr/>
            <p:nvPr/>
          </p:nvSpPr>
          <p:spPr>
            <a:xfrm flipH="false" flipV="false" rot="0">
              <a:off x="0" y="0"/>
              <a:ext cx="3212973" cy="924636"/>
            </a:xfrm>
            <a:custGeom>
              <a:avLst/>
              <a:gdLst/>
              <a:ahLst/>
              <a:cxnLst/>
              <a:rect r="r" b="b" t="t" l="l"/>
              <a:pathLst>
                <a:path h="924636" w="3212973">
                  <a:moveTo>
                    <a:pt x="0" y="0"/>
                  </a:moveTo>
                  <a:lnTo>
                    <a:pt x="3212973" y="0"/>
                  </a:lnTo>
                  <a:lnTo>
                    <a:pt x="3212973" y="924636"/>
                  </a:lnTo>
                  <a:lnTo>
                    <a:pt x="0" y="924636"/>
                  </a:lnTo>
                  <a:close/>
                </a:path>
              </a:pathLst>
            </a:custGeom>
            <a:blipFill>
              <a:blip r:embed="rId4">
                <a:alphaModFix amt="0"/>
              </a:blip>
              <a:stretch>
                <a:fillRect l="0" t="-17707" r="0" b="-17707"/>
              </a:stretch>
            </a:blipFill>
          </p:spPr>
        </p:sp>
        <p:sp>
          <p:nvSpPr>
            <p:cNvPr name="TextBox 27" id="27"/>
            <p:cNvSpPr txBox="true"/>
            <p:nvPr/>
          </p:nvSpPr>
          <p:spPr>
            <a:xfrm>
              <a:off x="0" y="-9525"/>
              <a:ext cx="3212973" cy="934161"/>
            </a:xfrm>
            <a:prstGeom prst="rect">
              <a:avLst/>
            </a:prstGeom>
          </p:spPr>
          <p:txBody>
            <a:bodyPr anchor="ctr" rtlCol="false" tIns="0" lIns="0" bIns="0" rIns="0"/>
            <a:lstStyle/>
            <a:p>
              <a:pPr algn="ctr">
                <a:lnSpc>
                  <a:spcPts val="1890"/>
                </a:lnSpc>
              </a:pPr>
              <a:r>
                <a:rPr lang="en-US" sz="1575" b="true">
                  <a:solidFill>
                    <a:srgbClr val="000000"/>
                  </a:solidFill>
                  <a:latin typeface="Poppins Bold"/>
                  <a:ea typeface="Poppins Bold"/>
                  <a:cs typeface="Poppins Bold"/>
                  <a:sym typeface="Poppins Bold"/>
                </a:rPr>
                <a:t>Filter</a:t>
              </a:r>
            </a:p>
          </p:txBody>
        </p:sp>
      </p:grpSp>
      <p:grpSp>
        <p:nvGrpSpPr>
          <p:cNvPr name="Group 28" id="28"/>
          <p:cNvGrpSpPr/>
          <p:nvPr/>
        </p:nvGrpSpPr>
        <p:grpSpPr>
          <a:xfrm rot="0">
            <a:off x="6150940" y="2511990"/>
            <a:ext cx="301990" cy="603980"/>
            <a:chOff x="0" y="0"/>
            <a:chExt cx="402654" cy="805307"/>
          </a:xfrm>
        </p:grpSpPr>
        <p:sp>
          <p:nvSpPr>
            <p:cNvPr name="Freeform 29" id="29"/>
            <p:cNvSpPr/>
            <p:nvPr/>
          </p:nvSpPr>
          <p:spPr>
            <a:xfrm flipH="false" flipV="false" rot="0">
              <a:off x="0" y="0"/>
              <a:ext cx="402590" cy="805307"/>
            </a:xfrm>
            <a:custGeom>
              <a:avLst/>
              <a:gdLst/>
              <a:ahLst/>
              <a:cxnLst/>
              <a:rect r="r" b="b" t="t" l="l"/>
              <a:pathLst>
                <a:path h="805307" w="402590">
                  <a:moveTo>
                    <a:pt x="0" y="0"/>
                  </a:moveTo>
                  <a:lnTo>
                    <a:pt x="402590" y="0"/>
                  </a:lnTo>
                  <a:lnTo>
                    <a:pt x="402590" y="805307"/>
                  </a:lnTo>
                  <a:lnTo>
                    <a:pt x="0" y="805307"/>
                  </a:lnTo>
                  <a:close/>
                </a:path>
              </a:pathLst>
            </a:custGeom>
            <a:blipFill>
              <a:blip r:embed="rId3">
                <a:alphaModFix amt="0"/>
              </a:blip>
              <a:stretch>
                <a:fillRect l="-206817" t="0" r="-206832" b="0"/>
              </a:stretch>
            </a:blipFill>
          </p:spPr>
        </p:sp>
      </p:grpSp>
      <p:grpSp>
        <p:nvGrpSpPr>
          <p:cNvPr name="Group 30" id="30"/>
          <p:cNvGrpSpPr/>
          <p:nvPr/>
        </p:nvGrpSpPr>
        <p:grpSpPr>
          <a:xfrm rot="0">
            <a:off x="6150940" y="2497703"/>
            <a:ext cx="301990" cy="618268"/>
            <a:chOff x="0" y="0"/>
            <a:chExt cx="402654" cy="824357"/>
          </a:xfrm>
        </p:grpSpPr>
        <p:sp>
          <p:nvSpPr>
            <p:cNvPr name="Freeform 31" id="31"/>
            <p:cNvSpPr/>
            <p:nvPr/>
          </p:nvSpPr>
          <p:spPr>
            <a:xfrm flipH="false" flipV="false" rot="0">
              <a:off x="0" y="0"/>
              <a:ext cx="402653" cy="824357"/>
            </a:xfrm>
            <a:custGeom>
              <a:avLst/>
              <a:gdLst/>
              <a:ahLst/>
              <a:cxnLst/>
              <a:rect r="r" b="b" t="t" l="l"/>
              <a:pathLst>
                <a:path h="824357" w="402653">
                  <a:moveTo>
                    <a:pt x="0" y="0"/>
                  </a:moveTo>
                  <a:lnTo>
                    <a:pt x="402653" y="0"/>
                  </a:lnTo>
                  <a:lnTo>
                    <a:pt x="402653" y="824357"/>
                  </a:lnTo>
                  <a:lnTo>
                    <a:pt x="0" y="824357"/>
                  </a:lnTo>
                  <a:close/>
                </a:path>
              </a:pathLst>
            </a:custGeom>
            <a:blipFill>
              <a:blip r:embed="rId4">
                <a:alphaModFix amt="0"/>
              </a:blip>
              <a:stretch>
                <a:fillRect l="-212677" t="0" r="-212677" b="0"/>
              </a:stretch>
            </a:blipFill>
          </p:spPr>
        </p:sp>
        <p:sp>
          <p:nvSpPr>
            <p:cNvPr name="TextBox 32" id="32"/>
            <p:cNvSpPr txBox="true"/>
            <p:nvPr/>
          </p:nvSpPr>
          <p:spPr>
            <a:xfrm>
              <a:off x="0" y="-19050"/>
              <a:ext cx="402654" cy="843407"/>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33" id="33"/>
          <p:cNvSpPr/>
          <p:nvPr/>
        </p:nvSpPr>
        <p:spPr>
          <a:xfrm flipH="false" flipV="false" rot="0">
            <a:off x="6436243" y="2522763"/>
            <a:ext cx="2580332" cy="719719"/>
          </a:xfrm>
          <a:custGeom>
            <a:avLst/>
            <a:gdLst/>
            <a:ahLst/>
            <a:cxnLst/>
            <a:rect r="r" b="b" t="t" l="l"/>
            <a:pathLst>
              <a:path h="719719" w="2580332">
                <a:moveTo>
                  <a:pt x="0" y="0"/>
                </a:moveTo>
                <a:lnTo>
                  <a:pt x="2580332" y="0"/>
                </a:lnTo>
                <a:lnTo>
                  <a:pt x="2580332" y="719718"/>
                </a:lnTo>
                <a:lnTo>
                  <a:pt x="0" y="7197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4" id="34"/>
          <p:cNvGrpSpPr/>
          <p:nvPr/>
        </p:nvGrpSpPr>
        <p:grpSpPr>
          <a:xfrm rot="0">
            <a:off x="6521567" y="2539441"/>
            <a:ext cx="2409730" cy="686333"/>
            <a:chOff x="0" y="0"/>
            <a:chExt cx="3212973" cy="915111"/>
          </a:xfrm>
        </p:grpSpPr>
        <p:sp>
          <p:nvSpPr>
            <p:cNvPr name="Freeform 35" id="35"/>
            <p:cNvSpPr/>
            <p:nvPr/>
          </p:nvSpPr>
          <p:spPr>
            <a:xfrm flipH="false" flipV="false" rot="0">
              <a:off x="0" y="0"/>
              <a:ext cx="3212973" cy="915162"/>
            </a:xfrm>
            <a:custGeom>
              <a:avLst/>
              <a:gdLst/>
              <a:ahLst/>
              <a:cxnLst/>
              <a:rect r="r" b="b" t="t" l="l"/>
              <a:pathLst>
                <a:path h="915162" w="3212973">
                  <a:moveTo>
                    <a:pt x="0" y="0"/>
                  </a:moveTo>
                  <a:lnTo>
                    <a:pt x="3212973" y="0"/>
                  </a:lnTo>
                  <a:lnTo>
                    <a:pt x="3212973" y="915162"/>
                  </a:lnTo>
                  <a:lnTo>
                    <a:pt x="0" y="915162"/>
                  </a:lnTo>
                  <a:close/>
                </a:path>
              </a:pathLst>
            </a:custGeom>
            <a:blipFill>
              <a:blip r:embed="rId3">
                <a:alphaModFix amt="0"/>
              </a:blip>
              <a:stretch>
                <a:fillRect l="0" t="-18363" r="0" b="-18358"/>
              </a:stretch>
            </a:blipFill>
          </p:spPr>
        </p:sp>
      </p:grpSp>
      <p:grpSp>
        <p:nvGrpSpPr>
          <p:cNvPr name="Group 36" id="36"/>
          <p:cNvGrpSpPr/>
          <p:nvPr/>
        </p:nvGrpSpPr>
        <p:grpSpPr>
          <a:xfrm rot="0">
            <a:off x="8999925" y="2511990"/>
            <a:ext cx="301990" cy="603980"/>
            <a:chOff x="0" y="0"/>
            <a:chExt cx="402654" cy="805307"/>
          </a:xfrm>
        </p:grpSpPr>
        <p:sp>
          <p:nvSpPr>
            <p:cNvPr name="Freeform 37" id="37"/>
            <p:cNvSpPr/>
            <p:nvPr/>
          </p:nvSpPr>
          <p:spPr>
            <a:xfrm flipH="false" flipV="false" rot="0">
              <a:off x="0" y="0"/>
              <a:ext cx="402590" cy="805307"/>
            </a:xfrm>
            <a:custGeom>
              <a:avLst/>
              <a:gdLst/>
              <a:ahLst/>
              <a:cxnLst/>
              <a:rect r="r" b="b" t="t" l="l"/>
              <a:pathLst>
                <a:path h="805307" w="402590">
                  <a:moveTo>
                    <a:pt x="0" y="0"/>
                  </a:moveTo>
                  <a:lnTo>
                    <a:pt x="402590" y="0"/>
                  </a:lnTo>
                  <a:lnTo>
                    <a:pt x="402590" y="805307"/>
                  </a:lnTo>
                  <a:lnTo>
                    <a:pt x="0" y="805307"/>
                  </a:lnTo>
                  <a:close/>
                </a:path>
              </a:pathLst>
            </a:custGeom>
            <a:blipFill>
              <a:blip r:embed="rId3">
                <a:alphaModFix amt="0"/>
              </a:blip>
              <a:stretch>
                <a:fillRect l="-206817" t="0" r="-206832" b="0"/>
              </a:stretch>
            </a:blipFill>
          </p:spPr>
        </p:sp>
      </p:grpSp>
      <p:grpSp>
        <p:nvGrpSpPr>
          <p:cNvPr name="Group 38" id="38"/>
          <p:cNvGrpSpPr/>
          <p:nvPr/>
        </p:nvGrpSpPr>
        <p:grpSpPr>
          <a:xfrm rot="0">
            <a:off x="8999925" y="2497703"/>
            <a:ext cx="301990" cy="618268"/>
            <a:chOff x="0" y="0"/>
            <a:chExt cx="402654" cy="824357"/>
          </a:xfrm>
        </p:grpSpPr>
        <p:sp>
          <p:nvSpPr>
            <p:cNvPr name="Freeform 39" id="39"/>
            <p:cNvSpPr/>
            <p:nvPr/>
          </p:nvSpPr>
          <p:spPr>
            <a:xfrm flipH="false" flipV="false" rot="0">
              <a:off x="0" y="0"/>
              <a:ext cx="402653" cy="824357"/>
            </a:xfrm>
            <a:custGeom>
              <a:avLst/>
              <a:gdLst/>
              <a:ahLst/>
              <a:cxnLst/>
              <a:rect r="r" b="b" t="t" l="l"/>
              <a:pathLst>
                <a:path h="824357" w="402653">
                  <a:moveTo>
                    <a:pt x="0" y="0"/>
                  </a:moveTo>
                  <a:lnTo>
                    <a:pt x="402653" y="0"/>
                  </a:lnTo>
                  <a:lnTo>
                    <a:pt x="402653" y="824357"/>
                  </a:lnTo>
                  <a:lnTo>
                    <a:pt x="0" y="824357"/>
                  </a:lnTo>
                  <a:close/>
                </a:path>
              </a:pathLst>
            </a:custGeom>
            <a:blipFill>
              <a:blip r:embed="rId4">
                <a:alphaModFix amt="0"/>
              </a:blip>
              <a:stretch>
                <a:fillRect l="-212677" t="0" r="-212677" b="0"/>
              </a:stretch>
            </a:blipFill>
          </p:spPr>
        </p:sp>
        <p:sp>
          <p:nvSpPr>
            <p:cNvPr name="TextBox 40" id="40"/>
            <p:cNvSpPr txBox="true"/>
            <p:nvPr/>
          </p:nvSpPr>
          <p:spPr>
            <a:xfrm>
              <a:off x="0" y="-19050"/>
              <a:ext cx="402654" cy="843407"/>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41" id="41"/>
          <p:cNvSpPr/>
          <p:nvPr/>
        </p:nvSpPr>
        <p:spPr>
          <a:xfrm flipH="false" flipV="false" rot="0">
            <a:off x="9285227" y="2522763"/>
            <a:ext cx="2580332" cy="719719"/>
          </a:xfrm>
          <a:custGeom>
            <a:avLst/>
            <a:gdLst/>
            <a:ahLst/>
            <a:cxnLst/>
            <a:rect r="r" b="b" t="t" l="l"/>
            <a:pathLst>
              <a:path h="719719" w="2580332">
                <a:moveTo>
                  <a:pt x="0" y="0"/>
                </a:moveTo>
                <a:lnTo>
                  <a:pt x="2580332" y="0"/>
                </a:lnTo>
                <a:lnTo>
                  <a:pt x="2580332" y="719718"/>
                </a:lnTo>
                <a:lnTo>
                  <a:pt x="0" y="7197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2" id="42"/>
          <p:cNvGrpSpPr/>
          <p:nvPr/>
        </p:nvGrpSpPr>
        <p:grpSpPr>
          <a:xfrm rot="0">
            <a:off x="10740045" y="6479879"/>
            <a:ext cx="2409730" cy="686333"/>
            <a:chOff x="0" y="0"/>
            <a:chExt cx="3212973" cy="915111"/>
          </a:xfrm>
        </p:grpSpPr>
        <p:sp>
          <p:nvSpPr>
            <p:cNvPr name="Freeform 43" id="43"/>
            <p:cNvSpPr/>
            <p:nvPr/>
          </p:nvSpPr>
          <p:spPr>
            <a:xfrm flipH="false" flipV="false" rot="0">
              <a:off x="0" y="0"/>
              <a:ext cx="3212973" cy="915162"/>
            </a:xfrm>
            <a:custGeom>
              <a:avLst/>
              <a:gdLst/>
              <a:ahLst/>
              <a:cxnLst/>
              <a:rect r="r" b="b" t="t" l="l"/>
              <a:pathLst>
                <a:path h="915162" w="3212973">
                  <a:moveTo>
                    <a:pt x="0" y="0"/>
                  </a:moveTo>
                  <a:lnTo>
                    <a:pt x="3212973" y="0"/>
                  </a:lnTo>
                  <a:lnTo>
                    <a:pt x="3212973" y="915162"/>
                  </a:lnTo>
                  <a:lnTo>
                    <a:pt x="0" y="915162"/>
                  </a:lnTo>
                  <a:close/>
                </a:path>
              </a:pathLst>
            </a:custGeom>
            <a:blipFill>
              <a:blip r:embed="rId3">
                <a:alphaModFix amt="0"/>
              </a:blip>
              <a:stretch>
                <a:fillRect l="0" t="-18363" r="0" b="-18358"/>
              </a:stretch>
            </a:blipFill>
          </p:spPr>
        </p:sp>
      </p:grpSp>
      <p:grpSp>
        <p:nvGrpSpPr>
          <p:cNvPr name="Group 44" id="44"/>
          <p:cNvGrpSpPr/>
          <p:nvPr/>
        </p:nvGrpSpPr>
        <p:grpSpPr>
          <a:xfrm rot="0">
            <a:off x="11848910" y="2511990"/>
            <a:ext cx="301990" cy="603980"/>
            <a:chOff x="0" y="0"/>
            <a:chExt cx="402654" cy="805307"/>
          </a:xfrm>
        </p:grpSpPr>
        <p:sp>
          <p:nvSpPr>
            <p:cNvPr name="Freeform 45" id="45"/>
            <p:cNvSpPr/>
            <p:nvPr/>
          </p:nvSpPr>
          <p:spPr>
            <a:xfrm flipH="false" flipV="false" rot="0">
              <a:off x="0" y="0"/>
              <a:ext cx="402590" cy="805307"/>
            </a:xfrm>
            <a:custGeom>
              <a:avLst/>
              <a:gdLst/>
              <a:ahLst/>
              <a:cxnLst/>
              <a:rect r="r" b="b" t="t" l="l"/>
              <a:pathLst>
                <a:path h="805307" w="402590">
                  <a:moveTo>
                    <a:pt x="0" y="0"/>
                  </a:moveTo>
                  <a:lnTo>
                    <a:pt x="402590" y="0"/>
                  </a:lnTo>
                  <a:lnTo>
                    <a:pt x="402590" y="805307"/>
                  </a:lnTo>
                  <a:lnTo>
                    <a:pt x="0" y="805307"/>
                  </a:lnTo>
                  <a:close/>
                </a:path>
              </a:pathLst>
            </a:custGeom>
            <a:blipFill>
              <a:blip r:embed="rId3">
                <a:alphaModFix amt="0"/>
              </a:blip>
              <a:stretch>
                <a:fillRect l="-206817" t="0" r="-206832" b="0"/>
              </a:stretch>
            </a:blipFill>
          </p:spPr>
        </p:sp>
      </p:grpSp>
      <p:grpSp>
        <p:nvGrpSpPr>
          <p:cNvPr name="Group 46" id="46"/>
          <p:cNvGrpSpPr/>
          <p:nvPr/>
        </p:nvGrpSpPr>
        <p:grpSpPr>
          <a:xfrm rot="0">
            <a:off x="11848910" y="2497703"/>
            <a:ext cx="301990" cy="618268"/>
            <a:chOff x="0" y="0"/>
            <a:chExt cx="402654" cy="824357"/>
          </a:xfrm>
        </p:grpSpPr>
        <p:sp>
          <p:nvSpPr>
            <p:cNvPr name="Freeform 47" id="47"/>
            <p:cNvSpPr/>
            <p:nvPr/>
          </p:nvSpPr>
          <p:spPr>
            <a:xfrm flipH="false" flipV="false" rot="0">
              <a:off x="0" y="0"/>
              <a:ext cx="402653" cy="824357"/>
            </a:xfrm>
            <a:custGeom>
              <a:avLst/>
              <a:gdLst/>
              <a:ahLst/>
              <a:cxnLst/>
              <a:rect r="r" b="b" t="t" l="l"/>
              <a:pathLst>
                <a:path h="824357" w="402653">
                  <a:moveTo>
                    <a:pt x="0" y="0"/>
                  </a:moveTo>
                  <a:lnTo>
                    <a:pt x="402653" y="0"/>
                  </a:lnTo>
                  <a:lnTo>
                    <a:pt x="402653" y="824357"/>
                  </a:lnTo>
                  <a:lnTo>
                    <a:pt x="0" y="824357"/>
                  </a:lnTo>
                  <a:close/>
                </a:path>
              </a:pathLst>
            </a:custGeom>
            <a:blipFill>
              <a:blip r:embed="rId4">
                <a:alphaModFix amt="0"/>
              </a:blip>
              <a:stretch>
                <a:fillRect l="-212677" t="0" r="-212677" b="0"/>
              </a:stretch>
            </a:blipFill>
          </p:spPr>
        </p:sp>
        <p:sp>
          <p:nvSpPr>
            <p:cNvPr name="TextBox 48" id="48"/>
            <p:cNvSpPr txBox="true"/>
            <p:nvPr/>
          </p:nvSpPr>
          <p:spPr>
            <a:xfrm>
              <a:off x="0" y="-19050"/>
              <a:ext cx="402654" cy="843407"/>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49" id="49"/>
          <p:cNvSpPr/>
          <p:nvPr/>
        </p:nvSpPr>
        <p:spPr>
          <a:xfrm flipH="false" flipV="false" rot="0">
            <a:off x="12134212" y="2522763"/>
            <a:ext cx="2580332" cy="719719"/>
          </a:xfrm>
          <a:custGeom>
            <a:avLst/>
            <a:gdLst/>
            <a:ahLst/>
            <a:cxnLst/>
            <a:rect r="r" b="b" t="t" l="l"/>
            <a:pathLst>
              <a:path h="719719" w="2580332">
                <a:moveTo>
                  <a:pt x="0" y="0"/>
                </a:moveTo>
                <a:lnTo>
                  <a:pt x="2580332" y="0"/>
                </a:lnTo>
                <a:lnTo>
                  <a:pt x="2580332" y="719718"/>
                </a:lnTo>
                <a:lnTo>
                  <a:pt x="0" y="7197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0" id="50"/>
          <p:cNvGrpSpPr/>
          <p:nvPr/>
        </p:nvGrpSpPr>
        <p:grpSpPr>
          <a:xfrm rot="0">
            <a:off x="12219527" y="2539441"/>
            <a:ext cx="2409730" cy="686333"/>
            <a:chOff x="0" y="0"/>
            <a:chExt cx="3212973" cy="915111"/>
          </a:xfrm>
        </p:grpSpPr>
        <p:sp>
          <p:nvSpPr>
            <p:cNvPr name="Freeform 51" id="51"/>
            <p:cNvSpPr/>
            <p:nvPr/>
          </p:nvSpPr>
          <p:spPr>
            <a:xfrm flipH="false" flipV="false" rot="0">
              <a:off x="0" y="0"/>
              <a:ext cx="3212973" cy="915162"/>
            </a:xfrm>
            <a:custGeom>
              <a:avLst/>
              <a:gdLst/>
              <a:ahLst/>
              <a:cxnLst/>
              <a:rect r="r" b="b" t="t" l="l"/>
              <a:pathLst>
                <a:path h="915162" w="3212973">
                  <a:moveTo>
                    <a:pt x="0" y="0"/>
                  </a:moveTo>
                  <a:lnTo>
                    <a:pt x="3212973" y="0"/>
                  </a:lnTo>
                  <a:lnTo>
                    <a:pt x="3212973" y="915162"/>
                  </a:lnTo>
                  <a:lnTo>
                    <a:pt x="0" y="915162"/>
                  </a:lnTo>
                  <a:close/>
                </a:path>
              </a:pathLst>
            </a:custGeom>
            <a:blipFill>
              <a:blip r:embed="rId3">
                <a:alphaModFix amt="0"/>
              </a:blip>
              <a:stretch>
                <a:fillRect l="0" t="-18363" r="0" b="-18358"/>
              </a:stretch>
            </a:blipFill>
          </p:spPr>
        </p:sp>
      </p:grpSp>
      <p:grpSp>
        <p:nvGrpSpPr>
          <p:cNvPr name="Group 52" id="52"/>
          <p:cNvGrpSpPr/>
          <p:nvPr/>
        </p:nvGrpSpPr>
        <p:grpSpPr>
          <a:xfrm rot="0">
            <a:off x="6434299" y="2497703"/>
            <a:ext cx="2409730" cy="693477"/>
            <a:chOff x="0" y="0"/>
            <a:chExt cx="3212973" cy="924636"/>
          </a:xfrm>
        </p:grpSpPr>
        <p:sp>
          <p:nvSpPr>
            <p:cNvPr name="Freeform 53" id="53"/>
            <p:cNvSpPr/>
            <p:nvPr/>
          </p:nvSpPr>
          <p:spPr>
            <a:xfrm flipH="false" flipV="false" rot="0">
              <a:off x="0" y="0"/>
              <a:ext cx="3212973" cy="924636"/>
            </a:xfrm>
            <a:custGeom>
              <a:avLst/>
              <a:gdLst/>
              <a:ahLst/>
              <a:cxnLst/>
              <a:rect r="r" b="b" t="t" l="l"/>
              <a:pathLst>
                <a:path h="924636" w="3212973">
                  <a:moveTo>
                    <a:pt x="0" y="0"/>
                  </a:moveTo>
                  <a:lnTo>
                    <a:pt x="3212973" y="0"/>
                  </a:lnTo>
                  <a:lnTo>
                    <a:pt x="3212973" y="924636"/>
                  </a:lnTo>
                  <a:lnTo>
                    <a:pt x="0" y="924636"/>
                  </a:lnTo>
                  <a:close/>
                </a:path>
              </a:pathLst>
            </a:custGeom>
            <a:blipFill>
              <a:blip r:embed="rId4">
                <a:alphaModFix amt="0"/>
              </a:blip>
              <a:stretch>
                <a:fillRect l="0" t="-17707" r="0" b="-17707"/>
              </a:stretch>
            </a:blipFill>
          </p:spPr>
        </p:sp>
        <p:sp>
          <p:nvSpPr>
            <p:cNvPr name="TextBox 54" id="54"/>
            <p:cNvSpPr txBox="true"/>
            <p:nvPr/>
          </p:nvSpPr>
          <p:spPr>
            <a:xfrm>
              <a:off x="0" y="-9525"/>
              <a:ext cx="3212973" cy="934161"/>
            </a:xfrm>
            <a:prstGeom prst="rect">
              <a:avLst/>
            </a:prstGeom>
          </p:spPr>
          <p:txBody>
            <a:bodyPr anchor="ctr" rtlCol="false" tIns="0" lIns="0" bIns="0" rIns="0"/>
            <a:lstStyle/>
            <a:p>
              <a:pPr algn="ctr">
                <a:lnSpc>
                  <a:spcPts val="1890"/>
                </a:lnSpc>
              </a:pPr>
              <a:r>
                <a:rPr lang="en-US" sz="1575" b="true">
                  <a:solidFill>
                    <a:srgbClr val="000000"/>
                  </a:solidFill>
                  <a:latin typeface="Poppins Bold"/>
                  <a:ea typeface="Poppins Bold"/>
                  <a:cs typeface="Poppins Bold"/>
                  <a:sym typeface="Poppins Bold"/>
                </a:rPr>
                <a:t>Unlock</a:t>
              </a:r>
            </a:p>
          </p:txBody>
        </p:sp>
      </p:grpSp>
      <p:grpSp>
        <p:nvGrpSpPr>
          <p:cNvPr name="Group 55" id="55"/>
          <p:cNvGrpSpPr/>
          <p:nvPr/>
        </p:nvGrpSpPr>
        <p:grpSpPr>
          <a:xfrm rot="0">
            <a:off x="14697894" y="2511990"/>
            <a:ext cx="301990" cy="603980"/>
            <a:chOff x="0" y="0"/>
            <a:chExt cx="402654" cy="805307"/>
          </a:xfrm>
        </p:grpSpPr>
        <p:sp>
          <p:nvSpPr>
            <p:cNvPr name="Freeform 56" id="56"/>
            <p:cNvSpPr/>
            <p:nvPr/>
          </p:nvSpPr>
          <p:spPr>
            <a:xfrm flipH="false" flipV="false" rot="0">
              <a:off x="0" y="0"/>
              <a:ext cx="402590" cy="805307"/>
            </a:xfrm>
            <a:custGeom>
              <a:avLst/>
              <a:gdLst/>
              <a:ahLst/>
              <a:cxnLst/>
              <a:rect r="r" b="b" t="t" l="l"/>
              <a:pathLst>
                <a:path h="805307" w="402590">
                  <a:moveTo>
                    <a:pt x="0" y="0"/>
                  </a:moveTo>
                  <a:lnTo>
                    <a:pt x="402590" y="0"/>
                  </a:lnTo>
                  <a:lnTo>
                    <a:pt x="402590" y="805307"/>
                  </a:lnTo>
                  <a:lnTo>
                    <a:pt x="0" y="805307"/>
                  </a:lnTo>
                  <a:close/>
                </a:path>
              </a:pathLst>
            </a:custGeom>
            <a:blipFill>
              <a:blip r:embed="rId3">
                <a:alphaModFix amt="0"/>
              </a:blip>
              <a:stretch>
                <a:fillRect l="-206817" t="0" r="-206832" b="0"/>
              </a:stretch>
            </a:blipFill>
          </p:spPr>
        </p:sp>
      </p:grpSp>
      <p:grpSp>
        <p:nvGrpSpPr>
          <p:cNvPr name="Group 57" id="57"/>
          <p:cNvGrpSpPr/>
          <p:nvPr/>
        </p:nvGrpSpPr>
        <p:grpSpPr>
          <a:xfrm rot="0">
            <a:off x="14697894" y="2497703"/>
            <a:ext cx="301990" cy="618268"/>
            <a:chOff x="0" y="0"/>
            <a:chExt cx="402654" cy="824357"/>
          </a:xfrm>
        </p:grpSpPr>
        <p:sp>
          <p:nvSpPr>
            <p:cNvPr name="Freeform 58" id="58"/>
            <p:cNvSpPr/>
            <p:nvPr/>
          </p:nvSpPr>
          <p:spPr>
            <a:xfrm flipH="false" flipV="false" rot="0">
              <a:off x="0" y="0"/>
              <a:ext cx="402653" cy="824357"/>
            </a:xfrm>
            <a:custGeom>
              <a:avLst/>
              <a:gdLst/>
              <a:ahLst/>
              <a:cxnLst/>
              <a:rect r="r" b="b" t="t" l="l"/>
              <a:pathLst>
                <a:path h="824357" w="402653">
                  <a:moveTo>
                    <a:pt x="0" y="0"/>
                  </a:moveTo>
                  <a:lnTo>
                    <a:pt x="402653" y="0"/>
                  </a:lnTo>
                  <a:lnTo>
                    <a:pt x="402653" y="824357"/>
                  </a:lnTo>
                  <a:lnTo>
                    <a:pt x="0" y="824357"/>
                  </a:lnTo>
                  <a:close/>
                </a:path>
              </a:pathLst>
            </a:custGeom>
            <a:blipFill>
              <a:blip r:embed="rId4">
                <a:alphaModFix amt="0"/>
              </a:blip>
              <a:stretch>
                <a:fillRect l="-212677" t="0" r="-212677" b="0"/>
              </a:stretch>
            </a:blipFill>
          </p:spPr>
        </p:sp>
        <p:sp>
          <p:nvSpPr>
            <p:cNvPr name="TextBox 59" id="59"/>
            <p:cNvSpPr txBox="true"/>
            <p:nvPr/>
          </p:nvSpPr>
          <p:spPr>
            <a:xfrm>
              <a:off x="0" y="-19050"/>
              <a:ext cx="402654" cy="843407"/>
            </a:xfrm>
            <a:prstGeom prst="rect">
              <a:avLst/>
            </a:prstGeom>
          </p:spPr>
          <p:txBody>
            <a:bodyPr anchor="ctr" rtlCol="false" tIns="0" lIns="0" bIns="0" rIns="0"/>
            <a:lstStyle/>
            <a:p>
              <a:pPr algn="ctr">
                <a:lnSpc>
                  <a:spcPts val="2341"/>
                </a:lnSpc>
              </a:pPr>
              <a:r>
                <a:rPr lang="en-US" sz="1950" b="true">
                  <a:solidFill>
                    <a:srgbClr val="3D6874"/>
                  </a:solidFill>
                  <a:latin typeface="Poppins Bold"/>
                  <a:ea typeface="Poppins Bold"/>
                  <a:cs typeface="Poppins Bold"/>
                  <a:sym typeface="Poppins Bold"/>
                </a:rPr>
                <a:t>→</a:t>
              </a:r>
            </a:p>
          </p:txBody>
        </p:sp>
      </p:grpSp>
      <p:sp>
        <p:nvSpPr>
          <p:cNvPr name="Freeform 60" id="60"/>
          <p:cNvSpPr/>
          <p:nvPr/>
        </p:nvSpPr>
        <p:spPr>
          <a:xfrm flipH="false" flipV="false" rot="0">
            <a:off x="14983196" y="2522763"/>
            <a:ext cx="2580332" cy="719719"/>
          </a:xfrm>
          <a:custGeom>
            <a:avLst/>
            <a:gdLst/>
            <a:ahLst/>
            <a:cxnLst/>
            <a:rect r="r" b="b" t="t" l="l"/>
            <a:pathLst>
              <a:path h="719719" w="2580332">
                <a:moveTo>
                  <a:pt x="0" y="0"/>
                </a:moveTo>
                <a:lnTo>
                  <a:pt x="2580332" y="0"/>
                </a:lnTo>
                <a:lnTo>
                  <a:pt x="2580332" y="719718"/>
                </a:lnTo>
                <a:lnTo>
                  <a:pt x="0" y="7197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1" id="61"/>
          <p:cNvGrpSpPr/>
          <p:nvPr/>
        </p:nvGrpSpPr>
        <p:grpSpPr>
          <a:xfrm rot="0">
            <a:off x="15068512" y="2539441"/>
            <a:ext cx="2409730" cy="686333"/>
            <a:chOff x="0" y="0"/>
            <a:chExt cx="3212973" cy="915111"/>
          </a:xfrm>
        </p:grpSpPr>
        <p:sp>
          <p:nvSpPr>
            <p:cNvPr name="Freeform 62" id="62"/>
            <p:cNvSpPr/>
            <p:nvPr/>
          </p:nvSpPr>
          <p:spPr>
            <a:xfrm flipH="false" flipV="false" rot="0">
              <a:off x="0" y="0"/>
              <a:ext cx="3212973" cy="915162"/>
            </a:xfrm>
            <a:custGeom>
              <a:avLst/>
              <a:gdLst/>
              <a:ahLst/>
              <a:cxnLst/>
              <a:rect r="r" b="b" t="t" l="l"/>
              <a:pathLst>
                <a:path h="915162" w="3212973">
                  <a:moveTo>
                    <a:pt x="0" y="0"/>
                  </a:moveTo>
                  <a:lnTo>
                    <a:pt x="3212973" y="0"/>
                  </a:lnTo>
                  <a:lnTo>
                    <a:pt x="3212973" y="915162"/>
                  </a:lnTo>
                  <a:lnTo>
                    <a:pt x="0" y="915162"/>
                  </a:lnTo>
                  <a:close/>
                </a:path>
              </a:pathLst>
            </a:custGeom>
            <a:blipFill>
              <a:blip r:embed="rId3">
                <a:alphaModFix amt="0"/>
              </a:blip>
              <a:stretch>
                <a:fillRect l="0" t="-18363" r="0" b="-18358"/>
              </a:stretch>
            </a:blipFill>
          </p:spPr>
        </p:sp>
      </p:grpSp>
      <p:grpSp>
        <p:nvGrpSpPr>
          <p:cNvPr name="Group 63" id="63"/>
          <p:cNvGrpSpPr/>
          <p:nvPr/>
        </p:nvGrpSpPr>
        <p:grpSpPr>
          <a:xfrm rot="0">
            <a:off x="12217575" y="2497703"/>
            <a:ext cx="2409730" cy="693477"/>
            <a:chOff x="0" y="0"/>
            <a:chExt cx="3212973" cy="924636"/>
          </a:xfrm>
        </p:grpSpPr>
        <p:sp>
          <p:nvSpPr>
            <p:cNvPr name="Freeform 64" id="64"/>
            <p:cNvSpPr/>
            <p:nvPr/>
          </p:nvSpPr>
          <p:spPr>
            <a:xfrm flipH="false" flipV="false" rot="0">
              <a:off x="0" y="0"/>
              <a:ext cx="3212973" cy="924636"/>
            </a:xfrm>
            <a:custGeom>
              <a:avLst/>
              <a:gdLst/>
              <a:ahLst/>
              <a:cxnLst/>
              <a:rect r="r" b="b" t="t" l="l"/>
              <a:pathLst>
                <a:path h="924636" w="3212973">
                  <a:moveTo>
                    <a:pt x="0" y="0"/>
                  </a:moveTo>
                  <a:lnTo>
                    <a:pt x="3212973" y="0"/>
                  </a:lnTo>
                  <a:lnTo>
                    <a:pt x="3212973" y="924636"/>
                  </a:lnTo>
                  <a:lnTo>
                    <a:pt x="0" y="924636"/>
                  </a:lnTo>
                  <a:close/>
                </a:path>
              </a:pathLst>
            </a:custGeom>
            <a:blipFill>
              <a:blip r:embed="rId4">
                <a:alphaModFix amt="0"/>
              </a:blip>
              <a:stretch>
                <a:fillRect l="0" t="-17707" r="0" b="-17707"/>
              </a:stretch>
            </a:blipFill>
          </p:spPr>
        </p:sp>
        <p:sp>
          <p:nvSpPr>
            <p:cNvPr name="TextBox 65" id="65"/>
            <p:cNvSpPr txBox="true"/>
            <p:nvPr/>
          </p:nvSpPr>
          <p:spPr>
            <a:xfrm>
              <a:off x="0" y="-9525"/>
              <a:ext cx="3212973" cy="934161"/>
            </a:xfrm>
            <a:prstGeom prst="rect">
              <a:avLst/>
            </a:prstGeom>
          </p:spPr>
          <p:txBody>
            <a:bodyPr anchor="ctr" rtlCol="false" tIns="0" lIns="0" bIns="0" rIns="0"/>
            <a:lstStyle/>
            <a:p>
              <a:pPr algn="ctr">
                <a:lnSpc>
                  <a:spcPts val="1890"/>
                </a:lnSpc>
              </a:pPr>
              <a:r>
                <a:rPr lang="en-US" sz="1575" b="true">
                  <a:solidFill>
                    <a:srgbClr val="000000"/>
                  </a:solidFill>
                  <a:latin typeface="Poppins Bold"/>
                  <a:ea typeface="Poppins Bold"/>
                  <a:cs typeface="Poppins Bold"/>
                  <a:sym typeface="Poppins Bold"/>
                </a:rPr>
                <a:t>Organize</a:t>
              </a:r>
            </a:p>
          </p:txBody>
        </p:sp>
      </p:grpSp>
      <p:sp>
        <p:nvSpPr>
          <p:cNvPr name="Freeform 66" id="66"/>
          <p:cNvSpPr/>
          <p:nvPr/>
        </p:nvSpPr>
        <p:spPr>
          <a:xfrm flipH="false" flipV="false" rot="0">
            <a:off x="738283" y="3758165"/>
            <a:ext cx="5455358" cy="3602269"/>
          </a:xfrm>
          <a:custGeom>
            <a:avLst/>
            <a:gdLst/>
            <a:ahLst/>
            <a:cxnLst/>
            <a:rect r="r" b="b" t="t" l="l"/>
            <a:pathLst>
              <a:path h="3602269" w="5455358">
                <a:moveTo>
                  <a:pt x="0" y="0"/>
                </a:moveTo>
                <a:lnTo>
                  <a:pt x="5455358" y="0"/>
                </a:lnTo>
                <a:lnTo>
                  <a:pt x="5455358" y="3602269"/>
                </a:lnTo>
                <a:lnTo>
                  <a:pt x="0" y="36022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7" id="67"/>
          <p:cNvGrpSpPr/>
          <p:nvPr/>
        </p:nvGrpSpPr>
        <p:grpSpPr>
          <a:xfrm rot="0">
            <a:off x="1029500" y="3994480"/>
            <a:ext cx="4872990" cy="439255"/>
            <a:chOff x="0" y="0"/>
            <a:chExt cx="6497320" cy="585673"/>
          </a:xfrm>
        </p:grpSpPr>
        <p:sp>
          <p:nvSpPr>
            <p:cNvPr name="Freeform 68" id="68"/>
            <p:cNvSpPr/>
            <p:nvPr/>
          </p:nvSpPr>
          <p:spPr>
            <a:xfrm flipH="false" flipV="false" rot="0">
              <a:off x="0" y="0"/>
              <a:ext cx="6497320" cy="585724"/>
            </a:xfrm>
            <a:custGeom>
              <a:avLst/>
              <a:gdLst/>
              <a:ahLst/>
              <a:cxnLst/>
              <a:rect r="r" b="b" t="t" l="l"/>
              <a:pathLst>
                <a:path h="585724" w="6497320">
                  <a:moveTo>
                    <a:pt x="0" y="0"/>
                  </a:moveTo>
                  <a:lnTo>
                    <a:pt x="6497320" y="0"/>
                  </a:lnTo>
                  <a:lnTo>
                    <a:pt x="6497320" y="585724"/>
                  </a:lnTo>
                  <a:lnTo>
                    <a:pt x="0" y="585724"/>
                  </a:lnTo>
                  <a:close/>
                </a:path>
              </a:pathLst>
            </a:custGeom>
            <a:blipFill>
              <a:blip r:embed="rId3">
                <a:alphaModFix amt="0"/>
              </a:blip>
              <a:stretch>
                <a:fillRect l="0" t="-165997" r="0" b="-165988"/>
              </a:stretch>
            </a:blipFill>
          </p:spPr>
        </p:sp>
      </p:grpSp>
      <p:grpSp>
        <p:nvGrpSpPr>
          <p:cNvPr name="Group 69" id="69"/>
          <p:cNvGrpSpPr/>
          <p:nvPr/>
        </p:nvGrpSpPr>
        <p:grpSpPr>
          <a:xfrm rot="0">
            <a:off x="1029500" y="3980193"/>
            <a:ext cx="4872990" cy="453542"/>
            <a:chOff x="0" y="0"/>
            <a:chExt cx="6497320" cy="604723"/>
          </a:xfrm>
        </p:grpSpPr>
        <p:sp>
          <p:nvSpPr>
            <p:cNvPr name="Freeform 70" id="70"/>
            <p:cNvSpPr/>
            <p:nvPr/>
          </p:nvSpPr>
          <p:spPr>
            <a:xfrm flipH="false" flipV="false" rot="0">
              <a:off x="0" y="0"/>
              <a:ext cx="6497320" cy="604723"/>
            </a:xfrm>
            <a:custGeom>
              <a:avLst/>
              <a:gdLst/>
              <a:ahLst/>
              <a:cxnLst/>
              <a:rect r="r" b="b" t="t" l="l"/>
              <a:pathLst>
                <a:path h="604723" w="6497320">
                  <a:moveTo>
                    <a:pt x="0" y="0"/>
                  </a:moveTo>
                  <a:lnTo>
                    <a:pt x="6497320" y="0"/>
                  </a:lnTo>
                  <a:lnTo>
                    <a:pt x="6497320" y="604723"/>
                  </a:lnTo>
                  <a:lnTo>
                    <a:pt x="0" y="604723"/>
                  </a:lnTo>
                  <a:close/>
                </a:path>
              </a:pathLst>
            </a:custGeom>
            <a:blipFill>
              <a:blip r:embed="rId4">
                <a:alphaModFix amt="0"/>
              </a:blip>
              <a:stretch>
                <a:fillRect l="0" t="-159352" r="0" b="-159352"/>
              </a:stretch>
            </a:blipFill>
          </p:spPr>
        </p:sp>
        <p:sp>
          <p:nvSpPr>
            <p:cNvPr name="TextBox 71" id="71"/>
            <p:cNvSpPr txBox="true"/>
            <p:nvPr/>
          </p:nvSpPr>
          <p:spPr>
            <a:xfrm>
              <a:off x="0" y="-19050"/>
              <a:ext cx="6497320" cy="623773"/>
            </a:xfrm>
            <a:prstGeom prst="rect">
              <a:avLst/>
            </a:prstGeom>
          </p:spPr>
          <p:txBody>
            <a:bodyPr anchor="ctr" rtlCol="false" tIns="0" lIns="0" bIns="0" rIns="0"/>
            <a:lstStyle/>
            <a:p>
              <a:pPr algn="l">
                <a:lnSpc>
                  <a:spcPts val="2341"/>
                </a:lnSpc>
              </a:pPr>
              <a:r>
                <a:rPr lang="en-US" sz="1950" b="true">
                  <a:solidFill>
                    <a:srgbClr val="000000"/>
                  </a:solidFill>
                  <a:latin typeface="Poppins Bold"/>
                  <a:ea typeface="Poppins Bold"/>
                  <a:cs typeface="Poppins Bold"/>
                  <a:sym typeface="Poppins Bold"/>
                </a:rPr>
                <a:t>Candidate Discovery</a:t>
              </a:r>
            </a:p>
          </p:txBody>
        </p:sp>
      </p:grpSp>
      <p:sp>
        <p:nvSpPr>
          <p:cNvPr name="TextBox 72" id="72"/>
          <p:cNvSpPr txBox="true"/>
          <p:nvPr/>
        </p:nvSpPr>
        <p:spPr>
          <a:xfrm rot="0">
            <a:off x="1029500" y="4412437"/>
            <a:ext cx="4872990" cy="811690"/>
          </a:xfrm>
          <a:prstGeom prst="rect">
            <a:avLst/>
          </a:prstGeom>
        </p:spPr>
        <p:txBody>
          <a:bodyPr anchor="t" rtlCol="false" tIns="0" lIns="0" bIns="0" rIns="0">
            <a:spAutoFit/>
          </a:bodyPr>
          <a:lstStyle/>
          <a:p>
            <a:pPr algn="l">
              <a:lnSpc>
                <a:spcPts val="2174"/>
              </a:lnSpc>
            </a:pPr>
            <a:r>
              <a:rPr lang="en-US" sz="1575">
                <a:solidFill>
                  <a:srgbClr val="000000"/>
                </a:solidFill>
                <a:latin typeface="Poppins"/>
                <a:ea typeface="Poppins"/>
                <a:cs typeface="Poppins"/>
                <a:sym typeface="Poppins"/>
              </a:rPr>
              <a:t>Search by skills and profile information. </a:t>
            </a:r>
          </a:p>
          <a:p>
            <a:pPr algn="l">
              <a:lnSpc>
                <a:spcPts val="2174"/>
              </a:lnSpc>
            </a:pPr>
          </a:p>
          <a:p>
            <a:pPr algn="l">
              <a:lnSpc>
                <a:spcPts val="2175"/>
              </a:lnSpc>
            </a:pPr>
            <a:r>
              <a:rPr lang="en-US" sz="1575">
                <a:solidFill>
                  <a:srgbClr val="000000"/>
                </a:solidFill>
                <a:latin typeface="Poppins"/>
                <a:ea typeface="Poppins"/>
                <a:cs typeface="Poppins"/>
                <a:sym typeface="Poppins"/>
              </a:rPr>
              <a:t>Filtering and result exploration.</a:t>
            </a:r>
          </a:p>
        </p:txBody>
      </p:sp>
      <p:sp>
        <p:nvSpPr>
          <p:cNvPr name="Freeform 73" id="73"/>
          <p:cNvSpPr/>
          <p:nvPr/>
        </p:nvSpPr>
        <p:spPr>
          <a:xfrm flipH="false" flipV="false" rot="0">
            <a:off x="6503508" y="3758165"/>
            <a:ext cx="5455358" cy="3602269"/>
          </a:xfrm>
          <a:custGeom>
            <a:avLst/>
            <a:gdLst/>
            <a:ahLst/>
            <a:cxnLst/>
            <a:rect r="r" b="b" t="t" l="l"/>
            <a:pathLst>
              <a:path h="3602269" w="5455358">
                <a:moveTo>
                  <a:pt x="0" y="0"/>
                </a:moveTo>
                <a:lnTo>
                  <a:pt x="5455358" y="0"/>
                </a:lnTo>
                <a:lnTo>
                  <a:pt x="5455358" y="3602269"/>
                </a:lnTo>
                <a:lnTo>
                  <a:pt x="0" y="36022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4" id="74"/>
          <p:cNvGrpSpPr/>
          <p:nvPr/>
        </p:nvGrpSpPr>
        <p:grpSpPr>
          <a:xfrm rot="0">
            <a:off x="6794725" y="3994480"/>
            <a:ext cx="4872990" cy="439255"/>
            <a:chOff x="0" y="0"/>
            <a:chExt cx="6497320" cy="585673"/>
          </a:xfrm>
        </p:grpSpPr>
        <p:sp>
          <p:nvSpPr>
            <p:cNvPr name="Freeform 75" id="75"/>
            <p:cNvSpPr/>
            <p:nvPr/>
          </p:nvSpPr>
          <p:spPr>
            <a:xfrm flipH="false" flipV="false" rot="0">
              <a:off x="0" y="0"/>
              <a:ext cx="6497320" cy="585724"/>
            </a:xfrm>
            <a:custGeom>
              <a:avLst/>
              <a:gdLst/>
              <a:ahLst/>
              <a:cxnLst/>
              <a:rect r="r" b="b" t="t" l="l"/>
              <a:pathLst>
                <a:path h="585724" w="6497320">
                  <a:moveTo>
                    <a:pt x="0" y="0"/>
                  </a:moveTo>
                  <a:lnTo>
                    <a:pt x="6497320" y="0"/>
                  </a:lnTo>
                  <a:lnTo>
                    <a:pt x="6497320" y="585724"/>
                  </a:lnTo>
                  <a:lnTo>
                    <a:pt x="0" y="585724"/>
                  </a:lnTo>
                  <a:close/>
                </a:path>
              </a:pathLst>
            </a:custGeom>
            <a:blipFill>
              <a:blip r:embed="rId3">
                <a:alphaModFix amt="0"/>
              </a:blip>
              <a:stretch>
                <a:fillRect l="0" t="-165997" r="0" b="-165988"/>
              </a:stretch>
            </a:blipFill>
          </p:spPr>
        </p:sp>
      </p:grpSp>
      <p:grpSp>
        <p:nvGrpSpPr>
          <p:cNvPr name="Group 76" id="76"/>
          <p:cNvGrpSpPr/>
          <p:nvPr/>
        </p:nvGrpSpPr>
        <p:grpSpPr>
          <a:xfrm rot="0">
            <a:off x="6794725" y="3980193"/>
            <a:ext cx="4872990" cy="453542"/>
            <a:chOff x="0" y="0"/>
            <a:chExt cx="6497320" cy="604723"/>
          </a:xfrm>
        </p:grpSpPr>
        <p:sp>
          <p:nvSpPr>
            <p:cNvPr name="Freeform 77" id="77"/>
            <p:cNvSpPr/>
            <p:nvPr/>
          </p:nvSpPr>
          <p:spPr>
            <a:xfrm flipH="false" flipV="false" rot="0">
              <a:off x="0" y="0"/>
              <a:ext cx="6497320" cy="604723"/>
            </a:xfrm>
            <a:custGeom>
              <a:avLst/>
              <a:gdLst/>
              <a:ahLst/>
              <a:cxnLst/>
              <a:rect r="r" b="b" t="t" l="l"/>
              <a:pathLst>
                <a:path h="604723" w="6497320">
                  <a:moveTo>
                    <a:pt x="0" y="0"/>
                  </a:moveTo>
                  <a:lnTo>
                    <a:pt x="6497320" y="0"/>
                  </a:lnTo>
                  <a:lnTo>
                    <a:pt x="6497320" y="604723"/>
                  </a:lnTo>
                  <a:lnTo>
                    <a:pt x="0" y="604723"/>
                  </a:lnTo>
                  <a:close/>
                </a:path>
              </a:pathLst>
            </a:custGeom>
            <a:blipFill>
              <a:blip r:embed="rId4">
                <a:alphaModFix amt="0"/>
              </a:blip>
              <a:stretch>
                <a:fillRect l="0" t="-159352" r="0" b="-159352"/>
              </a:stretch>
            </a:blipFill>
          </p:spPr>
        </p:sp>
        <p:sp>
          <p:nvSpPr>
            <p:cNvPr name="TextBox 78" id="78"/>
            <p:cNvSpPr txBox="true"/>
            <p:nvPr/>
          </p:nvSpPr>
          <p:spPr>
            <a:xfrm>
              <a:off x="0" y="-19050"/>
              <a:ext cx="6497320" cy="623773"/>
            </a:xfrm>
            <a:prstGeom prst="rect">
              <a:avLst/>
            </a:prstGeom>
          </p:spPr>
          <p:txBody>
            <a:bodyPr anchor="ctr" rtlCol="false" tIns="0" lIns="0" bIns="0" rIns="0"/>
            <a:lstStyle/>
            <a:p>
              <a:pPr algn="l">
                <a:lnSpc>
                  <a:spcPts val="2341"/>
                </a:lnSpc>
              </a:pPr>
              <a:r>
                <a:rPr lang="en-US" sz="1950" b="true">
                  <a:solidFill>
                    <a:srgbClr val="000000"/>
                  </a:solidFill>
                  <a:latin typeface="Poppins Bold"/>
                  <a:ea typeface="Poppins Bold"/>
                  <a:cs typeface="Poppins Bold"/>
                  <a:sym typeface="Poppins Bold"/>
                </a:rPr>
                <a:t>Candidate Evaluation</a:t>
              </a:r>
            </a:p>
          </p:txBody>
        </p:sp>
      </p:grpSp>
      <p:sp>
        <p:nvSpPr>
          <p:cNvPr name="TextBox 79" id="79"/>
          <p:cNvSpPr txBox="true"/>
          <p:nvPr/>
        </p:nvSpPr>
        <p:spPr>
          <a:xfrm rot="0">
            <a:off x="6794725" y="4412437"/>
            <a:ext cx="4872990" cy="811690"/>
          </a:xfrm>
          <a:prstGeom prst="rect">
            <a:avLst/>
          </a:prstGeom>
        </p:spPr>
        <p:txBody>
          <a:bodyPr anchor="t" rtlCol="false" tIns="0" lIns="0" bIns="0" rIns="0">
            <a:spAutoFit/>
          </a:bodyPr>
          <a:lstStyle/>
          <a:p>
            <a:pPr algn="l">
              <a:lnSpc>
                <a:spcPts val="2174"/>
              </a:lnSpc>
            </a:pPr>
            <a:r>
              <a:rPr lang="en-US" sz="1575">
                <a:solidFill>
                  <a:srgbClr val="000000"/>
                </a:solidFill>
                <a:latin typeface="Poppins"/>
                <a:ea typeface="Poppins"/>
                <a:cs typeface="Poppins"/>
                <a:sym typeface="Poppins"/>
              </a:rPr>
              <a:t>Profile access. Assessment reports. </a:t>
            </a:r>
          </a:p>
          <a:p>
            <a:pPr algn="l">
              <a:lnSpc>
                <a:spcPts val="2174"/>
              </a:lnSpc>
            </a:pPr>
          </a:p>
          <a:p>
            <a:pPr algn="l">
              <a:lnSpc>
                <a:spcPts val="2175"/>
              </a:lnSpc>
            </a:pPr>
            <a:r>
              <a:rPr lang="en-US" sz="1575">
                <a:solidFill>
                  <a:srgbClr val="000000"/>
                </a:solidFill>
                <a:latin typeface="Poppins"/>
                <a:ea typeface="Poppins"/>
                <a:cs typeface="Poppins"/>
                <a:sym typeface="Poppins"/>
              </a:rPr>
              <a:t>Recruiter history.</a:t>
            </a:r>
          </a:p>
        </p:txBody>
      </p:sp>
      <p:sp>
        <p:nvSpPr>
          <p:cNvPr name="Freeform 80" id="80"/>
          <p:cNvSpPr/>
          <p:nvPr/>
        </p:nvSpPr>
        <p:spPr>
          <a:xfrm flipH="false" flipV="false" rot="0">
            <a:off x="12268733" y="3758165"/>
            <a:ext cx="5455358" cy="3602269"/>
          </a:xfrm>
          <a:custGeom>
            <a:avLst/>
            <a:gdLst/>
            <a:ahLst/>
            <a:cxnLst/>
            <a:rect r="r" b="b" t="t" l="l"/>
            <a:pathLst>
              <a:path h="3602269" w="5455358">
                <a:moveTo>
                  <a:pt x="0" y="0"/>
                </a:moveTo>
                <a:lnTo>
                  <a:pt x="5455358" y="0"/>
                </a:lnTo>
                <a:lnTo>
                  <a:pt x="5455358" y="3602269"/>
                </a:lnTo>
                <a:lnTo>
                  <a:pt x="0" y="36022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81" id="81"/>
          <p:cNvGrpSpPr/>
          <p:nvPr/>
        </p:nvGrpSpPr>
        <p:grpSpPr>
          <a:xfrm rot="0">
            <a:off x="12559951" y="3994480"/>
            <a:ext cx="4872990" cy="439255"/>
            <a:chOff x="0" y="0"/>
            <a:chExt cx="6497320" cy="585673"/>
          </a:xfrm>
        </p:grpSpPr>
        <p:sp>
          <p:nvSpPr>
            <p:cNvPr name="Freeform 82" id="82"/>
            <p:cNvSpPr/>
            <p:nvPr/>
          </p:nvSpPr>
          <p:spPr>
            <a:xfrm flipH="false" flipV="false" rot="0">
              <a:off x="0" y="0"/>
              <a:ext cx="6497320" cy="585724"/>
            </a:xfrm>
            <a:custGeom>
              <a:avLst/>
              <a:gdLst/>
              <a:ahLst/>
              <a:cxnLst/>
              <a:rect r="r" b="b" t="t" l="l"/>
              <a:pathLst>
                <a:path h="585724" w="6497320">
                  <a:moveTo>
                    <a:pt x="0" y="0"/>
                  </a:moveTo>
                  <a:lnTo>
                    <a:pt x="6497320" y="0"/>
                  </a:lnTo>
                  <a:lnTo>
                    <a:pt x="6497320" y="585724"/>
                  </a:lnTo>
                  <a:lnTo>
                    <a:pt x="0" y="585724"/>
                  </a:lnTo>
                  <a:close/>
                </a:path>
              </a:pathLst>
            </a:custGeom>
            <a:blipFill>
              <a:blip r:embed="rId3">
                <a:alphaModFix amt="0"/>
              </a:blip>
              <a:stretch>
                <a:fillRect l="0" t="-165997" r="0" b="-165988"/>
              </a:stretch>
            </a:blipFill>
          </p:spPr>
        </p:sp>
      </p:grpSp>
      <p:grpSp>
        <p:nvGrpSpPr>
          <p:cNvPr name="Group 83" id="83"/>
          <p:cNvGrpSpPr/>
          <p:nvPr/>
        </p:nvGrpSpPr>
        <p:grpSpPr>
          <a:xfrm rot="0">
            <a:off x="12559951" y="3980193"/>
            <a:ext cx="4872990" cy="453542"/>
            <a:chOff x="0" y="0"/>
            <a:chExt cx="6497320" cy="604723"/>
          </a:xfrm>
        </p:grpSpPr>
        <p:sp>
          <p:nvSpPr>
            <p:cNvPr name="Freeform 84" id="84"/>
            <p:cNvSpPr/>
            <p:nvPr/>
          </p:nvSpPr>
          <p:spPr>
            <a:xfrm flipH="false" flipV="false" rot="0">
              <a:off x="0" y="0"/>
              <a:ext cx="6497320" cy="604723"/>
            </a:xfrm>
            <a:custGeom>
              <a:avLst/>
              <a:gdLst/>
              <a:ahLst/>
              <a:cxnLst/>
              <a:rect r="r" b="b" t="t" l="l"/>
              <a:pathLst>
                <a:path h="604723" w="6497320">
                  <a:moveTo>
                    <a:pt x="0" y="0"/>
                  </a:moveTo>
                  <a:lnTo>
                    <a:pt x="6497320" y="0"/>
                  </a:lnTo>
                  <a:lnTo>
                    <a:pt x="6497320" y="604723"/>
                  </a:lnTo>
                  <a:lnTo>
                    <a:pt x="0" y="604723"/>
                  </a:lnTo>
                  <a:close/>
                </a:path>
              </a:pathLst>
            </a:custGeom>
            <a:blipFill>
              <a:blip r:embed="rId4">
                <a:alphaModFix amt="0"/>
              </a:blip>
              <a:stretch>
                <a:fillRect l="0" t="-159352" r="0" b="-159352"/>
              </a:stretch>
            </a:blipFill>
          </p:spPr>
        </p:sp>
        <p:sp>
          <p:nvSpPr>
            <p:cNvPr name="TextBox 85" id="85"/>
            <p:cNvSpPr txBox="true"/>
            <p:nvPr/>
          </p:nvSpPr>
          <p:spPr>
            <a:xfrm>
              <a:off x="0" y="-19050"/>
              <a:ext cx="6497320" cy="623773"/>
            </a:xfrm>
            <a:prstGeom prst="rect">
              <a:avLst/>
            </a:prstGeom>
          </p:spPr>
          <p:txBody>
            <a:bodyPr anchor="ctr" rtlCol="false" tIns="0" lIns="0" bIns="0" rIns="0"/>
            <a:lstStyle/>
            <a:p>
              <a:pPr algn="l">
                <a:lnSpc>
                  <a:spcPts val="2341"/>
                </a:lnSpc>
              </a:pPr>
              <a:r>
                <a:rPr lang="en-US" sz="1950" b="true">
                  <a:solidFill>
                    <a:srgbClr val="000000"/>
                  </a:solidFill>
                  <a:latin typeface="Poppins Bold"/>
                  <a:ea typeface="Poppins Bold"/>
                  <a:cs typeface="Poppins Bold"/>
                  <a:sym typeface="Poppins Bold"/>
                </a:rPr>
                <a:t>Recruiter Organization</a:t>
              </a:r>
            </a:p>
          </p:txBody>
        </p:sp>
      </p:grpSp>
      <p:sp>
        <p:nvSpPr>
          <p:cNvPr name="TextBox 86" id="86"/>
          <p:cNvSpPr txBox="true"/>
          <p:nvPr/>
        </p:nvSpPr>
        <p:spPr>
          <a:xfrm rot="0">
            <a:off x="12559951" y="4412437"/>
            <a:ext cx="4872990" cy="1345090"/>
          </a:xfrm>
          <a:prstGeom prst="rect">
            <a:avLst/>
          </a:prstGeom>
        </p:spPr>
        <p:txBody>
          <a:bodyPr anchor="t" rtlCol="false" tIns="0" lIns="0" bIns="0" rIns="0">
            <a:spAutoFit/>
          </a:bodyPr>
          <a:lstStyle/>
          <a:p>
            <a:pPr algn="l">
              <a:lnSpc>
                <a:spcPts val="2174"/>
              </a:lnSpc>
            </a:pPr>
            <a:r>
              <a:rPr lang="en-US" sz="1575">
                <a:solidFill>
                  <a:srgbClr val="000000"/>
                </a:solidFill>
                <a:latin typeface="Poppins"/>
                <a:ea typeface="Poppins"/>
                <a:cs typeface="Poppins"/>
                <a:sym typeface="Poppins"/>
              </a:rPr>
              <a:t>Viewed candidates. </a:t>
            </a:r>
          </a:p>
          <a:p>
            <a:pPr algn="l">
              <a:lnSpc>
                <a:spcPts val="2174"/>
              </a:lnSpc>
            </a:pPr>
          </a:p>
          <a:p>
            <a:pPr algn="l">
              <a:lnSpc>
                <a:spcPts val="2174"/>
              </a:lnSpc>
            </a:pPr>
            <a:r>
              <a:rPr lang="en-US" sz="1575">
                <a:solidFill>
                  <a:srgbClr val="000000"/>
                </a:solidFill>
                <a:latin typeface="Poppins"/>
                <a:ea typeface="Poppins"/>
                <a:cs typeface="Poppins"/>
                <a:sym typeface="Poppins"/>
              </a:rPr>
              <a:t>Directories. </a:t>
            </a:r>
          </a:p>
          <a:p>
            <a:pPr algn="l">
              <a:lnSpc>
                <a:spcPts val="2174"/>
              </a:lnSpc>
            </a:pPr>
          </a:p>
          <a:p>
            <a:pPr algn="l">
              <a:lnSpc>
                <a:spcPts val="2175"/>
              </a:lnSpc>
            </a:pPr>
            <a:r>
              <a:rPr lang="en-US" sz="1575">
                <a:solidFill>
                  <a:srgbClr val="000000"/>
                </a:solidFill>
                <a:latin typeface="Poppins"/>
                <a:ea typeface="Poppins"/>
                <a:cs typeface="Poppins"/>
                <a:sym typeface="Poppins"/>
              </a:rPr>
              <a:t>Candidate management.</a:t>
            </a:r>
          </a:p>
        </p:txBody>
      </p:sp>
      <p:grpSp>
        <p:nvGrpSpPr>
          <p:cNvPr name="Group 87" id="87"/>
          <p:cNvGrpSpPr/>
          <p:nvPr/>
        </p:nvGrpSpPr>
        <p:grpSpPr>
          <a:xfrm rot="0">
            <a:off x="686333" y="9718519"/>
            <a:ext cx="8236039" cy="411804"/>
            <a:chOff x="0" y="0"/>
            <a:chExt cx="10981385" cy="549072"/>
          </a:xfrm>
        </p:grpSpPr>
        <p:sp>
          <p:nvSpPr>
            <p:cNvPr name="Freeform 88" id="88"/>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89" id="89"/>
          <p:cNvGrpSpPr/>
          <p:nvPr/>
        </p:nvGrpSpPr>
        <p:grpSpPr>
          <a:xfrm rot="0">
            <a:off x="686333" y="9704232"/>
            <a:ext cx="8236039" cy="426091"/>
            <a:chOff x="0" y="0"/>
            <a:chExt cx="10981385" cy="568122"/>
          </a:xfrm>
        </p:grpSpPr>
        <p:sp>
          <p:nvSpPr>
            <p:cNvPr name="Freeform 90" id="90"/>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91" id="91"/>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92" id="92"/>
          <p:cNvGrpSpPr/>
          <p:nvPr/>
        </p:nvGrpSpPr>
        <p:grpSpPr>
          <a:xfrm rot="0">
            <a:off x="16242830" y="9718519"/>
            <a:ext cx="1372676" cy="411804"/>
            <a:chOff x="0" y="0"/>
            <a:chExt cx="1830235" cy="549072"/>
          </a:xfrm>
        </p:grpSpPr>
        <p:sp>
          <p:nvSpPr>
            <p:cNvPr name="Freeform 93" id="93"/>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grpSp>
        <p:nvGrpSpPr>
          <p:cNvPr name="Group 94" id="94"/>
          <p:cNvGrpSpPr/>
          <p:nvPr/>
        </p:nvGrpSpPr>
        <p:grpSpPr>
          <a:xfrm rot="0">
            <a:off x="9150920" y="2497703"/>
            <a:ext cx="2409730" cy="693477"/>
            <a:chOff x="0" y="0"/>
            <a:chExt cx="3212973" cy="924636"/>
          </a:xfrm>
        </p:grpSpPr>
        <p:sp>
          <p:nvSpPr>
            <p:cNvPr name="Freeform 95" id="95"/>
            <p:cNvSpPr/>
            <p:nvPr/>
          </p:nvSpPr>
          <p:spPr>
            <a:xfrm flipH="false" flipV="false" rot="0">
              <a:off x="0" y="0"/>
              <a:ext cx="3212973" cy="924635"/>
            </a:xfrm>
            <a:custGeom>
              <a:avLst/>
              <a:gdLst/>
              <a:ahLst/>
              <a:cxnLst/>
              <a:rect r="r" b="b" t="t" l="l"/>
              <a:pathLst>
                <a:path h="924635" w="3212973">
                  <a:moveTo>
                    <a:pt x="0" y="0"/>
                  </a:moveTo>
                  <a:lnTo>
                    <a:pt x="3212973" y="0"/>
                  </a:lnTo>
                  <a:lnTo>
                    <a:pt x="3212973" y="924635"/>
                  </a:lnTo>
                  <a:lnTo>
                    <a:pt x="0" y="924635"/>
                  </a:lnTo>
                  <a:close/>
                </a:path>
              </a:pathLst>
            </a:custGeom>
            <a:blipFill>
              <a:blip r:embed="rId4">
                <a:alphaModFix amt="0"/>
              </a:blip>
              <a:stretch>
                <a:fillRect l="0" t="-17707" r="0" b="-17707"/>
              </a:stretch>
            </a:blipFill>
          </p:spPr>
        </p:sp>
        <p:sp>
          <p:nvSpPr>
            <p:cNvPr name="TextBox 96" id="96"/>
            <p:cNvSpPr txBox="true"/>
            <p:nvPr/>
          </p:nvSpPr>
          <p:spPr>
            <a:xfrm>
              <a:off x="0" y="-9525"/>
              <a:ext cx="3212973" cy="934161"/>
            </a:xfrm>
            <a:prstGeom prst="rect">
              <a:avLst/>
            </a:prstGeom>
          </p:spPr>
          <p:txBody>
            <a:bodyPr anchor="ctr" rtlCol="false" tIns="0" lIns="0" bIns="0" rIns="0"/>
            <a:lstStyle/>
            <a:p>
              <a:pPr algn="ctr">
                <a:lnSpc>
                  <a:spcPts val="1890"/>
                </a:lnSpc>
              </a:pPr>
              <a:r>
                <a:rPr lang="en-US" sz="1575" b="true">
                  <a:solidFill>
                    <a:srgbClr val="000000"/>
                  </a:solidFill>
                  <a:latin typeface="Poppins Bold"/>
                  <a:ea typeface="Poppins Bold"/>
                  <a:cs typeface="Poppins Bold"/>
                  <a:sym typeface="Poppins Bold"/>
                </a:rPr>
                <a:t>View</a:t>
              </a:r>
            </a:p>
          </p:txBody>
        </p:sp>
      </p:grpSp>
      <p:grpSp>
        <p:nvGrpSpPr>
          <p:cNvPr name="Group 97" id="97"/>
          <p:cNvGrpSpPr/>
          <p:nvPr/>
        </p:nvGrpSpPr>
        <p:grpSpPr>
          <a:xfrm rot="0">
            <a:off x="14996412" y="2497702"/>
            <a:ext cx="2409730" cy="693477"/>
            <a:chOff x="0" y="0"/>
            <a:chExt cx="3212973" cy="924636"/>
          </a:xfrm>
        </p:grpSpPr>
        <p:sp>
          <p:nvSpPr>
            <p:cNvPr name="Freeform 98" id="98"/>
            <p:cNvSpPr/>
            <p:nvPr/>
          </p:nvSpPr>
          <p:spPr>
            <a:xfrm flipH="false" flipV="false" rot="0">
              <a:off x="0" y="0"/>
              <a:ext cx="3212973" cy="924635"/>
            </a:xfrm>
            <a:custGeom>
              <a:avLst/>
              <a:gdLst/>
              <a:ahLst/>
              <a:cxnLst/>
              <a:rect r="r" b="b" t="t" l="l"/>
              <a:pathLst>
                <a:path h="924635" w="3212973">
                  <a:moveTo>
                    <a:pt x="0" y="0"/>
                  </a:moveTo>
                  <a:lnTo>
                    <a:pt x="3212973" y="0"/>
                  </a:lnTo>
                  <a:lnTo>
                    <a:pt x="3212973" y="924635"/>
                  </a:lnTo>
                  <a:lnTo>
                    <a:pt x="0" y="924635"/>
                  </a:lnTo>
                  <a:close/>
                </a:path>
              </a:pathLst>
            </a:custGeom>
            <a:blipFill>
              <a:blip r:embed="rId4">
                <a:alphaModFix amt="0"/>
              </a:blip>
              <a:stretch>
                <a:fillRect l="0" t="-17707" r="0" b="-17707"/>
              </a:stretch>
            </a:blipFill>
          </p:spPr>
        </p:sp>
        <p:sp>
          <p:nvSpPr>
            <p:cNvPr name="TextBox 99" id="99"/>
            <p:cNvSpPr txBox="true"/>
            <p:nvPr/>
          </p:nvSpPr>
          <p:spPr>
            <a:xfrm>
              <a:off x="0" y="-9525"/>
              <a:ext cx="3212973" cy="934161"/>
            </a:xfrm>
            <a:prstGeom prst="rect">
              <a:avLst/>
            </a:prstGeom>
          </p:spPr>
          <p:txBody>
            <a:bodyPr anchor="ctr" rtlCol="false" tIns="0" lIns="0" bIns="0" rIns="0"/>
            <a:lstStyle/>
            <a:p>
              <a:pPr algn="ctr">
                <a:lnSpc>
                  <a:spcPts val="1890"/>
                </a:lnSpc>
              </a:pPr>
              <a:r>
                <a:rPr lang="en-US" sz="1575" b="true">
                  <a:solidFill>
                    <a:srgbClr val="000000"/>
                  </a:solidFill>
                  <a:latin typeface="Poppins Bold"/>
                  <a:ea typeface="Poppins Bold"/>
                  <a:cs typeface="Poppins Bold"/>
                  <a:sym typeface="Poppins Bold"/>
                </a:rPr>
                <a:t>Chat</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686333" y="686333"/>
            <a:ext cx="1784471" cy="1235402"/>
            <a:chOff x="0" y="0"/>
            <a:chExt cx="2379294" cy="1647203"/>
          </a:xfrm>
        </p:grpSpPr>
        <p:sp>
          <p:nvSpPr>
            <p:cNvPr name="Freeform 3" id="3"/>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2">
                <a:alphaModFix amt="0"/>
              </a:blip>
              <a:stretch>
                <a:fillRect l="-38886" t="0" r="-38884" b="0"/>
              </a:stretch>
            </a:blipFill>
          </p:spPr>
        </p:sp>
      </p:grpSp>
      <p:grpSp>
        <p:nvGrpSpPr>
          <p:cNvPr name="Group 4" id="4"/>
          <p:cNvGrpSpPr/>
          <p:nvPr/>
        </p:nvGrpSpPr>
        <p:grpSpPr>
          <a:xfrm rot="0">
            <a:off x="2127647" y="796147"/>
            <a:ext cx="15099392" cy="1235402"/>
            <a:chOff x="0" y="0"/>
            <a:chExt cx="20132523" cy="1647203"/>
          </a:xfrm>
        </p:grpSpPr>
        <p:sp>
          <p:nvSpPr>
            <p:cNvPr name="Freeform 5" id="5"/>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2">
                <a:alphaModFix amt="0"/>
              </a:blip>
              <a:stretch>
                <a:fillRect l="0" t="-187986" r="0" b="-187987"/>
              </a:stretch>
            </a:blipFill>
          </p:spPr>
        </p:sp>
      </p:grpSp>
      <p:grpSp>
        <p:nvGrpSpPr>
          <p:cNvPr name="Group 6" id="6"/>
          <p:cNvGrpSpPr/>
          <p:nvPr/>
        </p:nvGrpSpPr>
        <p:grpSpPr>
          <a:xfrm rot="0">
            <a:off x="778287" y="435393"/>
            <a:ext cx="15099392" cy="1256833"/>
            <a:chOff x="0" y="0"/>
            <a:chExt cx="20132523" cy="1675778"/>
          </a:xfrm>
        </p:grpSpPr>
        <p:sp>
          <p:nvSpPr>
            <p:cNvPr name="Freeform 7" id="7"/>
            <p:cNvSpPr/>
            <p:nvPr/>
          </p:nvSpPr>
          <p:spPr>
            <a:xfrm flipH="false" flipV="false" rot="0">
              <a:off x="0" y="0"/>
              <a:ext cx="20132523" cy="1675778"/>
            </a:xfrm>
            <a:custGeom>
              <a:avLst/>
              <a:gdLst/>
              <a:ahLst/>
              <a:cxnLst/>
              <a:rect r="r" b="b" t="t" l="l"/>
              <a:pathLst>
                <a:path h="1675778" w="20132523">
                  <a:moveTo>
                    <a:pt x="0" y="0"/>
                  </a:moveTo>
                  <a:lnTo>
                    <a:pt x="20132523" y="0"/>
                  </a:lnTo>
                  <a:lnTo>
                    <a:pt x="20132523" y="1675778"/>
                  </a:lnTo>
                  <a:lnTo>
                    <a:pt x="0" y="1675778"/>
                  </a:lnTo>
                  <a:close/>
                </a:path>
              </a:pathLst>
            </a:custGeom>
            <a:blipFill>
              <a:blip r:embed="rId3">
                <a:alphaModFix amt="0"/>
              </a:blip>
              <a:stretch>
                <a:fillRect l="0" t="-184090" r="0" b="-184090"/>
              </a:stretch>
            </a:blipFill>
          </p:spPr>
        </p:sp>
        <p:sp>
          <p:nvSpPr>
            <p:cNvPr name="TextBox 8" id="8"/>
            <p:cNvSpPr txBox="true"/>
            <p:nvPr/>
          </p:nvSpPr>
          <p:spPr>
            <a:xfrm>
              <a:off x="0" y="-28575"/>
              <a:ext cx="20132523" cy="1704353"/>
            </a:xfrm>
            <a:prstGeom prst="rect">
              <a:avLst/>
            </a:prstGeom>
          </p:spPr>
          <p:txBody>
            <a:bodyPr anchor="ctr" rtlCol="false" tIns="0" lIns="0" bIns="0" rIns="0"/>
            <a:lstStyle/>
            <a:p>
              <a:pPr algn="l">
                <a:lnSpc>
                  <a:spcPts val="3962"/>
                </a:lnSpc>
              </a:pPr>
              <a:r>
                <a:rPr lang="en-US" sz="3302" b="true">
                  <a:solidFill>
                    <a:srgbClr val="1F3338"/>
                  </a:solidFill>
                  <a:latin typeface="Poppins Bold"/>
                  <a:ea typeface="Poppins Bold"/>
                  <a:cs typeface="Poppins Bold"/>
                  <a:sym typeface="Poppins Bold"/>
                </a:rPr>
                <a:t>Recruiter Search: Skill Resolution Engine</a:t>
              </a:r>
            </a:p>
          </p:txBody>
        </p:sp>
      </p:grpSp>
      <p:grpSp>
        <p:nvGrpSpPr>
          <p:cNvPr name="Group 9" id="9"/>
          <p:cNvGrpSpPr/>
          <p:nvPr/>
        </p:nvGrpSpPr>
        <p:grpSpPr>
          <a:xfrm rot="0">
            <a:off x="16815235" y="686333"/>
            <a:ext cx="754952" cy="754952"/>
            <a:chOff x="0" y="0"/>
            <a:chExt cx="1006602" cy="1006602"/>
          </a:xfrm>
        </p:grpSpPr>
        <p:sp>
          <p:nvSpPr>
            <p:cNvPr name="Freeform 10" id="10"/>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4"/>
              <a:stretch>
                <a:fillRect l="0" t="0" r="0" b="0"/>
              </a:stretch>
            </a:blipFill>
          </p:spPr>
        </p:sp>
      </p:grpSp>
      <p:grpSp>
        <p:nvGrpSpPr>
          <p:cNvPr name="Group 11" id="11"/>
          <p:cNvGrpSpPr/>
          <p:nvPr/>
        </p:nvGrpSpPr>
        <p:grpSpPr>
          <a:xfrm rot="0">
            <a:off x="640080" y="9738360"/>
            <a:ext cx="7315200" cy="365760"/>
            <a:chOff x="0" y="0"/>
            <a:chExt cx="9753600" cy="487680"/>
          </a:xfrm>
        </p:grpSpPr>
        <p:sp>
          <p:nvSpPr>
            <p:cNvPr name="Freeform 12" id="12"/>
            <p:cNvSpPr/>
            <p:nvPr/>
          </p:nvSpPr>
          <p:spPr>
            <a:xfrm flipH="false" flipV="false" rot="0">
              <a:off x="0" y="0"/>
              <a:ext cx="9753600" cy="487680"/>
            </a:xfrm>
            <a:custGeom>
              <a:avLst/>
              <a:gdLst/>
              <a:ahLst/>
              <a:cxnLst/>
              <a:rect r="r" b="b" t="t" l="l"/>
              <a:pathLst>
                <a:path h="487680" w="9753600">
                  <a:moveTo>
                    <a:pt x="0" y="0"/>
                  </a:moveTo>
                  <a:lnTo>
                    <a:pt x="9753600" y="0"/>
                  </a:lnTo>
                  <a:lnTo>
                    <a:pt x="9753600" y="487680"/>
                  </a:lnTo>
                  <a:lnTo>
                    <a:pt x="0" y="487680"/>
                  </a:lnTo>
                  <a:close/>
                </a:path>
              </a:pathLst>
            </a:custGeom>
            <a:blipFill>
              <a:blip r:embed="rId2">
                <a:alphaModFix amt="0"/>
              </a:blip>
              <a:stretch>
                <a:fillRect l="0" t="-339429" r="0" b="-339429"/>
              </a:stretch>
            </a:blipFill>
          </p:spPr>
        </p:sp>
      </p:grpSp>
      <p:grpSp>
        <p:nvGrpSpPr>
          <p:cNvPr name="Group 13" id="13"/>
          <p:cNvGrpSpPr/>
          <p:nvPr/>
        </p:nvGrpSpPr>
        <p:grpSpPr>
          <a:xfrm rot="0">
            <a:off x="640080" y="9724072"/>
            <a:ext cx="7315200" cy="380047"/>
            <a:chOff x="0" y="0"/>
            <a:chExt cx="9753600" cy="506730"/>
          </a:xfrm>
        </p:grpSpPr>
        <p:sp>
          <p:nvSpPr>
            <p:cNvPr name="Freeform 14" id="14"/>
            <p:cNvSpPr/>
            <p:nvPr/>
          </p:nvSpPr>
          <p:spPr>
            <a:xfrm flipH="false" flipV="false" rot="0">
              <a:off x="0" y="0"/>
              <a:ext cx="9753600" cy="506730"/>
            </a:xfrm>
            <a:custGeom>
              <a:avLst/>
              <a:gdLst/>
              <a:ahLst/>
              <a:cxnLst/>
              <a:rect r="r" b="b" t="t" l="l"/>
              <a:pathLst>
                <a:path h="506730" w="9753600">
                  <a:moveTo>
                    <a:pt x="0" y="0"/>
                  </a:moveTo>
                  <a:lnTo>
                    <a:pt x="9753600" y="0"/>
                  </a:lnTo>
                  <a:lnTo>
                    <a:pt x="9753600" y="506730"/>
                  </a:lnTo>
                  <a:lnTo>
                    <a:pt x="0" y="506730"/>
                  </a:lnTo>
                  <a:close/>
                </a:path>
              </a:pathLst>
            </a:custGeom>
            <a:blipFill>
              <a:blip r:embed="rId3">
                <a:alphaModFix amt="0"/>
              </a:blip>
              <a:stretch>
                <a:fillRect l="0" t="-325050" r="0" b="-325050"/>
              </a:stretch>
            </a:blipFill>
          </p:spPr>
        </p:sp>
        <p:sp>
          <p:nvSpPr>
            <p:cNvPr name="TextBox 15" id="15"/>
            <p:cNvSpPr txBox="true"/>
            <p:nvPr/>
          </p:nvSpPr>
          <p:spPr>
            <a:xfrm>
              <a:off x="0" y="-19050"/>
              <a:ext cx="9753600" cy="525780"/>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6" id="16"/>
          <p:cNvGrpSpPr/>
          <p:nvPr/>
        </p:nvGrpSpPr>
        <p:grpSpPr>
          <a:xfrm rot="0">
            <a:off x="16642080" y="9738360"/>
            <a:ext cx="1005840" cy="365760"/>
            <a:chOff x="0" y="0"/>
            <a:chExt cx="1341120" cy="487680"/>
          </a:xfrm>
        </p:grpSpPr>
        <p:sp>
          <p:nvSpPr>
            <p:cNvPr name="Freeform 17" id="17"/>
            <p:cNvSpPr/>
            <p:nvPr/>
          </p:nvSpPr>
          <p:spPr>
            <a:xfrm flipH="false" flipV="false" rot="0">
              <a:off x="0" y="0"/>
              <a:ext cx="1341120" cy="487680"/>
            </a:xfrm>
            <a:custGeom>
              <a:avLst/>
              <a:gdLst/>
              <a:ahLst/>
              <a:cxnLst/>
              <a:rect r="r" b="b" t="t" l="l"/>
              <a:pathLst>
                <a:path h="487680" w="1341120">
                  <a:moveTo>
                    <a:pt x="0" y="0"/>
                  </a:moveTo>
                  <a:lnTo>
                    <a:pt x="1341120" y="0"/>
                  </a:lnTo>
                  <a:lnTo>
                    <a:pt x="1341120" y="487680"/>
                  </a:lnTo>
                  <a:lnTo>
                    <a:pt x="0" y="487680"/>
                  </a:lnTo>
                  <a:close/>
                </a:path>
              </a:pathLst>
            </a:custGeom>
            <a:blipFill>
              <a:blip r:embed="rId2">
                <a:alphaModFix amt="0"/>
              </a:blip>
              <a:stretch>
                <a:fillRect l="0" t="-3546" r="0" b="-3546"/>
              </a:stretch>
            </a:blipFill>
          </p:spPr>
        </p:sp>
      </p:grpSp>
      <p:grpSp>
        <p:nvGrpSpPr>
          <p:cNvPr name="Group 18" id="18"/>
          <p:cNvGrpSpPr/>
          <p:nvPr/>
        </p:nvGrpSpPr>
        <p:grpSpPr>
          <a:xfrm rot="0">
            <a:off x="685800" y="1965960"/>
            <a:ext cx="16916400" cy="7452360"/>
            <a:chOff x="0" y="0"/>
            <a:chExt cx="22555200" cy="9936480"/>
          </a:xfrm>
        </p:grpSpPr>
        <p:sp>
          <p:nvSpPr>
            <p:cNvPr name="Freeform 19" id="19" descr="slide18_skill_resolution_visual.png"/>
            <p:cNvSpPr/>
            <p:nvPr/>
          </p:nvSpPr>
          <p:spPr>
            <a:xfrm flipH="false" flipV="false" rot="0">
              <a:off x="0" y="0"/>
              <a:ext cx="22555200" cy="9936480"/>
            </a:xfrm>
            <a:custGeom>
              <a:avLst/>
              <a:gdLst/>
              <a:ahLst/>
              <a:cxnLst/>
              <a:rect r="r" b="b" t="t" l="l"/>
              <a:pathLst>
                <a:path h="9936480" w="22555200">
                  <a:moveTo>
                    <a:pt x="0" y="0"/>
                  </a:moveTo>
                  <a:lnTo>
                    <a:pt x="22555200" y="0"/>
                  </a:lnTo>
                  <a:lnTo>
                    <a:pt x="22555200" y="9936480"/>
                  </a:lnTo>
                  <a:lnTo>
                    <a:pt x="0" y="9936480"/>
                  </a:lnTo>
                  <a:lnTo>
                    <a:pt x="0" y="0"/>
                  </a:lnTo>
                  <a:close/>
                </a:path>
              </a:pathLst>
            </a:custGeom>
            <a:blipFill>
              <a:blip r:embed="rId5"/>
              <a:stretch>
                <a:fillRect l="0" t="-1073" r="0" b="-1073"/>
              </a:stretch>
            </a:blipFill>
          </p:spPr>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388463" y="275439"/>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1829776" y="385253"/>
            <a:ext cx="15099392" cy="1235412"/>
            <a:chOff x="0" y="0"/>
            <a:chExt cx="20132523" cy="1647215"/>
          </a:xfrm>
        </p:grpSpPr>
        <p:sp>
          <p:nvSpPr>
            <p:cNvPr name="Freeform 7" id="7"/>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3">
                <a:alphaModFix amt="0"/>
              </a:blip>
              <a:stretch>
                <a:fillRect l="0" t="-187986" r="0" b="-187987"/>
              </a:stretch>
            </a:blipFill>
          </p:spPr>
        </p:sp>
      </p:grpSp>
      <p:grpSp>
        <p:nvGrpSpPr>
          <p:cNvPr name="Group 8" id="8"/>
          <p:cNvGrpSpPr/>
          <p:nvPr/>
        </p:nvGrpSpPr>
        <p:grpSpPr>
          <a:xfrm rot="0">
            <a:off x="277287" y="184452"/>
            <a:ext cx="15099392" cy="1256833"/>
            <a:chOff x="0" y="0"/>
            <a:chExt cx="20132523" cy="1675778"/>
          </a:xfrm>
        </p:grpSpPr>
        <p:sp>
          <p:nvSpPr>
            <p:cNvPr name="Freeform 9" id="9"/>
            <p:cNvSpPr/>
            <p:nvPr/>
          </p:nvSpPr>
          <p:spPr>
            <a:xfrm flipH="false" flipV="false" rot="0">
              <a:off x="0" y="0"/>
              <a:ext cx="20132523" cy="1675782"/>
            </a:xfrm>
            <a:custGeom>
              <a:avLst/>
              <a:gdLst/>
              <a:ahLst/>
              <a:cxnLst/>
              <a:rect r="r" b="b" t="t" l="l"/>
              <a:pathLst>
                <a:path h="1675782" w="20132523">
                  <a:moveTo>
                    <a:pt x="0" y="0"/>
                  </a:moveTo>
                  <a:lnTo>
                    <a:pt x="20132523" y="0"/>
                  </a:lnTo>
                  <a:lnTo>
                    <a:pt x="20132523" y="1675782"/>
                  </a:lnTo>
                  <a:lnTo>
                    <a:pt x="0" y="1675782"/>
                  </a:lnTo>
                  <a:close/>
                </a:path>
              </a:pathLst>
            </a:custGeom>
            <a:blipFill>
              <a:blip r:embed="rId4">
                <a:alphaModFix amt="0"/>
              </a:blip>
              <a:stretch>
                <a:fillRect l="0" t="-184089" r="0" b="-184089"/>
              </a:stretch>
            </a:blipFill>
          </p:spPr>
        </p:sp>
        <p:sp>
          <p:nvSpPr>
            <p:cNvPr name="TextBox 10" id="10"/>
            <p:cNvSpPr txBox="true"/>
            <p:nvPr/>
          </p:nvSpPr>
          <p:spPr>
            <a:xfrm>
              <a:off x="0" y="-28575"/>
              <a:ext cx="20132523" cy="1704353"/>
            </a:xfrm>
            <a:prstGeom prst="rect">
              <a:avLst/>
            </a:prstGeom>
          </p:spPr>
          <p:txBody>
            <a:bodyPr anchor="ctr" rtlCol="false" tIns="0" lIns="0" bIns="0" rIns="0"/>
            <a:lstStyle/>
            <a:p>
              <a:pPr algn="l">
                <a:lnSpc>
                  <a:spcPts val="3962"/>
                </a:lnSpc>
              </a:pPr>
              <a:r>
                <a:rPr lang="en-US" sz="3302" b="true">
                  <a:solidFill>
                    <a:srgbClr val="000000"/>
                  </a:solidFill>
                  <a:latin typeface="Poppins Bold"/>
                  <a:ea typeface="Poppins Bold"/>
                  <a:cs typeface="Poppins Bold"/>
                  <a:sym typeface="Poppins Bold"/>
                </a:rPr>
                <a:t>Implementation : Recruiter Experience</a:t>
              </a:r>
            </a:p>
          </p:txBody>
        </p:sp>
      </p:grpSp>
      <p:grpSp>
        <p:nvGrpSpPr>
          <p:cNvPr name="Group 11" id="11"/>
          <p:cNvGrpSpPr/>
          <p:nvPr/>
        </p:nvGrpSpPr>
        <p:grpSpPr>
          <a:xfrm rot="0">
            <a:off x="686333" y="9718519"/>
            <a:ext cx="8236039" cy="411804"/>
            <a:chOff x="0" y="0"/>
            <a:chExt cx="10981385" cy="549072"/>
          </a:xfrm>
        </p:grpSpPr>
        <p:sp>
          <p:nvSpPr>
            <p:cNvPr name="Freeform 12" id="12"/>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3" id="13"/>
          <p:cNvGrpSpPr/>
          <p:nvPr/>
        </p:nvGrpSpPr>
        <p:grpSpPr>
          <a:xfrm rot="0">
            <a:off x="686333" y="9704232"/>
            <a:ext cx="8236039" cy="426091"/>
            <a:chOff x="0" y="0"/>
            <a:chExt cx="10981385" cy="568122"/>
          </a:xfrm>
        </p:grpSpPr>
        <p:sp>
          <p:nvSpPr>
            <p:cNvPr name="Freeform 14" id="14"/>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5" id="15"/>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6" id="16"/>
          <p:cNvGrpSpPr/>
          <p:nvPr/>
        </p:nvGrpSpPr>
        <p:grpSpPr>
          <a:xfrm rot="0">
            <a:off x="16242830" y="9718519"/>
            <a:ext cx="1372676" cy="411804"/>
            <a:chOff x="0" y="0"/>
            <a:chExt cx="1830235" cy="549072"/>
          </a:xfrm>
        </p:grpSpPr>
        <p:sp>
          <p:nvSpPr>
            <p:cNvPr name="Freeform 17" id="17"/>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grpSp>
        <p:nvGrpSpPr>
          <p:cNvPr name="Group 18" id="18"/>
          <p:cNvGrpSpPr/>
          <p:nvPr/>
        </p:nvGrpSpPr>
        <p:grpSpPr>
          <a:xfrm rot="0">
            <a:off x="1028700" y="1441285"/>
            <a:ext cx="5207386" cy="6731020"/>
            <a:chOff x="0" y="0"/>
            <a:chExt cx="6705600" cy="8667598"/>
          </a:xfrm>
        </p:grpSpPr>
        <p:sp>
          <p:nvSpPr>
            <p:cNvPr name="Freeform 19" id="19" descr="recruiter_platform.png"/>
            <p:cNvSpPr/>
            <p:nvPr/>
          </p:nvSpPr>
          <p:spPr>
            <a:xfrm flipH="false" flipV="false" rot="0">
              <a:off x="0" y="0"/>
              <a:ext cx="6705600" cy="8667623"/>
            </a:xfrm>
            <a:custGeom>
              <a:avLst/>
              <a:gdLst/>
              <a:ahLst/>
              <a:cxnLst/>
              <a:rect r="r" b="b" t="t" l="l"/>
              <a:pathLst>
                <a:path h="8667623" w="6705600">
                  <a:moveTo>
                    <a:pt x="0" y="0"/>
                  </a:moveTo>
                  <a:lnTo>
                    <a:pt x="6705600" y="0"/>
                  </a:lnTo>
                  <a:lnTo>
                    <a:pt x="6705600" y="8667623"/>
                  </a:lnTo>
                  <a:lnTo>
                    <a:pt x="0" y="8667623"/>
                  </a:lnTo>
                  <a:lnTo>
                    <a:pt x="0" y="0"/>
                  </a:lnTo>
                  <a:close/>
                </a:path>
              </a:pathLst>
            </a:custGeom>
            <a:blipFill>
              <a:blip r:embed="rId5"/>
              <a:stretch>
                <a:fillRect l="0" t="0" r="0" b="0"/>
              </a:stretch>
            </a:blipFill>
          </p:spPr>
        </p:sp>
      </p:grpSp>
      <p:grpSp>
        <p:nvGrpSpPr>
          <p:cNvPr name="Group 20" id="20"/>
          <p:cNvGrpSpPr/>
          <p:nvPr/>
        </p:nvGrpSpPr>
        <p:grpSpPr>
          <a:xfrm rot="0">
            <a:off x="9009585" y="1297819"/>
            <a:ext cx="8183126" cy="4318242"/>
            <a:chOff x="0" y="0"/>
            <a:chExt cx="6705600" cy="3538550"/>
          </a:xfrm>
        </p:grpSpPr>
        <p:sp>
          <p:nvSpPr>
            <p:cNvPr name="Freeform 21" id="21" descr="search_page.png"/>
            <p:cNvSpPr/>
            <p:nvPr/>
          </p:nvSpPr>
          <p:spPr>
            <a:xfrm flipH="false" flipV="false" rot="0">
              <a:off x="0" y="0"/>
              <a:ext cx="6705600" cy="3538601"/>
            </a:xfrm>
            <a:custGeom>
              <a:avLst/>
              <a:gdLst/>
              <a:ahLst/>
              <a:cxnLst/>
              <a:rect r="r" b="b" t="t" l="l"/>
              <a:pathLst>
                <a:path h="3538601" w="6705600">
                  <a:moveTo>
                    <a:pt x="0" y="0"/>
                  </a:moveTo>
                  <a:lnTo>
                    <a:pt x="6705600" y="0"/>
                  </a:lnTo>
                  <a:lnTo>
                    <a:pt x="6705600" y="3538601"/>
                  </a:lnTo>
                  <a:lnTo>
                    <a:pt x="0" y="3538601"/>
                  </a:lnTo>
                  <a:lnTo>
                    <a:pt x="0" y="0"/>
                  </a:lnTo>
                  <a:close/>
                </a:path>
              </a:pathLst>
            </a:custGeom>
            <a:blipFill>
              <a:blip r:embed="rId6"/>
              <a:stretch>
                <a:fillRect l="0" t="0" r="0" b="1"/>
              </a:stretch>
            </a:blipFill>
          </p:spPr>
        </p:sp>
      </p:grpSp>
      <p:grpSp>
        <p:nvGrpSpPr>
          <p:cNvPr name="Group 22" id="22"/>
          <p:cNvGrpSpPr/>
          <p:nvPr/>
        </p:nvGrpSpPr>
        <p:grpSpPr>
          <a:xfrm rot="0">
            <a:off x="6430374" y="5831564"/>
            <a:ext cx="6255806" cy="4341008"/>
            <a:chOff x="0" y="0"/>
            <a:chExt cx="6705600" cy="4653128"/>
          </a:xfrm>
        </p:grpSpPr>
        <p:sp>
          <p:nvSpPr>
            <p:cNvPr name="Freeform 23" id="23" descr="unlock.png"/>
            <p:cNvSpPr/>
            <p:nvPr/>
          </p:nvSpPr>
          <p:spPr>
            <a:xfrm flipH="false" flipV="false" rot="0">
              <a:off x="0" y="0"/>
              <a:ext cx="6705600" cy="4653153"/>
            </a:xfrm>
            <a:custGeom>
              <a:avLst/>
              <a:gdLst/>
              <a:ahLst/>
              <a:cxnLst/>
              <a:rect r="r" b="b" t="t" l="l"/>
              <a:pathLst>
                <a:path h="4653153" w="6705600">
                  <a:moveTo>
                    <a:pt x="0" y="0"/>
                  </a:moveTo>
                  <a:lnTo>
                    <a:pt x="6705600" y="0"/>
                  </a:lnTo>
                  <a:lnTo>
                    <a:pt x="6705600" y="4653153"/>
                  </a:lnTo>
                  <a:lnTo>
                    <a:pt x="0" y="4653153"/>
                  </a:lnTo>
                  <a:lnTo>
                    <a:pt x="0" y="0"/>
                  </a:lnTo>
                  <a:close/>
                </a:path>
              </a:pathLst>
            </a:custGeom>
            <a:blipFill>
              <a:blip r:embed="rId7"/>
              <a:stretch>
                <a:fillRect l="0" t="0" r="0" b="0"/>
              </a:stretch>
            </a:blipFill>
          </p:spPr>
        </p:sp>
      </p:grpSp>
      <p:sp>
        <p:nvSpPr>
          <p:cNvPr name="Freeform 24" id="24"/>
          <p:cNvSpPr/>
          <p:nvPr/>
        </p:nvSpPr>
        <p:spPr>
          <a:xfrm flipH="false" flipV="false" rot="0">
            <a:off x="12686179" y="5831564"/>
            <a:ext cx="5729281" cy="4092858"/>
          </a:xfrm>
          <a:custGeom>
            <a:avLst/>
            <a:gdLst/>
            <a:ahLst/>
            <a:cxnLst/>
            <a:rect r="r" b="b" t="t" l="l"/>
            <a:pathLst>
              <a:path h="4092858" w="5729281">
                <a:moveTo>
                  <a:pt x="0" y="0"/>
                </a:moveTo>
                <a:lnTo>
                  <a:pt x="5729282" y="0"/>
                </a:lnTo>
                <a:lnTo>
                  <a:pt x="5729282" y="4092857"/>
                </a:lnTo>
                <a:lnTo>
                  <a:pt x="0" y="4092857"/>
                </a:lnTo>
                <a:lnTo>
                  <a:pt x="0" y="0"/>
                </a:lnTo>
                <a:close/>
              </a:path>
            </a:pathLst>
          </a:custGeom>
          <a:blipFill>
            <a:blip r:embed="rId8"/>
            <a:stretch>
              <a:fillRect l="0" t="0" r="0" b="0"/>
            </a:stretch>
          </a:blipFill>
        </p:spPr>
      </p:sp>
      <p:sp>
        <p:nvSpPr>
          <p:cNvPr name="Freeform 25" id="25"/>
          <p:cNvSpPr/>
          <p:nvPr/>
        </p:nvSpPr>
        <p:spPr>
          <a:xfrm flipH="false" flipV="false" rot="0">
            <a:off x="175446" y="1423786"/>
            <a:ext cx="1497002" cy="6585403"/>
          </a:xfrm>
          <a:custGeom>
            <a:avLst/>
            <a:gdLst/>
            <a:ahLst/>
            <a:cxnLst/>
            <a:rect r="r" b="b" t="t" l="l"/>
            <a:pathLst>
              <a:path h="6585403" w="1497002">
                <a:moveTo>
                  <a:pt x="0" y="0"/>
                </a:moveTo>
                <a:lnTo>
                  <a:pt x="1497002" y="0"/>
                </a:lnTo>
                <a:lnTo>
                  <a:pt x="1497002" y="6585403"/>
                </a:lnTo>
                <a:lnTo>
                  <a:pt x="0" y="6585403"/>
                </a:lnTo>
                <a:lnTo>
                  <a:pt x="0" y="0"/>
                </a:lnTo>
                <a:close/>
              </a:path>
            </a:pathLst>
          </a:custGeom>
          <a:blipFill>
            <a:blip r:embed="rId9"/>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sp>
        <p:nvSpPr>
          <p:cNvPr name="Freeform 2" id="2"/>
          <p:cNvSpPr/>
          <p:nvPr/>
        </p:nvSpPr>
        <p:spPr>
          <a:xfrm flipH="false" flipV="false" rot="0">
            <a:off x="3499281" y="0"/>
            <a:ext cx="7799275" cy="3588496"/>
          </a:xfrm>
          <a:custGeom>
            <a:avLst/>
            <a:gdLst/>
            <a:ahLst/>
            <a:cxnLst/>
            <a:rect r="r" b="b" t="t" l="l"/>
            <a:pathLst>
              <a:path h="3588496" w="7799275">
                <a:moveTo>
                  <a:pt x="0" y="0"/>
                </a:moveTo>
                <a:lnTo>
                  <a:pt x="7799276" y="0"/>
                </a:lnTo>
                <a:lnTo>
                  <a:pt x="7799276" y="3588496"/>
                </a:lnTo>
                <a:lnTo>
                  <a:pt x="0" y="3588496"/>
                </a:lnTo>
                <a:lnTo>
                  <a:pt x="0" y="0"/>
                </a:lnTo>
                <a:close/>
              </a:path>
            </a:pathLst>
          </a:custGeom>
          <a:blipFill>
            <a:blip r:embed="rId2"/>
            <a:stretch>
              <a:fillRect l="0" t="0" r="0" b="0"/>
            </a:stretch>
          </a:blipFill>
        </p:spPr>
      </p:sp>
      <p:sp>
        <p:nvSpPr>
          <p:cNvPr name="Freeform 3" id="3"/>
          <p:cNvSpPr/>
          <p:nvPr/>
        </p:nvSpPr>
        <p:spPr>
          <a:xfrm flipH="false" flipV="false" rot="0">
            <a:off x="222261" y="7508596"/>
            <a:ext cx="9019814" cy="2680735"/>
          </a:xfrm>
          <a:custGeom>
            <a:avLst/>
            <a:gdLst/>
            <a:ahLst/>
            <a:cxnLst/>
            <a:rect r="r" b="b" t="t" l="l"/>
            <a:pathLst>
              <a:path h="2680735" w="9019814">
                <a:moveTo>
                  <a:pt x="0" y="0"/>
                </a:moveTo>
                <a:lnTo>
                  <a:pt x="9019814" y="0"/>
                </a:lnTo>
                <a:lnTo>
                  <a:pt x="9019814" y="2680735"/>
                </a:lnTo>
                <a:lnTo>
                  <a:pt x="0" y="2680735"/>
                </a:lnTo>
                <a:lnTo>
                  <a:pt x="0" y="0"/>
                </a:lnTo>
                <a:close/>
              </a:path>
            </a:pathLst>
          </a:custGeom>
          <a:blipFill>
            <a:blip r:embed="rId3"/>
            <a:stretch>
              <a:fillRect l="0" t="0" r="0" b="0"/>
            </a:stretch>
          </a:blipFill>
        </p:spPr>
      </p:sp>
      <p:sp>
        <p:nvSpPr>
          <p:cNvPr name="Freeform 4" id="4"/>
          <p:cNvSpPr/>
          <p:nvPr/>
        </p:nvSpPr>
        <p:spPr>
          <a:xfrm flipH="false" flipV="false" rot="0">
            <a:off x="8381354" y="7392414"/>
            <a:ext cx="9364395" cy="2760165"/>
          </a:xfrm>
          <a:custGeom>
            <a:avLst/>
            <a:gdLst/>
            <a:ahLst/>
            <a:cxnLst/>
            <a:rect r="r" b="b" t="t" l="l"/>
            <a:pathLst>
              <a:path h="2760165" w="9364395">
                <a:moveTo>
                  <a:pt x="0" y="0"/>
                </a:moveTo>
                <a:lnTo>
                  <a:pt x="9364395" y="0"/>
                </a:lnTo>
                <a:lnTo>
                  <a:pt x="9364395" y="2760164"/>
                </a:lnTo>
                <a:lnTo>
                  <a:pt x="0" y="2760164"/>
                </a:lnTo>
                <a:lnTo>
                  <a:pt x="0" y="0"/>
                </a:lnTo>
                <a:close/>
              </a:path>
            </a:pathLst>
          </a:custGeom>
          <a:blipFill>
            <a:blip r:embed="rId4"/>
            <a:stretch>
              <a:fillRect l="0" t="0" r="0" b="0"/>
            </a:stretch>
          </a:blipFill>
        </p:spPr>
      </p:sp>
      <p:sp>
        <p:nvSpPr>
          <p:cNvPr name="Freeform 5" id="5"/>
          <p:cNvSpPr/>
          <p:nvPr/>
        </p:nvSpPr>
        <p:spPr>
          <a:xfrm flipH="false" flipV="false" rot="0">
            <a:off x="3544265" y="3822692"/>
            <a:ext cx="5697810" cy="3685904"/>
          </a:xfrm>
          <a:custGeom>
            <a:avLst/>
            <a:gdLst/>
            <a:ahLst/>
            <a:cxnLst/>
            <a:rect r="r" b="b" t="t" l="l"/>
            <a:pathLst>
              <a:path h="3685904" w="5697810">
                <a:moveTo>
                  <a:pt x="0" y="0"/>
                </a:moveTo>
                <a:lnTo>
                  <a:pt x="5697810" y="0"/>
                </a:lnTo>
                <a:lnTo>
                  <a:pt x="5697810" y="3685904"/>
                </a:lnTo>
                <a:lnTo>
                  <a:pt x="0" y="3685904"/>
                </a:lnTo>
                <a:lnTo>
                  <a:pt x="0" y="0"/>
                </a:lnTo>
                <a:close/>
              </a:path>
            </a:pathLst>
          </a:custGeom>
          <a:blipFill>
            <a:blip r:embed="rId5"/>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sp>
        <p:nvSpPr>
          <p:cNvPr name="Freeform 2" id="2"/>
          <p:cNvSpPr/>
          <p:nvPr/>
        </p:nvSpPr>
        <p:spPr>
          <a:xfrm flipH="false" flipV="false" rot="0">
            <a:off x="353631" y="179264"/>
            <a:ext cx="12908760" cy="6185086"/>
          </a:xfrm>
          <a:custGeom>
            <a:avLst/>
            <a:gdLst/>
            <a:ahLst/>
            <a:cxnLst/>
            <a:rect r="r" b="b" t="t" l="l"/>
            <a:pathLst>
              <a:path h="6185086" w="12908760">
                <a:moveTo>
                  <a:pt x="0" y="0"/>
                </a:moveTo>
                <a:lnTo>
                  <a:pt x="12908760" y="0"/>
                </a:lnTo>
                <a:lnTo>
                  <a:pt x="12908760" y="6185086"/>
                </a:lnTo>
                <a:lnTo>
                  <a:pt x="0" y="6185086"/>
                </a:lnTo>
                <a:lnTo>
                  <a:pt x="0" y="0"/>
                </a:lnTo>
                <a:close/>
              </a:path>
            </a:pathLst>
          </a:custGeom>
          <a:blipFill>
            <a:blip r:embed="rId2"/>
            <a:stretch>
              <a:fillRect l="0" t="0" r="0" b="0"/>
            </a:stretch>
          </a:blipFill>
        </p:spPr>
      </p:sp>
      <p:sp>
        <p:nvSpPr>
          <p:cNvPr name="Freeform 3" id="3"/>
          <p:cNvSpPr/>
          <p:nvPr/>
        </p:nvSpPr>
        <p:spPr>
          <a:xfrm flipH="false" flipV="false" rot="0">
            <a:off x="709497" y="6364350"/>
            <a:ext cx="11493719" cy="4122579"/>
          </a:xfrm>
          <a:custGeom>
            <a:avLst/>
            <a:gdLst/>
            <a:ahLst/>
            <a:cxnLst/>
            <a:rect r="r" b="b" t="t" l="l"/>
            <a:pathLst>
              <a:path h="4122579" w="11493719">
                <a:moveTo>
                  <a:pt x="0" y="0"/>
                </a:moveTo>
                <a:lnTo>
                  <a:pt x="11493719" y="0"/>
                </a:lnTo>
                <a:lnTo>
                  <a:pt x="11493719" y="4122579"/>
                </a:lnTo>
                <a:lnTo>
                  <a:pt x="0" y="4122579"/>
                </a:lnTo>
                <a:lnTo>
                  <a:pt x="0" y="0"/>
                </a:lnTo>
                <a:close/>
              </a:path>
            </a:pathLst>
          </a:custGeom>
          <a:blipFill>
            <a:blip r:embed="rId3"/>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388463" y="275439"/>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1829776" y="385253"/>
            <a:ext cx="15099392" cy="1235412"/>
            <a:chOff x="0" y="0"/>
            <a:chExt cx="20132523" cy="1647215"/>
          </a:xfrm>
        </p:grpSpPr>
        <p:sp>
          <p:nvSpPr>
            <p:cNvPr name="Freeform 7" id="7"/>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3">
                <a:alphaModFix amt="0"/>
              </a:blip>
              <a:stretch>
                <a:fillRect l="0" t="-187986" r="0" b="-187987"/>
              </a:stretch>
            </a:blipFill>
          </p:spPr>
        </p:sp>
      </p:grpSp>
      <p:grpSp>
        <p:nvGrpSpPr>
          <p:cNvPr name="Group 8" id="8"/>
          <p:cNvGrpSpPr/>
          <p:nvPr/>
        </p:nvGrpSpPr>
        <p:grpSpPr>
          <a:xfrm rot="0">
            <a:off x="686333" y="9718519"/>
            <a:ext cx="8236039" cy="411804"/>
            <a:chOff x="0" y="0"/>
            <a:chExt cx="10981385" cy="549072"/>
          </a:xfrm>
        </p:grpSpPr>
        <p:sp>
          <p:nvSpPr>
            <p:cNvPr name="Freeform 9" id="9"/>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0" id="10"/>
          <p:cNvGrpSpPr/>
          <p:nvPr/>
        </p:nvGrpSpPr>
        <p:grpSpPr>
          <a:xfrm rot="0">
            <a:off x="686333" y="9704232"/>
            <a:ext cx="8236039" cy="426091"/>
            <a:chOff x="0" y="0"/>
            <a:chExt cx="10981385" cy="568122"/>
          </a:xfrm>
        </p:grpSpPr>
        <p:sp>
          <p:nvSpPr>
            <p:cNvPr name="Freeform 11" id="11"/>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2" id="12"/>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3" id="13"/>
          <p:cNvGrpSpPr/>
          <p:nvPr/>
        </p:nvGrpSpPr>
        <p:grpSpPr>
          <a:xfrm rot="0">
            <a:off x="16242830" y="9718519"/>
            <a:ext cx="1372676" cy="411804"/>
            <a:chOff x="0" y="0"/>
            <a:chExt cx="1830235" cy="549072"/>
          </a:xfrm>
        </p:grpSpPr>
        <p:sp>
          <p:nvSpPr>
            <p:cNvPr name="Freeform 14" id="14"/>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sp>
        <p:nvSpPr>
          <p:cNvPr name="Freeform 15" id="15"/>
          <p:cNvSpPr/>
          <p:nvPr/>
        </p:nvSpPr>
        <p:spPr>
          <a:xfrm flipH="false" flipV="false" rot="0">
            <a:off x="-1025308" y="1719575"/>
            <a:ext cx="9757266" cy="6847849"/>
          </a:xfrm>
          <a:custGeom>
            <a:avLst/>
            <a:gdLst/>
            <a:ahLst/>
            <a:cxnLst/>
            <a:rect r="r" b="b" t="t" l="l"/>
            <a:pathLst>
              <a:path h="6847849" w="9757266">
                <a:moveTo>
                  <a:pt x="0" y="0"/>
                </a:moveTo>
                <a:lnTo>
                  <a:pt x="9757267" y="0"/>
                </a:lnTo>
                <a:lnTo>
                  <a:pt x="9757267" y="6847850"/>
                </a:lnTo>
                <a:lnTo>
                  <a:pt x="0" y="6847850"/>
                </a:lnTo>
                <a:lnTo>
                  <a:pt x="0" y="0"/>
                </a:lnTo>
                <a:close/>
              </a:path>
            </a:pathLst>
          </a:custGeom>
          <a:blipFill>
            <a:blip r:embed="rId5"/>
            <a:stretch>
              <a:fillRect l="0" t="0" r="0" b="0"/>
            </a:stretch>
          </a:blipFill>
        </p:spPr>
      </p:sp>
      <p:sp>
        <p:nvSpPr>
          <p:cNvPr name="Freeform 16" id="16"/>
          <p:cNvSpPr/>
          <p:nvPr/>
        </p:nvSpPr>
        <p:spPr>
          <a:xfrm flipH="false" flipV="false" rot="0">
            <a:off x="9144000" y="1853972"/>
            <a:ext cx="8989598" cy="5510312"/>
          </a:xfrm>
          <a:custGeom>
            <a:avLst/>
            <a:gdLst/>
            <a:ahLst/>
            <a:cxnLst/>
            <a:rect r="r" b="b" t="t" l="l"/>
            <a:pathLst>
              <a:path h="5510312" w="8989598">
                <a:moveTo>
                  <a:pt x="0" y="0"/>
                </a:moveTo>
                <a:lnTo>
                  <a:pt x="8989598" y="0"/>
                </a:lnTo>
                <a:lnTo>
                  <a:pt x="8989598" y="5510312"/>
                </a:lnTo>
                <a:lnTo>
                  <a:pt x="0" y="5510312"/>
                </a:lnTo>
                <a:lnTo>
                  <a:pt x="0" y="0"/>
                </a:lnTo>
                <a:close/>
              </a:path>
            </a:pathLst>
          </a:custGeom>
          <a:blipFill>
            <a:blip r:embed="rId6"/>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sp>
        <p:nvSpPr>
          <p:cNvPr name="Freeform 2" id="2"/>
          <p:cNvSpPr/>
          <p:nvPr/>
        </p:nvSpPr>
        <p:spPr>
          <a:xfrm flipH="false" flipV="false" rot="0">
            <a:off x="6039562" y="1064775"/>
            <a:ext cx="5378001" cy="3268981"/>
          </a:xfrm>
          <a:custGeom>
            <a:avLst/>
            <a:gdLst/>
            <a:ahLst/>
            <a:cxnLst/>
            <a:rect r="r" b="b" t="t" l="l"/>
            <a:pathLst>
              <a:path h="3268981" w="5378001">
                <a:moveTo>
                  <a:pt x="0" y="0"/>
                </a:moveTo>
                <a:lnTo>
                  <a:pt x="5378002" y="0"/>
                </a:lnTo>
                <a:lnTo>
                  <a:pt x="5378002" y="3268982"/>
                </a:lnTo>
                <a:lnTo>
                  <a:pt x="0" y="3268982"/>
                </a:lnTo>
                <a:lnTo>
                  <a:pt x="0" y="0"/>
                </a:lnTo>
                <a:close/>
              </a:path>
            </a:pathLst>
          </a:custGeom>
          <a:blipFill>
            <a:blip r:embed="rId2"/>
            <a:stretch>
              <a:fillRect l="0" t="0" r="0" b="0"/>
            </a:stretch>
          </a:blipFill>
        </p:spPr>
      </p:sp>
      <p:sp>
        <p:nvSpPr>
          <p:cNvPr name="Freeform 3" id="3"/>
          <p:cNvSpPr/>
          <p:nvPr/>
        </p:nvSpPr>
        <p:spPr>
          <a:xfrm flipH="false" flipV="false" rot="0">
            <a:off x="11716665" y="745114"/>
            <a:ext cx="6429792" cy="3908305"/>
          </a:xfrm>
          <a:custGeom>
            <a:avLst/>
            <a:gdLst/>
            <a:ahLst/>
            <a:cxnLst/>
            <a:rect r="r" b="b" t="t" l="l"/>
            <a:pathLst>
              <a:path h="3908305" w="6429792">
                <a:moveTo>
                  <a:pt x="0" y="0"/>
                </a:moveTo>
                <a:lnTo>
                  <a:pt x="6429791" y="0"/>
                </a:lnTo>
                <a:lnTo>
                  <a:pt x="6429791" y="3908304"/>
                </a:lnTo>
                <a:lnTo>
                  <a:pt x="0" y="3908304"/>
                </a:lnTo>
                <a:lnTo>
                  <a:pt x="0" y="0"/>
                </a:lnTo>
                <a:close/>
              </a:path>
            </a:pathLst>
          </a:custGeom>
          <a:blipFill>
            <a:blip r:embed="rId3"/>
            <a:stretch>
              <a:fillRect l="0" t="0" r="0" b="0"/>
            </a:stretch>
          </a:blipFill>
        </p:spPr>
      </p:sp>
      <p:sp>
        <p:nvSpPr>
          <p:cNvPr name="Freeform 4" id="4"/>
          <p:cNvSpPr/>
          <p:nvPr/>
        </p:nvSpPr>
        <p:spPr>
          <a:xfrm flipH="false" flipV="false" rot="0">
            <a:off x="230062" y="5371882"/>
            <a:ext cx="7745412" cy="4707996"/>
          </a:xfrm>
          <a:custGeom>
            <a:avLst/>
            <a:gdLst/>
            <a:ahLst/>
            <a:cxnLst/>
            <a:rect r="r" b="b" t="t" l="l"/>
            <a:pathLst>
              <a:path h="4707996" w="7745412">
                <a:moveTo>
                  <a:pt x="0" y="0"/>
                </a:moveTo>
                <a:lnTo>
                  <a:pt x="7745412" y="0"/>
                </a:lnTo>
                <a:lnTo>
                  <a:pt x="7745412" y="4707995"/>
                </a:lnTo>
                <a:lnTo>
                  <a:pt x="0" y="4707995"/>
                </a:lnTo>
                <a:lnTo>
                  <a:pt x="0" y="0"/>
                </a:lnTo>
                <a:close/>
              </a:path>
            </a:pathLst>
          </a:custGeom>
          <a:blipFill>
            <a:blip r:embed="rId4"/>
            <a:stretch>
              <a:fillRect l="0" t="0" r="0" b="0"/>
            </a:stretch>
          </a:blipFill>
        </p:spPr>
      </p:sp>
      <p:sp>
        <p:nvSpPr>
          <p:cNvPr name="Freeform 5" id="5"/>
          <p:cNvSpPr/>
          <p:nvPr/>
        </p:nvSpPr>
        <p:spPr>
          <a:xfrm flipH="false" flipV="false" rot="0">
            <a:off x="8728563" y="5600368"/>
            <a:ext cx="7383754" cy="4479509"/>
          </a:xfrm>
          <a:custGeom>
            <a:avLst/>
            <a:gdLst/>
            <a:ahLst/>
            <a:cxnLst/>
            <a:rect r="r" b="b" t="t" l="l"/>
            <a:pathLst>
              <a:path h="4479509" w="7383754">
                <a:moveTo>
                  <a:pt x="0" y="0"/>
                </a:moveTo>
                <a:lnTo>
                  <a:pt x="7383755" y="0"/>
                </a:lnTo>
                <a:lnTo>
                  <a:pt x="7383755" y="4479509"/>
                </a:lnTo>
                <a:lnTo>
                  <a:pt x="0" y="4479509"/>
                </a:lnTo>
                <a:lnTo>
                  <a:pt x="0" y="0"/>
                </a:lnTo>
                <a:close/>
              </a:path>
            </a:pathLst>
          </a:custGeom>
          <a:blipFill>
            <a:blip r:embed="rId5"/>
            <a:stretch>
              <a:fillRect l="0" t="0" r="0" b="0"/>
            </a:stretch>
          </a:blipFill>
        </p:spPr>
      </p:sp>
      <p:sp>
        <p:nvSpPr>
          <p:cNvPr name="Freeform 6" id="6"/>
          <p:cNvSpPr/>
          <p:nvPr/>
        </p:nvSpPr>
        <p:spPr>
          <a:xfrm flipH="false" flipV="false" rot="0">
            <a:off x="103896" y="1170240"/>
            <a:ext cx="5741464" cy="3483179"/>
          </a:xfrm>
          <a:custGeom>
            <a:avLst/>
            <a:gdLst/>
            <a:ahLst/>
            <a:cxnLst/>
            <a:rect r="r" b="b" t="t" l="l"/>
            <a:pathLst>
              <a:path h="3483179" w="5741464">
                <a:moveTo>
                  <a:pt x="0" y="0"/>
                </a:moveTo>
                <a:lnTo>
                  <a:pt x="5741464" y="0"/>
                </a:lnTo>
                <a:lnTo>
                  <a:pt x="5741464" y="3483178"/>
                </a:lnTo>
                <a:lnTo>
                  <a:pt x="0" y="3483178"/>
                </a:lnTo>
                <a:lnTo>
                  <a:pt x="0" y="0"/>
                </a:lnTo>
                <a:close/>
              </a:path>
            </a:pathLst>
          </a:custGeom>
          <a:blipFill>
            <a:blip r:embed="rId6"/>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686333" y="686333"/>
            <a:ext cx="1784471" cy="1235402"/>
            <a:chOff x="0" y="0"/>
            <a:chExt cx="2379294" cy="1647203"/>
          </a:xfrm>
        </p:grpSpPr>
        <p:sp>
          <p:nvSpPr>
            <p:cNvPr name="Freeform 3" id="3"/>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2">
                <a:alphaModFix amt="0"/>
              </a:blip>
              <a:stretch>
                <a:fillRect l="-38886" t="0" r="-38884" b="0"/>
              </a:stretch>
            </a:blipFill>
          </p:spPr>
        </p:sp>
      </p:grpSp>
      <p:grpSp>
        <p:nvGrpSpPr>
          <p:cNvPr name="Group 4" id="4"/>
          <p:cNvGrpSpPr/>
          <p:nvPr/>
        </p:nvGrpSpPr>
        <p:grpSpPr>
          <a:xfrm rot="0">
            <a:off x="2127647" y="796147"/>
            <a:ext cx="14413059" cy="1235402"/>
            <a:chOff x="0" y="0"/>
            <a:chExt cx="19217411" cy="1647203"/>
          </a:xfrm>
        </p:grpSpPr>
        <p:sp>
          <p:nvSpPr>
            <p:cNvPr name="Freeform 5" id="5"/>
            <p:cNvSpPr/>
            <p:nvPr/>
          </p:nvSpPr>
          <p:spPr>
            <a:xfrm flipH="false" flipV="false" rot="0">
              <a:off x="0" y="0"/>
              <a:ext cx="19217387" cy="1647190"/>
            </a:xfrm>
            <a:custGeom>
              <a:avLst/>
              <a:gdLst/>
              <a:ahLst/>
              <a:cxnLst/>
              <a:rect r="r" b="b" t="t" l="l"/>
              <a:pathLst>
                <a:path h="1647190" w="19217387">
                  <a:moveTo>
                    <a:pt x="0" y="0"/>
                  </a:moveTo>
                  <a:lnTo>
                    <a:pt x="19217387" y="0"/>
                  </a:lnTo>
                  <a:lnTo>
                    <a:pt x="19217387" y="1647190"/>
                  </a:lnTo>
                  <a:lnTo>
                    <a:pt x="0" y="1647190"/>
                  </a:lnTo>
                  <a:close/>
                </a:path>
              </a:pathLst>
            </a:custGeom>
            <a:blipFill>
              <a:blip r:embed="rId2">
                <a:alphaModFix amt="0"/>
              </a:blip>
              <a:stretch>
                <a:fillRect l="0" t="-177169" r="0" b="-177169"/>
              </a:stretch>
            </a:blipFill>
          </p:spPr>
        </p:sp>
      </p:grpSp>
      <p:grpSp>
        <p:nvGrpSpPr>
          <p:cNvPr name="Group 6" id="6"/>
          <p:cNvGrpSpPr/>
          <p:nvPr/>
        </p:nvGrpSpPr>
        <p:grpSpPr>
          <a:xfrm rot="0">
            <a:off x="821815" y="491896"/>
            <a:ext cx="14413059" cy="1263977"/>
            <a:chOff x="0" y="0"/>
            <a:chExt cx="19217411" cy="1685303"/>
          </a:xfrm>
        </p:grpSpPr>
        <p:sp>
          <p:nvSpPr>
            <p:cNvPr name="Freeform 7" id="7"/>
            <p:cNvSpPr/>
            <p:nvPr/>
          </p:nvSpPr>
          <p:spPr>
            <a:xfrm flipH="false" flipV="false" rot="0">
              <a:off x="0" y="0"/>
              <a:ext cx="19217411" cy="1685303"/>
            </a:xfrm>
            <a:custGeom>
              <a:avLst/>
              <a:gdLst/>
              <a:ahLst/>
              <a:cxnLst/>
              <a:rect r="r" b="b" t="t" l="l"/>
              <a:pathLst>
                <a:path h="1685303" w="19217411">
                  <a:moveTo>
                    <a:pt x="0" y="0"/>
                  </a:moveTo>
                  <a:lnTo>
                    <a:pt x="19217411" y="0"/>
                  </a:lnTo>
                  <a:lnTo>
                    <a:pt x="19217411" y="1685303"/>
                  </a:lnTo>
                  <a:lnTo>
                    <a:pt x="0" y="1685303"/>
                  </a:lnTo>
                  <a:close/>
                </a:path>
              </a:pathLst>
            </a:custGeom>
            <a:blipFill>
              <a:blip r:embed="rId3">
                <a:alphaModFix amt="0"/>
              </a:blip>
              <a:stretch>
                <a:fillRect l="0" t="-172186" r="0" b="-172186"/>
              </a:stretch>
            </a:blipFill>
          </p:spPr>
        </p:sp>
        <p:sp>
          <p:nvSpPr>
            <p:cNvPr name="TextBox 8" id="8"/>
            <p:cNvSpPr txBox="true"/>
            <p:nvPr/>
          </p:nvSpPr>
          <p:spPr>
            <a:xfrm>
              <a:off x="0" y="-38100"/>
              <a:ext cx="19217411" cy="1723403"/>
            </a:xfrm>
            <a:prstGeom prst="rect">
              <a:avLst/>
            </a:prstGeom>
          </p:spPr>
          <p:txBody>
            <a:bodyPr anchor="ctr" rtlCol="false" tIns="0" lIns="0" bIns="0" rIns="0"/>
            <a:lstStyle/>
            <a:p>
              <a:pPr algn="l">
                <a:lnSpc>
                  <a:spcPts val="4683"/>
                </a:lnSpc>
              </a:pPr>
              <a:r>
                <a:rPr lang="en-US" sz="3903" b="true">
                  <a:solidFill>
                    <a:srgbClr val="1F3338"/>
                  </a:solidFill>
                  <a:latin typeface="Poppins Bold"/>
                  <a:ea typeface="Poppins Bold"/>
                  <a:cs typeface="Poppins Bold"/>
                  <a:sym typeface="Poppins Bold"/>
                </a:rPr>
                <a:t>Recruiter Subscription &amp; Billing</a:t>
              </a:r>
            </a:p>
          </p:txBody>
        </p:sp>
      </p:grpSp>
      <p:grpSp>
        <p:nvGrpSpPr>
          <p:cNvPr name="Group 9" id="9"/>
          <p:cNvGrpSpPr/>
          <p:nvPr/>
        </p:nvGrpSpPr>
        <p:grpSpPr>
          <a:xfrm rot="0">
            <a:off x="16815235" y="686333"/>
            <a:ext cx="754952" cy="754952"/>
            <a:chOff x="0" y="0"/>
            <a:chExt cx="1006602" cy="1006602"/>
          </a:xfrm>
        </p:grpSpPr>
        <p:sp>
          <p:nvSpPr>
            <p:cNvPr name="Freeform 10" id="10"/>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4"/>
              <a:stretch>
                <a:fillRect l="0" t="0" r="0" b="0"/>
              </a:stretch>
            </a:blipFill>
          </p:spPr>
        </p:sp>
      </p:grpSp>
      <p:grpSp>
        <p:nvGrpSpPr>
          <p:cNvPr name="Group 11" id="11"/>
          <p:cNvGrpSpPr/>
          <p:nvPr/>
        </p:nvGrpSpPr>
        <p:grpSpPr>
          <a:xfrm rot="0">
            <a:off x="6400800" y="1828800"/>
            <a:ext cx="5486400" cy="640080"/>
            <a:chOff x="0" y="0"/>
            <a:chExt cx="7315200" cy="853440"/>
          </a:xfrm>
        </p:grpSpPr>
        <p:sp>
          <p:nvSpPr>
            <p:cNvPr name="Freeform 12" id="12"/>
            <p:cNvSpPr/>
            <p:nvPr/>
          </p:nvSpPr>
          <p:spPr>
            <a:xfrm flipH="false" flipV="false" rot="0">
              <a:off x="0" y="0"/>
              <a:ext cx="7315200" cy="853440"/>
            </a:xfrm>
            <a:custGeom>
              <a:avLst/>
              <a:gdLst/>
              <a:ahLst/>
              <a:cxnLst/>
              <a:rect r="r" b="b" t="t" l="l"/>
              <a:pathLst>
                <a:path h="853440" w="7315200">
                  <a:moveTo>
                    <a:pt x="0" y="146304"/>
                  </a:moveTo>
                  <a:cubicBezTo>
                    <a:pt x="0" y="65532"/>
                    <a:pt x="65532" y="0"/>
                    <a:pt x="146304" y="0"/>
                  </a:cubicBezTo>
                  <a:lnTo>
                    <a:pt x="7168896" y="0"/>
                  </a:lnTo>
                  <a:cubicBezTo>
                    <a:pt x="7249668" y="0"/>
                    <a:pt x="7315200" y="65532"/>
                    <a:pt x="7315200" y="146304"/>
                  </a:cubicBezTo>
                  <a:lnTo>
                    <a:pt x="7315200" y="707136"/>
                  </a:lnTo>
                  <a:cubicBezTo>
                    <a:pt x="7315200" y="787908"/>
                    <a:pt x="7249668" y="853440"/>
                    <a:pt x="7168896" y="853440"/>
                  </a:cubicBezTo>
                  <a:lnTo>
                    <a:pt x="146304" y="853440"/>
                  </a:lnTo>
                  <a:cubicBezTo>
                    <a:pt x="65532" y="853440"/>
                    <a:pt x="0" y="787908"/>
                    <a:pt x="0" y="707136"/>
                  </a:cubicBezTo>
                  <a:close/>
                </a:path>
              </a:pathLst>
            </a:custGeom>
            <a:solidFill>
              <a:srgbClr val="737AE6"/>
            </a:solidFill>
          </p:spPr>
        </p:sp>
      </p:grpSp>
      <p:grpSp>
        <p:nvGrpSpPr>
          <p:cNvPr name="Group 13" id="13"/>
          <p:cNvGrpSpPr/>
          <p:nvPr/>
        </p:nvGrpSpPr>
        <p:grpSpPr>
          <a:xfrm rot="0">
            <a:off x="6400800" y="1828800"/>
            <a:ext cx="5486400" cy="640080"/>
            <a:chOff x="0" y="0"/>
            <a:chExt cx="7315200" cy="853440"/>
          </a:xfrm>
        </p:grpSpPr>
        <p:sp>
          <p:nvSpPr>
            <p:cNvPr name="Freeform 14" id="14"/>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2">
                <a:alphaModFix amt="0"/>
              </a:blip>
              <a:stretch>
                <a:fillRect l="0" t="-116898" r="0" b="-116898"/>
              </a:stretch>
            </a:blipFill>
          </p:spPr>
        </p:sp>
      </p:grpSp>
      <p:grpSp>
        <p:nvGrpSpPr>
          <p:cNvPr name="Group 15" id="15"/>
          <p:cNvGrpSpPr/>
          <p:nvPr/>
        </p:nvGrpSpPr>
        <p:grpSpPr>
          <a:xfrm rot="0">
            <a:off x="6400800" y="1814512"/>
            <a:ext cx="5486400" cy="654368"/>
            <a:chOff x="0" y="0"/>
            <a:chExt cx="7315200" cy="872490"/>
          </a:xfrm>
        </p:grpSpPr>
        <p:sp>
          <p:nvSpPr>
            <p:cNvPr name="Freeform 16" id="16"/>
            <p:cNvSpPr/>
            <p:nvPr/>
          </p:nvSpPr>
          <p:spPr>
            <a:xfrm flipH="false" flipV="false" rot="0">
              <a:off x="0" y="0"/>
              <a:ext cx="7315200" cy="872490"/>
            </a:xfrm>
            <a:custGeom>
              <a:avLst/>
              <a:gdLst/>
              <a:ahLst/>
              <a:cxnLst/>
              <a:rect r="r" b="b" t="t" l="l"/>
              <a:pathLst>
                <a:path h="872490" w="7315200">
                  <a:moveTo>
                    <a:pt x="0" y="0"/>
                  </a:moveTo>
                  <a:lnTo>
                    <a:pt x="7315200" y="0"/>
                  </a:lnTo>
                  <a:lnTo>
                    <a:pt x="7315200" y="872490"/>
                  </a:lnTo>
                  <a:lnTo>
                    <a:pt x="0" y="872490"/>
                  </a:lnTo>
                  <a:close/>
                </a:path>
              </a:pathLst>
            </a:custGeom>
            <a:blipFill>
              <a:blip r:embed="rId3">
                <a:alphaModFix amt="0"/>
              </a:blip>
              <a:stretch>
                <a:fillRect l="0" t="-113367" r="0" b="-113367"/>
              </a:stretch>
            </a:blipFill>
          </p:spPr>
        </p:sp>
        <p:sp>
          <p:nvSpPr>
            <p:cNvPr name="TextBox 17" id="17"/>
            <p:cNvSpPr txBox="true"/>
            <p:nvPr/>
          </p:nvSpPr>
          <p:spPr>
            <a:xfrm>
              <a:off x="0" y="-19050"/>
              <a:ext cx="7315200" cy="891540"/>
            </a:xfrm>
            <a:prstGeom prst="rect">
              <a:avLst/>
            </a:prstGeom>
          </p:spPr>
          <p:txBody>
            <a:bodyPr anchor="ctr" rtlCol="false" tIns="0" lIns="0" bIns="0" rIns="0"/>
            <a:lstStyle/>
            <a:p>
              <a:pPr algn="ctr">
                <a:lnSpc>
                  <a:spcPts val="1800"/>
                </a:lnSpc>
              </a:pPr>
              <a:r>
                <a:rPr lang="en-US" sz="1500" b="true">
                  <a:solidFill>
                    <a:srgbClr val="FFFFFF"/>
                  </a:solidFill>
                  <a:latin typeface="Poppins Bold"/>
                  <a:ea typeface="Poppins Bold"/>
                  <a:cs typeface="Poppins Bold"/>
                  <a:sym typeface="Poppins Bold"/>
                </a:rPr>
                <a:t>Recruiter browses HOD packages</a:t>
              </a:r>
            </a:p>
          </p:txBody>
        </p:sp>
      </p:grpSp>
      <p:grpSp>
        <p:nvGrpSpPr>
          <p:cNvPr name="Group 18" id="18"/>
          <p:cNvGrpSpPr/>
          <p:nvPr/>
        </p:nvGrpSpPr>
        <p:grpSpPr>
          <a:xfrm rot="0">
            <a:off x="9102852" y="2468880"/>
            <a:ext cx="82296" cy="237744"/>
            <a:chOff x="0" y="0"/>
            <a:chExt cx="109728" cy="316992"/>
          </a:xfrm>
        </p:grpSpPr>
        <p:sp>
          <p:nvSpPr>
            <p:cNvPr name="Freeform 19" id="19"/>
            <p:cNvSpPr/>
            <p:nvPr/>
          </p:nvSpPr>
          <p:spPr>
            <a:xfrm flipH="false" flipV="false" rot="0">
              <a:off x="0" y="0"/>
              <a:ext cx="109728" cy="316992"/>
            </a:xfrm>
            <a:custGeom>
              <a:avLst/>
              <a:gdLst/>
              <a:ahLst/>
              <a:cxnLst/>
              <a:rect r="r" b="b" t="t" l="l"/>
              <a:pathLst>
                <a:path h="316992" w="109728">
                  <a:moveTo>
                    <a:pt x="0" y="0"/>
                  </a:moveTo>
                  <a:lnTo>
                    <a:pt x="109728" y="0"/>
                  </a:lnTo>
                  <a:lnTo>
                    <a:pt x="109728" y="316992"/>
                  </a:lnTo>
                  <a:lnTo>
                    <a:pt x="0" y="316992"/>
                  </a:lnTo>
                  <a:close/>
                </a:path>
              </a:pathLst>
            </a:custGeom>
            <a:solidFill>
              <a:srgbClr val="737AE6"/>
            </a:solidFill>
          </p:spPr>
        </p:sp>
      </p:grpSp>
      <p:grpSp>
        <p:nvGrpSpPr>
          <p:cNvPr name="Group 20" id="20"/>
          <p:cNvGrpSpPr/>
          <p:nvPr/>
        </p:nvGrpSpPr>
        <p:grpSpPr>
          <a:xfrm rot="-10800000">
            <a:off x="9025128" y="2706624"/>
            <a:ext cx="237744" cy="146304"/>
            <a:chOff x="0" y="0"/>
            <a:chExt cx="316992" cy="195072"/>
          </a:xfrm>
        </p:grpSpPr>
        <p:sp>
          <p:nvSpPr>
            <p:cNvPr name="Freeform 21" id="21"/>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22" id="22"/>
          <p:cNvGrpSpPr/>
          <p:nvPr/>
        </p:nvGrpSpPr>
        <p:grpSpPr>
          <a:xfrm rot="0">
            <a:off x="6400800" y="2834640"/>
            <a:ext cx="5486400" cy="640080"/>
            <a:chOff x="0" y="0"/>
            <a:chExt cx="7315200" cy="853440"/>
          </a:xfrm>
        </p:grpSpPr>
        <p:sp>
          <p:nvSpPr>
            <p:cNvPr name="Freeform 23" id="23"/>
            <p:cNvSpPr/>
            <p:nvPr/>
          </p:nvSpPr>
          <p:spPr>
            <a:xfrm flipH="false" flipV="false" rot="0">
              <a:off x="0" y="0"/>
              <a:ext cx="7315200" cy="853440"/>
            </a:xfrm>
            <a:custGeom>
              <a:avLst/>
              <a:gdLst/>
              <a:ahLst/>
              <a:cxnLst/>
              <a:rect r="r" b="b" t="t" l="l"/>
              <a:pathLst>
                <a:path h="853440" w="7315200">
                  <a:moveTo>
                    <a:pt x="0" y="146304"/>
                  </a:moveTo>
                  <a:cubicBezTo>
                    <a:pt x="0" y="65532"/>
                    <a:pt x="65532" y="0"/>
                    <a:pt x="146304" y="0"/>
                  </a:cubicBezTo>
                  <a:lnTo>
                    <a:pt x="7168896" y="0"/>
                  </a:lnTo>
                  <a:cubicBezTo>
                    <a:pt x="7249668" y="0"/>
                    <a:pt x="7315200" y="65532"/>
                    <a:pt x="7315200" y="146304"/>
                  </a:cubicBezTo>
                  <a:lnTo>
                    <a:pt x="7315200" y="707136"/>
                  </a:lnTo>
                  <a:cubicBezTo>
                    <a:pt x="7315200" y="787908"/>
                    <a:pt x="7249668" y="853440"/>
                    <a:pt x="7168896" y="853440"/>
                  </a:cubicBezTo>
                  <a:lnTo>
                    <a:pt x="146304" y="853440"/>
                  </a:lnTo>
                  <a:cubicBezTo>
                    <a:pt x="65532" y="853440"/>
                    <a:pt x="0" y="787908"/>
                    <a:pt x="0" y="707136"/>
                  </a:cubicBezTo>
                  <a:close/>
                </a:path>
              </a:pathLst>
            </a:custGeom>
            <a:solidFill>
              <a:srgbClr val="C8DAE4"/>
            </a:solidFill>
          </p:spPr>
        </p:sp>
      </p:grpSp>
      <p:grpSp>
        <p:nvGrpSpPr>
          <p:cNvPr name="Group 24" id="24"/>
          <p:cNvGrpSpPr/>
          <p:nvPr/>
        </p:nvGrpSpPr>
        <p:grpSpPr>
          <a:xfrm rot="0">
            <a:off x="6400800" y="2834640"/>
            <a:ext cx="5486400" cy="640080"/>
            <a:chOff x="0" y="0"/>
            <a:chExt cx="7315200" cy="853440"/>
          </a:xfrm>
        </p:grpSpPr>
        <p:sp>
          <p:nvSpPr>
            <p:cNvPr name="Freeform 25" id="25"/>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2">
                <a:alphaModFix amt="0"/>
              </a:blip>
              <a:stretch>
                <a:fillRect l="0" t="-116898" r="0" b="-116898"/>
              </a:stretch>
            </a:blipFill>
          </p:spPr>
        </p:sp>
      </p:grpSp>
      <p:grpSp>
        <p:nvGrpSpPr>
          <p:cNvPr name="Group 26" id="26"/>
          <p:cNvGrpSpPr/>
          <p:nvPr/>
        </p:nvGrpSpPr>
        <p:grpSpPr>
          <a:xfrm rot="0">
            <a:off x="6400800" y="2820352"/>
            <a:ext cx="5486400" cy="654368"/>
            <a:chOff x="0" y="0"/>
            <a:chExt cx="7315200" cy="872490"/>
          </a:xfrm>
        </p:grpSpPr>
        <p:sp>
          <p:nvSpPr>
            <p:cNvPr name="Freeform 27" id="27"/>
            <p:cNvSpPr/>
            <p:nvPr/>
          </p:nvSpPr>
          <p:spPr>
            <a:xfrm flipH="false" flipV="false" rot="0">
              <a:off x="0" y="0"/>
              <a:ext cx="7315200" cy="872490"/>
            </a:xfrm>
            <a:custGeom>
              <a:avLst/>
              <a:gdLst/>
              <a:ahLst/>
              <a:cxnLst/>
              <a:rect r="r" b="b" t="t" l="l"/>
              <a:pathLst>
                <a:path h="872490" w="7315200">
                  <a:moveTo>
                    <a:pt x="0" y="0"/>
                  </a:moveTo>
                  <a:lnTo>
                    <a:pt x="7315200" y="0"/>
                  </a:lnTo>
                  <a:lnTo>
                    <a:pt x="7315200" y="872490"/>
                  </a:lnTo>
                  <a:lnTo>
                    <a:pt x="0" y="872490"/>
                  </a:lnTo>
                  <a:close/>
                </a:path>
              </a:pathLst>
            </a:custGeom>
            <a:blipFill>
              <a:blip r:embed="rId3">
                <a:alphaModFix amt="0"/>
              </a:blip>
              <a:stretch>
                <a:fillRect l="0" t="-113367" r="0" b="-113367"/>
              </a:stretch>
            </a:blipFill>
          </p:spPr>
        </p:sp>
        <p:sp>
          <p:nvSpPr>
            <p:cNvPr name="TextBox 28" id="28"/>
            <p:cNvSpPr txBox="true"/>
            <p:nvPr/>
          </p:nvSpPr>
          <p:spPr>
            <a:xfrm>
              <a:off x="0" y="-19050"/>
              <a:ext cx="7315200" cy="891540"/>
            </a:xfrm>
            <a:prstGeom prst="rect">
              <a:avLst/>
            </a:prstGeom>
          </p:spPr>
          <p:txBody>
            <a:bodyPr anchor="ctr" rtlCol="false" tIns="0" lIns="0" bIns="0" rIns="0"/>
            <a:lstStyle/>
            <a:p>
              <a:pPr algn="ctr">
                <a:lnSpc>
                  <a:spcPts val="1800"/>
                </a:lnSpc>
              </a:pPr>
              <a:r>
                <a:rPr lang="en-US" sz="1500" b="true">
                  <a:solidFill>
                    <a:srgbClr val="1F3338"/>
                  </a:solidFill>
                  <a:latin typeface="Poppins Bold"/>
                  <a:ea typeface="Poppins Bold"/>
                  <a:cs typeface="Poppins Bold"/>
                  <a:sym typeface="Poppins Bold"/>
                </a:rPr>
                <a:t>Selects a payment method</a:t>
              </a:r>
            </a:p>
          </p:txBody>
        </p:sp>
      </p:grpSp>
      <p:grpSp>
        <p:nvGrpSpPr>
          <p:cNvPr name="Group 29" id="29"/>
          <p:cNvGrpSpPr/>
          <p:nvPr/>
        </p:nvGrpSpPr>
        <p:grpSpPr>
          <a:xfrm rot="0">
            <a:off x="9102852" y="3474720"/>
            <a:ext cx="82296" cy="146304"/>
            <a:chOff x="0" y="0"/>
            <a:chExt cx="109728" cy="195072"/>
          </a:xfrm>
        </p:grpSpPr>
        <p:sp>
          <p:nvSpPr>
            <p:cNvPr name="Freeform 30" id="30"/>
            <p:cNvSpPr/>
            <p:nvPr/>
          </p:nvSpPr>
          <p:spPr>
            <a:xfrm flipH="false" flipV="false" rot="0">
              <a:off x="0" y="0"/>
              <a:ext cx="109728" cy="195072"/>
            </a:xfrm>
            <a:custGeom>
              <a:avLst/>
              <a:gdLst/>
              <a:ahLst/>
              <a:cxnLst/>
              <a:rect r="r" b="b" t="t" l="l"/>
              <a:pathLst>
                <a:path h="195072" w="109728">
                  <a:moveTo>
                    <a:pt x="0" y="0"/>
                  </a:moveTo>
                  <a:lnTo>
                    <a:pt x="109728" y="0"/>
                  </a:lnTo>
                  <a:lnTo>
                    <a:pt x="109728" y="195072"/>
                  </a:lnTo>
                  <a:lnTo>
                    <a:pt x="0" y="195072"/>
                  </a:lnTo>
                  <a:close/>
                </a:path>
              </a:pathLst>
            </a:custGeom>
            <a:solidFill>
              <a:srgbClr val="737AE6"/>
            </a:solidFill>
          </p:spPr>
        </p:sp>
      </p:grpSp>
      <p:grpSp>
        <p:nvGrpSpPr>
          <p:cNvPr name="Group 31" id="31"/>
          <p:cNvGrpSpPr/>
          <p:nvPr/>
        </p:nvGrpSpPr>
        <p:grpSpPr>
          <a:xfrm rot="-10800000">
            <a:off x="9025128" y="3621024"/>
            <a:ext cx="237744" cy="146304"/>
            <a:chOff x="0" y="0"/>
            <a:chExt cx="316992" cy="195072"/>
          </a:xfrm>
        </p:grpSpPr>
        <p:sp>
          <p:nvSpPr>
            <p:cNvPr name="Freeform 32" id="32"/>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33" id="33"/>
          <p:cNvGrpSpPr/>
          <p:nvPr/>
        </p:nvGrpSpPr>
        <p:grpSpPr>
          <a:xfrm rot="0">
            <a:off x="4206240" y="3749040"/>
            <a:ext cx="9875520" cy="82296"/>
            <a:chOff x="0" y="0"/>
            <a:chExt cx="13167360" cy="109728"/>
          </a:xfrm>
        </p:grpSpPr>
        <p:sp>
          <p:nvSpPr>
            <p:cNvPr name="Freeform 34" id="34"/>
            <p:cNvSpPr/>
            <p:nvPr/>
          </p:nvSpPr>
          <p:spPr>
            <a:xfrm flipH="false" flipV="false" rot="0">
              <a:off x="0" y="0"/>
              <a:ext cx="13167361" cy="109728"/>
            </a:xfrm>
            <a:custGeom>
              <a:avLst/>
              <a:gdLst/>
              <a:ahLst/>
              <a:cxnLst/>
              <a:rect r="r" b="b" t="t" l="l"/>
              <a:pathLst>
                <a:path h="109728" w="13167361">
                  <a:moveTo>
                    <a:pt x="0" y="0"/>
                  </a:moveTo>
                  <a:lnTo>
                    <a:pt x="13167361" y="0"/>
                  </a:lnTo>
                  <a:lnTo>
                    <a:pt x="13167361" y="109728"/>
                  </a:lnTo>
                  <a:lnTo>
                    <a:pt x="0" y="109728"/>
                  </a:lnTo>
                  <a:close/>
                </a:path>
              </a:pathLst>
            </a:custGeom>
            <a:solidFill>
              <a:srgbClr val="737AE6"/>
            </a:solidFill>
          </p:spPr>
        </p:sp>
      </p:grpSp>
      <p:grpSp>
        <p:nvGrpSpPr>
          <p:cNvPr name="Group 35" id="35"/>
          <p:cNvGrpSpPr/>
          <p:nvPr/>
        </p:nvGrpSpPr>
        <p:grpSpPr>
          <a:xfrm rot="0">
            <a:off x="4165092" y="3749040"/>
            <a:ext cx="82296" cy="192024"/>
            <a:chOff x="0" y="0"/>
            <a:chExt cx="109728" cy="256032"/>
          </a:xfrm>
        </p:grpSpPr>
        <p:sp>
          <p:nvSpPr>
            <p:cNvPr name="Freeform 36" id="36"/>
            <p:cNvSpPr/>
            <p:nvPr/>
          </p:nvSpPr>
          <p:spPr>
            <a:xfrm flipH="false" flipV="false" rot="0">
              <a:off x="0" y="0"/>
              <a:ext cx="109728" cy="256032"/>
            </a:xfrm>
            <a:custGeom>
              <a:avLst/>
              <a:gdLst/>
              <a:ahLst/>
              <a:cxnLst/>
              <a:rect r="r" b="b" t="t" l="l"/>
              <a:pathLst>
                <a:path h="256032" w="109728">
                  <a:moveTo>
                    <a:pt x="0" y="0"/>
                  </a:moveTo>
                  <a:lnTo>
                    <a:pt x="109728" y="0"/>
                  </a:lnTo>
                  <a:lnTo>
                    <a:pt x="109728" y="256032"/>
                  </a:lnTo>
                  <a:lnTo>
                    <a:pt x="0" y="256032"/>
                  </a:lnTo>
                  <a:close/>
                </a:path>
              </a:pathLst>
            </a:custGeom>
            <a:solidFill>
              <a:srgbClr val="737AE6"/>
            </a:solidFill>
          </p:spPr>
        </p:sp>
      </p:grpSp>
      <p:grpSp>
        <p:nvGrpSpPr>
          <p:cNvPr name="Group 37" id="37"/>
          <p:cNvGrpSpPr/>
          <p:nvPr/>
        </p:nvGrpSpPr>
        <p:grpSpPr>
          <a:xfrm rot="-10800000">
            <a:off x="4087368" y="3941064"/>
            <a:ext cx="237744" cy="146304"/>
            <a:chOff x="0" y="0"/>
            <a:chExt cx="316992" cy="195072"/>
          </a:xfrm>
        </p:grpSpPr>
        <p:sp>
          <p:nvSpPr>
            <p:cNvPr name="Freeform 38" id="38"/>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39" id="39"/>
          <p:cNvGrpSpPr/>
          <p:nvPr/>
        </p:nvGrpSpPr>
        <p:grpSpPr>
          <a:xfrm rot="0">
            <a:off x="14040612" y="3749040"/>
            <a:ext cx="82296" cy="192024"/>
            <a:chOff x="0" y="0"/>
            <a:chExt cx="109728" cy="256032"/>
          </a:xfrm>
        </p:grpSpPr>
        <p:sp>
          <p:nvSpPr>
            <p:cNvPr name="Freeform 40" id="40"/>
            <p:cNvSpPr/>
            <p:nvPr/>
          </p:nvSpPr>
          <p:spPr>
            <a:xfrm flipH="false" flipV="false" rot="0">
              <a:off x="0" y="0"/>
              <a:ext cx="109728" cy="256032"/>
            </a:xfrm>
            <a:custGeom>
              <a:avLst/>
              <a:gdLst/>
              <a:ahLst/>
              <a:cxnLst/>
              <a:rect r="r" b="b" t="t" l="l"/>
              <a:pathLst>
                <a:path h="256032" w="109728">
                  <a:moveTo>
                    <a:pt x="0" y="0"/>
                  </a:moveTo>
                  <a:lnTo>
                    <a:pt x="109728" y="0"/>
                  </a:lnTo>
                  <a:lnTo>
                    <a:pt x="109728" y="256032"/>
                  </a:lnTo>
                  <a:lnTo>
                    <a:pt x="0" y="256032"/>
                  </a:lnTo>
                  <a:close/>
                </a:path>
              </a:pathLst>
            </a:custGeom>
            <a:solidFill>
              <a:srgbClr val="737AE6"/>
            </a:solidFill>
          </p:spPr>
        </p:sp>
      </p:grpSp>
      <p:grpSp>
        <p:nvGrpSpPr>
          <p:cNvPr name="Group 41" id="41"/>
          <p:cNvGrpSpPr/>
          <p:nvPr/>
        </p:nvGrpSpPr>
        <p:grpSpPr>
          <a:xfrm rot="-10800000">
            <a:off x="13962888" y="3941064"/>
            <a:ext cx="237744" cy="146304"/>
            <a:chOff x="0" y="0"/>
            <a:chExt cx="316992" cy="195072"/>
          </a:xfrm>
        </p:grpSpPr>
        <p:sp>
          <p:nvSpPr>
            <p:cNvPr name="Freeform 42" id="42"/>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sp>
        <p:nvSpPr>
          <p:cNvPr name="Freeform 43" id="43"/>
          <p:cNvSpPr/>
          <p:nvPr/>
        </p:nvSpPr>
        <p:spPr>
          <a:xfrm flipH="false" flipV="false" rot="0">
            <a:off x="1266273" y="4055193"/>
            <a:ext cx="5879878" cy="850678"/>
          </a:xfrm>
          <a:custGeom>
            <a:avLst/>
            <a:gdLst/>
            <a:ahLst/>
            <a:cxnLst/>
            <a:rect r="r" b="b" t="t" l="l"/>
            <a:pathLst>
              <a:path h="850678" w="5879878">
                <a:moveTo>
                  <a:pt x="0" y="0"/>
                </a:moveTo>
                <a:lnTo>
                  <a:pt x="5879877" y="0"/>
                </a:lnTo>
                <a:lnTo>
                  <a:pt x="5879877" y="850677"/>
                </a:lnTo>
                <a:lnTo>
                  <a:pt x="0" y="8506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4" id="44"/>
          <p:cNvGrpSpPr/>
          <p:nvPr/>
        </p:nvGrpSpPr>
        <p:grpSpPr>
          <a:xfrm rot="0">
            <a:off x="1280160" y="4069080"/>
            <a:ext cx="5852160" cy="822960"/>
            <a:chOff x="0" y="0"/>
            <a:chExt cx="7802880" cy="1097280"/>
          </a:xfrm>
        </p:grpSpPr>
        <p:sp>
          <p:nvSpPr>
            <p:cNvPr name="Freeform 45" id="45"/>
            <p:cNvSpPr/>
            <p:nvPr/>
          </p:nvSpPr>
          <p:spPr>
            <a:xfrm flipH="false" flipV="false" rot="0">
              <a:off x="0" y="0"/>
              <a:ext cx="7802880" cy="1097280"/>
            </a:xfrm>
            <a:custGeom>
              <a:avLst/>
              <a:gdLst/>
              <a:ahLst/>
              <a:cxnLst/>
              <a:rect r="r" b="b" t="t" l="l"/>
              <a:pathLst>
                <a:path h="1097280" w="7802880">
                  <a:moveTo>
                    <a:pt x="0" y="0"/>
                  </a:moveTo>
                  <a:lnTo>
                    <a:pt x="7802880" y="0"/>
                  </a:lnTo>
                  <a:lnTo>
                    <a:pt x="7802880" y="1097280"/>
                  </a:lnTo>
                  <a:lnTo>
                    <a:pt x="0" y="1097280"/>
                  </a:lnTo>
                  <a:close/>
                </a:path>
              </a:pathLst>
            </a:custGeom>
            <a:blipFill>
              <a:blip r:embed="rId2">
                <a:alphaModFix amt="0"/>
              </a:blip>
              <a:stretch>
                <a:fillRect l="0" t="-88464" r="0" b="-88464"/>
              </a:stretch>
            </a:blipFill>
          </p:spPr>
        </p:sp>
      </p:grpSp>
      <p:grpSp>
        <p:nvGrpSpPr>
          <p:cNvPr name="Group 46" id="46"/>
          <p:cNvGrpSpPr/>
          <p:nvPr/>
        </p:nvGrpSpPr>
        <p:grpSpPr>
          <a:xfrm rot="0">
            <a:off x="1280160" y="4061936"/>
            <a:ext cx="5852160" cy="830104"/>
            <a:chOff x="0" y="0"/>
            <a:chExt cx="7802880" cy="1106805"/>
          </a:xfrm>
        </p:grpSpPr>
        <p:sp>
          <p:nvSpPr>
            <p:cNvPr name="Freeform 47" id="47"/>
            <p:cNvSpPr/>
            <p:nvPr/>
          </p:nvSpPr>
          <p:spPr>
            <a:xfrm flipH="false" flipV="false" rot="0">
              <a:off x="0" y="0"/>
              <a:ext cx="7802880" cy="1106805"/>
            </a:xfrm>
            <a:custGeom>
              <a:avLst/>
              <a:gdLst/>
              <a:ahLst/>
              <a:cxnLst/>
              <a:rect r="r" b="b" t="t" l="l"/>
              <a:pathLst>
                <a:path h="1106805" w="7802880">
                  <a:moveTo>
                    <a:pt x="0" y="0"/>
                  </a:moveTo>
                  <a:lnTo>
                    <a:pt x="7802880" y="0"/>
                  </a:lnTo>
                  <a:lnTo>
                    <a:pt x="7802880" y="1106805"/>
                  </a:lnTo>
                  <a:lnTo>
                    <a:pt x="0" y="1106805"/>
                  </a:lnTo>
                  <a:close/>
                </a:path>
              </a:pathLst>
            </a:custGeom>
            <a:blipFill>
              <a:blip r:embed="rId3">
                <a:alphaModFix amt="0"/>
              </a:blip>
              <a:stretch>
                <a:fillRect l="0" t="-87367" r="0" b="-87367"/>
              </a:stretch>
            </a:blipFill>
          </p:spPr>
        </p:sp>
        <p:sp>
          <p:nvSpPr>
            <p:cNvPr name="TextBox 48" id="48"/>
            <p:cNvSpPr txBox="true"/>
            <p:nvPr/>
          </p:nvSpPr>
          <p:spPr>
            <a:xfrm>
              <a:off x="0" y="-9525"/>
              <a:ext cx="7802880" cy="1116330"/>
            </a:xfrm>
            <a:prstGeom prst="rect">
              <a:avLst/>
            </a:prstGeom>
          </p:spPr>
          <p:txBody>
            <a:bodyPr anchor="ctr" rtlCol="false" tIns="0" lIns="0" bIns="0" rIns="0"/>
            <a:lstStyle/>
            <a:p>
              <a:pPr algn="ctr">
                <a:lnSpc>
                  <a:spcPts val="1500"/>
                </a:lnSpc>
              </a:pPr>
              <a:r>
                <a:rPr lang="en-US" sz="1250" b="true">
                  <a:solidFill>
                    <a:srgbClr val="1F3338"/>
                  </a:solidFill>
                  <a:latin typeface="Poppins Bold"/>
                  <a:ea typeface="Poppins Bold"/>
                  <a:cs typeface="Poppins Bold"/>
                  <a:sym typeface="Poppins Bold"/>
                </a:rPr>
                <a:t>Wallet  balance checked, deducted, subscription activated instantly</a:t>
              </a:r>
            </a:p>
          </p:txBody>
        </p:sp>
      </p:grpSp>
      <p:sp>
        <p:nvSpPr>
          <p:cNvPr name="Freeform 49" id="49"/>
          <p:cNvSpPr/>
          <p:nvPr/>
        </p:nvSpPr>
        <p:spPr>
          <a:xfrm flipH="false" flipV="false" rot="0">
            <a:off x="11141793" y="4055193"/>
            <a:ext cx="5879878" cy="850678"/>
          </a:xfrm>
          <a:custGeom>
            <a:avLst/>
            <a:gdLst/>
            <a:ahLst/>
            <a:cxnLst/>
            <a:rect r="r" b="b" t="t" l="l"/>
            <a:pathLst>
              <a:path h="850678" w="5879878">
                <a:moveTo>
                  <a:pt x="0" y="0"/>
                </a:moveTo>
                <a:lnTo>
                  <a:pt x="5879877" y="0"/>
                </a:lnTo>
                <a:lnTo>
                  <a:pt x="5879877" y="850677"/>
                </a:lnTo>
                <a:lnTo>
                  <a:pt x="0" y="8506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0" id="50"/>
          <p:cNvGrpSpPr/>
          <p:nvPr/>
        </p:nvGrpSpPr>
        <p:grpSpPr>
          <a:xfrm rot="0">
            <a:off x="11155680" y="4069080"/>
            <a:ext cx="5852160" cy="822960"/>
            <a:chOff x="0" y="0"/>
            <a:chExt cx="7802880" cy="1097280"/>
          </a:xfrm>
        </p:grpSpPr>
        <p:sp>
          <p:nvSpPr>
            <p:cNvPr name="Freeform 51" id="51"/>
            <p:cNvSpPr/>
            <p:nvPr/>
          </p:nvSpPr>
          <p:spPr>
            <a:xfrm flipH="false" flipV="false" rot="0">
              <a:off x="0" y="0"/>
              <a:ext cx="7802880" cy="1097280"/>
            </a:xfrm>
            <a:custGeom>
              <a:avLst/>
              <a:gdLst/>
              <a:ahLst/>
              <a:cxnLst/>
              <a:rect r="r" b="b" t="t" l="l"/>
              <a:pathLst>
                <a:path h="1097280" w="7802880">
                  <a:moveTo>
                    <a:pt x="0" y="0"/>
                  </a:moveTo>
                  <a:lnTo>
                    <a:pt x="7802880" y="0"/>
                  </a:lnTo>
                  <a:lnTo>
                    <a:pt x="7802880" y="1097280"/>
                  </a:lnTo>
                  <a:lnTo>
                    <a:pt x="0" y="1097280"/>
                  </a:lnTo>
                  <a:close/>
                </a:path>
              </a:pathLst>
            </a:custGeom>
            <a:blipFill>
              <a:blip r:embed="rId2">
                <a:alphaModFix amt="0"/>
              </a:blip>
              <a:stretch>
                <a:fillRect l="0" t="-88464" r="0" b="-88464"/>
              </a:stretch>
            </a:blipFill>
          </p:spPr>
        </p:sp>
      </p:grpSp>
      <p:grpSp>
        <p:nvGrpSpPr>
          <p:cNvPr name="Group 52" id="52"/>
          <p:cNvGrpSpPr/>
          <p:nvPr/>
        </p:nvGrpSpPr>
        <p:grpSpPr>
          <a:xfrm rot="0">
            <a:off x="11155680" y="4061936"/>
            <a:ext cx="5852160" cy="830104"/>
            <a:chOff x="0" y="0"/>
            <a:chExt cx="7802880" cy="1106805"/>
          </a:xfrm>
        </p:grpSpPr>
        <p:sp>
          <p:nvSpPr>
            <p:cNvPr name="Freeform 53" id="53"/>
            <p:cNvSpPr/>
            <p:nvPr/>
          </p:nvSpPr>
          <p:spPr>
            <a:xfrm flipH="false" flipV="false" rot="0">
              <a:off x="0" y="0"/>
              <a:ext cx="7802880" cy="1106805"/>
            </a:xfrm>
            <a:custGeom>
              <a:avLst/>
              <a:gdLst/>
              <a:ahLst/>
              <a:cxnLst/>
              <a:rect r="r" b="b" t="t" l="l"/>
              <a:pathLst>
                <a:path h="1106805" w="7802880">
                  <a:moveTo>
                    <a:pt x="0" y="0"/>
                  </a:moveTo>
                  <a:lnTo>
                    <a:pt x="7802880" y="0"/>
                  </a:lnTo>
                  <a:lnTo>
                    <a:pt x="7802880" y="1106805"/>
                  </a:lnTo>
                  <a:lnTo>
                    <a:pt x="0" y="1106805"/>
                  </a:lnTo>
                  <a:close/>
                </a:path>
              </a:pathLst>
            </a:custGeom>
            <a:blipFill>
              <a:blip r:embed="rId3">
                <a:alphaModFix amt="0"/>
              </a:blip>
              <a:stretch>
                <a:fillRect l="0" t="-87367" r="0" b="-87367"/>
              </a:stretch>
            </a:blipFill>
          </p:spPr>
        </p:sp>
        <p:sp>
          <p:nvSpPr>
            <p:cNvPr name="TextBox 54" id="54"/>
            <p:cNvSpPr txBox="true"/>
            <p:nvPr/>
          </p:nvSpPr>
          <p:spPr>
            <a:xfrm>
              <a:off x="0" y="-9525"/>
              <a:ext cx="7802880" cy="1116330"/>
            </a:xfrm>
            <a:prstGeom prst="rect">
              <a:avLst/>
            </a:prstGeom>
          </p:spPr>
          <p:txBody>
            <a:bodyPr anchor="ctr" rtlCol="false" tIns="0" lIns="0" bIns="0" rIns="0"/>
            <a:lstStyle/>
            <a:p>
              <a:pPr algn="ctr">
                <a:lnSpc>
                  <a:spcPts val="1558"/>
                </a:lnSpc>
              </a:pPr>
              <a:r>
                <a:rPr lang="en-US" sz="1299" b="true">
                  <a:solidFill>
                    <a:srgbClr val="1F3338"/>
                  </a:solidFill>
                  <a:latin typeface="Poppins Bold"/>
                  <a:ea typeface="Poppins Bold"/>
                  <a:cs typeface="Poppins Bold"/>
                  <a:sym typeface="Poppins Bold"/>
                </a:rPr>
                <a:t>Konnect gateway : redirect, pay, then confirm</a:t>
              </a:r>
            </a:p>
          </p:txBody>
        </p:sp>
      </p:grpSp>
      <p:grpSp>
        <p:nvGrpSpPr>
          <p:cNvPr name="Group 55" id="55"/>
          <p:cNvGrpSpPr/>
          <p:nvPr/>
        </p:nvGrpSpPr>
        <p:grpSpPr>
          <a:xfrm rot="0">
            <a:off x="4165092" y="4892040"/>
            <a:ext cx="82296" cy="192024"/>
            <a:chOff x="0" y="0"/>
            <a:chExt cx="109728" cy="256032"/>
          </a:xfrm>
        </p:grpSpPr>
        <p:sp>
          <p:nvSpPr>
            <p:cNvPr name="Freeform 56" id="56"/>
            <p:cNvSpPr/>
            <p:nvPr/>
          </p:nvSpPr>
          <p:spPr>
            <a:xfrm flipH="false" flipV="false" rot="0">
              <a:off x="0" y="0"/>
              <a:ext cx="109728" cy="256032"/>
            </a:xfrm>
            <a:custGeom>
              <a:avLst/>
              <a:gdLst/>
              <a:ahLst/>
              <a:cxnLst/>
              <a:rect r="r" b="b" t="t" l="l"/>
              <a:pathLst>
                <a:path h="256032" w="109728">
                  <a:moveTo>
                    <a:pt x="0" y="0"/>
                  </a:moveTo>
                  <a:lnTo>
                    <a:pt x="109728" y="0"/>
                  </a:lnTo>
                  <a:lnTo>
                    <a:pt x="109728" y="256032"/>
                  </a:lnTo>
                  <a:lnTo>
                    <a:pt x="0" y="256032"/>
                  </a:lnTo>
                  <a:close/>
                </a:path>
              </a:pathLst>
            </a:custGeom>
            <a:solidFill>
              <a:srgbClr val="737AE6"/>
            </a:solidFill>
          </p:spPr>
        </p:sp>
      </p:grpSp>
      <p:grpSp>
        <p:nvGrpSpPr>
          <p:cNvPr name="Group 57" id="57"/>
          <p:cNvGrpSpPr/>
          <p:nvPr/>
        </p:nvGrpSpPr>
        <p:grpSpPr>
          <a:xfrm rot="-10800000">
            <a:off x="4087368" y="5084064"/>
            <a:ext cx="237744" cy="146304"/>
            <a:chOff x="0" y="0"/>
            <a:chExt cx="316992" cy="195072"/>
          </a:xfrm>
        </p:grpSpPr>
        <p:sp>
          <p:nvSpPr>
            <p:cNvPr name="Freeform 58" id="58"/>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59" id="59"/>
          <p:cNvGrpSpPr/>
          <p:nvPr/>
        </p:nvGrpSpPr>
        <p:grpSpPr>
          <a:xfrm rot="0">
            <a:off x="14040612" y="4892040"/>
            <a:ext cx="82296" cy="192024"/>
            <a:chOff x="0" y="0"/>
            <a:chExt cx="109728" cy="256032"/>
          </a:xfrm>
        </p:grpSpPr>
        <p:sp>
          <p:nvSpPr>
            <p:cNvPr name="Freeform 60" id="60"/>
            <p:cNvSpPr/>
            <p:nvPr/>
          </p:nvSpPr>
          <p:spPr>
            <a:xfrm flipH="false" flipV="false" rot="0">
              <a:off x="0" y="0"/>
              <a:ext cx="109728" cy="256032"/>
            </a:xfrm>
            <a:custGeom>
              <a:avLst/>
              <a:gdLst/>
              <a:ahLst/>
              <a:cxnLst/>
              <a:rect r="r" b="b" t="t" l="l"/>
              <a:pathLst>
                <a:path h="256032" w="109728">
                  <a:moveTo>
                    <a:pt x="0" y="0"/>
                  </a:moveTo>
                  <a:lnTo>
                    <a:pt x="109728" y="0"/>
                  </a:lnTo>
                  <a:lnTo>
                    <a:pt x="109728" y="256032"/>
                  </a:lnTo>
                  <a:lnTo>
                    <a:pt x="0" y="256032"/>
                  </a:lnTo>
                  <a:close/>
                </a:path>
              </a:pathLst>
            </a:custGeom>
            <a:solidFill>
              <a:srgbClr val="737AE6"/>
            </a:solidFill>
          </p:spPr>
        </p:sp>
      </p:grpSp>
      <p:grpSp>
        <p:nvGrpSpPr>
          <p:cNvPr name="Group 61" id="61"/>
          <p:cNvGrpSpPr/>
          <p:nvPr/>
        </p:nvGrpSpPr>
        <p:grpSpPr>
          <a:xfrm rot="-10800000">
            <a:off x="13962888" y="5084064"/>
            <a:ext cx="237744" cy="146304"/>
            <a:chOff x="0" y="0"/>
            <a:chExt cx="316992" cy="195072"/>
          </a:xfrm>
        </p:grpSpPr>
        <p:sp>
          <p:nvSpPr>
            <p:cNvPr name="Freeform 62" id="62"/>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63" id="63"/>
          <p:cNvGrpSpPr/>
          <p:nvPr/>
        </p:nvGrpSpPr>
        <p:grpSpPr>
          <a:xfrm rot="0">
            <a:off x="4206240" y="5212080"/>
            <a:ext cx="9875520" cy="82296"/>
            <a:chOff x="0" y="0"/>
            <a:chExt cx="13167360" cy="109728"/>
          </a:xfrm>
        </p:grpSpPr>
        <p:sp>
          <p:nvSpPr>
            <p:cNvPr name="Freeform 64" id="64"/>
            <p:cNvSpPr/>
            <p:nvPr/>
          </p:nvSpPr>
          <p:spPr>
            <a:xfrm flipH="false" flipV="false" rot="0">
              <a:off x="0" y="0"/>
              <a:ext cx="13167361" cy="109728"/>
            </a:xfrm>
            <a:custGeom>
              <a:avLst/>
              <a:gdLst/>
              <a:ahLst/>
              <a:cxnLst/>
              <a:rect r="r" b="b" t="t" l="l"/>
              <a:pathLst>
                <a:path h="109728" w="13167361">
                  <a:moveTo>
                    <a:pt x="0" y="0"/>
                  </a:moveTo>
                  <a:lnTo>
                    <a:pt x="13167361" y="0"/>
                  </a:lnTo>
                  <a:lnTo>
                    <a:pt x="13167361" y="109728"/>
                  </a:lnTo>
                  <a:lnTo>
                    <a:pt x="0" y="109728"/>
                  </a:lnTo>
                  <a:close/>
                </a:path>
              </a:pathLst>
            </a:custGeom>
            <a:solidFill>
              <a:srgbClr val="737AE6"/>
            </a:solidFill>
          </p:spPr>
        </p:sp>
      </p:grpSp>
      <p:grpSp>
        <p:nvGrpSpPr>
          <p:cNvPr name="Group 65" id="65"/>
          <p:cNvGrpSpPr/>
          <p:nvPr/>
        </p:nvGrpSpPr>
        <p:grpSpPr>
          <a:xfrm rot="0">
            <a:off x="9102852" y="5294376"/>
            <a:ext cx="82296" cy="146304"/>
            <a:chOff x="0" y="0"/>
            <a:chExt cx="109728" cy="195072"/>
          </a:xfrm>
        </p:grpSpPr>
        <p:sp>
          <p:nvSpPr>
            <p:cNvPr name="Freeform 66" id="66"/>
            <p:cNvSpPr/>
            <p:nvPr/>
          </p:nvSpPr>
          <p:spPr>
            <a:xfrm flipH="false" flipV="false" rot="0">
              <a:off x="0" y="0"/>
              <a:ext cx="109728" cy="195072"/>
            </a:xfrm>
            <a:custGeom>
              <a:avLst/>
              <a:gdLst/>
              <a:ahLst/>
              <a:cxnLst/>
              <a:rect r="r" b="b" t="t" l="l"/>
              <a:pathLst>
                <a:path h="195072" w="109728">
                  <a:moveTo>
                    <a:pt x="0" y="0"/>
                  </a:moveTo>
                  <a:lnTo>
                    <a:pt x="109728" y="0"/>
                  </a:lnTo>
                  <a:lnTo>
                    <a:pt x="109728" y="195072"/>
                  </a:lnTo>
                  <a:lnTo>
                    <a:pt x="0" y="195072"/>
                  </a:lnTo>
                  <a:close/>
                </a:path>
              </a:pathLst>
            </a:custGeom>
            <a:solidFill>
              <a:srgbClr val="737AE6"/>
            </a:solidFill>
          </p:spPr>
        </p:sp>
      </p:grpSp>
      <p:grpSp>
        <p:nvGrpSpPr>
          <p:cNvPr name="Group 67" id="67"/>
          <p:cNvGrpSpPr/>
          <p:nvPr/>
        </p:nvGrpSpPr>
        <p:grpSpPr>
          <a:xfrm rot="-10800000">
            <a:off x="9025128" y="5440680"/>
            <a:ext cx="237744" cy="146304"/>
            <a:chOff x="0" y="0"/>
            <a:chExt cx="316992" cy="195072"/>
          </a:xfrm>
        </p:grpSpPr>
        <p:sp>
          <p:nvSpPr>
            <p:cNvPr name="Freeform 68" id="68"/>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69" id="69"/>
          <p:cNvGrpSpPr/>
          <p:nvPr/>
        </p:nvGrpSpPr>
        <p:grpSpPr>
          <a:xfrm rot="0">
            <a:off x="6400800" y="5577840"/>
            <a:ext cx="5486400" cy="640080"/>
            <a:chOff x="0" y="0"/>
            <a:chExt cx="7315200" cy="853440"/>
          </a:xfrm>
        </p:grpSpPr>
        <p:sp>
          <p:nvSpPr>
            <p:cNvPr name="Freeform 70" id="70"/>
            <p:cNvSpPr/>
            <p:nvPr/>
          </p:nvSpPr>
          <p:spPr>
            <a:xfrm flipH="false" flipV="false" rot="0">
              <a:off x="0" y="0"/>
              <a:ext cx="7315200" cy="853440"/>
            </a:xfrm>
            <a:custGeom>
              <a:avLst/>
              <a:gdLst/>
              <a:ahLst/>
              <a:cxnLst/>
              <a:rect r="r" b="b" t="t" l="l"/>
              <a:pathLst>
                <a:path h="853440" w="7315200">
                  <a:moveTo>
                    <a:pt x="0" y="146304"/>
                  </a:moveTo>
                  <a:cubicBezTo>
                    <a:pt x="0" y="65532"/>
                    <a:pt x="65532" y="0"/>
                    <a:pt x="146304" y="0"/>
                  </a:cubicBezTo>
                  <a:lnTo>
                    <a:pt x="7168896" y="0"/>
                  </a:lnTo>
                  <a:cubicBezTo>
                    <a:pt x="7249668" y="0"/>
                    <a:pt x="7315200" y="65532"/>
                    <a:pt x="7315200" y="146304"/>
                  </a:cubicBezTo>
                  <a:lnTo>
                    <a:pt x="7315200" y="707136"/>
                  </a:lnTo>
                  <a:cubicBezTo>
                    <a:pt x="7315200" y="787908"/>
                    <a:pt x="7249668" y="853440"/>
                    <a:pt x="7168896" y="853440"/>
                  </a:cubicBezTo>
                  <a:lnTo>
                    <a:pt x="146304" y="853440"/>
                  </a:lnTo>
                  <a:cubicBezTo>
                    <a:pt x="65532" y="853440"/>
                    <a:pt x="0" y="787908"/>
                    <a:pt x="0" y="707136"/>
                  </a:cubicBezTo>
                  <a:close/>
                </a:path>
              </a:pathLst>
            </a:custGeom>
            <a:solidFill>
              <a:srgbClr val="737AE6"/>
            </a:solidFill>
          </p:spPr>
        </p:sp>
      </p:grpSp>
      <p:grpSp>
        <p:nvGrpSpPr>
          <p:cNvPr name="Group 71" id="71"/>
          <p:cNvGrpSpPr/>
          <p:nvPr/>
        </p:nvGrpSpPr>
        <p:grpSpPr>
          <a:xfrm rot="0">
            <a:off x="6400800" y="5577840"/>
            <a:ext cx="5486400" cy="640080"/>
            <a:chOff x="0" y="0"/>
            <a:chExt cx="7315200" cy="853440"/>
          </a:xfrm>
        </p:grpSpPr>
        <p:sp>
          <p:nvSpPr>
            <p:cNvPr name="Freeform 72" id="72"/>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2">
                <a:alphaModFix amt="0"/>
              </a:blip>
              <a:stretch>
                <a:fillRect l="0" t="-116898" r="0" b="-116898"/>
              </a:stretch>
            </a:blipFill>
          </p:spPr>
        </p:sp>
      </p:grpSp>
      <p:grpSp>
        <p:nvGrpSpPr>
          <p:cNvPr name="Group 73" id="73"/>
          <p:cNvGrpSpPr/>
          <p:nvPr/>
        </p:nvGrpSpPr>
        <p:grpSpPr>
          <a:xfrm rot="0">
            <a:off x="6400800" y="5563553"/>
            <a:ext cx="5486400" cy="654368"/>
            <a:chOff x="0" y="0"/>
            <a:chExt cx="7315200" cy="872490"/>
          </a:xfrm>
        </p:grpSpPr>
        <p:sp>
          <p:nvSpPr>
            <p:cNvPr name="Freeform 74" id="74"/>
            <p:cNvSpPr/>
            <p:nvPr/>
          </p:nvSpPr>
          <p:spPr>
            <a:xfrm flipH="false" flipV="false" rot="0">
              <a:off x="0" y="0"/>
              <a:ext cx="7315200" cy="872490"/>
            </a:xfrm>
            <a:custGeom>
              <a:avLst/>
              <a:gdLst/>
              <a:ahLst/>
              <a:cxnLst/>
              <a:rect r="r" b="b" t="t" l="l"/>
              <a:pathLst>
                <a:path h="872490" w="7315200">
                  <a:moveTo>
                    <a:pt x="0" y="0"/>
                  </a:moveTo>
                  <a:lnTo>
                    <a:pt x="7315200" y="0"/>
                  </a:lnTo>
                  <a:lnTo>
                    <a:pt x="7315200" y="872490"/>
                  </a:lnTo>
                  <a:lnTo>
                    <a:pt x="0" y="872490"/>
                  </a:lnTo>
                  <a:close/>
                </a:path>
              </a:pathLst>
            </a:custGeom>
            <a:blipFill>
              <a:blip r:embed="rId3">
                <a:alphaModFix amt="0"/>
              </a:blip>
              <a:stretch>
                <a:fillRect l="0" t="-113367" r="0" b="-113367"/>
              </a:stretch>
            </a:blipFill>
          </p:spPr>
        </p:sp>
        <p:sp>
          <p:nvSpPr>
            <p:cNvPr name="TextBox 75" id="75"/>
            <p:cNvSpPr txBox="true"/>
            <p:nvPr/>
          </p:nvSpPr>
          <p:spPr>
            <a:xfrm>
              <a:off x="0" y="-19050"/>
              <a:ext cx="7315200" cy="891540"/>
            </a:xfrm>
            <a:prstGeom prst="rect">
              <a:avLst/>
            </a:prstGeom>
          </p:spPr>
          <p:txBody>
            <a:bodyPr anchor="ctr" rtlCol="false" tIns="0" lIns="0" bIns="0" rIns="0"/>
            <a:lstStyle/>
            <a:p>
              <a:pPr algn="ctr">
                <a:lnSpc>
                  <a:spcPts val="1800"/>
                </a:lnSpc>
              </a:pPr>
              <a:r>
                <a:rPr lang="en-US" sz="1500" b="true">
                  <a:solidFill>
                    <a:srgbClr val="FFFFFF"/>
                  </a:solidFill>
                  <a:latin typeface="Poppins Bold"/>
                  <a:ea typeface="Poppins Bold"/>
                  <a:cs typeface="Poppins Bold"/>
                  <a:sym typeface="Poppins Bold"/>
                </a:rPr>
                <a:t>Subscription activated : quota available</a:t>
              </a:r>
            </a:p>
          </p:txBody>
        </p:sp>
      </p:grpSp>
      <p:grpSp>
        <p:nvGrpSpPr>
          <p:cNvPr name="Group 76" id="76"/>
          <p:cNvGrpSpPr/>
          <p:nvPr/>
        </p:nvGrpSpPr>
        <p:grpSpPr>
          <a:xfrm rot="0">
            <a:off x="9102852" y="6217920"/>
            <a:ext cx="82296" cy="192024"/>
            <a:chOff x="0" y="0"/>
            <a:chExt cx="109728" cy="256032"/>
          </a:xfrm>
        </p:grpSpPr>
        <p:sp>
          <p:nvSpPr>
            <p:cNvPr name="Freeform 77" id="77"/>
            <p:cNvSpPr/>
            <p:nvPr/>
          </p:nvSpPr>
          <p:spPr>
            <a:xfrm flipH="false" flipV="false" rot="0">
              <a:off x="0" y="0"/>
              <a:ext cx="109728" cy="256032"/>
            </a:xfrm>
            <a:custGeom>
              <a:avLst/>
              <a:gdLst/>
              <a:ahLst/>
              <a:cxnLst/>
              <a:rect r="r" b="b" t="t" l="l"/>
              <a:pathLst>
                <a:path h="256032" w="109728">
                  <a:moveTo>
                    <a:pt x="0" y="0"/>
                  </a:moveTo>
                  <a:lnTo>
                    <a:pt x="109728" y="0"/>
                  </a:lnTo>
                  <a:lnTo>
                    <a:pt x="109728" y="256032"/>
                  </a:lnTo>
                  <a:lnTo>
                    <a:pt x="0" y="256032"/>
                  </a:lnTo>
                  <a:close/>
                </a:path>
              </a:pathLst>
            </a:custGeom>
            <a:solidFill>
              <a:srgbClr val="737AE6"/>
            </a:solidFill>
          </p:spPr>
        </p:sp>
      </p:grpSp>
      <p:grpSp>
        <p:nvGrpSpPr>
          <p:cNvPr name="Group 78" id="78"/>
          <p:cNvGrpSpPr/>
          <p:nvPr/>
        </p:nvGrpSpPr>
        <p:grpSpPr>
          <a:xfrm rot="-10800000">
            <a:off x="9025128" y="6409944"/>
            <a:ext cx="237744" cy="146304"/>
            <a:chOff x="0" y="0"/>
            <a:chExt cx="316992" cy="195072"/>
          </a:xfrm>
        </p:grpSpPr>
        <p:sp>
          <p:nvSpPr>
            <p:cNvPr name="Freeform 79" id="79"/>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80" id="80"/>
          <p:cNvGrpSpPr/>
          <p:nvPr/>
        </p:nvGrpSpPr>
        <p:grpSpPr>
          <a:xfrm rot="0">
            <a:off x="4206240" y="6537960"/>
            <a:ext cx="9875520" cy="82296"/>
            <a:chOff x="0" y="0"/>
            <a:chExt cx="13167360" cy="109728"/>
          </a:xfrm>
        </p:grpSpPr>
        <p:sp>
          <p:nvSpPr>
            <p:cNvPr name="Freeform 81" id="81"/>
            <p:cNvSpPr/>
            <p:nvPr/>
          </p:nvSpPr>
          <p:spPr>
            <a:xfrm flipH="false" flipV="false" rot="0">
              <a:off x="0" y="0"/>
              <a:ext cx="13167361" cy="109728"/>
            </a:xfrm>
            <a:custGeom>
              <a:avLst/>
              <a:gdLst/>
              <a:ahLst/>
              <a:cxnLst/>
              <a:rect r="r" b="b" t="t" l="l"/>
              <a:pathLst>
                <a:path h="109728" w="13167361">
                  <a:moveTo>
                    <a:pt x="0" y="0"/>
                  </a:moveTo>
                  <a:lnTo>
                    <a:pt x="13167361" y="0"/>
                  </a:lnTo>
                  <a:lnTo>
                    <a:pt x="13167361" y="109728"/>
                  </a:lnTo>
                  <a:lnTo>
                    <a:pt x="0" y="109728"/>
                  </a:lnTo>
                  <a:close/>
                </a:path>
              </a:pathLst>
            </a:custGeom>
            <a:solidFill>
              <a:srgbClr val="737AE6"/>
            </a:solidFill>
          </p:spPr>
        </p:sp>
      </p:grpSp>
      <p:grpSp>
        <p:nvGrpSpPr>
          <p:cNvPr name="Group 82" id="82"/>
          <p:cNvGrpSpPr/>
          <p:nvPr/>
        </p:nvGrpSpPr>
        <p:grpSpPr>
          <a:xfrm rot="0">
            <a:off x="4165092" y="6537960"/>
            <a:ext cx="82296" cy="192024"/>
            <a:chOff x="0" y="0"/>
            <a:chExt cx="109728" cy="256032"/>
          </a:xfrm>
        </p:grpSpPr>
        <p:sp>
          <p:nvSpPr>
            <p:cNvPr name="Freeform 83" id="83"/>
            <p:cNvSpPr/>
            <p:nvPr/>
          </p:nvSpPr>
          <p:spPr>
            <a:xfrm flipH="false" flipV="false" rot="0">
              <a:off x="0" y="0"/>
              <a:ext cx="109728" cy="256032"/>
            </a:xfrm>
            <a:custGeom>
              <a:avLst/>
              <a:gdLst/>
              <a:ahLst/>
              <a:cxnLst/>
              <a:rect r="r" b="b" t="t" l="l"/>
              <a:pathLst>
                <a:path h="256032" w="109728">
                  <a:moveTo>
                    <a:pt x="0" y="0"/>
                  </a:moveTo>
                  <a:lnTo>
                    <a:pt x="109728" y="0"/>
                  </a:lnTo>
                  <a:lnTo>
                    <a:pt x="109728" y="256032"/>
                  </a:lnTo>
                  <a:lnTo>
                    <a:pt x="0" y="256032"/>
                  </a:lnTo>
                  <a:close/>
                </a:path>
              </a:pathLst>
            </a:custGeom>
            <a:solidFill>
              <a:srgbClr val="737AE6"/>
            </a:solidFill>
          </p:spPr>
        </p:sp>
      </p:grpSp>
      <p:grpSp>
        <p:nvGrpSpPr>
          <p:cNvPr name="Group 84" id="84"/>
          <p:cNvGrpSpPr/>
          <p:nvPr/>
        </p:nvGrpSpPr>
        <p:grpSpPr>
          <a:xfrm rot="-10800000">
            <a:off x="4087368" y="6729984"/>
            <a:ext cx="237744" cy="146304"/>
            <a:chOff x="0" y="0"/>
            <a:chExt cx="316992" cy="195072"/>
          </a:xfrm>
        </p:grpSpPr>
        <p:sp>
          <p:nvSpPr>
            <p:cNvPr name="Freeform 85" id="85"/>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86" id="86"/>
          <p:cNvGrpSpPr/>
          <p:nvPr/>
        </p:nvGrpSpPr>
        <p:grpSpPr>
          <a:xfrm rot="0">
            <a:off x="14040612" y="6537960"/>
            <a:ext cx="82296" cy="192024"/>
            <a:chOff x="0" y="0"/>
            <a:chExt cx="109728" cy="256032"/>
          </a:xfrm>
        </p:grpSpPr>
        <p:sp>
          <p:nvSpPr>
            <p:cNvPr name="Freeform 87" id="87"/>
            <p:cNvSpPr/>
            <p:nvPr/>
          </p:nvSpPr>
          <p:spPr>
            <a:xfrm flipH="false" flipV="false" rot="0">
              <a:off x="0" y="0"/>
              <a:ext cx="109728" cy="256032"/>
            </a:xfrm>
            <a:custGeom>
              <a:avLst/>
              <a:gdLst/>
              <a:ahLst/>
              <a:cxnLst/>
              <a:rect r="r" b="b" t="t" l="l"/>
              <a:pathLst>
                <a:path h="256032" w="109728">
                  <a:moveTo>
                    <a:pt x="0" y="0"/>
                  </a:moveTo>
                  <a:lnTo>
                    <a:pt x="109728" y="0"/>
                  </a:lnTo>
                  <a:lnTo>
                    <a:pt x="109728" y="256032"/>
                  </a:lnTo>
                  <a:lnTo>
                    <a:pt x="0" y="256032"/>
                  </a:lnTo>
                  <a:close/>
                </a:path>
              </a:pathLst>
            </a:custGeom>
            <a:solidFill>
              <a:srgbClr val="737AE6"/>
            </a:solidFill>
          </p:spPr>
        </p:sp>
      </p:grpSp>
      <p:grpSp>
        <p:nvGrpSpPr>
          <p:cNvPr name="Group 88" id="88"/>
          <p:cNvGrpSpPr/>
          <p:nvPr/>
        </p:nvGrpSpPr>
        <p:grpSpPr>
          <a:xfrm rot="-10800000">
            <a:off x="13962888" y="6729984"/>
            <a:ext cx="237744" cy="146304"/>
            <a:chOff x="0" y="0"/>
            <a:chExt cx="316992" cy="195072"/>
          </a:xfrm>
        </p:grpSpPr>
        <p:sp>
          <p:nvSpPr>
            <p:cNvPr name="Freeform 89" id="89"/>
            <p:cNvSpPr/>
            <p:nvPr/>
          </p:nvSpPr>
          <p:spPr>
            <a:xfrm flipH="false" flipV="false" rot="0">
              <a:off x="0" y="0"/>
              <a:ext cx="316992" cy="195072"/>
            </a:xfrm>
            <a:custGeom>
              <a:avLst/>
              <a:gdLst/>
              <a:ahLst/>
              <a:cxnLst/>
              <a:rect r="r" b="b" t="t" l="l"/>
              <a:pathLst>
                <a:path h="195072" w="316992">
                  <a:moveTo>
                    <a:pt x="0" y="195072"/>
                  </a:moveTo>
                  <a:lnTo>
                    <a:pt x="158496" y="0"/>
                  </a:lnTo>
                  <a:lnTo>
                    <a:pt x="316992" y="195072"/>
                  </a:lnTo>
                  <a:close/>
                </a:path>
              </a:pathLst>
            </a:custGeom>
            <a:solidFill>
              <a:srgbClr val="737AE6"/>
            </a:solidFill>
          </p:spPr>
        </p:sp>
      </p:grpSp>
      <p:grpSp>
        <p:nvGrpSpPr>
          <p:cNvPr name="Group 90" id="90"/>
          <p:cNvGrpSpPr/>
          <p:nvPr/>
        </p:nvGrpSpPr>
        <p:grpSpPr>
          <a:xfrm rot="0">
            <a:off x="1280160" y="6858000"/>
            <a:ext cx="5852160" cy="777240"/>
            <a:chOff x="0" y="0"/>
            <a:chExt cx="7802880" cy="1036320"/>
          </a:xfrm>
        </p:grpSpPr>
        <p:sp>
          <p:nvSpPr>
            <p:cNvPr name="Freeform 91" id="91"/>
            <p:cNvSpPr/>
            <p:nvPr/>
          </p:nvSpPr>
          <p:spPr>
            <a:xfrm flipH="false" flipV="false" rot="0">
              <a:off x="0" y="0"/>
              <a:ext cx="7802880" cy="1036320"/>
            </a:xfrm>
            <a:custGeom>
              <a:avLst/>
              <a:gdLst/>
              <a:ahLst/>
              <a:cxnLst/>
              <a:rect r="r" b="b" t="t" l="l"/>
              <a:pathLst>
                <a:path h="1036320" w="7802880">
                  <a:moveTo>
                    <a:pt x="0" y="146304"/>
                  </a:moveTo>
                  <a:cubicBezTo>
                    <a:pt x="0" y="65532"/>
                    <a:pt x="65532" y="0"/>
                    <a:pt x="146304" y="0"/>
                  </a:cubicBezTo>
                  <a:lnTo>
                    <a:pt x="7656576" y="0"/>
                  </a:lnTo>
                  <a:cubicBezTo>
                    <a:pt x="7737348" y="0"/>
                    <a:pt x="7802880" y="65532"/>
                    <a:pt x="7802880" y="146304"/>
                  </a:cubicBezTo>
                  <a:lnTo>
                    <a:pt x="7802880" y="890016"/>
                  </a:lnTo>
                  <a:cubicBezTo>
                    <a:pt x="7802880" y="970788"/>
                    <a:pt x="7737348" y="1036320"/>
                    <a:pt x="7656576" y="1036320"/>
                  </a:cubicBezTo>
                  <a:lnTo>
                    <a:pt x="146304" y="1036320"/>
                  </a:lnTo>
                  <a:cubicBezTo>
                    <a:pt x="65532" y="1036320"/>
                    <a:pt x="0" y="970788"/>
                    <a:pt x="0" y="890016"/>
                  </a:cubicBezTo>
                  <a:close/>
                </a:path>
              </a:pathLst>
            </a:custGeom>
            <a:solidFill>
              <a:srgbClr val="C8DAE4"/>
            </a:solidFill>
          </p:spPr>
        </p:sp>
      </p:grpSp>
      <p:grpSp>
        <p:nvGrpSpPr>
          <p:cNvPr name="Group 92" id="92"/>
          <p:cNvGrpSpPr/>
          <p:nvPr/>
        </p:nvGrpSpPr>
        <p:grpSpPr>
          <a:xfrm rot="0">
            <a:off x="1280160" y="6858000"/>
            <a:ext cx="5852160" cy="777240"/>
            <a:chOff x="0" y="0"/>
            <a:chExt cx="7802880" cy="1036320"/>
          </a:xfrm>
        </p:grpSpPr>
        <p:sp>
          <p:nvSpPr>
            <p:cNvPr name="Freeform 93" id="93"/>
            <p:cNvSpPr/>
            <p:nvPr/>
          </p:nvSpPr>
          <p:spPr>
            <a:xfrm flipH="false" flipV="false" rot="0">
              <a:off x="0" y="0"/>
              <a:ext cx="7802880" cy="1036320"/>
            </a:xfrm>
            <a:custGeom>
              <a:avLst/>
              <a:gdLst/>
              <a:ahLst/>
              <a:cxnLst/>
              <a:rect r="r" b="b" t="t" l="l"/>
              <a:pathLst>
                <a:path h="1036320" w="7802880">
                  <a:moveTo>
                    <a:pt x="0" y="0"/>
                  </a:moveTo>
                  <a:lnTo>
                    <a:pt x="7802880" y="0"/>
                  </a:lnTo>
                  <a:lnTo>
                    <a:pt x="7802880" y="1036320"/>
                  </a:lnTo>
                  <a:lnTo>
                    <a:pt x="0" y="1036320"/>
                  </a:lnTo>
                  <a:close/>
                </a:path>
              </a:pathLst>
            </a:custGeom>
            <a:blipFill>
              <a:blip r:embed="rId2">
                <a:alphaModFix amt="0"/>
              </a:blip>
              <a:stretch>
                <a:fillRect l="0" t="-96609" r="0" b="-96609"/>
              </a:stretch>
            </a:blipFill>
          </p:spPr>
        </p:sp>
      </p:grpSp>
      <p:grpSp>
        <p:nvGrpSpPr>
          <p:cNvPr name="Group 94" id="94"/>
          <p:cNvGrpSpPr/>
          <p:nvPr/>
        </p:nvGrpSpPr>
        <p:grpSpPr>
          <a:xfrm rot="0">
            <a:off x="1280160" y="6850856"/>
            <a:ext cx="5852160" cy="784384"/>
            <a:chOff x="0" y="0"/>
            <a:chExt cx="7802880" cy="1045845"/>
          </a:xfrm>
        </p:grpSpPr>
        <p:sp>
          <p:nvSpPr>
            <p:cNvPr name="Freeform 95" id="95"/>
            <p:cNvSpPr/>
            <p:nvPr/>
          </p:nvSpPr>
          <p:spPr>
            <a:xfrm flipH="false" flipV="false" rot="0">
              <a:off x="0" y="0"/>
              <a:ext cx="7802880" cy="1045845"/>
            </a:xfrm>
            <a:custGeom>
              <a:avLst/>
              <a:gdLst/>
              <a:ahLst/>
              <a:cxnLst/>
              <a:rect r="r" b="b" t="t" l="l"/>
              <a:pathLst>
                <a:path h="1045845" w="7802880">
                  <a:moveTo>
                    <a:pt x="0" y="0"/>
                  </a:moveTo>
                  <a:lnTo>
                    <a:pt x="7802880" y="0"/>
                  </a:lnTo>
                  <a:lnTo>
                    <a:pt x="7802880" y="1045845"/>
                  </a:lnTo>
                  <a:lnTo>
                    <a:pt x="0" y="1045845"/>
                  </a:lnTo>
                  <a:close/>
                </a:path>
              </a:pathLst>
            </a:custGeom>
            <a:blipFill>
              <a:blip r:embed="rId3">
                <a:alphaModFix amt="0"/>
              </a:blip>
              <a:stretch>
                <a:fillRect l="0" t="-95374" r="0" b="-95374"/>
              </a:stretch>
            </a:blipFill>
          </p:spPr>
        </p:sp>
        <p:sp>
          <p:nvSpPr>
            <p:cNvPr name="TextBox 96" id="96"/>
            <p:cNvSpPr txBox="true"/>
            <p:nvPr/>
          </p:nvSpPr>
          <p:spPr>
            <a:xfrm>
              <a:off x="0" y="-9525"/>
              <a:ext cx="7802880" cy="1055370"/>
            </a:xfrm>
            <a:prstGeom prst="rect">
              <a:avLst/>
            </a:prstGeom>
          </p:spPr>
          <p:txBody>
            <a:bodyPr anchor="ctr" rtlCol="false" tIns="0" lIns="0" bIns="0" rIns="0"/>
            <a:lstStyle/>
            <a:p>
              <a:pPr algn="ctr">
                <a:lnSpc>
                  <a:spcPts val="1500"/>
                </a:lnSpc>
              </a:pPr>
              <a:r>
                <a:rPr lang="en-US" sz="1250" b="true">
                  <a:solidFill>
                    <a:srgbClr val="1F3338"/>
                  </a:solidFill>
                  <a:latin typeface="Poppins Bold"/>
                  <a:ea typeface="Poppins Bold"/>
                  <a:cs typeface="Poppins Bold"/>
                  <a:sym typeface="Poppins Bold"/>
                </a:rPr>
                <a:t>Konnect payment only → Spring Boot Billing System generates PDF invoice</a:t>
              </a:r>
            </a:p>
          </p:txBody>
        </p:sp>
      </p:grpSp>
      <p:grpSp>
        <p:nvGrpSpPr>
          <p:cNvPr name="Group 97" id="97"/>
          <p:cNvGrpSpPr/>
          <p:nvPr/>
        </p:nvGrpSpPr>
        <p:grpSpPr>
          <a:xfrm rot="0">
            <a:off x="11155680" y="6858000"/>
            <a:ext cx="5852160" cy="777240"/>
            <a:chOff x="0" y="0"/>
            <a:chExt cx="7802880" cy="1036320"/>
          </a:xfrm>
        </p:grpSpPr>
        <p:sp>
          <p:nvSpPr>
            <p:cNvPr name="Freeform 98" id="98"/>
            <p:cNvSpPr/>
            <p:nvPr/>
          </p:nvSpPr>
          <p:spPr>
            <a:xfrm flipH="false" flipV="false" rot="0">
              <a:off x="0" y="0"/>
              <a:ext cx="7802880" cy="1036320"/>
            </a:xfrm>
            <a:custGeom>
              <a:avLst/>
              <a:gdLst/>
              <a:ahLst/>
              <a:cxnLst/>
              <a:rect r="r" b="b" t="t" l="l"/>
              <a:pathLst>
                <a:path h="1036320" w="7802880">
                  <a:moveTo>
                    <a:pt x="0" y="146304"/>
                  </a:moveTo>
                  <a:cubicBezTo>
                    <a:pt x="0" y="65532"/>
                    <a:pt x="65532" y="0"/>
                    <a:pt x="146304" y="0"/>
                  </a:cubicBezTo>
                  <a:lnTo>
                    <a:pt x="7656576" y="0"/>
                  </a:lnTo>
                  <a:cubicBezTo>
                    <a:pt x="7737348" y="0"/>
                    <a:pt x="7802880" y="65532"/>
                    <a:pt x="7802880" y="146304"/>
                  </a:cubicBezTo>
                  <a:lnTo>
                    <a:pt x="7802880" y="890016"/>
                  </a:lnTo>
                  <a:cubicBezTo>
                    <a:pt x="7802880" y="970788"/>
                    <a:pt x="7737348" y="1036320"/>
                    <a:pt x="7656576" y="1036320"/>
                  </a:cubicBezTo>
                  <a:lnTo>
                    <a:pt x="146304" y="1036320"/>
                  </a:lnTo>
                  <a:cubicBezTo>
                    <a:pt x="65532" y="1036320"/>
                    <a:pt x="0" y="970788"/>
                    <a:pt x="0" y="890016"/>
                  </a:cubicBezTo>
                  <a:close/>
                </a:path>
              </a:pathLst>
            </a:custGeom>
            <a:solidFill>
              <a:srgbClr val="C8DAE4"/>
            </a:solidFill>
          </p:spPr>
        </p:sp>
      </p:grpSp>
      <p:grpSp>
        <p:nvGrpSpPr>
          <p:cNvPr name="Group 99" id="99"/>
          <p:cNvGrpSpPr/>
          <p:nvPr/>
        </p:nvGrpSpPr>
        <p:grpSpPr>
          <a:xfrm rot="0">
            <a:off x="11155680" y="6858000"/>
            <a:ext cx="5852160" cy="777240"/>
            <a:chOff x="0" y="0"/>
            <a:chExt cx="7802880" cy="1036320"/>
          </a:xfrm>
        </p:grpSpPr>
        <p:sp>
          <p:nvSpPr>
            <p:cNvPr name="Freeform 100" id="100"/>
            <p:cNvSpPr/>
            <p:nvPr/>
          </p:nvSpPr>
          <p:spPr>
            <a:xfrm flipH="false" flipV="false" rot="0">
              <a:off x="0" y="0"/>
              <a:ext cx="7802880" cy="1036320"/>
            </a:xfrm>
            <a:custGeom>
              <a:avLst/>
              <a:gdLst/>
              <a:ahLst/>
              <a:cxnLst/>
              <a:rect r="r" b="b" t="t" l="l"/>
              <a:pathLst>
                <a:path h="1036320" w="7802880">
                  <a:moveTo>
                    <a:pt x="0" y="0"/>
                  </a:moveTo>
                  <a:lnTo>
                    <a:pt x="7802880" y="0"/>
                  </a:lnTo>
                  <a:lnTo>
                    <a:pt x="7802880" y="1036320"/>
                  </a:lnTo>
                  <a:lnTo>
                    <a:pt x="0" y="1036320"/>
                  </a:lnTo>
                  <a:close/>
                </a:path>
              </a:pathLst>
            </a:custGeom>
            <a:blipFill>
              <a:blip r:embed="rId2">
                <a:alphaModFix amt="0"/>
              </a:blip>
              <a:stretch>
                <a:fillRect l="0" t="-96609" r="0" b="-96609"/>
              </a:stretch>
            </a:blipFill>
          </p:spPr>
        </p:sp>
      </p:grpSp>
      <p:grpSp>
        <p:nvGrpSpPr>
          <p:cNvPr name="Group 101" id="101"/>
          <p:cNvGrpSpPr/>
          <p:nvPr/>
        </p:nvGrpSpPr>
        <p:grpSpPr>
          <a:xfrm rot="0">
            <a:off x="11155680" y="6850856"/>
            <a:ext cx="5852160" cy="784384"/>
            <a:chOff x="0" y="0"/>
            <a:chExt cx="7802880" cy="1045845"/>
          </a:xfrm>
        </p:grpSpPr>
        <p:sp>
          <p:nvSpPr>
            <p:cNvPr name="Freeform 102" id="102"/>
            <p:cNvSpPr/>
            <p:nvPr/>
          </p:nvSpPr>
          <p:spPr>
            <a:xfrm flipH="false" flipV="false" rot="0">
              <a:off x="0" y="0"/>
              <a:ext cx="7802880" cy="1045845"/>
            </a:xfrm>
            <a:custGeom>
              <a:avLst/>
              <a:gdLst/>
              <a:ahLst/>
              <a:cxnLst/>
              <a:rect r="r" b="b" t="t" l="l"/>
              <a:pathLst>
                <a:path h="1045845" w="7802880">
                  <a:moveTo>
                    <a:pt x="0" y="0"/>
                  </a:moveTo>
                  <a:lnTo>
                    <a:pt x="7802880" y="0"/>
                  </a:lnTo>
                  <a:lnTo>
                    <a:pt x="7802880" y="1045845"/>
                  </a:lnTo>
                  <a:lnTo>
                    <a:pt x="0" y="1045845"/>
                  </a:lnTo>
                  <a:close/>
                </a:path>
              </a:pathLst>
            </a:custGeom>
            <a:blipFill>
              <a:blip r:embed="rId3">
                <a:alphaModFix amt="0"/>
              </a:blip>
              <a:stretch>
                <a:fillRect l="0" t="-95374" r="0" b="-95374"/>
              </a:stretch>
            </a:blipFill>
          </p:spPr>
        </p:sp>
        <p:sp>
          <p:nvSpPr>
            <p:cNvPr name="TextBox 103" id="103"/>
            <p:cNvSpPr txBox="true"/>
            <p:nvPr/>
          </p:nvSpPr>
          <p:spPr>
            <a:xfrm>
              <a:off x="0" y="-9525"/>
              <a:ext cx="7802880" cy="1055370"/>
            </a:xfrm>
            <a:prstGeom prst="rect">
              <a:avLst/>
            </a:prstGeom>
          </p:spPr>
          <p:txBody>
            <a:bodyPr anchor="ctr" rtlCol="false" tIns="0" lIns="0" bIns="0" rIns="0"/>
            <a:lstStyle/>
            <a:p>
              <a:pPr algn="ctr">
                <a:lnSpc>
                  <a:spcPts val="1558"/>
                </a:lnSpc>
              </a:pPr>
              <a:r>
                <a:rPr lang="en-US" sz="1299" b="true">
                  <a:solidFill>
                    <a:srgbClr val="1F3338"/>
                  </a:solidFill>
                  <a:latin typeface="Poppins Bold"/>
                  <a:ea typeface="Poppins Bold"/>
                  <a:cs typeface="Poppins Bold"/>
                  <a:sym typeface="Poppins Bold"/>
                </a:rPr>
                <a:t>11 days before monthly expiry → automated renewal reminder email</a:t>
              </a:r>
            </a:p>
          </p:txBody>
        </p:sp>
      </p:grpSp>
      <p:grpSp>
        <p:nvGrpSpPr>
          <p:cNvPr name="Group 104" id="104"/>
          <p:cNvGrpSpPr/>
          <p:nvPr/>
        </p:nvGrpSpPr>
        <p:grpSpPr>
          <a:xfrm rot="0">
            <a:off x="1828800" y="7909560"/>
            <a:ext cx="14630400" cy="457200"/>
            <a:chOff x="0" y="0"/>
            <a:chExt cx="19507200" cy="609600"/>
          </a:xfrm>
        </p:grpSpPr>
        <p:sp>
          <p:nvSpPr>
            <p:cNvPr name="Freeform 105" id="105"/>
            <p:cNvSpPr/>
            <p:nvPr/>
          </p:nvSpPr>
          <p:spPr>
            <a:xfrm flipH="false" flipV="false" rot="0">
              <a:off x="0" y="0"/>
              <a:ext cx="19507200" cy="609600"/>
            </a:xfrm>
            <a:custGeom>
              <a:avLst/>
              <a:gdLst/>
              <a:ahLst/>
              <a:cxnLst/>
              <a:rect r="r" b="b" t="t" l="l"/>
              <a:pathLst>
                <a:path h="609600" w="19507200">
                  <a:moveTo>
                    <a:pt x="0" y="0"/>
                  </a:moveTo>
                  <a:lnTo>
                    <a:pt x="19507200" y="0"/>
                  </a:lnTo>
                  <a:lnTo>
                    <a:pt x="19507200" y="609600"/>
                  </a:lnTo>
                  <a:lnTo>
                    <a:pt x="0" y="609600"/>
                  </a:lnTo>
                  <a:close/>
                </a:path>
              </a:pathLst>
            </a:custGeom>
            <a:blipFill>
              <a:blip r:embed="rId2">
                <a:alphaModFix amt="0"/>
              </a:blip>
              <a:stretch>
                <a:fillRect l="0" t="-573087" r="0" b="-573087"/>
              </a:stretch>
            </a:blipFill>
          </p:spPr>
        </p:sp>
      </p:grpSp>
      <p:grpSp>
        <p:nvGrpSpPr>
          <p:cNvPr name="Group 106" id="106"/>
          <p:cNvGrpSpPr/>
          <p:nvPr/>
        </p:nvGrpSpPr>
        <p:grpSpPr>
          <a:xfrm rot="0">
            <a:off x="1828800" y="7902416"/>
            <a:ext cx="14630400" cy="464344"/>
            <a:chOff x="0" y="0"/>
            <a:chExt cx="19507200" cy="619125"/>
          </a:xfrm>
        </p:grpSpPr>
        <p:sp>
          <p:nvSpPr>
            <p:cNvPr name="Freeform 107" id="107"/>
            <p:cNvSpPr/>
            <p:nvPr/>
          </p:nvSpPr>
          <p:spPr>
            <a:xfrm flipH="false" flipV="false" rot="0">
              <a:off x="0" y="0"/>
              <a:ext cx="19507200" cy="619125"/>
            </a:xfrm>
            <a:custGeom>
              <a:avLst/>
              <a:gdLst/>
              <a:ahLst/>
              <a:cxnLst/>
              <a:rect r="r" b="b" t="t" l="l"/>
              <a:pathLst>
                <a:path h="619125" w="19507200">
                  <a:moveTo>
                    <a:pt x="0" y="0"/>
                  </a:moveTo>
                  <a:lnTo>
                    <a:pt x="19507200" y="0"/>
                  </a:lnTo>
                  <a:lnTo>
                    <a:pt x="19507200" y="619125"/>
                  </a:lnTo>
                  <a:lnTo>
                    <a:pt x="0" y="619125"/>
                  </a:lnTo>
                  <a:close/>
                </a:path>
              </a:pathLst>
            </a:custGeom>
            <a:blipFill>
              <a:blip r:embed="rId3">
                <a:alphaModFix amt="0"/>
              </a:blip>
              <a:stretch>
                <a:fillRect l="0" t="-563928" r="0" b="-563928"/>
              </a:stretch>
            </a:blipFill>
          </p:spPr>
        </p:sp>
        <p:sp>
          <p:nvSpPr>
            <p:cNvPr name="TextBox 108" id="108"/>
            <p:cNvSpPr txBox="true"/>
            <p:nvPr/>
          </p:nvSpPr>
          <p:spPr>
            <a:xfrm>
              <a:off x="0" y="-9525"/>
              <a:ext cx="19507200" cy="628650"/>
            </a:xfrm>
            <a:prstGeom prst="rect">
              <a:avLst/>
            </a:prstGeom>
          </p:spPr>
          <p:txBody>
            <a:bodyPr anchor="ctr" rtlCol="false" tIns="0" lIns="0" bIns="0" rIns="0"/>
            <a:lstStyle/>
            <a:p>
              <a:pPr algn="ctr">
                <a:lnSpc>
                  <a:spcPts val="1500"/>
                </a:lnSpc>
              </a:pPr>
              <a:r>
                <a:rPr lang="en-US" sz="1250">
                  <a:solidFill>
                    <a:srgbClr val="3D6874"/>
                  </a:solidFill>
                  <a:latin typeface="Poppins"/>
                  <a:ea typeface="Poppins"/>
                  <a:cs typeface="Poppins"/>
                  <a:sym typeface="Poppins"/>
                </a:rPr>
                <a:t>Billing runs as a separate external service (Spring Boot) ,  kept independent from the HOD subscription module</a:t>
              </a:r>
            </a:p>
          </p:txBody>
        </p:sp>
      </p:grpSp>
      <p:grpSp>
        <p:nvGrpSpPr>
          <p:cNvPr name="Group 109" id="109"/>
          <p:cNvGrpSpPr/>
          <p:nvPr/>
        </p:nvGrpSpPr>
        <p:grpSpPr>
          <a:xfrm rot="0">
            <a:off x="640080" y="9738360"/>
            <a:ext cx="7315200" cy="365760"/>
            <a:chOff x="0" y="0"/>
            <a:chExt cx="9753600" cy="487680"/>
          </a:xfrm>
        </p:grpSpPr>
        <p:sp>
          <p:nvSpPr>
            <p:cNvPr name="Freeform 110" id="110"/>
            <p:cNvSpPr/>
            <p:nvPr/>
          </p:nvSpPr>
          <p:spPr>
            <a:xfrm flipH="false" flipV="false" rot="0">
              <a:off x="0" y="0"/>
              <a:ext cx="9753600" cy="487680"/>
            </a:xfrm>
            <a:custGeom>
              <a:avLst/>
              <a:gdLst/>
              <a:ahLst/>
              <a:cxnLst/>
              <a:rect r="r" b="b" t="t" l="l"/>
              <a:pathLst>
                <a:path h="487680" w="9753600">
                  <a:moveTo>
                    <a:pt x="0" y="0"/>
                  </a:moveTo>
                  <a:lnTo>
                    <a:pt x="9753600" y="0"/>
                  </a:lnTo>
                  <a:lnTo>
                    <a:pt x="9753600" y="487680"/>
                  </a:lnTo>
                  <a:lnTo>
                    <a:pt x="0" y="487680"/>
                  </a:lnTo>
                  <a:close/>
                </a:path>
              </a:pathLst>
            </a:custGeom>
            <a:blipFill>
              <a:blip r:embed="rId2">
                <a:alphaModFix amt="0"/>
              </a:blip>
              <a:stretch>
                <a:fillRect l="0" t="-339429" r="0" b="-339429"/>
              </a:stretch>
            </a:blipFill>
          </p:spPr>
        </p:sp>
      </p:grpSp>
      <p:grpSp>
        <p:nvGrpSpPr>
          <p:cNvPr name="Group 111" id="111"/>
          <p:cNvGrpSpPr/>
          <p:nvPr/>
        </p:nvGrpSpPr>
        <p:grpSpPr>
          <a:xfrm rot="0">
            <a:off x="640080" y="9724072"/>
            <a:ext cx="7315200" cy="380047"/>
            <a:chOff x="0" y="0"/>
            <a:chExt cx="9753600" cy="506730"/>
          </a:xfrm>
        </p:grpSpPr>
        <p:sp>
          <p:nvSpPr>
            <p:cNvPr name="Freeform 112" id="112"/>
            <p:cNvSpPr/>
            <p:nvPr/>
          </p:nvSpPr>
          <p:spPr>
            <a:xfrm flipH="false" flipV="false" rot="0">
              <a:off x="0" y="0"/>
              <a:ext cx="9753600" cy="506730"/>
            </a:xfrm>
            <a:custGeom>
              <a:avLst/>
              <a:gdLst/>
              <a:ahLst/>
              <a:cxnLst/>
              <a:rect r="r" b="b" t="t" l="l"/>
              <a:pathLst>
                <a:path h="506730" w="9753600">
                  <a:moveTo>
                    <a:pt x="0" y="0"/>
                  </a:moveTo>
                  <a:lnTo>
                    <a:pt x="9753600" y="0"/>
                  </a:lnTo>
                  <a:lnTo>
                    <a:pt x="9753600" y="506730"/>
                  </a:lnTo>
                  <a:lnTo>
                    <a:pt x="0" y="506730"/>
                  </a:lnTo>
                  <a:close/>
                </a:path>
              </a:pathLst>
            </a:custGeom>
            <a:blipFill>
              <a:blip r:embed="rId3">
                <a:alphaModFix amt="0"/>
              </a:blip>
              <a:stretch>
                <a:fillRect l="0" t="-325050" r="0" b="-325050"/>
              </a:stretch>
            </a:blipFill>
          </p:spPr>
        </p:sp>
        <p:sp>
          <p:nvSpPr>
            <p:cNvPr name="TextBox 113" id="113"/>
            <p:cNvSpPr txBox="true"/>
            <p:nvPr/>
          </p:nvSpPr>
          <p:spPr>
            <a:xfrm>
              <a:off x="0" y="-19050"/>
              <a:ext cx="9753600" cy="525780"/>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14" id="114"/>
          <p:cNvGrpSpPr/>
          <p:nvPr/>
        </p:nvGrpSpPr>
        <p:grpSpPr>
          <a:xfrm rot="0">
            <a:off x="16642080" y="9738360"/>
            <a:ext cx="1005840" cy="365760"/>
            <a:chOff x="0" y="0"/>
            <a:chExt cx="1341120" cy="487680"/>
          </a:xfrm>
        </p:grpSpPr>
        <p:sp>
          <p:nvSpPr>
            <p:cNvPr name="Freeform 115" id="115"/>
            <p:cNvSpPr/>
            <p:nvPr/>
          </p:nvSpPr>
          <p:spPr>
            <a:xfrm flipH="false" flipV="false" rot="0">
              <a:off x="0" y="0"/>
              <a:ext cx="1341120" cy="487680"/>
            </a:xfrm>
            <a:custGeom>
              <a:avLst/>
              <a:gdLst/>
              <a:ahLst/>
              <a:cxnLst/>
              <a:rect r="r" b="b" t="t" l="l"/>
              <a:pathLst>
                <a:path h="487680" w="1341120">
                  <a:moveTo>
                    <a:pt x="0" y="0"/>
                  </a:moveTo>
                  <a:lnTo>
                    <a:pt x="1341120" y="0"/>
                  </a:lnTo>
                  <a:lnTo>
                    <a:pt x="1341120" y="487680"/>
                  </a:lnTo>
                  <a:lnTo>
                    <a:pt x="0" y="487680"/>
                  </a:lnTo>
                  <a:close/>
                </a:path>
              </a:pathLst>
            </a:custGeom>
            <a:blipFill>
              <a:blip r:embed="rId2">
                <a:alphaModFix amt="0"/>
              </a:blip>
              <a:stretch>
                <a:fillRect l="0" t="-3546" r="0" b="-3546"/>
              </a:stretch>
            </a:blipFill>
          </p:spPr>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2127647" y="796147"/>
            <a:ext cx="15099392" cy="1235412"/>
            <a:chOff x="0" y="0"/>
            <a:chExt cx="20132523" cy="1647215"/>
          </a:xfrm>
        </p:grpSpPr>
        <p:sp>
          <p:nvSpPr>
            <p:cNvPr name="Freeform 7" id="7"/>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3">
                <a:alphaModFix amt="0"/>
              </a:blip>
              <a:stretch>
                <a:fillRect l="0" t="-187986" r="0" b="-187987"/>
              </a:stretch>
            </a:blipFill>
          </p:spPr>
        </p:sp>
      </p:grpSp>
      <p:grpSp>
        <p:nvGrpSpPr>
          <p:cNvPr name="Group 8" id="8"/>
          <p:cNvGrpSpPr/>
          <p:nvPr/>
        </p:nvGrpSpPr>
        <p:grpSpPr>
          <a:xfrm rot="0">
            <a:off x="686333" y="774725"/>
            <a:ext cx="15099392" cy="1256833"/>
            <a:chOff x="0" y="0"/>
            <a:chExt cx="20132523" cy="1675778"/>
          </a:xfrm>
        </p:grpSpPr>
        <p:sp>
          <p:nvSpPr>
            <p:cNvPr name="Freeform 9" id="9"/>
            <p:cNvSpPr/>
            <p:nvPr/>
          </p:nvSpPr>
          <p:spPr>
            <a:xfrm flipH="false" flipV="false" rot="0">
              <a:off x="0" y="0"/>
              <a:ext cx="20132523" cy="1675782"/>
            </a:xfrm>
            <a:custGeom>
              <a:avLst/>
              <a:gdLst/>
              <a:ahLst/>
              <a:cxnLst/>
              <a:rect r="r" b="b" t="t" l="l"/>
              <a:pathLst>
                <a:path h="1675782" w="20132523">
                  <a:moveTo>
                    <a:pt x="0" y="0"/>
                  </a:moveTo>
                  <a:lnTo>
                    <a:pt x="20132523" y="0"/>
                  </a:lnTo>
                  <a:lnTo>
                    <a:pt x="20132523" y="1675782"/>
                  </a:lnTo>
                  <a:lnTo>
                    <a:pt x="0" y="1675782"/>
                  </a:lnTo>
                  <a:close/>
                </a:path>
              </a:pathLst>
            </a:custGeom>
            <a:blipFill>
              <a:blip r:embed="rId4">
                <a:alphaModFix amt="0"/>
              </a:blip>
              <a:stretch>
                <a:fillRect l="0" t="-184089" r="0" b="-184089"/>
              </a:stretch>
            </a:blipFill>
          </p:spPr>
        </p:sp>
        <p:sp>
          <p:nvSpPr>
            <p:cNvPr name="TextBox 10" id="10"/>
            <p:cNvSpPr txBox="true"/>
            <p:nvPr/>
          </p:nvSpPr>
          <p:spPr>
            <a:xfrm>
              <a:off x="0" y="-28575"/>
              <a:ext cx="20132523" cy="1704353"/>
            </a:xfrm>
            <a:prstGeom prst="rect">
              <a:avLst/>
            </a:prstGeom>
          </p:spPr>
          <p:txBody>
            <a:bodyPr anchor="ctr" rtlCol="false" tIns="0" lIns="0" bIns="0" rIns="0"/>
            <a:lstStyle/>
            <a:p>
              <a:pPr algn="l">
                <a:lnSpc>
                  <a:spcPts val="3962"/>
                </a:lnSpc>
              </a:pPr>
              <a:r>
                <a:rPr lang="en-US" sz="3302" b="true">
                  <a:solidFill>
                    <a:srgbClr val="000000"/>
                  </a:solidFill>
                  <a:latin typeface="Poppins Bold"/>
                  <a:ea typeface="Poppins Bold"/>
                  <a:cs typeface="Poppins Bold"/>
                  <a:sym typeface="Poppins Bold"/>
                </a:rPr>
                <a:t>Implementation : Subscription &amp; Communication</a:t>
              </a:r>
            </a:p>
          </p:txBody>
        </p:sp>
      </p:grpSp>
      <p:grpSp>
        <p:nvGrpSpPr>
          <p:cNvPr name="Group 11" id="11"/>
          <p:cNvGrpSpPr/>
          <p:nvPr/>
        </p:nvGrpSpPr>
        <p:grpSpPr>
          <a:xfrm rot="0">
            <a:off x="686333" y="9718519"/>
            <a:ext cx="8236039" cy="411804"/>
            <a:chOff x="0" y="0"/>
            <a:chExt cx="10981385" cy="549072"/>
          </a:xfrm>
        </p:grpSpPr>
        <p:sp>
          <p:nvSpPr>
            <p:cNvPr name="Freeform 12" id="12"/>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3" id="13"/>
          <p:cNvGrpSpPr/>
          <p:nvPr/>
        </p:nvGrpSpPr>
        <p:grpSpPr>
          <a:xfrm rot="0">
            <a:off x="686333" y="9704232"/>
            <a:ext cx="8236039" cy="426091"/>
            <a:chOff x="0" y="0"/>
            <a:chExt cx="10981385" cy="568122"/>
          </a:xfrm>
        </p:grpSpPr>
        <p:sp>
          <p:nvSpPr>
            <p:cNvPr name="Freeform 14" id="14"/>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5" id="15"/>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6" id="16"/>
          <p:cNvGrpSpPr/>
          <p:nvPr/>
        </p:nvGrpSpPr>
        <p:grpSpPr>
          <a:xfrm rot="0">
            <a:off x="16242830" y="9718519"/>
            <a:ext cx="1372676" cy="411804"/>
            <a:chOff x="0" y="0"/>
            <a:chExt cx="1830235" cy="549072"/>
          </a:xfrm>
        </p:grpSpPr>
        <p:sp>
          <p:nvSpPr>
            <p:cNvPr name="Freeform 17" id="17"/>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grpSp>
        <p:nvGrpSpPr>
          <p:cNvPr name="Group 18" id="18"/>
          <p:cNvGrpSpPr/>
          <p:nvPr/>
        </p:nvGrpSpPr>
        <p:grpSpPr>
          <a:xfrm rot="0">
            <a:off x="89220" y="2547865"/>
            <a:ext cx="6850087" cy="4226932"/>
            <a:chOff x="0" y="0"/>
            <a:chExt cx="6705600" cy="4137774"/>
          </a:xfrm>
        </p:grpSpPr>
        <p:sp>
          <p:nvSpPr>
            <p:cNvPr name="Freeform 19" id="19" descr="admin_package.png"/>
            <p:cNvSpPr/>
            <p:nvPr/>
          </p:nvSpPr>
          <p:spPr>
            <a:xfrm flipH="false" flipV="false" rot="0">
              <a:off x="0" y="0"/>
              <a:ext cx="6705600" cy="4137787"/>
            </a:xfrm>
            <a:custGeom>
              <a:avLst/>
              <a:gdLst/>
              <a:ahLst/>
              <a:cxnLst/>
              <a:rect r="r" b="b" t="t" l="l"/>
              <a:pathLst>
                <a:path h="4137787" w="6705600">
                  <a:moveTo>
                    <a:pt x="0" y="0"/>
                  </a:moveTo>
                  <a:lnTo>
                    <a:pt x="6705600" y="0"/>
                  </a:lnTo>
                  <a:lnTo>
                    <a:pt x="6705600" y="4137787"/>
                  </a:lnTo>
                  <a:lnTo>
                    <a:pt x="0" y="4137787"/>
                  </a:lnTo>
                  <a:lnTo>
                    <a:pt x="0" y="0"/>
                  </a:lnTo>
                  <a:close/>
                </a:path>
              </a:pathLst>
            </a:custGeom>
            <a:blipFill>
              <a:blip r:embed="rId5"/>
              <a:stretch>
                <a:fillRect l="0" t="0" r="0" b="0"/>
              </a:stretch>
            </a:blipFill>
          </p:spPr>
        </p:sp>
      </p:grpSp>
      <p:grpSp>
        <p:nvGrpSpPr>
          <p:cNvPr name="Group 20" id="20"/>
          <p:cNvGrpSpPr/>
          <p:nvPr/>
        </p:nvGrpSpPr>
        <p:grpSpPr>
          <a:xfrm rot="0">
            <a:off x="7143462" y="2686252"/>
            <a:ext cx="5067762" cy="3950157"/>
            <a:chOff x="0" y="0"/>
            <a:chExt cx="6705600" cy="5226799"/>
          </a:xfrm>
        </p:grpSpPr>
        <p:sp>
          <p:nvSpPr>
            <p:cNvPr name="Freeform 21" id="21" descr="subscription.png"/>
            <p:cNvSpPr/>
            <p:nvPr/>
          </p:nvSpPr>
          <p:spPr>
            <a:xfrm flipH="false" flipV="false" rot="0">
              <a:off x="0" y="0"/>
              <a:ext cx="6705600" cy="5226812"/>
            </a:xfrm>
            <a:custGeom>
              <a:avLst/>
              <a:gdLst/>
              <a:ahLst/>
              <a:cxnLst/>
              <a:rect r="r" b="b" t="t" l="l"/>
              <a:pathLst>
                <a:path h="5226812" w="6705600">
                  <a:moveTo>
                    <a:pt x="0" y="0"/>
                  </a:moveTo>
                  <a:lnTo>
                    <a:pt x="6705600" y="0"/>
                  </a:lnTo>
                  <a:lnTo>
                    <a:pt x="6705600" y="5226812"/>
                  </a:lnTo>
                  <a:lnTo>
                    <a:pt x="0" y="5226812"/>
                  </a:lnTo>
                  <a:lnTo>
                    <a:pt x="0" y="0"/>
                  </a:lnTo>
                  <a:close/>
                </a:path>
              </a:pathLst>
            </a:custGeom>
            <a:blipFill>
              <a:blip r:embed="rId6"/>
              <a:stretch>
                <a:fillRect l="0" t="0" r="0" b="0"/>
              </a:stretch>
            </a:blipFill>
          </p:spPr>
        </p:sp>
      </p:grpSp>
      <p:grpSp>
        <p:nvGrpSpPr>
          <p:cNvPr name="Group 22" id="22"/>
          <p:cNvGrpSpPr/>
          <p:nvPr/>
        </p:nvGrpSpPr>
        <p:grpSpPr>
          <a:xfrm rot="0">
            <a:off x="12211224" y="1725110"/>
            <a:ext cx="5938721" cy="4911300"/>
            <a:chOff x="0" y="0"/>
            <a:chExt cx="6705600" cy="5545506"/>
          </a:xfrm>
        </p:grpSpPr>
        <p:sp>
          <p:nvSpPr>
            <p:cNvPr name="Freeform 23" id="23" descr="payment.png"/>
            <p:cNvSpPr/>
            <p:nvPr/>
          </p:nvSpPr>
          <p:spPr>
            <a:xfrm flipH="false" flipV="false" rot="0">
              <a:off x="0" y="0"/>
              <a:ext cx="6705600" cy="5545455"/>
            </a:xfrm>
            <a:custGeom>
              <a:avLst/>
              <a:gdLst/>
              <a:ahLst/>
              <a:cxnLst/>
              <a:rect r="r" b="b" t="t" l="l"/>
              <a:pathLst>
                <a:path h="5545455" w="6705600">
                  <a:moveTo>
                    <a:pt x="0" y="0"/>
                  </a:moveTo>
                  <a:lnTo>
                    <a:pt x="6705600" y="0"/>
                  </a:lnTo>
                  <a:lnTo>
                    <a:pt x="6705600" y="5545455"/>
                  </a:lnTo>
                  <a:lnTo>
                    <a:pt x="0" y="5545455"/>
                  </a:lnTo>
                  <a:lnTo>
                    <a:pt x="0" y="0"/>
                  </a:lnTo>
                  <a:close/>
                </a:path>
              </a:pathLst>
            </a:custGeom>
            <a:blipFill>
              <a:blip r:embed="rId7"/>
              <a:stretch>
                <a:fillRect l="0" t="0" r="0" b="0"/>
              </a:stretch>
            </a:blipFill>
          </p:spPr>
        </p:sp>
      </p:grpSp>
      <p:sp>
        <p:nvSpPr>
          <p:cNvPr name="Freeform 24" id="24"/>
          <p:cNvSpPr/>
          <p:nvPr/>
        </p:nvSpPr>
        <p:spPr>
          <a:xfrm flipH="false" flipV="false" rot="0">
            <a:off x="89220" y="6774797"/>
            <a:ext cx="9142268" cy="3219439"/>
          </a:xfrm>
          <a:custGeom>
            <a:avLst/>
            <a:gdLst/>
            <a:ahLst/>
            <a:cxnLst/>
            <a:rect r="r" b="b" t="t" l="l"/>
            <a:pathLst>
              <a:path h="3219439" w="9142268">
                <a:moveTo>
                  <a:pt x="0" y="0"/>
                </a:moveTo>
                <a:lnTo>
                  <a:pt x="9142269" y="0"/>
                </a:lnTo>
                <a:lnTo>
                  <a:pt x="9142269" y="3219439"/>
                </a:lnTo>
                <a:lnTo>
                  <a:pt x="0" y="3219439"/>
                </a:lnTo>
                <a:lnTo>
                  <a:pt x="0" y="0"/>
                </a:lnTo>
                <a:close/>
              </a:path>
            </a:pathLst>
          </a:custGeom>
          <a:blipFill>
            <a:blip r:embed="rId8"/>
            <a:stretch>
              <a:fillRect l="0" t="0" r="0" b="0"/>
            </a:stretch>
          </a:blipFill>
        </p:spPr>
      </p:sp>
      <p:sp>
        <p:nvSpPr>
          <p:cNvPr name="Freeform 25" id="25"/>
          <p:cNvSpPr/>
          <p:nvPr/>
        </p:nvSpPr>
        <p:spPr>
          <a:xfrm flipH="false" flipV="false" rot="0">
            <a:off x="9938490" y="6729675"/>
            <a:ext cx="5597340" cy="3400648"/>
          </a:xfrm>
          <a:custGeom>
            <a:avLst/>
            <a:gdLst/>
            <a:ahLst/>
            <a:cxnLst/>
            <a:rect r="r" b="b" t="t" l="l"/>
            <a:pathLst>
              <a:path h="3400648" w="5597340">
                <a:moveTo>
                  <a:pt x="0" y="0"/>
                </a:moveTo>
                <a:lnTo>
                  <a:pt x="5597339" y="0"/>
                </a:lnTo>
                <a:lnTo>
                  <a:pt x="5597339" y="3400648"/>
                </a:lnTo>
                <a:lnTo>
                  <a:pt x="0" y="3400648"/>
                </a:lnTo>
                <a:lnTo>
                  <a:pt x="0" y="0"/>
                </a:lnTo>
                <a:close/>
              </a:path>
            </a:pathLst>
          </a:custGeom>
          <a:blipFill>
            <a:blip r:embed="rId9"/>
            <a:stretch>
              <a:fillRect l="0" t="0" r="0" b="0"/>
            </a:stretch>
          </a:blipFill>
        </p:spPr>
      </p:sp>
      <p:sp>
        <p:nvSpPr>
          <p:cNvPr name="Freeform 26" id="26"/>
          <p:cNvSpPr/>
          <p:nvPr/>
        </p:nvSpPr>
        <p:spPr>
          <a:xfrm flipH="false" flipV="false" rot="0">
            <a:off x="13972708" y="6986401"/>
            <a:ext cx="4429370" cy="2691051"/>
          </a:xfrm>
          <a:custGeom>
            <a:avLst/>
            <a:gdLst/>
            <a:ahLst/>
            <a:cxnLst/>
            <a:rect r="r" b="b" t="t" l="l"/>
            <a:pathLst>
              <a:path h="2691051" w="4429370">
                <a:moveTo>
                  <a:pt x="0" y="0"/>
                </a:moveTo>
                <a:lnTo>
                  <a:pt x="4429370" y="0"/>
                </a:lnTo>
                <a:lnTo>
                  <a:pt x="4429370" y="2691051"/>
                </a:lnTo>
                <a:lnTo>
                  <a:pt x="0" y="2691051"/>
                </a:lnTo>
                <a:lnTo>
                  <a:pt x="0" y="0"/>
                </a:lnTo>
                <a:close/>
              </a:path>
            </a:pathLst>
          </a:custGeom>
          <a:blipFill>
            <a:blip r:embed="rId10"/>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2127647" y="796147"/>
            <a:ext cx="15099392" cy="1235412"/>
            <a:chOff x="0" y="0"/>
            <a:chExt cx="20132523" cy="1647215"/>
          </a:xfrm>
        </p:grpSpPr>
        <p:sp>
          <p:nvSpPr>
            <p:cNvPr name="Freeform 7" id="7"/>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3">
                <a:alphaModFix amt="0"/>
              </a:blip>
              <a:stretch>
                <a:fillRect l="0" t="-187986" r="0" b="-187987"/>
              </a:stretch>
            </a:blipFill>
          </p:spPr>
        </p:sp>
      </p:grpSp>
      <p:grpSp>
        <p:nvGrpSpPr>
          <p:cNvPr name="Group 8" id="8"/>
          <p:cNvGrpSpPr/>
          <p:nvPr/>
        </p:nvGrpSpPr>
        <p:grpSpPr>
          <a:xfrm rot="0">
            <a:off x="686333" y="9718519"/>
            <a:ext cx="8236039" cy="411804"/>
            <a:chOff x="0" y="0"/>
            <a:chExt cx="10981385" cy="549072"/>
          </a:xfrm>
        </p:grpSpPr>
        <p:sp>
          <p:nvSpPr>
            <p:cNvPr name="Freeform 9" id="9"/>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0" id="10"/>
          <p:cNvGrpSpPr/>
          <p:nvPr/>
        </p:nvGrpSpPr>
        <p:grpSpPr>
          <a:xfrm rot="0">
            <a:off x="686333" y="9704232"/>
            <a:ext cx="8236039" cy="426091"/>
            <a:chOff x="0" y="0"/>
            <a:chExt cx="10981385" cy="568122"/>
          </a:xfrm>
        </p:grpSpPr>
        <p:sp>
          <p:nvSpPr>
            <p:cNvPr name="Freeform 11" id="11"/>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2" id="12"/>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3" id="13"/>
          <p:cNvGrpSpPr/>
          <p:nvPr/>
        </p:nvGrpSpPr>
        <p:grpSpPr>
          <a:xfrm rot="0">
            <a:off x="16242830" y="9718519"/>
            <a:ext cx="1372676" cy="411804"/>
            <a:chOff x="0" y="0"/>
            <a:chExt cx="1830235" cy="549072"/>
          </a:xfrm>
        </p:grpSpPr>
        <p:sp>
          <p:nvSpPr>
            <p:cNvPr name="Freeform 14" id="14"/>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sp>
        <p:nvSpPr>
          <p:cNvPr name="Freeform 15" id="15"/>
          <p:cNvSpPr/>
          <p:nvPr/>
        </p:nvSpPr>
        <p:spPr>
          <a:xfrm flipH="false" flipV="false" rot="0">
            <a:off x="10098091" y="1625300"/>
            <a:ext cx="7309543" cy="4440892"/>
          </a:xfrm>
          <a:custGeom>
            <a:avLst/>
            <a:gdLst/>
            <a:ahLst/>
            <a:cxnLst/>
            <a:rect r="r" b="b" t="t" l="l"/>
            <a:pathLst>
              <a:path h="4440892" w="7309543">
                <a:moveTo>
                  <a:pt x="0" y="0"/>
                </a:moveTo>
                <a:lnTo>
                  <a:pt x="7309544" y="0"/>
                </a:lnTo>
                <a:lnTo>
                  <a:pt x="7309544" y="4440892"/>
                </a:lnTo>
                <a:lnTo>
                  <a:pt x="0" y="4440892"/>
                </a:lnTo>
                <a:lnTo>
                  <a:pt x="0" y="0"/>
                </a:lnTo>
                <a:close/>
              </a:path>
            </a:pathLst>
          </a:custGeom>
          <a:blipFill>
            <a:blip r:embed="rId5"/>
            <a:stretch>
              <a:fillRect l="0" t="0" r="0" b="0"/>
            </a:stretch>
          </a:blipFill>
        </p:spPr>
      </p:sp>
      <p:sp>
        <p:nvSpPr>
          <p:cNvPr name="Freeform 16" id="16"/>
          <p:cNvSpPr/>
          <p:nvPr/>
        </p:nvSpPr>
        <p:spPr>
          <a:xfrm flipH="false" flipV="false" rot="0">
            <a:off x="1028700" y="1625300"/>
            <a:ext cx="7309543" cy="4440892"/>
          </a:xfrm>
          <a:custGeom>
            <a:avLst/>
            <a:gdLst/>
            <a:ahLst/>
            <a:cxnLst/>
            <a:rect r="r" b="b" t="t" l="l"/>
            <a:pathLst>
              <a:path h="4440892" w="7309543">
                <a:moveTo>
                  <a:pt x="0" y="0"/>
                </a:moveTo>
                <a:lnTo>
                  <a:pt x="7309543" y="0"/>
                </a:lnTo>
                <a:lnTo>
                  <a:pt x="7309543" y="4440892"/>
                </a:lnTo>
                <a:lnTo>
                  <a:pt x="0" y="4440892"/>
                </a:lnTo>
                <a:lnTo>
                  <a:pt x="0" y="0"/>
                </a:lnTo>
                <a:close/>
              </a:path>
            </a:pathLst>
          </a:custGeom>
          <a:blipFill>
            <a:blip r:embed="rId6"/>
            <a:stretch>
              <a:fillRect l="0" t="0" r="0" b="0"/>
            </a:stretch>
          </a:blipFill>
        </p:spPr>
      </p:sp>
      <p:sp>
        <p:nvSpPr>
          <p:cNvPr name="Freeform 17" id="17"/>
          <p:cNvSpPr/>
          <p:nvPr/>
        </p:nvSpPr>
        <p:spPr>
          <a:xfrm flipH="false" flipV="false" rot="0">
            <a:off x="5199630" y="6098915"/>
            <a:ext cx="7445485" cy="4188085"/>
          </a:xfrm>
          <a:custGeom>
            <a:avLst/>
            <a:gdLst/>
            <a:ahLst/>
            <a:cxnLst/>
            <a:rect r="r" b="b" t="t" l="l"/>
            <a:pathLst>
              <a:path h="4188085" w="7445485">
                <a:moveTo>
                  <a:pt x="0" y="0"/>
                </a:moveTo>
                <a:lnTo>
                  <a:pt x="7445485" y="0"/>
                </a:lnTo>
                <a:lnTo>
                  <a:pt x="7445485" y="4188085"/>
                </a:lnTo>
                <a:lnTo>
                  <a:pt x="0" y="4188085"/>
                </a:lnTo>
                <a:lnTo>
                  <a:pt x="0" y="0"/>
                </a:lnTo>
                <a:close/>
              </a:path>
            </a:pathLst>
          </a:custGeom>
          <a:blipFill>
            <a:blip r:embed="rId7"/>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686333" y="686333"/>
            <a:ext cx="1784509" cy="1235392"/>
            <a:chOff x="0" y="0"/>
            <a:chExt cx="2379345" cy="1647190"/>
          </a:xfrm>
        </p:grpSpPr>
        <p:sp>
          <p:nvSpPr>
            <p:cNvPr name="Freeform 3" id="3"/>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2">
                <a:alphaModFix amt="0"/>
              </a:blip>
              <a:stretch>
                <a:fillRect l="-38884" t="0" r="-38884" b="0"/>
              </a:stretch>
            </a:blipFill>
          </p:spPr>
        </p:sp>
      </p:grpSp>
      <p:grpSp>
        <p:nvGrpSpPr>
          <p:cNvPr name="Group 4" id="4"/>
          <p:cNvGrpSpPr/>
          <p:nvPr/>
        </p:nvGrpSpPr>
        <p:grpSpPr>
          <a:xfrm rot="0">
            <a:off x="686333" y="650615"/>
            <a:ext cx="1784471" cy="1271121"/>
            <a:chOff x="0" y="0"/>
            <a:chExt cx="2379294" cy="1694828"/>
          </a:xfrm>
        </p:grpSpPr>
        <p:sp>
          <p:nvSpPr>
            <p:cNvPr name="Freeform 5" id="5"/>
            <p:cNvSpPr/>
            <p:nvPr/>
          </p:nvSpPr>
          <p:spPr>
            <a:xfrm flipH="false" flipV="false" rot="0">
              <a:off x="0" y="0"/>
              <a:ext cx="2379345" cy="1694815"/>
            </a:xfrm>
            <a:custGeom>
              <a:avLst/>
              <a:gdLst/>
              <a:ahLst/>
              <a:cxnLst/>
              <a:rect r="r" b="b" t="t" l="l"/>
              <a:pathLst>
                <a:path h="1694815" w="2379345">
                  <a:moveTo>
                    <a:pt x="0" y="0"/>
                  </a:moveTo>
                  <a:lnTo>
                    <a:pt x="2379345" y="0"/>
                  </a:lnTo>
                  <a:lnTo>
                    <a:pt x="2379345" y="1694815"/>
                  </a:lnTo>
                  <a:lnTo>
                    <a:pt x="0" y="1694815"/>
                  </a:lnTo>
                  <a:close/>
                </a:path>
              </a:pathLst>
            </a:custGeom>
            <a:blipFill>
              <a:blip r:embed="rId3">
                <a:alphaModFix amt="0"/>
              </a:blip>
              <a:stretch>
                <a:fillRect l="-41456" t="0" r="-41453" b="0"/>
              </a:stretch>
            </a:blipFill>
          </p:spPr>
        </p:sp>
      </p:grpSp>
      <p:grpSp>
        <p:nvGrpSpPr>
          <p:cNvPr name="Group 6" id="6"/>
          <p:cNvGrpSpPr/>
          <p:nvPr/>
        </p:nvGrpSpPr>
        <p:grpSpPr>
          <a:xfrm rot="0">
            <a:off x="2127647" y="796147"/>
            <a:ext cx="15099411" cy="1235392"/>
            <a:chOff x="0" y="0"/>
            <a:chExt cx="20132548" cy="1647190"/>
          </a:xfrm>
        </p:grpSpPr>
        <p:sp>
          <p:nvSpPr>
            <p:cNvPr name="Freeform 7" id="7"/>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2">
                <a:alphaModFix amt="0"/>
              </a:blip>
              <a:stretch>
                <a:fillRect l="0" t="-187987" r="0" b="-187987"/>
              </a:stretch>
            </a:blipFill>
          </p:spPr>
        </p:sp>
      </p:grpSp>
      <p:grpSp>
        <p:nvGrpSpPr>
          <p:cNvPr name="Group 8" id="8"/>
          <p:cNvGrpSpPr/>
          <p:nvPr/>
        </p:nvGrpSpPr>
        <p:grpSpPr>
          <a:xfrm rot="0">
            <a:off x="2127647" y="774716"/>
            <a:ext cx="15099392" cy="1256833"/>
            <a:chOff x="0" y="0"/>
            <a:chExt cx="20132523" cy="1675778"/>
          </a:xfrm>
        </p:grpSpPr>
        <p:sp>
          <p:nvSpPr>
            <p:cNvPr name="Freeform 9" id="9"/>
            <p:cNvSpPr/>
            <p:nvPr/>
          </p:nvSpPr>
          <p:spPr>
            <a:xfrm flipH="false" flipV="false" rot="0">
              <a:off x="0" y="0"/>
              <a:ext cx="20132548" cy="1675765"/>
            </a:xfrm>
            <a:custGeom>
              <a:avLst/>
              <a:gdLst/>
              <a:ahLst/>
              <a:cxnLst/>
              <a:rect r="r" b="b" t="t" l="l"/>
              <a:pathLst>
                <a:path h="1675765" w="20132548">
                  <a:moveTo>
                    <a:pt x="0" y="0"/>
                  </a:moveTo>
                  <a:lnTo>
                    <a:pt x="20132548" y="0"/>
                  </a:lnTo>
                  <a:lnTo>
                    <a:pt x="20132548" y="1675765"/>
                  </a:lnTo>
                  <a:lnTo>
                    <a:pt x="0" y="1675765"/>
                  </a:lnTo>
                  <a:close/>
                </a:path>
              </a:pathLst>
            </a:custGeom>
            <a:blipFill>
              <a:blip r:embed="rId3">
                <a:alphaModFix amt="0"/>
              </a:blip>
              <a:stretch>
                <a:fillRect l="0" t="-183928" r="0" b="-183929"/>
              </a:stretch>
            </a:blipFill>
          </p:spPr>
        </p:sp>
      </p:grpSp>
      <p:grpSp>
        <p:nvGrpSpPr>
          <p:cNvPr name="Group 10" id="10"/>
          <p:cNvGrpSpPr/>
          <p:nvPr/>
        </p:nvGrpSpPr>
        <p:grpSpPr>
          <a:xfrm rot="0">
            <a:off x="894361" y="419572"/>
            <a:ext cx="15099392" cy="1278265"/>
            <a:chOff x="0" y="0"/>
            <a:chExt cx="20132523" cy="1704353"/>
          </a:xfrm>
        </p:grpSpPr>
        <p:sp>
          <p:nvSpPr>
            <p:cNvPr name="Freeform 11" id="11"/>
            <p:cNvSpPr/>
            <p:nvPr/>
          </p:nvSpPr>
          <p:spPr>
            <a:xfrm flipH="false" flipV="false" rot="0">
              <a:off x="0" y="0"/>
              <a:ext cx="20132523" cy="1704352"/>
            </a:xfrm>
            <a:custGeom>
              <a:avLst/>
              <a:gdLst/>
              <a:ahLst/>
              <a:cxnLst/>
              <a:rect r="r" b="b" t="t" l="l"/>
              <a:pathLst>
                <a:path h="1704352" w="20132523">
                  <a:moveTo>
                    <a:pt x="0" y="0"/>
                  </a:moveTo>
                  <a:lnTo>
                    <a:pt x="20132523" y="0"/>
                  </a:lnTo>
                  <a:lnTo>
                    <a:pt x="20132523" y="1704352"/>
                  </a:lnTo>
                  <a:lnTo>
                    <a:pt x="0" y="1704352"/>
                  </a:lnTo>
                  <a:close/>
                </a:path>
              </a:pathLst>
            </a:custGeom>
            <a:blipFill>
              <a:blip r:embed="rId4">
                <a:alphaModFix amt="0"/>
              </a:blip>
              <a:stretch>
                <a:fillRect l="0" t="-180165" r="0" b="-180165"/>
              </a:stretch>
            </a:blipFill>
          </p:spPr>
        </p:sp>
        <p:sp>
          <p:nvSpPr>
            <p:cNvPr name="TextBox 12" id="12"/>
            <p:cNvSpPr txBox="true"/>
            <p:nvPr/>
          </p:nvSpPr>
          <p:spPr>
            <a:xfrm>
              <a:off x="0" y="-28575"/>
              <a:ext cx="20132523" cy="1732928"/>
            </a:xfrm>
            <a:prstGeom prst="rect">
              <a:avLst/>
            </a:prstGeom>
          </p:spPr>
          <p:txBody>
            <a:bodyPr anchor="ctr" rtlCol="false" tIns="0" lIns="0" bIns="0" rIns="0"/>
            <a:lstStyle/>
            <a:p>
              <a:pPr algn="l">
                <a:lnSpc>
                  <a:spcPts val="3962"/>
                </a:lnSpc>
              </a:pPr>
              <a:r>
                <a:rPr lang="en-US" sz="3302" b="true">
                  <a:solidFill>
                    <a:srgbClr val="1F3338"/>
                  </a:solidFill>
                  <a:latin typeface="Poppins Bold"/>
                  <a:ea typeface="Poppins Bold"/>
                  <a:cs typeface="Poppins Bold"/>
                  <a:sym typeface="Poppins Bold"/>
                </a:rPr>
                <a:t>Real-Time Chat: Architecture &amp; Flow</a:t>
              </a:r>
            </a:p>
          </p:txBody>
        </p:sp>
      </p:grpSp>
      <p:grpSp>
        <p:nvGrpSpPr>
          <p:cNvPr name="Group 13" id="13"/>
          <p:cNvGrpSpPr/>
          <p:nvPr/>
        </p:nvGrpSpPr>
        <p:grpSpPr>
          <a:xfrm rot="0">
            <a:off x="16815235" y="686333"/>
            <a:ext cx="754952" cy="754952"/>
            <a:chOff x="0" y="0"/>
            <a:chExt cx="1006602" cy="1006602"/>
          </a:xfrm>
        </p:grpSpPr>
        <p:sp>
          <p:nvSpPr>
            <p:cNvPr name="Freeform 14" id="14"/>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5"/>
              <a:stretch>
                <a:fillRect l="0" t="0" r="0" b="0"/>
              </a:stretch>
            </a:blipFill>
          </p:spPr>
        </p:sp>
      </p:grpSp>
      <p:grpSp>
        <p:nvGrpSpPr>
          <p:cNvPr name="Group 15" id="15"/>
          <p:cNvGrpSpPr/>
          <p:nvPr/>
        </p:nvGrpSpPr>
        <p:grpSpPr>
          <a:xfrm rot="0">
            <a:off x="1188720" y="2103120"/>
            <a:ext cx="3291840" cy="502920"/>
            <a:chOff x="0" y="0"/>
            <a:chExt cx="4389120" cy="670560"/>
          </a:xfrm>
        </p:grpSpPr>
        <p:sp>
          <p:nvSpPr>
            <p:cNvPr name="Freeform 16" id="16"/>
            <p:cNvSpPr/>
            <p:nvPr/>
          </p:nvSpPr>
          <p:spPr>
            <a:xfrm flipH="false" flipV="false" rot="0">
              <a:off x="0" y="0"/>
              <a:ext cx="4389120" cy="670560"/>
            </a:xfrm>
            <a:custGeom>
              <a:avLst/>
              <a:gdLst/>
              <a:ahLst/>
              <a:cxnLst/>
              <a:rect r="r" b="b" t="t" l="l"/>
              <a:pathLst>
                <a:path h="670560" w="4389120">
                  <a:moveTo>
                    <a:pt x="0" y="146304"/>
                  </a:moveTo>
                  <a:cubicBezTo>
                    <a:pt x="0" y="65532"/>
                    <a:pt x="65532" y="0"/>
                    <a:pt x="146304" y="0"/>
                  </a:cubicBezTo>
                  <a:lnTo>
                    <a:pt x="4242816" y="0"/>
                  </a:lnTo>
                  <a:cubicBezTo>
                    <a:pt x="4323588" y="0"/>
                    <a:pt x="4389120" y="65532"/>
                    <a:pt x="4389120" y="146304"/>
                  </a:cubicBezTo>
                  <a:lnTo>
                    <a:pt x="4389120" y="524256"/>
                  </a:lnTo>
                  <a:cubicBezTo>
                    <a:pt x="4389120" y="605028"/>
                    <a:pt x="4323588" y="670560"/>
                    <a:pt x="4242816" y="670560"/>
                  </a:cubicBezTo>
                  <a:lnTo>
                    <a:pt x="146304" y="670560"/>
                  </a:lnTo>
                  <a:cubicBezTo>
                    <a:pt x="65532" y="670560"/>
                    <a:pt x="0" y="605028"/>
                    <a:pt x="0" y="524256"/>
                  </a:cubicBezTo>
                  <a:close/>
                </a:path>
              </a:pathLst>
            </a:custGeom>
            <a:solidFill>
              <a:srgbClr val="737AE6"/>
            </a:solidFill>
          </p:spPr>
        </p:sp>
      </p:grpSp>
      <p:grpSp>
        <p:nvGrpSpPr>
          <p:cNvPr name="Group 17" id="17"/>
          <p:cNvGrpSpPr/>
          <p:nvPr/>
        </p:nvGrpSpPr>
        <p:grpSpPr>
          <a:xfrm rot="0">
            <a:off x="1188720" y="2103120"/>
            <a:ext cx="3291840" cy="502920"/>
            <a:chOff x="0" y="0"/>
            <a:chExt cx="4389120" cy="670560"/>
          </a:xfrm>
        </p:grpSpPr>
        <p:sp>
          <p:nvSpPr>
            <p:cNvPr name="Freeform 18" id="18"/>
            <p:cNvSpPr/>
            <p:nvPr/>
          </p:nvSpPr>
          <p:spPr>
            <a:xfrm flipH="false" flipV="false" rot="0">
              <a:off x="0" y="0"/>
              <a:ext cx="4389120" cy="670560"/>
            </a:xfrm>
            <a:custGeom>
              <a:avLst/>
              <a:gdLst/>
              <a:ahLst/>
              <a:cxnLst/>
              <a:rect r="r" b="b" t="t" l="l"/>
              <a:pathLst>
                <a:path h="670560" w="4389120">
                  <a:moveTo>
                    <a:pt x="0" y="0"/>
                  </a:moveTo>
                  <a:lnTo>
                    <a:pt x="4389120" y="0"/>
                  </a:lnTo>
                  <a:lnTo>
                    <a:pt x="4389120" y="670560"/>
                  </a:lnTo>
                  <a:lnTo>
                    <a:pt x="0" y="670560"/>
                  </a:lnTo>
                  <a:close/>
                </a:path>
              </a:pathLst>
            </a:custGeom>
            <a:blipFill>
              <a:blip r:embed="rId2">
                <a:alphaModFix amt="0"/>
              </a:blip>
              <a:stretch>
                <a:fillRect l="0" t="-77448" r="0" b="-77450"/>
              </a:stretch>
            </a:blipFill>
          </p:spPr>
        </p:sp>
      </p:grpSp>
      <p:grpSp>
        <p:nvGrpSpPr>
          <p:cNvPr name="Group 19" id="19"/>
          <p:cNvGrpSpPr/>
          <p:nvPr/>
        </p:nvGrpSpPr>
        <p:grpSpPr>
          <a:xfrm rot="0">
            <a:off x="1188720" y="2088833"/>
            <a:ext cx="3291840" cy="517207"/>
            <a:chOff x="0" y="0"/>
            <a:chExt cx="4389120" cy="689610"/>
          </a:xfrm>
        </p:grpSpPr>
        <p:sp>
          <p:nvSpPr>
            <p:cNvPr name="Freeform 20" id="20"/>
            <p:cNvSpPr/>
            <p:nvPr/>
          </p:nvSpPr>
          <p:spPr>
            <a:xfrm flipH="false" flipV="false" rot="0">
              <a:off x="0" y="0"/>
              <a:ext cx="4389120" cy="689610"/>
            </a:xfrm>
            <a:custGeom>
              <a:avLst/>
              <a:gdLst/>
              <a:ahLst/>
              <a:cxnLst/>
              <a:rect r="r" b="b" t="t" l="l"/>
              <a:pathLst>
                <a:path h="689610" w="4389120">
                  <a:moveTo>
                    <a:pt x="0" y="0"/>
                  </a:moveTo>
                  <a:lnTo>
                    <a:pt x="4389120" y="0"/>
                  </a:lnTo>
                  <a:lnTo>
                    <a:pt x="4389120" y="689610"/>
                  </a:lnTo>
                  <a:lnTo>
                    <a:pt x="0" y="689610"/>
                  </a:lnTo>
                  <a:close/>
                </a:path>
              </a:pathLst>
            </a:custGeom>
            <a:blipFill>
              <a:blip r:embed="rId3">
                <a:alphaModFix amt="0"/>
              </a:blip>
              <a:stretch>
                <a:fillRect l="0" t="-73928" r="0" b="-73930"/>
              </a:stretch>
            </a:blipFill>
          </p:spPr>
        </p:sp>
      </p:grpSp>
      <p:grpSp>
        <p:nvGrpSpPr>
          <p:cNvPr name="Group 21" id="21"/>
          <p:cNvGrpSpPr/>
          <p:nvPr/>
        </p:nvGrpSpPr>
        <p:grpSpPr>
          <a:xfrm rot="0">
            <a:off x="1188720" y="2074545"/>
            <a:ext cx="3291840" cy="531495"/>
            <a:chOff x="0" y="0"/>
            <a:chExt cx="4389120" cy="708660"/>
          </a:xfrm>
        </p:grpSpPr>
        <p:sp>
          <p:nvSpPr>
            <p:cNvPr name="Freeform 22" id="22"/>
            <p:cNvSpPr/>
            <p:nvPr/>
          </p:nvSpPr>
          <p:spPr>
            <a:xfrm flipH="false" flipV="false" rot="0">
              <a:off x="0" y="0"/>
              <a:ext cx="4389120" cy="708659"/>
            </a:xfrm>
            <a:custGeom>
              <a:avLst/>
              <a:gdLst/>
              <a:ahLst/>
              <a:cxnLst/>
              <a:rect r="r" b="b" t="t" l="l"/>
              <a:pathLst>
                <a:path h="708659" w="4389120">
                  <a:moveTo>
                    <a:pt x="0" y="0"/>
                  </a:moveTo>
                  <a:lnTo>
                    <a:pt x="4389120" y="0"/>
                  </a:lnTo>
                  <a:lnTo>
                    <a:pt x="4389120" y="708659"/>
                  </a:lnTo>
                  <a:lnTo>
                    <a:pt x="0" y="708659"/>
                  </a:lnTo>
                  <a:close/>
                </a:path>
              </a:pathLst>
            </a:custGeom>
            <a:blipFill>
              <a:blip r:embed="rId4">
                <a:alphaModFix amt="0"/>
              </a:blip>
              <a:stretch>
                <a:fillRect l="0" t="-70681" r="0" b="-70681"/>
              </a:stretch>
            </a:blipFill>
          </p:spPr>
        </p:sp>
        <p:sp>
          <p:nvSpPr>
            <p:cNvPr name="TextBox 23" id="23"/>
            <p:cNvSpPr txBox="true"/>
            <p:nvPr/>
          </p:nvSpPr>
          <p:spPr>
            <a:xfrm>
              <a:off x="0" y="-19050"/>
              <a:ext cx="4389120" cy="727710"/>
            </a:xfrm>
            <a:prstGeom prst="rect">
              <a:avLst/>
            </a:prstGeom>
          </p:spPr>
          <p:txBody>
            <a:bodyPr anchor="ctr" rtlCol="false" tIns="0" lIns="0" bIns="0" rIns="0"/>
            <a:lstStyle/>
            <a:p>
              <a:pPr algn="ctr">
                <a:lnSpc>
                  <a:spcPts val="1800"/>
                </a:lnSpc>
              </a:pPr>
              <a:r>
                <a:rPr lang="en-US" sz="1500" b="true">
                  <a:solidFill>
                    <a:srgbClr val="FFFFFF"/>
                  </a:solidFill>
                  <a:latin typeface="Poppins Bold"/>
                  <a:ea typeface="Poppins Bold"/>
                  <a:cs typeface="Poppins Bold"/>
                  <a:sym typeface="Poppins Bold"/>
                </a:rPr>
                <a:t>Frontend</a:t>
              </a:r>
            </a:p>
          </p:txBody>
        </p:sp>
      </p:grpSp>
      <p:grpSp>
        <p:nvGrpSpPr>
          <p:cNvPr name="Group 24" id="24"/>
          <p:cNvGrpSpPr/>
          <p:nvPr/>
        </p:nvGrpSpPr>
        <p:grpSpPr>
          <a:xfrm rot="0">
            <a:off x="1188720" y="2633472"/>
            <a:ext cx="3291840" cy="548640"/>
            <a:chOff x="0" y="0"/>
            <a:chExt cx="4389120" cy="731520"/>
          </a:xfrm>
        </p:grpSpPr>
        <p:sp>
          <p:nvSpPr>
            <p:cNvPr name="Freeform 25" id="25"/>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2">
                <a:alphaModFix amt="0"/>
              </a:blip>
              <a:stretch>
                <a:fillRect l="0" t="-66828" r="0" b="-66829"/>
              </a:stretch>
            </a:blipFill>
          </p:spPr>
        </p:sp>
      </p:grpSp>
      <p:grpSp>
        <p:nvGrpSpPr>
          <p:cNvPr name="Group 26" id="26"/>
          <p:cNvGrpSpPr/>
          <p:nvPr/>
        </p:nvGrpSpPr>
        <p:grpSpPr>
          <a:xfrm rot="0">
            <a:off x="1188720" y="2633472"/>
            <a:ext cx="3291840" cy="548640"/>
            <a:chOff x="0" y="0"/>
            <a:chExt cx="4389120" cy="731520"/>
          </a:xfrm>
        </p:grpSpPr>
        <p:sp>
          <p:nvSpPr>
            <p:cNvPr name="Freeform 27" id="27"/>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828" r="0" b="-66829"/>
              </a:stretch>
            </a:blipFill>
          </p:spPr>
        </p:sp>
      </p:grpSp>
      <p:grpSp>
        <p:nvGrpSpPr>
          <p:cNvPr name="Group 28" id="28"/>
          <p:cNvGrpSpPr/>
          <p:nvPr/>
        </p:nvGrpSpPr>
        <p:grpSpPr>
          <a:xfrm rot="0">
            <a:off x="1188720" y="2633472"/>
            <a:ext cx="3291840" cy="548640"/>
            <a:chOff x="0" y="0"/>
            <a:chExt cx="4389120" cy="731520"/>
          </a:xfrm>
        </p:grpSpPr>
        <p:sp>
          <p:nvSpPr>
            <p:cNvPr name="Freeform 29" id="29"/>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4">
                <a:alphaModFix amt="0"/>
              </a:blip>
              <a:stretch>
                <a:fillRect l="0" t="-66910" r="0" b="-66910"/>
              </a:stretch>
            </a:blipFill>
          </p:spPr>
        </p:sp>
        <p:sp>
          <p:nvSpPr>
            <p:cNvPr name="TextBox 30" id="30"/>
            <p:cNvSpPr txBox="true"/>
            <p:nvPr/>
          </p:nvSpPr>
          <p:spPr>
            <a:xfrm>
              <a:off x="0" y="0"/>
              <a:ext cx="4389120" cy="731520"/>
            </a:xfrm>
            <a:prstGeom prst="rect">
              <a:avLst/>
            </a:prstGeom>
          </p:spPr>
          <p:txBody>
            <a:bodyPr anchor="ctr" rtlCol="false" tIns="0" lIns="0" bIns="0" rIns="0"/>
            <a:lstStyle/>
            <a:p>
              <a:pPr algn="ctr">
                <a:lnSpc>
                  <a:spcPts val="1377"/>
                </a:lnSpc>
              </a:pPr>
              <a:r>
                <a:rPr lang="en-US" sz="1149">
                  <a:solidFill>
                    <a:srgbClr val="3D6874"/>
                  </a:solidFill>
                  <a:latin typeface="Poppins"/>
                  <a:ea typeface="Poppins"/>
                  <a:cs typeface="Poppins"/>
                  <a:sym typeface="Poppins"/>
                </a:rPr>
                <a:t>chat UI + socket client</a:t>
              </a:r>
            </a:p>
          </p:txBody>
        </p:sp>
      </p:grpSp>
      <p:grpSp>
        <p:nvGrpSpPr>
          <p:cNvPr name="Group 31" id="31"/>
          <p:cNvGrpSpPr/>
          <p:nvPr/>
        </p:nvGrpSpPr>
        <p:grpSpPr>
          <a:xfrm rot="0">
            <a:off x="4480560" y="2308860"/>
            <a:ext cx="374904" cy="82296"/>
            <a:chOff x="0" y="0"/>
            <a:chExt cx="499872" cy="109728"/>
          </a:xfrm>
        </p:grpSpPr>
        <p:sp>
          <p:nvSpPr>
            <p:cNvPr name="Freeform 32" id="32"/>
            <p:cNvSpPr/>
            <p:nvPr/>
          </p:nvSpPr>
          <p:spPr>
            <a:xfrm flipH="false" flipV="false" rot="0">
              <a:off x="0" y="0"/>
              <a:ext cx="499872" cy="109728"/>
            </a:xfrm>
            <a:custGeom>
              <a:avLst/>
              <a:gdLst/>
              <a:ahLst/>
              <a:cxnLst/>
              <a:rect r="r" b="b" t="t" l="l"/>
              <a:pathLst>
                <a:path h="109728" w="499872">
                  <a:moveTo>
                    <a:pt x="0" y="0"/>
                  </a:moveTo>
                  <a:lnTo>
                    <a:pt x="499872" y="0"/>
                  </a:lnTo>
                  <a:lnTo>
                    <a:pt x="499872" y="109728"/>
                  </a:lnTo>
                  <a:lnTo>
                    <a:pt x="0" y="109728"/>
                  </a:lnTo>
                  <a:close/>
                </a:path>
              </a:pathLst>
            </a:custGeom>
            <a:solidFill>
              <a:srgbClr val="737AE6"/>
            </a:solidFill>
          </p:spPr>
        </p:sp>
      </p:grpSp>
      <p:grpSp>
        <p:nvGrpSpPr>
          <p:cNvPr name="Group 33" id="33"/>
          <p:cNvGrpSpPr/>
          <p:nvPr/>
        </p:nvGrpSpPr>
        <p:grpSpPr>
          <a:xfrm rot="5400000">
            <a:off x="4855464" y="2231136"/>
            <a:ext cx="146304" cy="237744"/>
            <a:chOff x="0" y="0"/>
            <a:chExt cx="195072" cy="316992"/>
          </a:xfrm>
        </p:grpSpPr>
        <p:sp>
          <p:nvSpPr>
            <p:cNvPr name="Freeform 34" id="34"/>
            <p:cNvSpPr/>
            <p:nvPr/>
          </p:nvSpPr>
          <p:spPr>
            <a:xfrm flipH="false" flipV="false" rot="0">
              <a:off x="0" y="0"/>
              <a:ext cx="195072" cy="316992"/>
            </a:xfrm>
            <a:custGeom>
              <a:avLst/>
              <a:gdLst/>
              <a:ahLst/>
              <a:cxnLst/>
              <a:rect r="r" b="b" t="t" l="l"/>
              <a:pathLst>
                <a:path h="316992" w="195072">
                  <a:moveTo>
                    <a:pt x="0" y="316992"/>
                  </a:moveTo>
                  <a:lnTo>
                    <a:pt x="97536" y="0"/>
                  </a:lnTo>
                  <a:lnTo>
                    <a:pt x="195072" y="316992"/>
                  </a:lnTo>
                  <a:close/>
                </a:path>
              </a:pathLst>
            </a:custGeom>
            <a:solidFill>
              <a:srgbClr val="737AE6"/>
            </a:solidFill>
          </p:spPr>
        </p:sp>
      </p:grpSp>
      <p:grpSp>
        <p:nvGrpSpPr>
          <p:cNvPr name="Group 35" id="35"/>
          <p:cNvGrpSpPr/>
          <p:nvPr/>
        </p:nvGrpSpPr>
        <p:grpSpPr>
          <a:xfrm rot="0">
            <a:off x="4983480" y="2103120"/>
            <a:ext cx="3291840" cy="502920"/>
            <a:chOff x="0" y="0"/>
            <a:chExt cx="4389120" cy="670560"/>
          </a:xfrm>
        </p:grpSpPr>
        <p:sp>
          <p:nvSpPr>
            <p:cNvPr name="Freeform 36" id="36"/>
            <p:cNvSpPr/>
            <p:nvPr/>
          </p:nvSpPr>
          <p:spPr>
            <a:xfrm flipH="false" flipV="false" rot="0">
              <a:off x="0" y="0"/>
              <a:ext cx="4389120" cy="670560"/>
            </a:xfrm>
            <a:custGeom>
              <a:avLst/>
              <a:gdLst/>
              <a:ahLst/>
              <a:cxnLst/>
              <a:rect r="r" b="b" t="t" l="l"/>
              <a:pathLst>
                <a:path h="670560" w="4389120">
                  <a:moveTo>
                    <a:pt x="0" y="146304"/>
                  </a:moveTo>
                  <a:cubicBezTo>
                    <a:pt x="0" y="65532"/>
                    <a:pt x="65532" y="0"/>
                    <a:pt x="146304" y="0"/>
                  </a:cubicBezTo>
                  <a:lnTo>
                    <a:pt x="4242816" y="0"/>
                  </a:lnTo>
                  <a:cubicBezTo>
                    <a:pt x="4323588" y="0"/>
                    <a:pt x="4389120" y="65532"/>
                    <a:pt x="4389120" y="146304"/>
                  </a:cubicBezTo>
                  <a:lnTo>
                    <a:pt x="4389120" y="524256"/>
                  </a:lnTo>
                  <a:cubicBezTo>
                    <a:pt x="4389120" y="605028"/>
                    <a:pt x="4323588" y="670560"/>
                    <a:pt x="4242816" y="670560"/>
                  </a:cubicBezTo>
                  <a:lnTo>
                    <a:pt x="146304" y="670560"/>
                  </a:lnTo>
                  <a:cubicBezTo>
                    <a:pt x="65532" y="670560"/>
                    <a:pt x="0" y="605028"/>
                    <a:pt x="0" y="524256"/>
                  </a:cubicBezTo>
                  <a:close/>
                </a:path>
              </a:pathLst>
            </a:custGeom>
            <a:solidFill>
              <a:srgbClr val="737AE6"/>
            </a:solidFill>
          </p:spPr>
        </p:sp>
      </p:grpSp>
      <p:grpSp>
        <p:nvGrpSpPr>
          <p:cNvPr name="Group 37" id="37"/>
          <p:cNvGrpSpPr/>
          <p:nvPr/>
        </p:nvGrpSpPr>
        <p:grpSpPr>
          <a:xfrm rot="0">
            <a:off x="4983480" y="2103120"/>
            <a:ext cx="3291840" cy="502920"/>
            <a:chOff x="0" y="0"/>
            <a:chExt cx="4389120" cy="670560"/>
          </a:xfrm>
        </p:grpSpPr>
        <p:sp>
          <p:nvSpPr>
            <p:cNvPr name="Freeform 38" id="38"/>
            <p:cNvSpPr/>
            <p:nvPr/>
          </p:nvSpPr>
          <p:spPr>
            <a:xfrm flipH="false" flipV="false" rot="0">
              <a:off x="0" y="0"/>
              <a:ext cx="4389120" cy="670560"/>
            </a:xfrm>
            <a:custGeom>
              <a:avLst/>
              <a:gdLst/>
              <a:ahLst/>
              <a:cxnLst/>
              <a:rect r="r" b="b" t="t" l="l"/>
              <a:pathLst>
                <a:path h="670560" w="4389120">
                  <a:moveTo>
                    <a:pt x="0" y="0"/>
                  </a:moveTo>
                  <a:lnTo>
                    <a:pt x="4389120" y="0"/>
                  </a:lnTo>
                  <a:lnTo>
                    <a:pt x="4389120" y="670560"/>
                  </a:lnTo>
                  <a:lnTo>
                    <a:pt x="0" y="670560"/>
                  </a:lnTo>
                  <a:close/>
                </a:path>
              </a:pathLst>
            </a:custGeom>
            <a:blipFill>
              <a:blip r:embed="rId2">
                <a:alphaModFix amt="0"/>
              </a:blip>
              <a:stretch>
                <a:fillRect l="0" t="-77448" r="0" b="-77450"/>
              </a:stretch>
            </a:blipFill>
          </p:spPr>
        </p:sp>
      </p:grpSp>
      <p:grpSp>
        <p:nvGrpSpPr>
          <p:cNvPr name="Group 39" id="39"/>
          <p:cNvGrpSpPr/>
          <p:nvPr/>
        </p:nvGrpSpPr>
        <p:grpSpPr>
          <a:xfrm rot="0">
            <a:off x="4983480" y="2088833"/>
            <a:ext cx="3291840" cy="517207"/>
            <a:chOff x="0" y="0"/>
            <a:chExt cx="4389120" cy="689610"/>
          </a:xfrm>
        </p:grpSpPr>
        <p:sp>
          <p:nvSpPr>
            <p:cNvPr name="Freeform 40" id="40"/>
            <p:cNvSpPr/>
            <p:nvPr/>
          </p:nvSpPr>
          <p:spPr>
            <a:xfrm flipH="false" flipV="false" rot="0">
              <a:off x="0" y="0"/>
              <a:ext cx="4389120" cy="689610"/>
            </a:xfrm>
            <a:custGeom>
              <a:avLst/>
              <a:gdLst/>
              <a:ahLst/>
              <a:cxnLst/>
              <a:rect r="r" b="b" t="t" l="l"/>
              <a:pathLst>
                <a:path h="689610" w="4389120">
                  <a:moveTo>
                    <a:pt x="0" y="0"/>
                  </a:moveTo>
                  <a:lnTo>
                    <a:pt x="4389120" y="0"/>
                  </a:lnTo>
                  <a:lnTo>
                    <a:pt x="4389120" y="689610"/>
                  </a:lnTo>
                  <a:lnTo>
                    <a:pt x="0" y="689610"/>
                  </a:lnTo>
                  <a:close/>
                </a:path>
              </a:pathLst>
            </a:custGeom>
            <a:blipFill>
              <a:blip r:embed="rId3">
                <a:alphaModFix amt="0"/>
              </a:blip>
              <a:stretch>
                <a:fillRect l="0" t="-73928" r="0" b="-73930"/>
              </a:stretch>
            </a:blipFill>
          </p:spPr>
        </p:sp>
      </p:grpSp>
      <p:grpSp>
        <p:nvGrpSpPr>
          <p:cNvPr name="Group 41" id="41"/>
          <p:cNvGrpSpPr/>
          <p:nvPr/>
        </p:nvGrpSpPr>
        <p:grpSpPr>
          <a:xfrm rot="0">
            <a:off x="4983480" y="2074545"/>
            <a:ext cx="3291840" cy="531495"/>
            <a:chOff x="0" y="0"/>
            <a:chExt cx="4389120" cy="708660"/>
          </a:xfrm>
        </p:grpSpPr>
        <p:sp>
          <p:nvSpPr>
            <p:cNvPr name="Freeform 42" id="42"/>
            <p:cNvSpPr/>
            <p:nvPr/>
          </p:nvSpPr>
          <p:spPr>
            <a:xfrm flipH="false" flipV="false" rot="0">
              <a:off x="0" y="0"/>
              <a:ext cx="4389120" cy="708659"/>
            </a:xfrm>
            <a:custGeom>
              <a:avLst/>
              <a:gdLst/>
              <a:ahLst/>
              <a:cxnLst/>
              <a:rect r="r" b="b" t="t" l="l"/>
              <a:pathLst>
                <a:path h="708659" w="4389120">
                  <a:moveTo>
                    <a:pt x="0" y="0"/>
                  </a:moveTo>
                  <a:lnTo>
                    <a:pt x="4389120" y="0"/>
                  </a:lnTo>
                  <a:lnTo>
                    <a:pt x="4389120" y="708659"/>
                  </a:lnTo>
                  <a:lnTo>
                    <a:pt x="0" y="708659"/>
                  </a:lnTo>
                  <a:close/>
                </a:path>
              </a:pathLst>
            </a:custGeom>
            <a:blipFill>
              <a:blip r:embed="rId4">
                <a:alphaModFix amt="0"/>
              </a:blip>
              <a:stretch>
                <a:fillRect l="0" t="-70681" r="0" b="-70681"/>
              </a:stretch>
            </a:blipFill>
          </p:spPr>
        </p:sp>
        <p:sp>
          <p:nvSpPr>
            <p:cNvPr name="TextBox 43" id="43"/>
            <p:cNvSpPr txBox="true"/>
            <p:nvPr/>
          </p:nvSpPr>
          <p:spPr>
            <a:xfrm>
              <a:off x="0" y="-19050"/>
              <a:ext cx="4389120" cy="727710"/>
            </a:xfrm>
            <a:prstGeom prst="rect">
              <a:avLst/>
            </a:prstGeom>
          </p:spPr>
          <p:txBody>
            <a:bodyPr anchor="ctr" rtlCol="false" tIns="0" lIns="0" bIns="0" rIns="0"/>
            <a:lstStyle/>
            <a:p>
              <a:pPr algn="ctr">
                <a:lnSpc>
                  <a:spcPts val="1800"/>
                </a:lnSpc>
              </a:pPr>
              <a:r>
                <a:rPr lang="en-US" sz="1500" b="true">
                  <a:solidFill>
                    <a:srgbClr val="FFFFFF"/>
                  </a:solidFill>
                  <a:latin typeface="Poppins Bold"/>
                  <a:ea typeface="Poppins Bold"/>
                  <a:cs typeface="Poppins Bold"/>
                  <a:sym typeface="Poppins Bold"/>
                </a:rPr>
                <a:t>Backend</a:t>
              </a:r>
            </a:p>
          </p:txBody>
        </p:sp>
      </p:grpSp>
      <p:grpSp>
        <p:nvGrpSpPr>
          <p:cNvPr name="Group 44" id="44"/>
          <p:cNvGrpSpPr/>
          <p:nvPr/>
        </p:nvGrpSpPr>
        <p:grpSpPr>
          <a:xfrm rot="0">
            <a:off x="4983480" y="2633472"/>
            <a:ext cx="3291840" cy="548640"/>
            <a:chOff x="0" y="0"/>
            <a:chExt cx="4389120" cy="731520"/>
          </a:xfrm>
        </p:grpSpPr>
        <p:sp>
          <p:nvSpPr>
            <p:cNvPr name="Freeform 45" id="45"/>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2">
                <a:alphaModFix amt="0"/>
              </a:blip>
              <a:stretch>
                <a:fillRect l="0" t="-66828" r="0" b="-66829"/>
              </a:stretch>
            </a:blipFill>
          </p:spPr>
        </p:sp>
      </p:grpSp>
      <p:grpSp>
        <p:nvGrpSpPr>
          <p:cNvPr name="Group 46" id="46"/>
          <p:cNvGrpSpPr/>
          <p:nvPr/>
        </p:nvGrpSpPr>
        <p:grpSpPr>
          <a:xfrm rot="0">
            <a:off x="4983480" y="2633472"/>
            <a:ext cx="3291840" cy="548640"/>
            <a:chOff x="0" y="0"/>
            <a:chExt cx="4389120" cy="731520"/>
          </a:xfrm>
        </p:grpSpPr>
        <p:sp>
          <p:nvSpPr>
            <p:cNvPr name="Freeform 47" id="47"/>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828" r="0" b="-66829"/>
              </a:stretch>
            </a:blipFill>
          </p:spPr>
        </p:sp>
      </p:grpSp>
      <p:grpSp>
        <p:nvGrpSpPr>
          <p:cNvPr name="Group 48" id="48"/>
          <p:cNvGrpSpPr/>
          <p:nvPr/>
        </p:nvGrpSpPr>
        <p:grpSpPr>
          <a:xfrm rot="0">
            <a:off x="4983480" y="2633472"/>
            <a:ext cx="3291840" cy="548640"/>
            <a:chOff x="0" y="0"/>
            <a:chExt cx="4389120" cy="731520"/>
          </a:xfrm>
        </p:grpSpPr>
        <p:sp>
          <p:nvSpPr>
            <p:cNvPr name="Freeform 49" id="49"/>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4">
                <a:alphaModFix amt="0"/>
              </a:blip>
              <a:stretch>
                <a:fillRect l="0" t="-66910" r="0" b="-66910"/>
              </a:stretch>
            </a:blipFill>
          </p:spPr>
        </p:sp>
        <p:sp>
          <p:nvSpPr>
            <p:cNvPr name="TextBox 50" id="50"/>
            <p:cNvSpPr txBox="true"/>
            <p:nvPr/>
          </p:nvSpPr>
          <p:spPr>
            <a:xfrm>
              <a:off x="0" y="0"/>
              <a:ext cx="4389120" cy="731520"/>
            </a:xfrm>
            <a:prstGeom prst="rect">
              <a:avLst/>
            </a:prstGeom>
          </p:spPr>
          <p:txBody>
            <a:bodyPr anchor="ctr" rtlCol="false" tIns="0" lIns="0" bIns="0" rIns="0"/>
            <a:lstStyle/>
            <a:p>
              <a:pPr algn="ctr">
                <a:lnSpc>
                  <a:spcPts val="1377"/>
                </a:lnSpc>
              </a:pPr>
              <a:r>
                <a:rPr lang="en-US" sz="1149">
                  <a:solidFill>
                    <a:srgbClr val="3D6874"/>
                  </a:solidFill>
                  <a:latin typeface="Poppins"/>
                  <a:ea typeface="Poppins"/>
                  <a:cs typeface="Poppins"/>
                  <a:sym typeface="Poppins"/>
                </a:rPr>
                <a:t>auth, validation, persistence</a:t>
              </a:r>
            </a:p>
          </p:txBody>
        </p:sp>
      </p:grpSp>
      <p:grpSp>
        <p:nvGrpSpPr>
          <p:cNvPr name="Group 51" id="51"/>
          <p:cNvGrpSpPr/>
          <p:nvPr/>
        </p:nvGrpSpPr>
        <p:grpSpPr>
          <a:xfrm rot="0">
            <a:off x="8275320" y="2308860"/>
            <a:ext cx="374904" cy="82296"/>
            <a:chOff x="0" y="0"/>
            <a:chExt cx="499872" cy="109728"/>
          </a:xfrm>
        </p:grpSpPr>
        <p:sp>
          <p:nvSpPr>
            <p:cNvPr name="Freeform 52" id="52"/>
            <p:cNvSpPr/>
            <p:nvPr/>
          </p:nvSpPr>
          <p:spPr>
            <a:xfrm flipH="false" flipV="false" rot="0">
              <a:off x="0" y="0"/>
              <a:ext cx="499872" cy="109728"/>
            </a:xfrm>
            <a:custGeom>
              <a:avLst/>
              <a:gdLst/>
              <a:ahLst/>
              <a:cxnLst/>
              <a:rect r="r" b="b" t="t" l="l"/>
              <a:pathLst>
                <a:path h="109728" w="499872">
                  <a:moveTo>
                    <a:pt x="0" y="0"/>
                  </a:moveTo>
                  <a:lnTo>
                    <a:pt x="499872" y="0"/>
                  </a:lnTo>
                  <a:lnTo>
                    <a:pt x="499872" y="109728"/>
                  </a:lnTo>
                  <a:lnTo>
                    <a:pt x="0" y="109728"/>
                  </a:lnTo>
                  <a:close/>
                </a:path>
              </a:pathLst>
            </a:custGeom>
            <a:solidFill>
              <a:srgbClr val="737AE6"/>
            </a:solidFill>
          </p:spPr>
        </p:sp>
      </p:grpSp>
      <p:grpSp>
        <p:nvGrpSpPr>
          <p:cNvPr name="Group 53" id="53"/>
          <p:cNvGrpSpPr/>
          <p:nvPr/>
        </p:nvGrpSpPr>
        <p:grpSpPr>
          <a:xfrm rot="5400000">
            <a:off x="8650224" y="2231136"/>
            <a:ext cx="146304" cy="237744"/>
            <a:chOff x="0" y="0"/>
            <a:chExt cx="195072" cy="316992"/>
          </a:xfrm>
        </p:grpSpPr>
        <p:sp>
          <p:nvSpPr>
            <p:cNvPr name="Freeform 54" id="54"/>
            <p:cNvSpPr/>
            <p:nvPr/>
          </p:nvSpPr>
          <p:spPr>
            <a:xfrm flipH="false" flipV="false" rot="0">
              <a:off x="0" y="0"/>
              <a:ext cx="195072" cy="316992"/>
            </a:xfrm>
            <a:custGeom>
              <a:avLst/>
              <a:gdLst/>
              <a:ahLst/>
              <a:cxnLst/>
              <a:rect r="r" b="b" t="t" l="l"/>
              <a:pathLst>
                <a:path h="316992" w="195072">
                  <a:moveTo>
                    <a:pt x="0" y="316992"/>
                  </a:moveTo>
                  <a:lnTo>
                    <a:pt x="97536" y="0"/>
                  </a:lnTo>
                  <a:lnTo>
                    <a:pt x="195072" y="316992"/>
                  </a:lnTo>
                  <a:close/>
                </a:path>
              </a:pathLst>
            </a:custGeom>
            <a:solidFill>
              <a:srgbClr val="737AE6"/>
            </a:solidFill>
          </p:spPr>
        </p:sp>
      </p:grpSp>
      <p:grpSp>
        <p:nvGrpSpPr>
          <p:cNvPr name="Group 55" id="55"/>
          <p:cNvGrpSpPr/>
          <p:nvPr/>
        </p:nvGrpSpPr>
        <p:grpSpPr>
          <a:xfrm rot="0">
            <a:off x="8778240" y="2103120"/>
            <a:ext cx="3291840" cy="502920"/>
            <a:chOff x="0" y="0"/>
            <a:chExt cx="4389120" cy="670560"/>
          </a:xfrm>
        </p:grpSpPr>
        <p:sp>
          <p:nvSpPr>
            <p:cNvPr name="Freeform 56" id="56"/>
            <p:cNvSpPr/>
            <p:nvPr/>
          </p:nvSpPr>
          <p:spPr>
            <a:xfrm flipH="false" flipV="false" rot="0">
              <a:off x="0" y="0"/>
              <a:ext cx="4389120" cy="670560"/>
            </a:xfrm>
            <a:custGeom>
              <a:avLst/>
              <a:gdLst/>
              <a:ahLst/>
              <a:cxnLst/>
              <a:rect r="r" b="b" t="t" l="l"/>
              <a:pathLst>
                <a:path h="670560" w="4389120">
                  <a:moveTo>
                    <a:pt x="0" y="146304"/>
                  </a:moveTo>
                  <a:cubicBezTo>
                    <a:pt x="0" y="65532"/>
                    <a:pt x="65532" y="0"/>
                    <a:pt x="146304" y="0"/>
                  </a:cubicBezTo>
                  <a:lnTo>
                    <a:pt x="4242816" y="0"/>
                  </a:lnTo>
                  <a:cubicBezTo>
                    <a:pt x="4323588" y="0"/>
                    <a:pt x="4389120" y="65532"/>
                    <a:pt x="4389120" y="146304"/>
                  </a:cubicBezTo>
                  <a:lnTo>
                    <a:pt x="4389120" y="524256"/>
                  </a:lnTo>
                  <a:cubicBezTo>
                    <a:pt x="4389120" y="605028"/>
                    <a:pt x="4323588" y="670560"/>
                    <a:pt x="4242816" y="670560"/>
                  </a:cubicBezTo>
                  <a:lnTo>
                    <a:pt x="146304" y="670560"/>
                  </a:lnTo>
                  <a:cubicBezTo>
                    <a:pt x="65532" y="670560"/>
                    <a:pt x="0" y="605028"/>
                    <a:pt x="0" y="524256"/>
                  </a:cubicBezTo>
                  <a:close/>
                </a:path>
              </a:pathLst>
            </a:custGeom>
            <a:solidFill>
              <a:srgbClr val="737AE6"/>
            </a:solidFill>
          </p:spPr>
        </p:sp>
      </p:grpSp>
      <p:grpSp>
        <p:nvGrpSpPr>
          <p:cNvPr name="Group 57" id="57"/>
          <p:cNvGrpSpPr/>
          <p:nvPr/>
        </p:nvGrpSpPr>
        <p:grpSpPr>
          <a:xfrm rot="0">
            <a:off x="8778240" y="2103120"/>
            <a:ext cx="3291840" cy="502920"/>
            <a:chOff x="0" y="0"/>
            <a:chExt cx="4389120" cy="670560"/>
          </a:xfrm>
        </p:grpSpPr>
        <p:sp>
          <p:nvSpPr>
            <p:cNvPr name="Freeform 58" id="58"/>
            <p:cNvSpPr/>
            <p:nvPr/>
          </p:nvSpPr>
          <p:spPr>
            <a:xfrm flipH="false" flipV="false" rot="0">
              <a:off x="0" y="0"/>
              <a:ext cx="4389120" cy="670560"/>
            </a:xfrm>
            <a:custGeom>
              <a:avLst/>
              <a:gdLst/>
              <a:ahLst/>
              <a:cxnLst/>
              <a:rect r="r" b="b" t="t" l="l"/>
              <a:pathLst>
                <a:path h="670560" w="4389120">
                  <a:moveTo>
                    <a:pt x="0" y="0"/>
                  </a:moveTo>
                  <a:lnTo>
                    <a:pt x="4389120" y="0"/>
                  </a:lnTo>
                  <a:lnTo>
                    <a:pt x="4389120" y="670560"/>
                  </a:lnTo>
                  <a:lnTo>
                    <a:pt x="0" y="670560"/>
                  </a:lnTo>
                  <a:close/>
                </a:path>
              </a:pathLst>
            </a:custGeom>
            <a:blipFill>
              <a:blip r:embed="rId2">
                <a:alphaModFix amt="0"/>
              </a:blip>
              <a:stretch>
                <a:fillRect l="0" t="-77448" r="0" b="-77450"/>
              </a:stretch>
            </a:blipFill>
          </p:spPr>
        </p:sp>
      </p:grpSp>
      <p:grpSp>
        <p:nvGrpSpPr>
          <p:cNvPr name="Group 59" id="59"/>
          <p:cNvGrpSpPr/>
          <p:nvPr/>
        </p:nvGrpSpPr>
        <p:grpSpPr>
          <a:xfrm rot="0">
            <a:off x="8778240" y="2088833"/>
            <a:ext cx="3291840" cy="517207"/>
            <a:chOff x="0" y="0"/>
            <a:chExt cx="4389120" cy="689610"/>
          </a:xfrm>
        </p:grpSpPr>
        <p:sp>
          <p:nvSpPr>
            <p:cNvPr name="Freeform 60" id="60"/>
            <p:cNvSpPr/>
            <p:nvPr/>
          </p:nvSpPr>
          <p:spPr>
            <a:xfrm flipH="false" flipV="false" rot="0">
              <a:off x="0" y="0"/>
              <a:ext cx="4389120" cy="689610"/>
            </a:xfrm>
            <a:custGeom>
              <a:avLst/>
              <a:gdLst/>
              <a:ahLst/>
              <a:cxnLst/>
              <a:rect r="r" b="b" t="t" l="l"/>
              <a:pathLst>
                <a:path h="689610" w="4389120">
                  <a:moveTo>
                    <a:pt x="0" y="0"/>
                  </a:moveTo>
                  <a:lnTo>
                    <a:pt x="4389120" y="0"/>
                  </a:lnTo>
                  <a:lnTo>
                    <a:pt x="4389120" y="689610"/>
                  </a:lnTo>
                  <a:lnTo>
                    <a:pt x="0" y="689610"/>
                  </a:lnTo>
                  <a:close/>
                </a:path>
              </a:pathLst>
            </a:custGeom>
            <a:blipFill>
              <a:blip r:embed="rId3">
                <a:alphaModFix amt="0"/>
              </a:blip>
              <a:stretch>
                <a:fillRect l="0" t="-73928" r="0" b="-73930"/>
              </a:stretch>
            </a:blipFill>
          </p:spPr>
        </p:sp>
      </p:grpSp>
      <p:grpSp>
        <p:nvGrpSpPr>
          <p:cNvPr name="Group 61" id="61"/>
          <p:cNvGrpSpPr/>
          <p:nvPr/>
        </p:nvGrpSpPr>
        <p:grpSpPr>
          <a:xfrm rot="0">
            <a:off x="8778240" y="2074545"/>
            <a:ext cx="3291840" cy="531495"/>
            <a:chOff x="0" y="0"/>
            <a:chExt cx="4389120" cy="708660"/>
          </a:xfrm>
        </p:grpSpPr>
        <p:sp>
          <p:nvSpPr>
            <p:cNvPr name="Freeform 62" id="62"/>
            <p:cNvSpPr/>
            <p:nvPr/>
          </p:nvSpPr>
          <p:spPr>
            <a:xfrm flipH="false" flipV="false" rot="0">
              <a:off x="0" y="0"/>
              <a:ext cx="4389120" cy="708659"/>
            </a:xfrm>
            <a:custGeom>
              <a:avLst/>
              <a:gdLst/>
              <a:ahLst/>
              <a:cxnLst/>
              <a:rect r="r" b="b" t="t" l="l"/>
              <a:pathLst>
                <a:path h="708659" w="4389120">
                  <a:moveTo>
                    <a:pt x="0" y="0"/>
                  </a:moveTo>
                  <a:lnTo>
                    <a:pt x="4389120" y="0"/>
                  </a:lnTo>
                  <a:lnTo>
                    <a:pt x="4389120" y="708659"/>
                  </a:lnTo>
                  <a:lnTo>
                    <a:pt x="0" y="708659"/>
                  </a:lnTo>
                  <a:close/>
                </a:path>
              </a:pathLst>
            </a:custGeom>
            <a:blipFill>
              <a:blip r:embed="rId4">
                <a:alphaModFix amt="0"/>
              </a:blip>
              <a:stretch>
                <a:fillRect l="0" t="-70681" r="0" b="-70681"/>
              </a:stretch>
            </a:blipFill>
          </p:spPr>
        </p:sp>
        <p:sp>
          <p:nvSpPr>
            <p:cNvPr name="TextBox 63" id="63"/>
            <p:cNvSpPr txBox="true"/>
            <p:nvPr/>
          </p:nvSpPr>
          <p:spPr>
            <a:xfrm>
              <a:off x="0" y="-19050"/>
              <a:ext cx="4389120" cy="727710"/>
            </a:xfrm>
            <a:prstGeom prst="rect">
              <a:avLst/>
            </a:prstGeom>
          </p:spPr>
          <p:txBody>
            <a:bodyPr anchor="ctr" rtlCol="false" tIns="0" lIns="0" bIns="0" rIns="0"/>
            <a:lstStyle/>
            <a:p>
              <a:pPr algn="ctr">
                <a:lnSpc>
                  <a:spcPts val="1800"/>
                </a:lnSpc>
              </a:pPr>
              <a:r>
                <a:rPr lang="en-US" sz="1500" b="true">
                  <a:solidFill>
                    <a:srgbClr val="FFFFFF"/>
                  </a:solidFill>
                  <a:latin typeface="Poppins Bold"/>
                  <a:ea typeface="Poppins Bold"/>
                  <a:cs typeface="Poppins Bold"/>
                  <a:sym typeface="Poppins Bold"/>
                </a:rPr>
                <a:t>Socket Service</a:t>
              </a:r>
            </a:p>
          </p:txBody>
        </p:sp>
      </p:grpSp>
      <p:grpSp>
        <p:nvGrpSpPr>
          <p:cNvPr name="Group 64" id="64"/>
          <p:cNvGrpSpPr/>
          <p:nvPr/>
        </p:nvGrpSpPr>
        <p:grpSpPr>
          <a:xfrm rot="0">
            <a:off x="8778240" y="2633472"/>
            <a:ext cx="3291840" cy="548640"/>
            <a:chOff x="0" y="0"/>
            <a:chExt cx="4389120" cy="731520"/>
          </a:xfrm>
        </p:grpSpPr>
        <p:sp>
          <p:nvSpPr>
            <p:cNvPr name="Freeform 65" id="65"/>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2">
                <a:alphaModFix amt="0"/>
              </a:blip>
              <a:stretch>
                <a:fillRect l="0" t="-66828" r="0" b="-66829"/>
              </a:stretch>
            </a:blipFill>
          </p:spPr>
        </p:sp>
      </p:grpSp>
      <p:grpSp>
        <p:nvGrpSpPr>
          <p:cNvPr name="Group 66" id="66"/>
          <p:cNvGrpSpPr/>
          <p:nvPr/>
        </p:nvGrpSpPr>
        <p:grpSpPr>
          <a:xfrm rot="0">
            <a:off x="8778240" y="2633472"/>
            <a:ext cx="3291840" cy="548640"/>
            <a:chOff x="0" y="0"/>
            <a:chExt cx="4389120" cy="731520"/>
          </a:xfrm>
        </p:grpSpPr>
        <p:sp>
          <p:nvSpPr>
            <p:cNvPr name="Freeform 67" id="67"/>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828" r="0" b="-66829"/>
              </a:stretch>
            </a:blipFill>
          </p:spPr>
        </p:sp>
      </p:grpSp>
      <p:grpSp>
        <p:nvGrpSpPr>
          <p:cNvPr name="Group 68" id="68"/>
          <p:cNvGrpSpPr/>
          <p:nvPr/>
        </p:nvGrpSpPr>
        <p:grpSpPr>
          <a:xfrm rot="0">
            <a:off x="8778240" y="2633472"/>
            <a:ext cx="3291840" cy="548640"/>
            <a:chOff x="0" y="0"/>
            <a:chExt cx="4389120" cy="731520"/>
          </a:xfrm>
        </p:grpSpPr>
        <p:sp>
          <p:nvSpPr>
            <p:cNvPr name="Freeform 69" id="69"/>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4">
                <a:alphaModFix amt="0"/>
              </a:blip>
              <a:stretch>
                <a:fillRect l="0" t="-66910" r="0" b="-66910"/>
              </a:stretch>
            </a:blipFill>
          </p:spPr>
        </p:sp>
        <p:sp>
          <p:nvSpPr>
            <p:cNvPr name="TextBox 70" id="70"/>
            <p:cNvSpPr txBox="true"/>
            <p:nvPr/>
          </p:nvSpPr>
          <p:spPr>
            <a:xfrm>
              <a:off x="0" y="0"/>
              <a:ext cx="4389120" cy="731520"/>
            </a:xfrm>
            <a:prstGeom prst="rect">
              <a:avLst/>
            </a:prstGeom>
          </p:spPr>
          <p:txBody>
            <a:bodyPr anchor="ctr" rtlCol="false" tIns="0" lIns="0" bIns="0" rIns="0"/>
            <a:lstStyle/>
            <a:p>
              <a:pPr algn="ctr">
                <a:lnSpc>
                  <a:spcPts val="1377"/>
                </a:lnSpc>
              </a:pPr>
              <a:r>
                <a:rPr lang="en-US" sz="1149">
                  <a:solidFill>
                    <a:srgbClr val="3D6874"/>
                  </a:solidFill>
                  <a:latin typeface="Poppins"/>
                  <a:ea typeface="Poppins"/>
                  <a:cs typeface="Poppins"/>
                  <a:sym typeface="Poppins"/>
                </a:rPr>
                <a:t>real-time event delivery (own Docker image)</a:t>
              </a:r>
            </a:p>
          </p:txBody>
        </p:sp>
      </p:grpSp>
      <p:grpSp>
        <p:nvGrpSpPr>
          <p:cNvPr name="Group 71" id="71"/>
          <p:cNvGrpSpPr/>
          <p:nvPr/>
        </p:nvGrpSpPr>
        <p:grpSpPr>
          <a:xfrm rot="0">
            <a:off x="12070080" y="2308860"/>
            <a:ext cx="374904" cy="82296"/>
            <a:chOff x="0" y="0"/>
            <a:chExt cx="499872" cy="109728"/>
          </a:xfrm>
        </p:grpSpPr>
        <p:sp>
          <p:nvSpPr>
            <p:cNvPr name="Freeform 72" id="72"/>
            <p:cNvSpPr/>
            <p:nvPr/>
          </p:nvSpPr>
          <p:spPr>
            <a:xfrm flipH="false" flipV="false" rot="0">
              <a:off x="0" y="0"/>
              <a:ext cx="499872" cy="109728"/>
            </a:xfrm>
            <a:custGeom>
              <a:avLst/>
              <a:gdLst/>
              <a:ahLst/>
              <a:cxnLst/>
              <a:rect r="r" b="b" t="t" l="l"/>
              <a:pathLst>
                <a:path h="109728" w="499872">
                  <a:moveTo>
                    <a:pt x="0" y="0"/>
                  </a:moveTo>
                  <a:lnTo>
                    <a:pt x="499872" y="0"/>
                  </a:lnTo>
                  <a:lnTo>
                    <a:pt x="499872" y="109728"/>
                  </a:lnTo>
                  <a:lnTo>
                    <a:pt x="0" y="109728"/>
                  </a:lnTo>
                  <a:close/>
                </a:path>
              </a:pathLst>
            </a:custGeom>
            <a:solidFill>
              <a:srgbClr val="737AE6"/>
            </a:solidFill>
          </p:spPr>
        </p:sp>
      </p:grpSp>
      <p:grpSp>
        <p:nvGrpSpPr>
          <p:cNvPr name="Group 73" id="73"/>
          <p:cNvGrpSpPr/>
          <p:nvPr/>
        </p:nvGrpSpPr>
        <p:grpSpPr>
          <a:xfrm rot="5400000">
            <a:off x="12444984" y="2231136"/>
            <a:ext cx="146304" cy="237744"/>
            <a:chOff x="0" y="0"/>
            <a:chExt cx="195072" cy="316992"/>
          </a:xfrm>
        </p:grpSpPr>
        <p:sp>
          <p:nvSpPr>
            <p:cNvPr name="Freeform 74" id="74"/>
            <p:cNvSpPr/>
            <p:nvPr/>
          </p:nvSpPr>
          <p:spPr>
            <a:xfrm flipH="false" flipV="false" rot="0">
              <a:off x="0" y="0"/>
              <a:ext cx="195072" cy="316992"/>
            </a:xfrm>
            <a:custGeom>
              <a:avLst/>
              <a:gdLst/>
              <a:ahLst/>
              <a:cxnLst/>
              <a:rect r="r" b="b" t="t" l="l"/>
              <a:pathLst>
                <a:path h="316992" w="195072">
                  <a:moveTo>
                    <a:pt x="0" y="316992"/>
                  </a:moveTo>
                  <a:lnTo>
                    <a:pt x="97536" y="0"/>
                  </a:lnTo>
                  <a:lnTo>
                    <a:pt x="195072" y="316992"/>
                  </a:lnTo>
                  <a:close/>
                </a:path>
              </a:pathLst>
            </a:custGeom>
            <a:solidFill>
              <a:srgbClr val="737AE6"/>
            </a:solidFill>
          </p:spPr>
        </p:sp>
      </p:grpSp>
      <p:grpSp>
        <p:nvGrpSpPr>
          <p:cNvPr name="Group 75" id="75"/>
          <p:cNvGrpSpPr/>
          <p:nvPr/>
        </p:nvGrpSpPr>
        <p:grpSpPr>
          <a:xfrm rot="0">
            <a:off x="12573000" y="2103120"/>
            <a:ext cx="3291840" cy="502920"/>
            <a:chOff x="0" y="0"/>
            <a:chExt cx="4389120" cy="670560"/>
          </a:xfrm>
        </p:grpSpPr>
        <p:sp>
          <p:nvSpPr>
            <p:cNvPr name="Freeform 76" id="76"/>
            <p:cNvSpPr/>
            <p:nvPr/>
          </p:nvSpPr>
          <p:spPr>
            <a:xfrm flipH="false" flipV="false" rot="0">
              <a:off x="0" y="0"/>
              <a:ext cx="4389120" cy="670560"/>
            </a:xfrm>
            <a:custGeom>
              <a:avLst/>
              <a:gdLst/>
              <a:ahLst/>
              <a:cxnLst/>
              <a:rect r="r" b="b" t="t" l="l"/>
              <a:pathLst>
                <a:path h="670560" w="4389120">
                  <a:moveTo>
                    <a:pt x="0" y="146304"/>
                  </a:moveTo>
                  <a:cubicBezTo>
                    <a:pt x="0" y="65532"/>
                    <a:pt x="65532" y="0"/>
                    <a:pt x="146304" y="0"/>
                  </a:cubicBezTo>
                  <a:lnTo>
                    <a:pt x="4242816" y="0"/>
                  </a:lnTo>
                  <a:cubicBezTo>
                    <a:pt x="4323588" y="0"/>
                    <a:pt x="4389120" y="65532"/>
                    <a:pt x="4389120" y="146304"/>
                  </a:cubicBezTo>
                  <a:lnTo>
                    <a:pt x="4389120" y="524256"/>
                  </a:lnTo>
                  <a:cubicBezTo>
                    <a:pt x="4389120" y="605028"/>
                    <a:pt x="4323588" y="670560"/>
                    <a:pt x="4242816" y="670560"/>
                  </a:cubicBezTo>
                  <a:lnTo>
                    <a:pt x="146304" y="670560"/>
                  </a:lnTo>
                  <a:cubicBezTo>
                    <a:pt x="65532" y="670560"/>
                    <a:pt x="0" y="605028"/>
                    <a:pt x="0" y="524256"/>
                  </a:cubicBezTo>
                  <a:close/>
                </a:path>
              </a:pathLst>
            </a:custGeom>
            <a:solidFill>
              <a:srgbClr val="737AE6"/>
            </a:solidFill>
          </p:spPr>
        </p:sp>
      </p:grpSp>
      <p:grpSp>
        <p:nvGrpSpPr>
          <p:cNvPr name="Group 77" id="77"/>
          <p:cNvGrpSpPr/>
          <p:nvPr/>
        </p:nvGrpSpPr>
        <p:grpSpPr>
          <a:xfrm rot="0">
            <a:off x="12573000" y="2103120"/>
            <a:ext cx="3291840" cy="502920"/>
            <a:chOff x="0" y="0"/>
            <a:chExt cx="4389120" cy="670560"/>
          </a:xfrm>
        </p:grpSpPr>
        <p:sp>
          <p:nvSpPr>
            <p:cNvPr name="Freeform 78" id="78"/>
            <p:cNvSpPr/>
            <p:nvPr/>
          </p:nvSpPr>
          <p:spPr>
            <a:xfrm flipH="false" flipV="false" rot="0">
              <a:off x="0" y="0"/>
              <a:ext cx="4389120" cy="670560"/>
            </a:xfrm>
            <a:custGeom>
              <a:avLst/>
              <a:gdLst/>
              <a:ahLst/>
              <a:cxnLst/>
              <a:rect r="r" b="b" t="t" l="l"/>
              <a:pathLst>
                <a:path h="670560" w="4389120">
                  <a:moveTo>
                    <a:pt x="0" y="0"/>
                  </a:moveTo>
                  <a:lnTo>
                    <a:pt x="4389120" y="0"/>
                  </a:lnTo>
                  <a:lnTo>
                    <a:pt x="4389120" y="670560"/>
                  </a:lnTo>
                  <a:lnTo>
                    <a:pt x="0" y="670560"/>
                  </a:lnTo>
                  <a:close/>
                </a:path>
              </a:pathLst>
            </a:custGeom>
            <a:blipFill>
              <a:blip r:embed="rId2">
                <a:alphaModFix amt="0"/>
              </a:blip>
              <a:stretch>
                <a:fillRect l="0" t="-77448" r="0" b="-77450"/>
              </a:stretch>
            </a:blipFill>
          </p:spPr>
        </p:sp>
      </p:grpSp>
      <p:grpSp>
        <p:nvGrpSpPr>
          <p:cNvPr name="Group 79" id="79"/>
          <p:cNvGrpSpPr/>
          <p:nvPr/>
        </p:nvGrpSpPr>
        <p:grpSpPr>
          <a:xfrm rot="0">
            <a:off x="12573000" y="2088833"/>
            <a:ext cx="3291840" cy="517207"/>
            <a:chOff x="0" y="0"/>
            <a:chExt cx="4389120" cy="689610"/>
          </a:xfrm>
        </p:grpSpPr>
        <p:sp>
          <p:nvSpPr>
            <p:cNvPr name="Freeform 80" id="80"/>
            <p:cNvSpPr/>
            <p:nvPr/>
          </p:nvSpPr>
          <p:spPr>
            <a:xfrm flipH="false" flipV="false" rot="0">
              <a:off x="0" y="0"/>
              <a:ext cx="4389120" cy="689610"/>
            </a:xfrm>
            <a:custGeom>
              <a:avLst/>
              <a:gdLst/>
              <a:ahLst/>
              <a:cxnLst/>
              <a:rect r="r" b="b" t="t" l="l"/>
              <a:pathLst>
                <a:path h="689610" w="4389120">
                  <a:moveTo>
                    <a:pt x="0" y="0"/>
                  </a:moveTo>
                  <a:lnTo>
                    <a:pt x="4389120" y="0"/>
                  </a:lnTo>
                  <a:lnTo>
                    <a:pt x="4389120" y="689610"/>
                  </a:lnTo>
                  <a:lnTo>
                    <a:pt x="0" y="689610"/>
                  </a:lnTo>
                  <a:close/>
                </a:path>
              </a:pathLst>
            </a:custGeom>
            <a:blipFill>
              <a:blip r:embed="rId3">
                <a:alphaModFix amt="0"/>
              </a:blip>
              <a:stretch>
                <a:fillRect l="0" t="-73928" r="0" b="-73930"/>
              </a:stretch>
            </a:blipFill>
          </p:spPr>
        </p:sp>
      </p:grpSp>
      <p:grpSp>
        <p:nvGrpSpPr>
          <p:cNvPr name="Group 81" id="81"/>
          <p:cNvGrpSpPr/>
          <p:nvPr/>
        </p:nvGrpSpPr>
        <p:grpSpPr>
          <a:xfrm rot="0">
            <a:off x="12573000" y="2074545"/>
            <a:ext cx="3291840" cy="531495"/>
            <a:chOff x="0" y="0"/>
            <a:chExt cx="4389120" cy="708660"/>
          </a:xfrm>
        </p:grpSpPr>
        <p:sp>
          <p:nvSpPr>
            <p:cNvPr name="Freeform 82" id="82"/>
            <p:cNvSpPr/>
            <p:nvPr/>
          </p:nvSpPr>
          <p:spPr>
            <a:xfrm flipH="false" flipV="false" rot="0">
              <a:off x="0" y="0"/>
              <a:ext cx="4389120" cy="708659"/>
            </a:xfrm>
            <a:custGeom>
              <a:avLst/>
              <a:gdLst/>
              <a:ahLst/>
              <a:cxnLst/>
              <a:rect r="r" b="b" t="t" l="l"/>
              <a:pathLst>
                <a:path h="708659" w="4389120">
                  <a:moveTo>
                    <a:pt x="0" y="0"/>
                  </a:moveTo>
                  <a:lnTo>
                    <a:pt x="4389120" y="0"/>
                  </a:lnTo>
                  <a:lnTo>
                    <a:pt x="4389120" y="708659"/>
                  </a:lnTo>
                  <a:lnTo>
                    <a:pt x="0" y="708659"/>
                  </a:lnTo>
                  <a:close/>
                </a:path>
              </a:pathLst>
            </a:custGeom>
            <a:blipFill>
              <a:blip r:embed="rId4">
                <a:alphaModFix amt="0"/>
              </a:blip>
              <a:stretch>
                <a:fillRect l="0" t="-70681" r="0" b="-70681"/>
              </a:stretch>
            </a:blipFill>
          </p:spPr>
        </p:sp>
        <p:sp>
          <p:nvSpPr>
            <p:cNvPr name="TextBox 83" id="83"/>
            <p:cNvSpPr txBox="true"/>
            <p:nvPr/>
          </p:nvSpPr>
          <p:spPr>
            <a:xfrm>
              <a:off x="0" y="-19050"/>
              <a:ext cx="4389120" cy="727710"/>
            </a:xfrm>
            <a:prstGeom prst="rect">
              <a:avLst/>
            </a:prstGeom>
          </p:spPr>
          <p:txBody>
            <a:bodyPr anchor="ctr" rtlCol="false" tIns="0" lIns="0" bIns="0" rIns="0"/>
            <a:lstStyle/>
            <a:p>
              <a:pPr algn="ctr">
                <a:lnSpc>
                  <a:spcPts val="1800"/>
                </a:lnSpc>
              </a:pPr>
              <a:r>
                <a:rPr lang="en-US" sz="1500" b="true">
                  <a:solidFill>
                    <a:srgbClr val="FFFFFF"/>
                  </a:solidFill>
                  <a:latin typeface="Poppins Bold"/>
                  <a:ea typeface="Poppins Bold"/>
                  <a:cs typeface="Poppins Bold"/>
                  <a:sym typeface="Poppins Bold"/>
                </a:rPr>
                <a:t>Database</a:t>
              </a:r>
            </a:p>
          </p:txBody>
        </p:sp>
      </p:grpSp>
      <p:grpSp>
        <p:nvGrpSpPr>
          <p:cNvPr name="Group 84" id="84"/>
          <p:cNvGrpSpPr/>
          <p:nvPr/>
        </p:nvGrpSpPr>
        <p:grpSpPr>
          <a:xfrm rot="0">
            <a:off x="12573000" y="2633472"/>
            <a:ext cx="3291840" cy="548640"/>
            <a:chOff x="0" y="0"/>
            <a:chExt cx="4389120" cy="731520"/>
          </a:xfrm>
        </p:grpSpPr>
        <p:sp>
          <p:nvSpPr>
            <p:cNvPr name="Freeform 85" id="85"/>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2">
                <a:alphaModFix amt="0"/>
              </a:blip>
              <a:stretch>
                <a:fillRect l="0" t="-66828" r="0" b="-66829"/>
              </a:stretch>
            </a:blipFill>
          </p:spPr>
        </p:sp>
      </p:grpSp>
      <p:grpSp>
        <p:nvGrpSpPr>
          <p:cNvPr name="Group 86" id="86"/>
          <p:cNvGrpSpPr/>
          <p:nvPr/>
        </p:nvGrpSpPr>
        <p:grpSpPr>
          <a:xfrm rot="0">
            <a:off x="12573000" y="2633472"/>
            <a:ext cx="3291840" cy="548640"/>
            <a:chOff x="0" y="0"/>
            <a:chExt cx="4389120" cy="731520"/>
          </a:xfrm>
        </p:grpSpPr>
        <p:sp>
          <p:nvSpPr>
            <p:cNvPr name="Freeform 87" id="87"/>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828" r="0" b="-66829"/>
              </a:stretch>
            </a:blipFill>
          </p:spPr>
        </p:sp>
      </p:grpSp>
      <p:grpSp>
        <p:nvGrpSpPr>
          <p:cNvPr name="Group 88" id="88"/>
          <p:cNvGrpSpPr/>
          <p:nvPr/>
        </p:nvGrpSpPr>
        <p:grpSpPr>
          <a:xfrm rot="0">
            <a:off x="12573000" y="2633472"/>
            <a:ext cx="3291840" cy="548640"/>
            <a:chOff x="0" y="0"/>
            <a:chExt cx="4389120" cy="731520"/>
          </a:xfrm>
        </p:grpSpPr>
        <p:sp>
          <p:nvSpPr>
            <p:cNvPr name="Freeform 89" id="89"/>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4">
                <a:alphaModFix amt="0"/>
              </a:blip>
              <a:stretch>
                <a:fillRect l="0" t="-66910" r="0" b="-66910"/>
              </a:stretch>
            </a:blipFill>
          </p:spPr>
        </p:sp>
        <p:sp>
          <p:nvSpPr>
            <p:cNvPr name="TextBox 90" id="90"/>
            <p:cNvSpPr txBox="true"/>
            <p:nvPr/>
          </p:nvSpPr>
          <p:spPr>
            <a:xfrm>
              <a:off x="0" y="0"/>
              <a:ext cx="4389120" cy="731520"/>
            </a:xfrm>
            <a:prstGeom prst="rect">
              <a:avLst/>
            </a:prstGeom>
          </p:spPr>
          <p:txBody>
            <a:bodyPr anchor="ctr" rtlCol="false" tIns="0" lIns="0" bIns="0" rIns="0"/>
            <a:lstStyle/>
            <a:p>
              <a:pPr algn="ctr">
                <a:lnSpc>
                  <a:spcPts val="1377"/>
                </a:lnSpc>
              </a:pPr>
              <a:r>
                <a:rPr lang="en-US" sz="1149">
                  <a:solidFill>
                    <a:srgbClr val="3D6874"/>
                  </a:solidFill>
                  <a:latin typeface="Poppins"/>
                  <a:ea typeface="Poppins"/>
                  <a:cs typeface="Poppins"/>
                  <a:sym typeface="Poppins"/>
                </a:rPr>
                <a:t>conversations &amp; messages</a:t>
              </a:r>
            </a:p>
          </p:txBody>
        </p:sp>
      </p:grpSp>
      <p:grpSp>
        <p:nvGrpSpPr>
          <p:cNvPr name="Group 91" id="91"/>
          <p:cNvGrpSpPr/>
          <p:nvPr/>
        </p:nvGrpSpPr>
        <p:grpSpPr>
          <a:xfrm rot="0">
            <a:off x="1188720" y="3977640"/>
            <a:ext cx="3657600" cy="320040"/>
            <a:chOff x="0" y="0"/>
            <a:chExt cx="4876800" cy="426720"/>
          </a:xfrm>
        </p:grpSpPr>
        <p:sp>
          <p:nvSpPr>
            <p:cNvPr name="Freeform 92" id="92"/>
            <p:cNvSpPr/>
            <p:nvPr/>
          </p:nvSpPr>
          <p:spPr>
            <a:xfrm flipH="false" flipV="false" rot="0">
              <a:off x="0" y="0"/>
              <a:ext cx="4876800" cy="426720"/>
            </a:xfrm>
            <a:custGeom>
              <a:avLst/>
              <a:gdLst/>
              <a:ahLst/>
              <a:cxnLst/>
              <a:rect r="r" b="b" t="t" l="l"/>
              <a:pathLst>
                <a:path h="426720" w="4876800">
                  <a:moveTo>
                    <a:pt x="0" y="0"/>
                  </a:moveTo>
                  <a:lnTo>
                    <a:pt x="4876800" y="0"/>
                  </a:lnTo>
                  <a:lnTo>
                    <a:pt x="4876800" y="426720"/>
                  </a:lnTo>
                  <a:lnTo>
                    <a:pt x="0" y="426720"/>
                  </a:lnTo>
                  <a:close/>
                </a:path>
              </a:pathLst>
            </a:custGeom>
            <a:blipFill>
              <a:blip r:embed="rId2">
                <a:alphaModFix amt="0"/>
              </a:blip>
              <a:stretch>
                <a:fillRect l="0" t="-172532" r="0" b="-172529"/>
              </a:stretch>
            </a:blipFill>
          </p:spPr>
        </p:sp>
      </p:grpSp>
      <p:grpSp>
        <p:nvGrpSpPr>
          <p:cNvPr name="Group 93" id="93"/>
          <p:cNvGrpSpPr/>
          <p:nvPr/>
        </p:nvGrpSpPr>
        <p:grpSpPr>
          <a:xfrm rot="0">
            <a:off x="1188720" y="3970496"/>
            <a:ext cx="3657600" cy="327184"/>
            <a:chOff x="0" y="0"/>
            <a:chExt cx="4876800" cy="436245"/>
          </a:xfrm>
        </p:grpSpPr>
        <p:sp>
          <p:nvSpPr>
            <p:cNvPr name="Freeform 94" id="94"/>
            <p:cNvSpPr/>
            <p:nvPr/>
          </p:nvSpPr>
          <p:spPr>
            <a:xfrm flipH="false" flipV="false" rot="0">
              <a:off x="0" y="0"/>
              <a:ext cx="4876800" cy="436245"/>
            </a:xfrm>
            <a:custGeom>
              <a:avLst/>
              <a:gdLst/>
              <a:ahLst/>
              <a:cxnLst/>
              <a:rect r="r" b="b" t="t" l="l"/>
              <a:pathLst>
                <a:path h="436245" w="4876800">
                  <a:moveTo>
                    <a:pt x="0" y="0"/>
                  </a:moveTo>
                  <a:lnTo>
                    <a:pt x="4876800" y="0"/>
                  </a:lnTo>
                  <a:lnTo>
                    <a:pt x="4876800" y="436245"/>
                  </a:lnTo>
                  <a:lnTo>
                    <a:pt x="0" y="436245"/>
                  </a:lnTo>
                  <a:close/>
                </a:path>
              </a:pathLst>
            </a:custGeom>
            <a:blipFill>
              <a:blip r:embed="rId3">
                <a:alphaModFix amt="0"/>
              </a:blip>
              <a:stretch>
                <a:fillRect l="0" t="-167673" r="0" b="-167671"/>
              </a:stretch>
            </a:blipFill>
          </p:spPr>
        </p:sp>
      </p:grpSp>
      <p:grpSp>
        <p:nvGrpSpPr>
          <p:cNvPr name="Group 95" id="95"/>
          <p:cNvGrpSpPr/>
          <p:nvPr/>
        </p:nvGrpSpPr>
        <p:grpSpPr>
          <a:xfrm rot="0">
            <a:off x="1188720" y="3963353"/>
            <a:ext cx="3657600" cy="334328"/>
            <a:chOff x="0" y="0"/>
            <a:chExt cx="4876800" cy="445770"/>
          </a:xfrm>
        </p:grpSpPr>
        <p:sp>
          <p:nvSpPr>
            <p:cNvPr name="Freeform 96" id="96"/>
            <p:cNvSpPr/>
            <p:nvPr/>
          </p:nvSpPr>
          <p:spPr>
            <a:xfrm flipH="false" flipV="false" rot="0">
              <a:off x="0" y="0"/>
              <a:ext cx="4876800" cy="445770"/>
            </a:xfrm>
            <a:custGeom>
              <a:avLst/>
              <a:gdLst/>
              <a:ahLst/>
              <a:cxnLst/>
              <a:rect r="r" b="b" t="t" l="l"/>
              <a:pathLst>
                <a:path h="445770" w="4876800">
                  <a:moveTo>
                    <a:pt x="0" y="0"/>
                  </a:moveTo>
                  <a:lnTo>
                    <a:pt x="4876800" y="0"/>
                  </a:lnTo>
                  <a:lnTo>
                    <a:pt x="4876800" y="445770"/>
                  </a:lnTo>
                  <a:lnTo>
                    <a:pt x="0" y="445770"/>
                  </a:lnTo>
                  <a:close/>
                </a:path>
              </a:pathLst>
            </a:custGeom>
            <a:blipFill>
              <a:blip r:embed="rId4">
                <a:alphaModFix amt="0"/>
              </a:blip>
              <a:stretch>
                <a:fillRect l="0" t="-163169" r="0" b="-163169"/>
              </a:stretch>
            </a:blipFill>
          </p:spPr>
        </p:sp>
        <p:sp>
          <p:nvSpPr>
            <p:cNvPr name="TextBox 97" id="97"/>
            <p:cNvSpPr txBox="true"/>
            <p:nvPr/>
          </p:nvSpPr>
          <p:spPr>
            <a:xfrm>
              <a:off x="0" y="-9525"/>
              <a:ext cx="4876800" cy="455295"/>
            </a:xfrm>
            <a:prstGeom prst="rect">
              <a:avLst/>
            </a:prstGeom>
          </p:spPr>
          <p:txBody>
            <a:bodyPr anchor="ctr" rtlCol="false" tIns="0" lIns="0" bIns="0" rIns="0"/>
            <a:lstStyle/>
            <a:p>
              <a:pPr algn="l">
                <a:lnSpc>
                  <a:spcPts val="1557"/>
                </a:lnSpc>
              </a:pPr>
              <a:r>
                <a:rPr lang="en-US" sz="1299" b="true">
                  <a:solidFill>
                    <a:srgbClr val="3D6874"/>
                  </a:solidFill>
                  <a:latin typeface="Poppins Bold"/>
                  <a:ea typeface="Poppins Bold"/>
                  <a:cs typeface="Poppins Bold"/>
                  <a:sym typeface="Poppins Bold"/>
                </a:rPr>
                <a:t>Message flow</a:t>
              </a:r>
            </a:p>
          </p:txBody>
        </p:sp>
      </p:grpSp>
      <p:grpSp>
        <p:nvGrpSpPr>
          <p:cNvPr name="Group 98" id="98"/>
          <p:cNvGrpSpPr/>
          <p:nvPr/>
        </p:nvGrpSpPr>
        <p:grpSpPr>
          <a:xfrm rot="0">
            <a:off x="1188720" y="6729984"/>
            <a:ext cx="237744" cy="237744"/>
            <a:chOff x="0" y="0"/>
            <a:chExt cx="316992" cy="316992"/>
          </a:xfrm>
        </p:grpSpPr>
        <p:sp>
          <p:nvSpPr>
            <p:cNvPr name="Freeform 99" id="99"/>
            <p:cNvSpPr/>
            <p:nvPr/>
          </p:nvSpPr>
          <p:spPr>
            <a:xfrm flipH="false" flipV="false" rot="0">
              <a:off x="0" y="0"/>
              <a:ext cx="316992" cy="316992"/>
            </a:xfrm>
            <a:custGeom>
              <a:avLst/>
              <a:gdLst/>
              <a:ahLst/>
              <a:cxnLst/>
              <a:rect r="r" b="b" t="t" l="l"/>
              <a:pathLst>
                <a:path h="316992" w="316992">
                  <a:moveTo>
                    <a:pt x="0" y="158496"/>
                  </a:moveTo>
                  <a:cubicBezTo>
                    <a:pt x="0" y="70993"/>
                    <a:pt x="70993" y="0"/>
                    <a:pt x="158496" y="0"/>
                  </a:cubicBezTo>
                  <a:cubicBezTo>
                    <a:pt x="245999" y="0"/>
                    <a:pt x="316992" y="70993"/>
                    <a:pt x="316992" y="158496"/>
                  </a:cubicBezTo>
                  <a:cubicBezTo>
                    <a:pt x="316992" y="245999"/>
                    <a:pt x="245999" y="316992"/>
                    <a:pt x="158496" y="316992"/>
                  </a:cubicBezTo>
                  <a:cubicBezTo>
                    <a:pt x="70993" y="316992"/>
                    <a:pt x="0" y="245999"/>
                    <a:pt x="0" y="158496"/>
                  </a:cubicBezTo>
                  <a:close/>
                </a:path>
              </a:pathLst>
            </a:custGeom>
            <a:solidFill>
              <a:srgbClr val="737AE6"/>
            </a:solidFill>
          </p:spPr>
        </p:sp>
      </p:grpSp>
      <p:grpSp>
        <p:nvGrpSpPr>
          <p:cNvPr name="Group 100" id="100"/>
          <p:cNvGrpSpPr/>
          <p:nvPr/>
        </p:nvGrpSpPr>
        <p:grpSpPr>
          <a:xfrm rot="0">
            <a:off x="1600200" y="6620256"/>
            <a:ext cx="7315200" cy="457200"/>
            <a:chOff x="0" y="0"/>
            <a:chExt cx="9753600" cy="609600"/>
          </a:xfrm>
        </p:grpSpPr>
        <p:sp>
          <p:nvSpPr>
            <p:cNvPr name="Freeform 101" id="101"/>
            <p:cNvSpPr/>
            <p:nvPr/>
          </p:nvSpPr>
          <p:spPr>
            <a:xfrm flipH="false" flipV="false" rot="0">
              <a:off x="0" y="0"/>
              <a:ext cx="9753600" cy="609600"/>
            </a:xfrm>
            <a:custGeom>
              <a:avLst/>
              <a:gdLst/>
              <a:ahLst/>
              <a:cxnLst/>
              <a:rect r="r" b="b" t="t" l="l"/>
              <a:pathLst>
                <a:path h="609600" w="9753600">
                  <a:moveTo>
                    <a:pt x="0" y="0"/>
                  </a:moveTo>
                  <a:lnTo>
                    <a:pt x="9753600" y="0"/>
                  </a:lnTo>
                  <a:lnTo>
                    <a:pt x="9753600" y="609600"/>
                  </a:lnTo>
                  <a:lnTo>
                    <a:pt x="0" y="609600"/>
                  </a:lnTo>
                  <a:close/>
                </a:path>
              </a:pathLst>
            </a:custGeom>
            <a:blipFill>
              <a:blip r:embed="rId2">
                <a:alphaModFix amt="0"/>
              </a:blip>
              <a:stretch>
                <a:fillRect l="0" t="-261543" r="0" b="-261543"/>
              </a:stretch>
            </a:blipFill>
          </p:spPr>
        </p:sp>
      </p:grpSp>
      <p:grpSp>
        <p:nvGrpSpPr>
          <p:cNvPr name="Group 102" id="102"/>
          <p:cNvGrpSpPr/>
          <p:nvPr/>
        </p:nvGrpSpPr>
        <p:grpSpPr>
          <a:xfrm rot="0">
            <a:off x="1600200" y="6605968"/>
            <a:ext cx="7315200" cy="471488"/>
            <a:chOff x="0" y="0"/>
            <a:chExt cx="9753600" cy="628650"/>
          </a:xfrm>
        </p:grpSpPr>
        <p:sp>
          <p:nvSpPr>
            <p:cNvPr name="Freeform 103" id="103"/>
            <p:cNvSpPr/>
            <p:nvPr/>
          </p:nvSpPr>
          <p:spPr>
            <a:xfrm flipH="false" flipV="false" rot="0">
              <a:off x="0" y="0"/>
              <a:ext cx="9753600" cy="628650"/>
            </a:xfrm>
            <a:custGeom>
              <a:avLst/>
              <a:gdLst/>
              <a:ahLst/>
              <a:cxnLst/>
              <a:rect r="r" b="b" t="t" l="l"/>
              <a:pathLst>
                <a:path h="628650" w="9753600">
                  <a:moveTo>
                    <a:pt x="0" y="0"/>
                  </a:moveTo>
                  <a:lnTo>
                    <a:pt x="9753600" y="0"/>
                  </a:lnTo>
                  <a:lnTo>
                    <a:pt x="9753600" y="628650"/>
                  </a:lnTo>
                  <a:lnTo>
                    <a:pt x="0" y="628650"/>
                  </a:lnTo>
                  <a:close/>
                </a:path>
              </a:pathLst>
            </a:custGeom>
            <a:blipFill>
              <a:blip r:embed="rId3">
                <a:alphaModFix amt="0"/>
              </a:blip>
              <a:stretch>
                <a:fillRect l="0" t="-252103" r="0" b="-252103"/>
              </a:stretch>
            </a:blipFill>
          </p:spPr>
        </p:sp>
      </p:grpSp>
      <p:grpSp>
        <p:nvGrpSpPr>
          <p:cNvPr name="Group 104" id="104"/>
          <p:cNvGrpSpPr/>
          <p:nvPr/>
        </p:nvGrpSpPr>
        <p:grpSpPr>
          <a:xfrm rot="0">
            <a:off x="1600200" y="6591681"/>
            <a:ext cx="7315200" cy="485775"/>
            <a:chOff x="0" y="0"/>
            <a:chExt cx="9753600" cy="647700"/>
          </a:xfrm>
        </p:grpSpPr>
        <p:sp>
          <p:nvSpPr>
            <p:cNvPr name="Freeform 105" id="105"/>
            <p:cNvSpPr/>
            <p:nvPr/>
          </p:nvSpPr>
          <p:spPr>
            <a:xfrm flipH="false" flipV="false" rot="0">
              <a:off x="0" y="0"/>
              <a:ext cx="9753600" cy="647701"/>
            </a:xfrm>
            <a:custGeom>
              <a:avLst/>
              <a:gdLst/>
              <a:ahLst/>
              <a:cxnLst/>
              <a:rect r="r" b="b" t="t" l="l"/>
              <a:pathLst>
                <a:path h="647701" w="9753600">
                  <a:moveTo>
                    <a:pt x="0" y="0"/>
                  </a:moveTo>
                  <a:lnTo>
                    <a:pt x="9753600" y="0"/>
                  </a:lnTo>
                  <a:lnTo>
                    <a:pt x="9753600" y="647701"/>
                  </a:lnTo>
                  <a:lnTo>
                    <a:pt x="0" y="647701"/>
                  </a:lnTo>
                  <a:close/>
                </a:path>
              </a:pathLst>
            </a:custGeom>
            <a:blipFill>
              <a:blip r:embed="rId4">
                <a:alphaModFix amt="0"/>
              </a:blip>
              <a:stretch>
                <a:fillRect l="0" t="-243421" r="0" b="-243421"/>
              </a:stretch>
            </a:blipFill>
          </p:spPr>
        </p:sp>
        <p:sp>
          <p:nvSpPr>
            <p:cNvPr name="TextBox 106" id="106"/>
            <p:cNvSpPr txBox="true"/>
            <p:nvPr/>
          </p:nvSpPr>
          <p:spPr>
            <a:xfrm>
              <a:off x="0" y="-19050"/>
              <a:ext cx="9753600" cy="666750"/>
            </a:xfrm>
            <a:prstGeom prst="rect">
              <a:avLst/>
            </a:prstGeom>
          </p:spPr>
          <p:txBody>
            <a:bodyPr anchor="ctr" rtlCol="false" tIns="0" lIns="0" bIns="0" rIns="0"/>
            <a:lstStyle/>
            <a:p>
              <a:pPr algn="l">
                <a:lnSpc>
                  <a:spcPts val="2279"/>
                </a:lnSpc>
              </a:pPr>
              <a:r>
                <a:rPr lang="en-US" sz="1899" b="true">
                  <a:solidFill>
                    <a:srgbClr val="1F3338"/>
                  </a:solidFill>
                  <a:latin typeface="Poppins Bold"/>
                  <a:ea typeface="Poppins Bold"/>
                  <a:cs typeface="Poppins Bold"/>
                  <a:sym typeface="Poppins Bold"/>
                </a:rPr>
                <a:t>Conversation &amp; Message Rules</a:t>
              </a:r>
            </a:p>
          </p:txBody>
        </p:sp>
      </p:grpSp>
      <p:grpSp>
        <p:nvGrpSpPr>
          <p:cNvPr name="Group 107" id="107"/>
          <p:cNvGrpSpPr/>
          <p:nvPr/>
        </p:nvGrpSpPr>
        <p:grpSpPr>
          <a:xfrm rot="0">
            <a:off x="1188720" y="7470648"/>
            <a:ext cx="118872" cy="118872"/>
            <a:chOff x="0" y="0"/>
            <a:chExt cx="158496" cy="158496"/>
          </a:xfrm>
        </p:grpSpPr>
        <p:sp>
          <p:nvSpPr>
            <p:cNvPr name="Freeform 108" id="108"/>
            <p:cNvSpPr/>
            <p:nvPr/>
          </p:nvSpPr>
          <p:spPr>
            <a:xfrm flipH="false" flipV="false" rot="0">
              <a:off x="0" y="0"/>
              <a:ext cx="158496" cy="158496"/>
            </a:xfrm>
            <a:custGeom>
              <a:avLst/>
              <a:gdLst/>
              <a:ahLst/>
              <a:cxnLst/>
              <a:rect r="r" b="b" t="t" l="l"/>
              <a:pathLst>
                <a:path h="158496" w="158496">
                  <a:moveTo>
                    <a:pt x="0" y="79248"/>
                  </a:moveTo>
                  <a:cubicBezTo>
                    <a:pt x="0" y="35433"/>
                    <a:pt x="35433" y="0"/>
                    <a:pt x="79248" y="0"/>
                  </a:cubicBezTo>
                  <a:cubicBezTo>
                    <a:pt x="123063" y="0"/>
                    <a:pt x="158496" y="35433"/>
                    <a:pt x="158496" y="79248"/>
                  </a:cubicBezTo>
                  <a:cubicBezTo>
                    <a:pt x="158496" y="123063"/>
                    <a:pt x="123063" y="158496"/>
                    <a:pt x="79248" y="158496"/>
                  </a:cubicBezTo>
                  <a:cubicBezTo>
                    <a:pt x="35433" y="158496"/>
                    <a:pt x="0" y="123063"/>
                    <a:pt x="0" y="79248"/>
                  </a:cubicBezTo>
                  <a:close/>
                </a:path>
              </a:pathLst>
            </a:custGeom>
            <a:solidFill>
              <a:srgbClr val="737AE6"/>
            </a:solidFill>
          </p:spPr>
        </p:sp>
      </p:grpSp>
      <p:sp>
        <p:nvSpPr>
          <p:cNvPr name="TextBox 109" id="109"/>
          <p:cNvSpPr txBox="true"/>
          <p:nvPr/>
        </p:nvSpPr>
        <p:spPr>
          <a:xfrm rot="0">
            <a:off x="1481328" y="7277481"/>
            <a:ext cx="7680960" cy="595503"/>
          </a:xfrm>
          <a:prstGeom prst="rect">
            <a:avLst/>
          </a:prstGeom>
        </p:spPr>
        <p:txBody>
          <a:bodyPr anchor="t" rtlCol="false" tIns="0" lIns="0" bIns="0" rIns="0">
            <a:spAutoFit/>
          </a:bodyPr>
          <a:lstStyle/>
          <a:p>
            <a:pPr algn="l">
              <a:lnSpc>
                <a:spcPts val="1557"/>
              </a:lnSpc>
            </a:pPr>
            <a:r>
              <a:rPr lang="en-US" sz="1299">
                <a:solidFill>
                  <a:srgbClr val="2A3B3F"/>
                </a:solidFill>
                <a:latin typeface="Poppins"/>
                <a:ea typeface="Poppins"/>
                <a:cs typeface="Poppins"/>
                <a:sym typeface="Poppins"/>
              </a:rPr>
              <a:t>One conversation per recruiter–candidate pair, created on first message</a:t>
            </a:r>
          </a:p>
        </p:txBody>
      </p:sp>
      <p:grpSp>
        <p:nvGrpSpPr>
          <p:cNvPr name="Group 110" id="110"/>
          <p:cNvGrpSpPr/>
          <p:nvPr/>
        </p:nvGrpSpPr>
        <p:grpSpPr>
          <a:xfrm rot="0">
            <a:off x="1188720" y="8037576"/>
            <a:ext cx="118872" cy="118872"/>
            <a:chOff x="0" y="0"/>
            <a:chExt cx="158496" cy="158496"/>
          </a:xfrm>
        </p:grpSpPr>
        <p:sp>
          <p:nvSpPr>
            <p:cNvPr name="Freeform 111" id="111"/>
            <p:cNvSpPr/>
            <p:nvPr/>
          </p:nvSpPr>
          <p:spPr>
            <a:xfrm flipH="false" flipV="false" rot="0">
              <a:off x="0" y="0"/>
              <a:ext cx="158496" cy="158496"/>
            </a:xfrm>
            <a:custGeom>
              <a:avLst/>
              <a:gdLst/>
              <a:ahLst/>
              <a:cxnLst/>
              <a:rect r="r" b="b" t="t" l="l"/>
              <a:pathLst>
                <a:path h="158496" w="158496">
                  <a:moveTo>
                    <a:pt x="0" y="79248"/>
                  </a:moveTo>
                  <a:cubicBezTo>
                    <a:pt x="0" y="35433"/>
                    <a:pt x="35433" y="0"/>
                    <a:pt x="79248" y="0"/>
                  </a:cubicBezTo>
                  <a:cubicBezTo>
                    <a:pt x="123063" y="0"/>
                    <a:pt x="158496" y="35433"/>
                    <a:pt x="158496" y="79248"/>
                  </a:cubicBezTo>
                  <a:cubicBezTo>
                    <a:pt x="158496" y="123063"/>
                    <a:pt x="123063" y="158496"/>
                    <a:pt x="79248" y="158496"/>
                  </a:cubicBezTo>
                  <a:cubicBezTo>
                    <a:pt x="35433" y="158496"/>
                    <a:pt x="0" y="123063"/>
                    <a:pt x="0" y="79248"/>
                  </a:cubicBezTo>
                  <a:close/>
                </a:path>
              </a:pathLst>
            </a:custGeom>
            <a:solidFill>
              <a:srgbClr val="737AE6"/>
            </a:solidFill>
          </p:spPr>
        </p:sp>
      </p:grpSp>
      <p:sp>
        <p:nvSpPr>
          <p:cNvPr name="TextBox 112" id="112"/>
          <p:cNvSpPr txBox="true"/>
          <p:nvPr/>
        </p:nvSpPr>
        <p:spPr>
          <a:xfrm rot="0">
            <a:off x="1481328" y="7844409"/>
            <a:ext cx="7680960" cy="595503"/>
          </a:xfrm>
          <a:prstGeom prst="rect">
            <a:avLst/>
          </a:prstGeom>
        </p:spPr>
        <p:txBody>
          <a:bodyPr anchor="t" rtlCol="false" tIns="0" lIns="0" bIns="0" rIns="0">
            <a:spAutoFit/>
          </a:bodyPr>
          <a:lstStyle/>
          <a:p>
            <a:pPr algn="l">
              <a:lnSpc>
                <a:spcPts val="1557"/>
              </a:lnSpc>
            </a:pPr>
            <a:r>
              <a:rPr lang="en-US" sz="1299">
                <a:solidFill>
                  <a:srgbClr val="2A3B3F"/>
                </a:solidFill>
                <a:latin typeface="Poppins"/>
                <a:ea typeface="Poppins"/>
                <a:cs typeface="Poppins"/>
                <a:sym typeface="Poppins"/>
              </a:rPr>
              <a:t>Only recruiters can start a conversation; candidates can only reply</a:t>
            </a:r>
          </a:p>
        </p:txBody>
      </p:sp>
      <p:grpSp>
        <p:nvGrpSpPr>
          <p:cNvPr name="Group 113" id="113"/>
          <p:cNvGrpSpPr/>
          <p:nvPr/>
        </p:nvGrpSpPr>
        <p:grpSpPr>
          <a:xfrm rot="0">
            <a:off x="1188720" y="8604504"/>
            <a:ext cx="118872" cy="118872"/>
            <a:chOff x="0" y="0"/>
            <a:chExt cx="158496" cy="158496"/>
          </a:xfrm>
        </p:grpSpPr>
        <p:sp>
          <p:nvSpPr>
            <p:cNvPr name="Freeform 114" id="114"/>
            <p:cNvSpPr/>
            <p:nvPr/>
          </p:nvSpPr>
          <p:spPr>
            <a:xfrm flipH="false" flipV="false" rot="0">
              <a:off x="0" y="0"/>
              <a:ext cx="158496" cy="158496"/>
            </a:xfrm>
            <a:custGeom>
              <a:avLst/>
              <a:gdLst/>
              <a:ahLst/>
              <a:cxnLst/>
              <a:rect r="r" b="b" t="t" l="l"/>
              <a:pathLst>
                <a:path h="158496" w="158496">
                  <a:moveTo>
                    <a:pt x="0" y="79248"/>
                  </a:moveTo>
                  <a:cubicBezTo>
                    <a:pt x="0" y="35433"/>
                    <a:pt x="35433" y="0"/>
                    <a:pt x="79248" y="0"/>
                  </a:cubicBezTo>
                  <a:cubicBezTo>
                    <a:pt x="123063" y="0"/>
                    <a:pt x="158496" y="35433"/>
                    <a:pt x="158496" y="79248"/>
                  </a:cubicBezTo>
                  <a:cubicBezTo>
                    <a:pt x="158496" y="123063"/>
                    <a:pt x="123063" y="158496"/>
                    <a:pt x="79248" y="158496"/>
                  </a:cubicBezTo>
                  <a:cubicBezTo>
                    <a:pt x="35433" y="158496"/>
                    <a:pt x="0" y="123063"/>
                    <a:pt x="0" y="79248"/>
                  </a:cubicBezTo>
                  <a:close/>
                </a:path>
              </a:pathLst>
            </a:custGeom>
            <a:solidFill>
              <a:srgbClr val="737AE6"/>
            </a:solidFill>
          </p:spPr>
        </p:sp>
      </p:grpSp>
      <p:sp>
        <p:nvSpPr>
          <p:cNvPr name="TextBox 115" id="115"/>
          <p:cNvSpPr txBox="true"/>
          <p:nvPr/>
        </p:nvSpPr>
        <p:spPr>
          <a:xfrm rot="0">
            <a:off x="1481328" y="8411337"/>
            <a:ext cx="7680960" cy="595503"/>
          </a:xfrm>
          <a:prstGeom prst="rect">
            <a:avLst/>
          </a:prstGeom>
        </p:spPr>
        <p:txBody>
          <a:bodyPr anchor="t" rtlCol="false" tIns="0" lIns="0" bIns="0" rIns="0">
            <a:spAutoFit/>
          </a:bodyPr>
          <a:lstStyle/>
          <a:p>
            <a:pPr algn="l">
              <a:lnSpc>
                <a:spcPts val="1557"/>
              </a:lnSpc>
            </a:pPr>
            <a:r>
              <a:rPr lang="en-US" sz="1299">
                <a:solidFill>
                  <a:srgbClr val="2A3B3F"/>
                </a:solidFill>
                <a:latin typeface="Poppins"/>
                <a:ea typeface="Poppins"/>
                <a:cs typeface="Poppins"/>
                <a:sym typeface="Poppins"/>
              </a:rPr>
              <a:t>Sender can modify or delete their own message — ownership checked server-side</a:t>
            </a:r>
          </a:p>
        </p:txBody>
      </p:sp>
      <p:grpSp>
        <p:nvGrpSpPr>
          <p:cNvPr name="Group 116" id="116"/>
          <p:cNvGrpSpPr/>
          <p:nvPr/>
        </p:nvGrpSpPr>
        <p:grpSpPr>
          <a:xfrm rot="0">
            <a:off x="1188720" y="9171432"/>
            <a:ext cx="118872" cy="118872"/>
            <a:chOff x="0" y="0"/>
            <a:chExt cx="158496" cy="158496"/>
          </a:xfrm>
        </p:grpSpPr>
        <p:sp>
          <p:nvSpPr>
            <p:cNvPr name="Freeform 117" id="117"/>
            <p:cNvSpPr/>
            <p:nvPr/>
          </p:nvSpPr>
          <p:spPr>
            <a:xfrm flipH="false" flipV="false" rot="0">
              <a:off x="0" y="0"/>
              <a:ext cx="158496" cy="158496"/>
            </a:xfrm>
            <a:custGeom>
              <a:avLst/>
              <a:gdLst/>
              <a:ahLst/>
              <a:cxnLst/>
              <a:rect r="r" b="b" t="t" l="l"/>
              <a:pathLst>
                <a:path h="158496" w="158496">
                  <a:moveTo>
                    <a:pt x="0" y="79248"/>
                  </a:moveTo>
                  <a:cubicBezTo>
                    <a:pt x="0" y="35433"/>
                    <a:pt x="35433" y="0"/>
                    <a:pt x="79248" y="0"/>
                  </a:cubicBezTo>
                  <a:cubicBezTo>
                    <a:pt x="123063" y="0"/>
                    <a:pt x="158496" y="35433"/>
                    <a:pt x="158496" y="79248"/>
                  </a:cubicBezTo>
                  <a:cubicBezTo>
                    <a:pt x="158496" y="123063"/>
                    <a:pt x="123063" y="158496"/>
                    <a:pt x="79248" y="158496"/>
                  </a:cubicBezTo>
                  <a:cubicBezTo>
                    <a:pt x="35433" y="158496"/>
                    <a:pt x="0" y="123063"/>
                    <a:pt x="0" y="79248"/>
                  </a:cubicBezTo>
                  <a:close/>
                </a:path>
              </a:pathLst>
            </a:custGeom>
            <a:solidFill>
              <a:srgbClr val="737AE6"/>
            </a:solidFill>
          </p:spPr>
        </p:sp>
      </p:grpSp>
      <p:sp>
        <p:nvSpPr>
          <p:cNvPr name="TextBox 118" id="118"/>
          <p:cNvSpPr txBox="true"/>
          <p:nvPr/>
        </p:nvSpPr>
        <p:spPr>
          <a:xfrm rot="0">
            <a:off x="1481328" y="8978265"/>
            <a:ext cx="7680960" cy="595503"/>
          </a:xfrm>
          <a:prstGeom prst="rect">
            <a:avLst/>
          </a:prstGeom>
        </p:spPr>
        <p:txBody>
          <a:bodyPr anchor="t" rtlCol="false" tIns="0" lIns="0" bIns="0" rIns="0">
            <a:spAutoFit/>
          </a:bodyPr>
          <a:lstStyle/>
          <a:p>
            <a:pPr algn="l">
              <a:lnSpc>
                <a:spcPts val="1557"/>
              </a:lnSpc>
            </a:pPr>
            <a:r>
              <a:rPr lang="en-US" sz="1299">
                <a:solidFill>
                  <a:srgbClr val="2A3B3F"/>
                </a:solidFill>
                <a:latin typeface="Poppins"/>
                <a:ea typeface="Poppins"/>
                <a:cs typeface="Poppins"/>
                <a:sym typeface="Poppins"/>
              </a:rPr>
              <a:t>Opening a conversation marks its unread messages as read, server-side</a:t>
            </a:r>
          </a:p>
        </p:txBody>
      </p:sp>
      <p:grpSp>
        <p:nvGrpSpPr>
          <p:cNvPr name="Group 119" id="119"/>
          <p:cNvGrpSpPr/>
          <p:nvPr/>
        </p:nvGrpSpPr>
        <p:grpSpPr>
          <a:xfrm rot="0">
            <a:off x="9692640" y="6729984"/>
            <a:ext cx="237744" cy="237744"/>
            <a:chOff x="0" y="0"/>
            <a:chExt cx="316992" cy="316992"/>
          </a:xfrm>
        </p:grpSpPr>
        <p:sp>
          <p:nvSpPr>
            <p:cNvPr name="Freeform 120" id="120"/>
            <p:cNvSpPr/>
            <p:nvPr/>
          </p:nvSpPr>
          <p:spPr>
            <a:xfrm flipH="false" flipV="false" rot="0">
              <a:off x="0" y="0"/>
              <a:ext cx="316992" cy="316992"/>
            </a:xfrm>
            <a:custGeom>
              <a:avLst/>
              <a:gdLst/>
              <a:ahLst/>
              <a:cxnLst/>
              <a:rect r="r" b="b" t="t" l="l"/>
              <a:pathLst>
                <a:path h="316992" w="316992">
                  <a:moveTo>
                    <a:pt x="0" y="158496"/>
                  </a:moveTo>
                  <a:cubicBezTo>
                    <a:pt x="0" y="70993"/>
                    <a:pt x="70993" y="0"/>
                    <a:pt x="158496" y="0"/>
                  </a:cubicBezTo>
                  <a:cubicBezTo>
                    <a:pt x="245999" y="0"/>
                    <a:pt x="316992" y="70993"/>
                    <a:pt x="316992" y="158496"/>
                  </a:cubicBezTo>
                  <a:cubicBezTo>
                    <a:pt x="316992" y="245999"/>
                    <a:pt x="245999" y="316992"/>
                    <a:pt x="158496" y="316992"/>
                  </a:cubicBezTo>
                  <a:cubicBezTo>
                    <a:pt x="70993" y="316992"/>
                    <a:pt x="0" y="245999"/>
                    <a:pt x="0" y="158496"/>
                  </a:cubicBezTo>
                  <a:close/>
                </a:path>
              </a:pathLst>
            </a:custGeom>
            <a:solidFill>
              <a:srgbClr val="737AE6"/>
            </a:solidFill>
          </p:spPr>
        </p:sp>
      </p:grpSp>
      <p:grpSp>
        <p:nvGrpSpPr>
          <p:cNvPr name="Group 121" id="121"/>
          <p:cNvGrpSpPr/>
          <p:nvPr/>
        </p:nvGrpSpPr>
        <p:grpSpPr>
          <a:xfrm rot="0">
            <a:off x="10104120" y="6620256"/>
            <a:ext cx="7315200" cy="457200"/>
            <a:chOff x="0" y="0"/>
            <a:chExt cx="9753600" cy="609600"/>
          </a:xfrm>
        </p:grpSpPr>
        <p:sp>
          <p:nvSpPr>
            <p:cNvPr name="Freeform 122" id="122"/>
            <p:cNvSpPr/>
            <p:nvPr/>
          </p:nvSpPr>
          <p:spPr>
            <a:xfrm flipH="false" flipV="false" rot="0">
              <a:off x="0" y="0"/>
              <a:ext cx="9753600" cy="609600"/>
            </a:xfrm>
            <a:custGeom>
              <a:avLst/>
              <a:gdLst/>
              <a:ahLst/>
              <a:cxnLst/>
              <a:rect r="r" b="b" t="t" l="l"/>
              <a:pathLst>
                <a:path h="609600" w="9753600">
                  <a:moveTo>
                    <a:pt x="0" y="0"/>
                  </a:moveTo>
                  <a:lnTo>
                    <a:pt x="9753600" y="0"/>
                  </a:lnTo>
                  <a:lnTo>
                    <a:pt x="9753600" y="609600"/>
                  </a:lnTo>
                  <a:lnTo>
                    <a:pt x="0" y="609600"/>
                  </a:lnTo>
                  <a:close/>
                </a:path>
              </a:pathLst>
            </a:custGeom>
            <a:blipFill>
              <a:blip r:embed="rId2">
                <a:alphaModFix amt="0"/>
              </a:blip>
              <a:stretch>
                <a:fillRect l="0" t="-261543" r="0" b="-261543"/>
              </a:stretch>
            </a:blipFill>
          </p:spPr>
        </p:sp>
      </p:grpSp>
      <p:grpSp>
        <p:nvGrpSpPr>
          <p:cNvPr name="Group 123" id="123"/>
          <p:cNvGrpSpPr/>
          <p:nvPr/>
        </p:nvGrpSpPr>
        <p:grpSpPr>
          <a:xfrm rot="0">
            <a:off x="10104120" y="6605968"/>
            <a:ext cx="7315200" cy="471488"/>
            <a:chOff x="0" y="0"/>
            <a:chExt cx="9753600" cy="628650"/>
          </a:xfrm>
        </p:grpSpPr>
        <p:sp>
          <p:nvSpPr>
            <p:cNvPr name="Freeform 124" id="124"/>
            <p:cNvSpPr/>
            <p:nvPr/>
          </p:nvSpPr>
          <p:spPr>
            <a:xfrm flipH="false" flipV="false" rot="0">
              <a:off x="0" y="0"/>
              <a:ext cx="9753600" cy="628650"/>
            </a:xfrm>
            <a:custGeom>
              <a:avLst/>
              <a:gdLst/>
              <a:ahLst/>
              <a:cxnLst/>
              <a:rect r="r" b="b" t="t" l="l"/>
              <a:pathLst>
                <a:path h="628650" w="9753600">
                  <a:moveTo>
                    <a:pt x="0" y="0"/>
                  </a:moveTo>
                  <a:lnTo>
                    <a:pt x="9753600" y="0"/>
                  </a:lnTo>
                  <a:lnTo>
                    <a:pt x="9753600" y="628650"/>
                  </a:lnTo>
                  <a:lnTo>
                    <a:pt x="0" y="628650"/>
                  </a:lnTo>
                  <a:close/>
                </a:path>
              </a:pathLst>
            </a:custGeom>
            <a:blipFill>
              <a:blip r:embed="rId3">
                <a:alphaModFix amt="0"/>
              </a:blip>
              <a:stretch>
                <a:fillRect l="0" t="-252103" r="0" b="-252103"/>
              </a:stretch>
            </a:blipFill>
          </p:spPr>
        </p:sp>
      </p:grpSp>
      <p:grpSp>
        <p:nvGrpSpPr>
          <p:cNvPr name="Group 125" id="125"/>
          <p:cNvGrpSpPr/>
          <p:nvPr/>
        </p:nvGrpSpPr>
        <p:grpSpPr>
          <a:xfrm rot="0">
            <a:off x="10104120" y="6591681"/>
            <a:ext cx="7315200" cy="485775"/>
            <a:chOff x="0" y="0"/>
            <a:chExt cx="9753600" cy="647700"/>
          </a:xfrm>
        </p:grpSpPr>
        <p:sp>
          <p:nvSpPr>
            <p:cNvPr name="Freeform 126" id="126"/>
            <p:cNvSpPr/>
            <p:nvPr/>
          </p:nvSpPr>
          <p:spPr>
            <a:xfrm flipH="false" flipV="false" rot="0">
              <a:off x="0" y="0"/>
              <a:ext cx="9753600" cy="647701"/>
            </a:xfrm>
            <a:custGeom>
              <a:avLst/>
              <a:gdLst/>
              <a:ahLst/>
              <a:cxnLst/>
              <a:rect r="r" b="b" t="t" l="l"/>
              <a:pathLst>
                <a:path h="647701" w="9753600">
                  <a:moveTo>
                    <a:pt x="0" y="0"/>
                  </a:moveTo>
                  <a:lnTo>
                    <a:pt x="9753600" y="0"/>
                  </a:lnTo>
                  <a:lnTo>
                    <a:pt x="9753600" y="647701"/>
                  </a:lnTo>
                  <a:lnTo>
                    <a:pt x="0" y="647701"/>
                  </a:lnTo>
                  <a:close/>
                </a:path>
              </a:pathLst>
            </a:custGeom>
            <a:blipFill>
              <a:blip r:embed="rId4">
                <a:alphaModFix amt="0"/>
              </a:blip>
              <a:stretch>
                <a:fillRect l="0" t="-243421" r="0" b="-243421"/>
              </a:stretch>
            </a:blipFill>
          </p:spPr>
        </p:sp>
        <p:sp>
          <p:nvSpPr>
            <p:cNvPr name="TextBox 127" id="127"/>
            <p:cNvSpPr txBox="true"/>
            <p:nvPr/>
          </p:nvSpPr>
          <p:spPr>
            <a:xfrm>
              <a:off x="0" y="-19050"/>
              <a:ext cx="9753600" cy="666750"/>
            </a:xfrm>
            <a:prstGeom prst="rect">
              <a:avLst/>
            </a:prstGeom>
          </p:spPr>
          <p:txBody>
            <a:bodyPr anchor="ctr" rtlCol="false" tIns="0" lIns="0" bIns="0" rIns="0"/>
            <a:lstStyle/>
            <a:p>
              <a:pPr algn="l">
                <a:lnSpc>
                  <a:spcPts val="2279"/>
                </a:lnSpc>
              </a:pPr>
              <a:r>
                <a:rPr lang="en-US" sz="1899" b="true">
                  <a:solidFill>
                    <a:srgbClr val="1F3338"/>
                  </a:solidFill>
                  <a:latin typeface="Poppins Bold"/>
                  <a:ea typeface="Poppins Bold"/>
                  <a:cs typeface="Poppins Bold"/>
                  <a:sym typeface="Poppins Bold"/>
                </a:rPr>
                <a:t>Why a Separate Socket Service</a:t>
              </a:r>
            </a:p>
          </p:txBody>
        </p:sp>
      </p:grpSp>
      <p:grpSp>
        <p:nvGrpSpPr>
          <p:cNvPr name="Group 128" id="128"/>
          <p:cNvGrpSpPr/>
          <p:nvPr/>
        </p:nvGrpSpPr>
        <p:grpSpPr>
          <a:xfrm rot="0">
            <a:off x="9692640" y="7470648"/>
            <a:ext cx="118872" cy="118872"/>
            <a:chOff x="0" y="0"/>
            <a:chExt cx="158496" cy="158496"/>
          </a:xfrm>
        </p:grpSpPr>
        <p:sp>
          <p:nvSpPr>
            <p:cNvPr name="Freeform 129" id="129"/>
            <p:cNvSpPr/>
            <p:nvPr/>
          </p:nvSpPr>
          <p:spPr>
            <a:xfrm flipH="false" flipV="false" rot="0">
              <a:off x="0" y="0"/>
              <a:ext cx="158496" cy="158496"/>
            </a:xfrm>
            <a:custGeom>
              <a:avLst/>
              <a:gdLst/>
              <a:ahLst/>
              <a:cxnLst/>
              <a:rect r="r" b="b" t="t" l="l"/>
              <a:pathLst>
                <a:path h="158496" w="158496">
                  <a:moveTo>
                    <a:pt x="0" y="79248"/>
                  </a:moveTo>
                  <a:cubicBezTo>
                    <a:pt x="0" y="35433"/>
                    <a:pt x="35433" y="0"/>
                    <a:pt x="79248" y="0"/>
                  </a:cubicBezTo>
                  <a:cubicBezTo>
                    <a:pt x="123063" y="0"/>
                    <a:pt x="158496" y="35433"/>
                    <a:pt x="158496" y="79248"/>
                  </a:cubicBezTo>
                  <a:cubicBezTo>
                    <a:pt x="158496" y="123063"/>
                    <a:pt x="123063" y="158496"/>
                    <a:pt x="79248" y="158496"/>
                  </a:cubicBezTo>
                  <a:cubicBezTo>
                    <a:pt x="35433" y="158496"/>
                    <a:pt x="0" y="123063"/>
                    <a:pt x="0" y="79248"/>
                  </a:cubicBezTo>
                  <a:close/>
                </a:path>
              </a:pathLst>
            </a:custGeom>
            <a:solidFill>
              <a:srgbClr val="737AE6"/>
            </a:solidFill>
          </p:spPr>
        </p:sp>
      </p:grpSp>
      <p:sp>
        <p:nvSpPr>
          <p:cNvPr name="TextBox 130" id="130"/>
          <p:cNvSpPr txBox="true"/>
          <p:nvPr/>
        </p:nvSpPr>
        <p:spPr>
          <a:xfrm rot="0">
            <a:off x="9985248" y="7277481"/>
            <a:ext cx="7680960" cy="595503"/>
          </a:xfrm>
          <a:prstGeom prst="rect">
            <a:avLst/>
          </a:prstGeom>
        </p:spPr>
        <p:txBody>
          <a:bodyPr anchor="t" rtlCol="false" tIns="0" lIns="0" bIns="0" rIns="0">
            <a:spAutoFit/>
          </a:bodyPr>
          <a:lstStyle/>
          <a:p>
            <a:pPr algn="l">
              <a:lnSpc>
                <a:spcPts val="1557"/>
              </a:lnSpc>
            </a:pPr>
            <a:r>
              <a:rPr lang="en-US" sz="1299">
                <a:solidFill>
                  <a:srgbClr val="2A3B3F"/>
                </a:solidFill>
                <a:latin typeface="Poppins"/>
                <a:ea typeface="Poppins"/>
                <a:cs typeface="Poppins"/>
                <a:sym typeface="Poppins"/>
              </a:rPr>
              <a:t>Deployed as its own Docker image, independent from the main backend</a:t>
            </a:r>
          </a:p>
        </p:txBody>
      </p:sp>
      <p:grpSp>
        <p:nvGrpSpPr>
          <p:cNvPr name="Group 131" id="131"/>
          <p:cNvGrpSpPr/>
          <p:nvPr/>
        </p:nvGrpSpPr>
        <p:grpSpPr>
          <a:xfrm rot="0">
            <a:off x="9692640" y="8037576"/>
            <a:ext cx="118872" cy="118872"/>
            <a:chOff x="0" y="0"/>
            <a:chExt cx="158496" cy="158496"/>
          </a:xfrm>
        </p:grpSpPr>
        <p:sp>
          <p:nvSpPr>
            <p:cNvPr name="Freeform 132" id="132"/>
            <p:cNvSpPr/>
            <p:nvPr/>
          </p:nvSpPr>
          <p:spPr>
            <a:xfrm flipH="false" flipV="false" rot="0">
              <a:off x="0" y="0"/>
              <a:ext cx="158496" cy="158496"/>
            </a:xfrm>
            <a:custGeom>
              <a:avLst/>
              <a:gdLst/>
              <a:ahLst/>
              <a:cxnLst/>
              <a:rect r="r" b="b" t="t" l="l"/>
              <a:pathLst>
                <a:path h="158496" w="158496">
                  <a:moveTo>
                    <a:pt x="0" y="79248"/>
                  </a:moveTo>
                  <a:cubicBezTo>
                    <a:pt x="0" y="35433"/>
                    <a:pt x="35433" y="0"/>
                    <a:pt x="79248" y="0"/>
                  </a:cubicBezTo>
                  <a:cubicBezTo>
                    <a:pt x="123063" y="0"/>
                    <a:pt x="158496" y="35433"/>
                    <a:pt x="158496" y="79248"/>
                  </a:cubicBezTo>
                  <a:cubicBezTo>
                    <a:pt x="158496" y="123063"/>
                    <a:pt x="123063" y="158496"/>
                    <a:pt x="79248" y="158496"/>
                  </a:cubicBezTo>
                  <a:cubicBezTo>
                    <a:pt x="35433" y="158496"/>
                    <a:pt x="0" y="123063"/>
                    <a:pt x="0" y="79248"/>
                  </a:cubicBezTo>
                  <a:close/>
                </a:path>
              </a:pathLst>
            </a:custGeom>
            <a:solidFill>
              <a:srgbClr val="737AE6"/>
            </a:solidFill>
          </p:spPr>
        </p:sp>
      </p:grpSp>
      <p:sp>
        <p:nvSpPr>
          <p:cNvPr name="TextBox 133" id="133"/>
          <p:cNvSpPr txBox="true"/>
          <p:nvPr/>
        </p:nvSpPr>
        <p:spPr>
          <a:xfrm rot="0">
            <a:off x="9985248" y="7844409"/>
            <a:ext cx="7680960" cy="595503"/>
          </a:xfrm>
          <a:prstGeom prst="rect">
            <a:avLst/>
          </a:prstGeom>
        </p:spPr>
        <p:txBody>
          <a:bodyPr anchor="t" rtlCol="false" tIns="0" lIns="0" bIns="0" rIns="0">
            <a:spAutoFit/>
          </a:bodyPr>
          <a:lstStyle/>
          <a:p>
            <a:pPr algn="l">
              <a:lnSpc>
                <a:spcPts val="1557"/>
              </a:lnSpc>
            </a:pPr>
            <a:r>
              <a:rPr lang="en-US" sz="1299">
                <a:solidFill>
                  <a:srgbClr val="2A3B3F"/>
                </a:solidFill>
                <a:latin typeface="Poppins"/>
                <a:ea typeface="Poppins"/>
                <a:cs typeface="Poppins"/>
                <a:sym typeface="Poppins"/>
              </a:rPr>
              <a:t>Backend stays responsible for business rules and persistence only</a:t>
            </a:r>
          </a:p>
        </p:txBody>
      </p:sp>
      <p:grpSp>
        <p:nvGrpSpPr>
          <p:cNvPr name="Group 134" id="134"/>
          <p:cNvGrpSpPr/>
          <p:nvPr/>
        </p:nvGrpSpPr>
        <p:grpSpPr>
          <a:xfrm rot="0">
            <a:off x="9692640" y="8604504"/>
            <a:ext cx="118872" cy="118872"/>
            <a:chOff x="0" y="0"/>
            <a:chExt cx="158496" cy="158496"/>
          </a:xfrm>
        </p:grpSpPr>
        <p:sp>
          <p:nvSpPr>
            <p:cNvPr name="Freeform 135" id="135"/>
            <p:cNvSpPr/>
            <p:nvPr/>
          </p:nvSpPr>
          <p:spPr>
            <a:xfrm flipH="false" flipV="false" rot="0">
              <a:off x="0" y="0"/>
              <a:ext cx="158496" cy="158496"/>
            </a:xfrm>
            <a:custGeom>
              <a:avLst/>
              <a:gdLst/>
              <a:ahLst/>
              <a:cxnLst/>
              <a:rect r="r" b="b" t="t" l="l"/>
              <a:pathLst>
                <a:path h="158496" w="158496">
                  <a:moveTo>
                    <a:pt x="0" y="79248"/>
                  </a:moveTo>
                  <a:cubicBezTo>
                    <a:pt x="0" y="35433"/>
                    <a:pt x="35433" y="0"/>
                    <a:pt x="79248" y="0"/>
                  </a:cubicBezTo>
                  <a:cubicBezTo>
                    <a:pt x="123063" y="0"/>
                    <a:pt x="158496" y="35433"/>
                    <a:pt x="158496" y="79248"/>
                  </a:cubicBezTo>
                  <a:cubicBezTo>
                    <a:pt x="158496" y="123063"/>
                    <a:pt x="123063" y="158496"/>
                    <a:pt x="79248" y="158496"/>
                  </a:cubicBezTo>
                  <a:cubicBezTo>
                    <a:pt x="35433" y="158496"/>
                    <a:pt x="0" y="123063"/>
                    <a:pt x="0" y="79248"/>
                  </a:cubicBezTo>
                  <a:close/>
                </a:path>
              </a:pathLst>
            </a:custGeom>
            <a:solidFill>
              <a:srgbClr val="737AE6"/>
            </a:solidFill>
          </p:spPr>
        </p:sp>
      </p:grpSp>
      <p:sp>
        <p:nvSpPr>
          <p:cNvPr name="TextBox 136" id="136"/>
          <p:cNvSpPr txBox="true"/>
          <p:nvPr/>
        </p:nvSpPr>
        <p:spPr>
          <a:xfrm rot="0">
            <a:off x="9985248" y="8411337"/>
            <a:ext cx="7680960" cy="595503"/>
          </a:xfrm>
          <a:prstGeom prst="rect">
            <a:avLst/>
          </a:prstGeom>
        </p:spPr>
        <p:txBody>
          <a:bodyPr anchor="t" rtlCol="false" tIns="0" lIns="0" bIns="0" rIns="0">
            <a:spAutoFit/>
          </a:bodyPr>
          <a:lstStyle/>
          <a:p>
            <a:pPr algn="l">
              <a:lnSpc>
                <a:spcPts val="1557"/>
              </a:lnSpc>
            </a:pPr>
            <a:r>
              <a:rPr lang="en-US" sz="1299">
                <a:solidFill>
                  <a:srgbClr val="2A3B3F"/>
                </a:solidFill>
                <a:latin typeface="Poppins"/>
                <a:ea typeface="Poppins"/>
                <a:cs typeface="Poppins"/>
                <a:sym typeface="Poppins"/>
              </a:rPr>
              <a:t>Real-time layer can scale or restart without affecting the main app</a:t>
            </a:r>
          </a:p>
        </p:txBody>
      </p:sp>
      <p:grpSp>
        <p:nvGrpSpPr>
          <p:cNvPr name="Group 137" id="137"/>
          <p:cNvGrpSpPr/>
          <p:nvPr/>
        </p:nvGrpSpPr>
        <p:grpSpPr>
          <a:xfrm rot="0">
            <a:off x="640080" y="9738360"/>
            <a:ext cx="7315200" cy="365760"/>
            <a:chOff x="0" y="0"/>
            <a:chExt cx="9753600" cy="487680"/>
          </a:xfrm>
        </p:grpSpPr>
        <p:sp>
          <p:nvSpPr>
            <p:cNvPr name="Freeform 138" id="138"/>
            <p:cNvSpPr/>
            <p:nvPr/>
          </p:nvSpPr>
          <p:spPr>
            <a:xfrm flipH="false" flipV="false" rot="0">
              <a:off x="0" y="0"/>
              <a:ext cx="9753600" cy="487680"/>
            </a:xfrm>
            <a:custGeom>
              <a:avLst/>
              <a:gdLst/>
              <a:ahLst/>
              <a:cxnLst/>
              <a:rect r="r" b="b" t="t" l="l"/>
              <a:pathLst>
                <a:path h="487680" w="9753600">
                  <a:moveTo>
                    <a:pt x="0" y="0"/>
                  </a:moveTo>
                  <a:lnTo>
                    <a:pt x="9753600" y="0"/>
                  </a:lnTo>
                  <a:lnTo>
                    <a:pt x="9753600" y="487680"/>
                  </a:lnTo>
                  <a:lnTo>
                    <a:pt x="0" y="487680"/>
                  </a:lnTo>
                  <a:close/>
                </a:path>
              </a:pathLst>
            </a:custGeom>
            <a:blipFill>
              <a:blip r:embed="rId2">
                <a:alphaModFix amt="0"/>
              </a:blip>
              <a:stretch>
                <a:fillRect l="0" t="-339429" r="0" b="-339429"/>
              </a:stretch>
            </a:blipFill>
          </p:spPr>
        </p:sp>
      </p:grpSp>
      <p:grpSp>
        <p:nvGrpSpPr>
          <p:cNvPr name="Group 139" id="139"/>
          <p:cNvGrpSpPr/>
          <p:nvPr/>
        </p:nvGrpSpPr>
        <p:grpSpPr>
          <a:xfrm rot="0">
            <a:off x="640080" y="9724072"/>
            <a:ext cx="7315200" cy="380047"/>
            <a:chOff x="0" y="0"/>
            <a:chExt cx="9753600" cy="506730"/>
          </a:xfrm>
        </p:grpSpPr>
        <p:sp>
          <p:nvSpPr>
            <p:cNvPr name="Freeform 140" id="140"/>
            <p:cNvSpPr/>
            <p:nvPr/>
          </p:nvSpPr>
          <p:spPr>
            <a:xfrm flipH="false" flipV="false" rot="0">
              <a:off x="0" y="0"/>
              <a:ext cx="9753600" cy="506730"/>
            </a:xfrm>
            <a:custGeom>
              <a:avLst/>
              <a:gdLst/>
              <a:ahLst/>
              <a:cxnLst/>
              <a:rect r="r" b="b" t="t" l="l"/>
              <a:pathLst>
                <a:path h="506730" w="9753600">
                  <a:moveTo>
                    <a:pt x="0" y="0"/>
                  </a:moveTo>
                  <a:lnTo>
                    <a:pt x="9753600" y="0"/>
                  </a:lnTo>
                  <a:lnTo>
                    <a:pt x="9753600" y="506730"/>
                  </a:lnTo>
                  <a:lnTo>
                    <a:pt x="0" y="506730"/>
                  </a:lnTo>
                  <a:close/>
                </a:path>
              </a:pathLst>
            </a:custGeom>
            <a:blipFill>
              <a:blip r:embed="rId3">
                <a:alphaModFix amt="0"/>
              </a:blip>
              <a:stretch>
                <a:fillRect l="0" t="-324789" r="0" b="-324789"/>
              </a:stretch>
            </a:blipFill>
          </p:spPr>
        </p:sp>
      </p:grpSp>
      <p:grpSp>
        <p:nvGrpSpPr>
          <p:cNvPr name="Group 141" id="141"/>
          <p:cNvGrpSpPr/>
          <p:nvPr/>
        </p:nvGrpSpPr>
        <p:grpSpPr>
          <a:xfrm rot="0">
            <a:off x="640080" y="9709785"/>
            <a:ext cx="7315200" cy="394335"/>
            <a:chOff x="0" y="0"/>
            <a:chExt cx="9753600" cy="525780"/>
          </a:xfrm>
        </p:grpSpPr>
        <p:sp>
          <p:nvSpPr>
            <p:cNvPr name="Freeform 142" id="142"/>
            <p:cNvSpPr/>
            <p:nvPr/>
          </p:nvSpPr>
          <p:spPr>
            <a:xfrm flipH="false" flipV="false" rot="0">
              <a:off x="0" y="0"/>
              <a:ext cx="9753600" cy="525779"/>
            </a:xfrm>
            <a:custGeom>
              <a:avLst/>
              <a:gdLst/>
              <a:ahLst/>
              <a:cxnLst/>
              <a:rect r="r" b="b" t="t" l="l"/>
              <a:pathLst>
                <a:path h="525779" w="9753600">
                  <a:moveTo>
                    <a:pt x="0" y="0"/>
                  </a:moveTo>
                  <a:lnTo>
                    <a:pt x="9753600" y="0"/>
                  </a:lnTo>
                  <a:lnTo>
                    <a:pt x="9753600" y="525779"/>
                  </a:lnTo>
                  <a:lnTo>
                    <a:pt x="0" y="525779"/>
                  </a:lnTo>
                  <a:close/>
                </a:path>
              </a:pathLst>
            </a:custGeom>
            <a:blipFill>
              <a:blip r:embed="rId4">
                <a:alphaModFix amt="0"/>
              </a:blip>
              <a:stretch>
                <a:fillRect l="0" t="-311461" r="0" b="-311462"/>
              </a:stretch>
            </a:blipFill>
          </p:spPr>
        </p:sp>
        <p:sp>
          <p:nvSpPr>
            <p:cNvPr name="TextBox 143" id="143"/>
            <p:cNvSpPr txBox="true"/>
            <p:nvPr/>
          </p:nvSpPr>
          <p:spPr>
            <a:xfrm>
              <a:off x="0" y="-19050"/>
              <a:ext cx="9753600" cy="544830"/>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44" id="144"/>
          <p:cNvGrpSpPr/>
          <p:nvPr/>
        </p:nvGrpSpPr>
        <p:grpSpPr>
          <a:xfrm rot="0">
            <a:off x="16642080" y="9738360"/>
            <a:ext cx="1005840" cy="365760"/>
            <a:chOff x="0" y="0"/>
            <a:chExt cx="1341120" cy="487680"/>
          </a:xfrm>
        </p:grpSpPr>
        <p:sp>
          <p:nvSpPr>
            <p:cNvPr name="Freeform 145" id="145"/>
            <p:cNvSpPr/>
            <p:nvPr/>
          </p:nvSpPr>
          <p:spPr>
            <a:xfrm flipH="false" flipV="false" rot="0">
              <a:off x="0" y="0"/>
              <a:ext cx="1341120" cy="487680"/>
            </a:xfrm>
            <a:custGeom>
              <a:avLst/>
              <a:gdLst/>
              <a:ahLst/>
              <a:cxnLst/>
              <a:rect r="r" b="b" t="t" l="l"/>
              <a:pathLst>
                <a:path h="487680" w="1341120">
                  <a:moveTo>
                    <a:pt x="0" y="0"/>
                  </a:moveTo>
                  <a:lnTo>
                    <a:pt x="1341120" y="0"/>
                  </a:lnTo>
                  <a:lnTo>
                    <a:pt x="1341120" y="487680"/>
                  </a:lnTo>
                  <a:lnTo>
                    <a:pt x="0" y="487680"/>
                  </a:lnTo>
                  <a:close/>
                </a:path>
              </a:pathLst>
            </a:custGeom>
            <a:blipFill>
              <a:blip r:embed="rId2">
                <a:alphaModFix amt="0"/>
              </a:blip>
              <a:stretch>
                <a:fillRect l="0" t="-3546" r="0" b="-3546"/>
              </a:stretch>
            </a:blipFill>
          </p:spPr>
        </p:sp>
      </p:grpSp>
      <p:grpSp>
        <p:nvGrpSpPr>
          <p:cNvPr name="Group 146" id="146"/>
          <p:cNvGrpSpPr/>
          <p:nvPr/>
        </p:nvGrpSpPr>
        <p:grpSpPr>
          <a:xfrm rot="0">
            <a:off x="16642080" y="9724072"/>
            <a:ext cx="1005840" cy="380047"/>
            <a:chOff x="0" y="0"/>
            <a:chExt cx="1341120" cy="506730"/>
          </a:xfrm>
        </p:grpSpPr>
        <p:sp>
          <p:nvSpPr>
            <p:cNvPr name="Freeform 147" id="147"/>
            <p:cNvSpPr/>
            <p:nvPr/>
          </p:nvSpPr>
          <p:spPr>
            <a:xfrm flipH="false" flipV="false" rot="0">
              <a:off x="0" y="0"/>
              <a:ext cx="1341120" cy="506730"/>
            </a:xfrm>
            <a:custGeom>
              <a:avLst/>
              <a:gdLst/>
              <a:ahLst/>
              <a:cxnLst/>
              <a:rect r="r" b="b" t="t" l="l"/>
              <a:pathLst>
                <a:path h="506730" w="1341120">
                  <a:moveTo>
                    <a:pt x="0" y="0"/>
                  </a:moveTo>
                  <a:lnTo>
                    <a:pt x="1341120" y="0"/>
                  </a:lnTo>
                  <a:lnTo>
                    <a:pt x="1341120" y="506730"/>
                  </a:lnTo>
                  <a:lnTo>
                    <a:pt x="0" y="506730"/>
                  </a:lnTo>
                  <a:close/>
                </a:path>
              </a:pathLst>
            </a:custGeom>
            <a:blipFill>
              <a:blip r:embed="rId3">
                <a:alphaModFix amt="0"/>
              </a:blip>
              <a:stretch>
                <a:fillRect l="0" t="-1533" r="0" b="-1533"/>
              </a:stretch>
            </a:blipFill>
          </p:spPr>
        </p:sp>
      </p:grpSp>
      <p:grpSp>
        <p:nvGrpSpPr>
          <p:cNvPr name="Group 148" id="148"/>
          <p:cNvGrpSpPr/>
          <p:nvPr/>
        </p:nvGrpSpPr>
        <p:grpSpPr>
          <a:xfrm rot="0">
            <a:off x="1188720" y="4430659"/>
            <a:ext cx="2286000" cy="1700003"/>
            <a:chOff x="0" y="0"/>
            <a:chExt cx="3048000" cy="2266671"/>
          </a:xfrm>
        </p:grpSpPr>
        <p:sp>
          <p:nvSpPr>
            <p:cNvPr name="Freeform 149" id="149"/>
            <p:cNvSpPr/>
            <p:nvPr/>
          </p:nvSpPr>
          <p:spPr>
            <a:xfrm flipH="false" flipV="false" rot="0">
              <a:off x="0" y="0"/>
              <a:ext cx="3048000" cy="2266696"/>
            </a:xfrm>
            <a:custGeom>
              <a:avLst/>
              <a:gdLst/>
              <a:ahLst/>
              <a:cxnLst/>
              <a:rect r="r" b="b" t="t" l="l"/>
              <a:pathLst>
                <a:path h="2266696" w="3048000">
                  <a:moveTo>
                    <a:pt x="0" y="226695"/>
                  </a:moveTo>
                  <a:cubicBezTo>
                    <a:pt x="0" y="101473"/>
                    <a:pt x="101473" y="0"/>
                    <a:pt x="226695" y="0"/>
                  </a:cubicBezTo>
                  <a:lnTo>
                    <a:pt x="2821305" y="0"/>
                  </a:lnTo>
                  <a:cubicBezTo>
                    <a:pt x="2946527" y="0"/>
                    <a:pt x="3048000" y="101473"/>
                    <a:pt x="3048000" y="226695"/>
                  </a:cubicBezTo>
                  <a:lnTo>
                    <a:pt x="3048000" y="2040001"/>
                  </a:lnTo>
                  <a:cubicBezTo>
                    <a:pt x="3048000" y="2165223"/>
                    <a:pt x="2946527" y="2266696"/>
                    <a:pt x="2821305" y="2266696"/>
                  </a:cubicBezTo>
                  <a:lnTo>
                    <a:pt x="226695" y="2266696"/>
                  </a:lnTo>
                  <a:cubicBezTo>
                    <a:pt x="101473" y="2266696"/>
                    <a:pt x="0" y="2165223"/>
                    <a:pt x="0" y="2040001"/>
                  </a:cubicBezTo>
                  <a:close/>
                </a:path>
              </a:pathLst>
            </a:custGeom>
            <a:solidFill>
              <a:srgbClr val="737AE6"/>
            </a:solidFill>
          </p:spPr>
        </p:sp>
        <p:sp>
          <p:nvSpPr>
            <p:cNvPr name="TextBox 150" id="150"/>
            <p:cNvSpPr txBox="true"/>
            <p:nvPr/>
          </p:nvSpPr>
          <p:spPr>
            <a:xfrm>
              <a:off x="0" y="-19050"/>
              <a:ext cx="3048000" cy="2285721"/>
            </a:xfrm>
            <a:prstGeom prst="rect">
              <a:avLst/>
            </a:prstGeom>
          </p:spPr>
          <p:txBody>
            <a:bodyPr anchor="ctr" rtlCol="false" tIns="50800" lIns="50800" bIns="50800" rIns="50800"/>
            <a:lstStyle/>
            <a:p>
              <a:pPr algn="ctr">
                <a:lnSpc>
                  <a:spcPts val="1800"/>
                </a:lnSpc>
              </a:pPr>
              <a:r>
                <a:rPr lang="en-US" sz="1500" b="true">
                  <a:solidFill>
                    <a:srgbClr val="FFFFFF"/>
                  </a:solidFill>
                  <a:latin typeface="Poppins Bold"/>
                  <a:ea typeface="Poppins Bold"/>
                  <a:cs typeface="Poppins Bold"/>
                  <a:sym typeface="Poppins Bold"/>
                </a:rPr>
                <a:t>Recruiter</a:t>
              </a:r>
            </a:p>
            <a:p>
              <a:pPr algn="ctr">
                <a:lnSpc>
                  <a:spcPts val="1199"/>
                </a:lnSpc>
              </a:pPr>
              <a:r>
                <a:rPr lang="en-US" sz="999">
                  <a:solidFill>
                    <a:srgbClr val="FFFFFF"/>
                  </a:solidFill>
                  <a:latin typeface="Poppins"/>
                  <a:ea typeface="Poppins"/>
                  <a:cs typeface="Poppins"/>
                  <a:sym typeface="Poppins"/>
                </a:rPr>
                <a:t>chat UI + socket client</a:t>
              </a:r>
            </a:p>
          </p:txBody>
        </p:sp>
      </p:grpSp>
      <p:grpSp>
        <p:nvGrpSpPr>
          <p:cNvPr name="Group 151" id="151"/>
          <p:cNvGrpSpPr/>
          <p:nvPr/>
        </p:nvGrpSpPr>
        <p:grpSpPr>
          <a:xfrm rot="0">
            <a:off x="13578840" y="4430659"/>
            <a:ext cx="2286000" cy="1700003"/>
            <a:chOff x="0" y="0"/>
            <a:chExt cx="3048000" cy="2266671"/>
          </a:xfrm>
        </p:grpSpPr>
        <p:sp>
          <p:nvSpPr>
            <p:cNvPr name="Freeform 152" id="152"/>
            <p:cNvSpPr/>
            <p:nvPr/>
          </p:nvSpPr>
          <p:spPr>
            <a:xfrm flipH="false" flipV="false" rot="0">
              <a:off x="0" y="0"/>
              <a:ext cx="3048000" cy="2266696"/>
            </a:xfrm>
            <a:custGeom>
              <a:avLst/>
              <a:gdLst/>
              <a:ahLst/>
              <a:cxnLst/>
              <a:rect r="r" b="b" t="t" l="l"/>
              <a:pathLst>
                <a:path h="2266696" w="3048000">
                  <a:moveTo>
                    <a:pt x="0" y="226695"/>
                  </a:moveTo>
                  <a:cubicBezTo>
                    <a:pt x="0" y="101473"/>
                    <a:pt x="101473" y="0"/>
                    <a:pt x="226695" y="0"/>
                  </a:cubicBezTo>
                  <a:lnTo>
                    <a:pt x="2821305" y="0"/>
                  </a:lnTo>
                  <a:cubicBezTo>
                    <a:pt x="2946527" y="0"/>
                    <a:pt x="3048000" y="101473"/>
                    <a:pt x="3048000" y="226695"/>
                  </a:cubicBezTo>
                  <a:lnTo>
                    <a:pt x="3048000" y="2040001"/>
                  </a:lnTo>
                  <a:cubicBezTo>
                    <a:pt x="3048000" y="2165223"/>
                    <a:pt x="2946527" y="2266696"/>
                    <a:pt x="2821305" y="2266696"/>
                  </a:cubicBezTo>
                  <a:lnTo>
                    <a:pt x="226695" y="2266696"/>
                  </a:lnTo>
                  <a:cubicBezTo>
                    <a:pt x="101473" y="2266696"/>
                    <a:pt x="0" y="2165223"/>
                    <a:pt x="0" y="2040001"/>
                  </a:cubicBezTo>
                  <a:close/>
                </a:path>
              </a:pathLst>
            </a:custGeom>
            <a:solidFill>
              <a:srgbClr val="737AE6"/>
            </a:solidFill>
          </p:spPr>
        </p:sp>
        <p:sp>
          <p:nvSpPr>
            <p:cNvPr name="TextBox 153" id="153"/>
            <p:cNvSpPr txBox="true"/>
            <p:nvPr/>
          </p:nvSpPr>
          <p:spPr>
            <a:xfrm>
              <a:off x="0" y="-19050"/>
              <a:ext cx="3048000" cy="2285721"/>
            </a:xfrm>
            <a:prstGeom prst="rect">
              <a:avLst/>
            </a:prstGeom>
          </p:spPr>
          <p:txBody>
            <a:bodyPr anchor="ctr" rtlCol="false" tIns="50800" lIns="50800" bIns="50800" rIns="50800"/>
            <a:lstStyle/>
            <a:p>
              <a:pPr algn="ctr">
                <a:lnSpc>
                  <a:spcPts val="1800"/>
                </a:lnSpc>
              </a:pPr>
              <a:r>
                <a:rPr lang="en-US" sz="1500" b="true">
                  <a:solidFill>
                    <a:srgbClr val="FFFFFF"/>
                  </a:solidFill>
                  <a:latin typeface="Poppins Bold"/>
                  <a:ea typeface="Poppins Bold"/>
                  <a:cs typeface="Poppins Bold"/>
                  <a:sym typeface="Poppins Bold"/>
                </a:rPr>
                <a:t>Candidate</a:t>
              </a:r>
            </a:p>
            <a:p>
              <a:pPr algn="ctr">
                <a:lnSpc>
                  <a:spcPts val="1199"/>
                </a:lnSpc>
              </a:pPr>
              <a:r>
                <a:rPr lang="en-US" sz="999">
                  <a:solidFill>
                    <a:srgbClr val="FFFFFF"/>
                  </a:solidFill>
                  <a:latin typeface="Poppins"/>
                  <a:ea typeface="Poppins"/>
                  <a:cs typeface="Poppins"/>
                  <a:sym typeface="Poppins"/>
                </a:rPr>
                <a:t>chat UI + socket client</a:t>
              </a:r>
            </a:p>
          </p:txBody>
        </p:sp>
      </p:grpSp>
      <p:grpSp>
        <p:nvGrpSpPr>
          <p:cNvPr name="Group 154" id="154"/>
          <p:cNvGrpSpPr/>
          <p:nvPr/>
        </p:nvGrpSpPr>
        <p:grpSpPr>
          <a:xfrm rot="0">
            <a:off x="6426784" y="4430659"/>
            <a:ext cx="4200001" cy="700002"/>
            <a:chOff x="0" y="0"/>
            <a:chExt cx="5600002" cy="933336"/>
          </a:xfrm>
        </p:grpSpPr>
        <p:sp>
          <p:nvSpPr>
            <p:cNvPr name="Freeform 155" id="155"/>
            <p:cNvSpPr/>
            <p:nvPr/>
          </p:nvSpPr>
          <p:spPr>
            <a:xfrm flipH="false" flipV="false" rot="0">
              <a:off x="0" y="0"/>
              <a:ext cx="5600065" cy="933323"/>
            </a:xfrm>
            <a:custGeom>
              <a:avLst/>
              <a:gdLst/>
              <a:ahLst/>
              <a:cxnLst/>
              <a:rect r="r" b="b" t="t" l="l"/>
              <a:pathLst>
                <a:path h="933323" w="5600065">
                  <a:moveTo>
                    <a:pt x="0" y="93345"/>
                  </a:moveTo>
                  <a:cubicBezTo>
                    <a:pt x="0" y="41783"/>
                    <a:pt x="41783" y="0"/>
                    <a:pt x="93345" y="0"/>
                  </a:cubicBezTo>
                  <a:lnTo>
                    <a:pt x="5506720" y="0"/>
                  </a:lnTo>
                  <a:cubicBezTo>
                    <a:pt x="5558282" y="0"/>
                    <a:pt x="5600065" y="41783"/>
                    <a:pt x="5600065" y="93345"/>
                  </a:cubicBezTo>
                  <a:lnTo>
                    <a:pt x="5600065" y="839978"/>
                  </a:lnTo>
                  <a:cubicBezTo>
                    <a:pt x="5600065" y="891540"/>
                    <a:pt x="5558282" y="933323"/>
                    <a:pt x="5506720" y="933323"/>
                  </a:cubicBezTo>
                  <a:lnTo>
                    <a:pt x="93345" y="933323"/>
                  </a:lnTo>
                  <a:cubicBezTo>
                    <a:pt x="41783" y="933323"/>
                    <a:pt x="0" y="891540"/>
                    <a:pt x="0" y="839978"/>
                  </a:cubicBezTo>
                  <a:close/>
                </a:path>
              </a:pathLst>
            </a:custGeom>
            <a:solidFill>
              <a:srgbClr val="C8DAE4"/>
            </a:solidFill>
          </p:spPr>
        </p:sp>
        <p:sp>
          <p:nvSpPr>
            <p:cNvPr name="TextBox 156" id="156"/>
            <p:cNvSpPr txBox="true"/>
            <p:nvPr/>
          </p:nvSpPr>
          <p:spPr>
            <a:xfrm>
              <a:off x="0" y="-9525"/>
              <a:ext cx="5600002" cy="942861"/>
            </a:xfrm>
            <a:prstGeom prst="rect">
              <a:avLst/>
            </a:prstGeom>
          </p:spPr>
          <p:txBody>
            <a:bodyPr anchor="ctr" rtlCol="false" tIns="50800" lIns="50800" bIns="50800" rIns="50800"/>
            <a:lstStyle/>
            <a:p>
              <a:pPr algn="ctr">
                <a:lnSpc>
                  <a:spcPts val="1559"/>
                </a:lnSpc>
              </a:pPr>
              <a:r>
                <a:rPr lang="en-US" sz="1299" b="true">
                  <a:solidFill>
                    <a:srgbClr val="1F3338"/>
                  </a:solidFill>
                  <a:latin typeface="Poppins Bold"/>
                  <a:ea typeface="Poppins Bold"/>
                  <a:cs typeface="Poppins Bold"/>
                  <a:sym typeface="Poppins Bold"/>
                </a:rPr>
                <a:t>Backend validates + persists</a:t>
              </a:r>
            </a:p>
          </p:txBody>
        </p:sp>
      </p:grpSp>
      <p:grpSp>
        <p:nvGrpSpPr>
          <p:cNvPr name="Group 157" id="157"/>
          <p:cNvGrpSpPr/>
          <p:nvPr/>
        </p:nvGrpSpPr>
        <p:grpSpPr>
          <a:xfrm rot="0">
            <a:off x="6426784" y="5430660"/>
            <a:ext cx="4200001" cy="700002"/>
            <a:chOff x="0" y="0"/>
            <a:chExt cx="5600002" cy="933336"/>
          </a:xfrm>
        </p:grpSpPr>
        <p:sp>
          <p:nvSpPr>
            <p:cNvPr name="Freeform 158" id="158"/>
            <p:cNvSpPr/>
            <p:nvPr/>
          </p:nvSpPr>
          <p:spPr>
            <a:xfrm flipH="false" flipV="false" rot="0">
              <a:off x="0" y="0"/>
              <a:ext cx="5600065" cy="933323"/>
            </a:xfrm>
            <a:custGeom>
              <a:avLst/>
              <a:gdLst/>
              <a:ahLst/>
              <a:cxnLst/>
              <a:rect r="r" b="b" t="t" l="l"/>
              <a:pathLst>
                <a:path h="933323" w="5600065">
                  <a:moveTo>
                    <a:pt x="0" y="93345"/>
                  </a:moveTo>
                  <a:cubicBezTo>
                    <a:pt x="0" y="41783"/>
                    <a:pt x="41783" y="0"/>
                    <a:pt x="93345" y="0"/>
                  </a:cubicBezTo>
                  <a:lnTo>
                    <a:pt x="5506720" y="0"/>
                  </a:lnTo>
                  <a:cubicBezTo>
                    <a:pt x="5558282" y="0"/>
                    <a:pt x="5600065" y="41783"/>
                    <a:pt x="5600065" y="93345"/>
                  </a:cubicBezTo>
                  <a:lnTo>
                    <a:pt x="5600065" y="839978"/>
                  </a:lnTo>
                  <a:cubicBezTo>
                    <a:pt x="5600065" y="891540"/>
                    <a:pt x="5558282" y="933323"/>
                    <a:pt x="5506720" y="933323"/>
                  </a:cubicBezTo>
                  <a:lnTo>
                    <a:pt x="93345" y="933323"/>
                  </a:lnTo>
                  <a:cubicBezTo>
                    <a:pt x="41783" y="933323"/>
                    <a:pt x="0" y="891540"/>
                    <a:pt x="0" y="839978"/>
                  </a:cubicBezTo>
                  <a:close/>
                </a:path>
              </a:pathLst>
            </a:custGeom>
            <a:solidFill>
              <a:srgbClr val="C8DAE4"/>
            </a:solidFill>
          </p:spPr>
        </p:sp>
        <p:sp>
          <p:nvSpPr>
            <p:cNvPr name="TextBox 159" id="159"/>
            <p:cNvSpPr txBox="true"/>
            <p:nvPr/>
          </p:nvSpPr>
          <p:spPr>
            <a:xfrm>
              <a:off x="0" y="-9525"/>
              <a:ext cx="5600002" cy="942861"/>
            </a:xfrm>
            <a:prstGeom prst="rect">
              <a:avLst/>
            </a:prstGeom>
          </p:spPr>
          <p:txBody>
            <a:bodyPr anchor="ctr" rtlCol="false" tIns="50800" lIns="50800" bIns="50800" rIns="50800"/>
            <a:lstStyle/>
            <a:p>
              <a:pPr algn="ctr">
                <a:lnSpc>
                  <a:spcPts val="1559"/>
                </a:lnSpc>
              </a:pPr>
              <a:r>
                <a:rPr lang="en-US" sz="1299" b="true">
                  <a:solidFill>
                    <a:srgbClr val="1F3338"/>
                  </a:solidFill>
                  <a:latin typeface="Poppins Bold"/>
                  <a:ea typeface="Poppins Bold"/>
                  <a:cs typeface="Poppins Bold"/>
                  <a:sym typeface="Poppins Bold"/>
                </a:rPr>
                <a:t>Socket Service pushes event</a:t>
              </a:r>
            </a:p>
          </p:txBody>
        </p:sp>
      </p:grpSp>
      <p:sp>
        <p:nvSpPr>
          <p:cNvPr name="AutoShape 160" id="160"/>
          <p:cNvSpPr/>
          <p:nvPr/>
        </p:nvSpPr>
        <p:spPr>
          <a:xfrm rot="34560">
            <a:off x="3530365" y="4771139"/>
            <a:ext cx="2840774" cy="0"/>
          </a:xfrm>
          <a:prstGeom prst="line">
            <a:avLst/>
          </a:prstGeom>
          <a:ln cap="rnd" w="19050">
            <a:solidFill>
              <a:srgbClr val="737AE6"/>
            </a:solidFill>
            <a:prstDash val="solid"/>
            <a:headEnd type="none" len="sm" w="sm"/>
            <a:tailEnd type="triangle" len="med" w="lg"/>
          </a:ln>
        </p:spPr>
      </p:sp>
      <p:sp>
        <p:nvSpPr>
          <p:cNvPr name="AutoShape 161" id="161"/>
          <p:cNvSpPr/>
          <p:nvPr/>
        </p:nvSpPr>
        <p:spPr>
          <a:xfrm rot="10765440">
            <a:off x="10682421" y="4771139"/>
            <a:ext cx="2840774" cy="0"/>
          </a:xfrm>
          <a:prstGeom prst="line">
            <a:avLst/>
          </a:prstGeom>
          <a:ln cap="rnd" w="19050">
            <a:solidFill>
              <a:srgbClr val="737AE6"/>
            </a:solidFill>
            <a:prstDash val="solid"/>
            <a:headEnd type="none" len="sm" w="sm"/>
            <a:tailEnd type="triangle" len="med" w="lg"/>
          </a:ln>
        </p:spPr>
      </p:sp>
      <p:sp>
        <p:nvSpPr>
          <p:cNvPr name="AutoShape 162" id="162"/>
          <p:cNvSpPr/>
          <p:nvPr/>
        </p:nvSpPr>
        <p:spPr>
          <a:xfrm rot="4882980">
            <a:off x="8431416" y="5271135"/>
            <a:ext cx="190729" cy="0"/>
          </a:xfrm>
          <a:prstGeom prst="line">
            <a:avLst/>
          </a:prstGeom>
          <a:ln cap="rnd" w="19050">
            <a:solidFill>
              <a:srgbClr val="737AE6"/>
            </a:solidFill>
            <a:prstDash val="solid"/>
            <a:headEnd type="none" len="sm" w="sm"/>
            <a:tailEnd type="triangle" len="med" w="lg"/>
          </a:ln>
        </p:spPr>
      </p:sp>
      <p:sp>
        <p:nvSpPr>
          <p:cNvPr name="AutoShape 163" id="163"/>
          <p:cNvSpPr/>
          <p:nvPr/>
        </p:nvSpPr>
        <p:spPr>
          <a:xfrm rot="10765440">
            <a:off x="3530365" y="5771131"/>
            <a:ext cx="2840774" cy="0"/>
          </a:xfrm>
          <a:prstGeom prst="line">
            <a:avLst/>
          </a:prstGeom>
          <a:ln cap="rnd" w="19050">
            <a:solidFill>
              <a:srgbClr val="737AE6"/>
            </a:solidFill>
            <a:prstDash val="solid"/>
            <a:headEnd type="none" len="sm" w="sm"/>
            <a:tailEnd type="triangle" len="med" w="lg"/>
          </a:ln>
        </p:spPr>
      </p:sp>
      <p:sp>
        <p:nvSpPr>
          <p:cNvPr name="AutoShape 164" id="164"/>
          <p:cNvSpPr/>
          <p:nvPr/>
        </p:nvSpPr>
        <p:spPr>
          <a:xfrm rot="34560">
            <a:off x="10682421" y="5771131"/>
            <a:ext cx="2840774" cy="0"/>
          </a:xfrm>
          <a:prstGeom prst="line">
            <a:avLst/>
          </a:prstGeom>
          <a:ln cap="rnd" w="19050">
            <a:solidFill>
              <a:srgbClr val="737AE6"/>
            </a:solidFill>
            <a:prstDash val="solid"/>
            <a:headEnd type="none" len="sm" w="sm"/>
            <a:tailEnd type="triangle" len="med" w="lg"/>
          </a:ln>
        </p:spPr>
      </p:sp>
      <p:sp>
        <p:nvSpPr>
          <p:cNvPr name="TextBox 165" id="165"/>
          <p:cNvSpPr txBox="true"/>
          <p:nvPr/>
        </p:nvSpPr>
        <p:spPr>
          <a:xfrm rot="0">
            <a:off x="3636159" y="4556855"/>
            <a:ext cx="2629176" cy="138084"/>
          </a:xfrm>
          <a:prstGeom prst="rect">
            <a:avLst/>
          </a:prstGeom>
        </p:spPr>
        <p:txBody>
          <a:bodyPr anchor="t" rtlCol="false" tIns="0" lIns="0" bIns="0" rIns="0">
            <a:spAutoFit/>
          </a:bodyPr>
          <a:lstStyle/>
          <a:p>
            <a:pPr algn="ctr">
              <a:lnSpc>
                <a:spcPts val="1140"/>
              </a:lnSpc>
            </a:pPr>
            <a:r>
              <a:rPr lang="en-US" sz="950" i="true">
                <a:solidFill>
                  <a:srgbClr val="3D6874"/>
                </a:solidFill>
                <a:latin typeface="Poppins Italics"/>
                <a:ea typeface="Poppins Italics"/>
                <a:cs typeface="Poppins Italics"/>
                <a:sym typeface="Poppins Italics"/>
              </a:rPr>
              <a:t>sends</a:t>
            </a:r>
          </a:p>
        </p:txBody>
      </p:sp>
      <p:sp>
        <p:nvSpPr>
          <p:cNvPr name="TextBox 166" id="166"/>
          <p:cNvSpPr txBox="true"/>
          <p:nvPr/>
        </p:nvSpPr>
        <p:spPr>
          <a:xfrm rot="0">
            <a:off x="10788225" y="4556855"/>
            <a:ext cx="2629176" cy="138084"/>
          </a:xfrm>
          <a:prstGeom prst="rect">
            <a:avLst/>
          </a:prstGeom>
        </p:spPr>
        <p:txBody>
          <a:bodyPr anchor="t" rtlCol="false" tIns="0" lIns="0" bIns="0" rIns="0">
            <a:spAutoFit/>
          </a:bodyPr>
          <a:lstStyle/>
          <a:p>
            <a:pPr algn="ctr">
              <a:lnSpc>
                <a:spcPts val="1140"/>
              </a:lnSpc>
            </a:pPr>
            <a:r>
              <a:rPr lang="en-US" sz="950" i="true">
                <a:solidFill>
                  <a:srgbClr val="3D6874"/>
                </a:solidFill>
                <a:latin typeface="Poppins Italics"/>
                <a:ea typeface="Poppins Italics"/>
                <a:cs typeface="Poppins Italics"/>
                <a:sym typeface="Poppins Italics"/>
              </a:rPr>
              <a:t>sends</a:t>
            </a:r>
          </a:p>
        </p:txBody>
      </p:sp>
      <p:sp>
        <p:nvSpPr>
          <p:cNvPr name="TextBox 167" id="167"/>
          <p:cNvSpPr txBox="true"/>
          <p:nvPr/>
        </p:nvSpPr>
        <p:spPr>
          <a:xfrm rot="0">
            <a:off x="3636159" y="5876858"/>
            <a:ext cx="2629176" cy="138084"/>
          </a:xfrm>
          <a:prstGeom prst="rect">
            <a:avLst/>
          </a:prstGeom>
        </p:spPr>
        <p:txBody>
          <a:bodyPr anchor="t" rtlCol="false" tIns="0" lIns="0" bIns="0" rIns="0">
            <a:spAutoFit/>
          </a:bodyPr>
          <a:lstStyle/>
          <a:p>
            <a:pPr algn="ctr">
              <a:lnSpc>
                <a:spcPts val="1140"/>
              </a:lnSpc>
            </a:pPr>
            <a:r>
              <a:rPr lang="en-US" sz="950" i="true">
                <a:solidFill>
                  <a:srgbClr val="3D6874"/>
                </a:solidFill>
                <a:latin typeface="Poppins Italics"/>
                <a:ea typeface="Poppins Italics"/>
                <a:cs typeface="Poppins Italics"/>
                <a:sym typeface="Poppins Italics"/>
              </a:rPr>
              <a:t>delivers</a:t>
            </a:r>
          </a:p>
        </p:txBody>
      </p:sp>
      <p:sp>
        <p:nvSpPr>
          <p:cNvPr name="TextBox 168" id="168"/>
          <p:cNvSpPr txBox="true"/>
          <p:nvPr/>
        </p:nvSpPr>
        <p:spPr>
          <a:xfrm rot="0">
            <a:off x="10788225" y="5876858"/>
            <a:ext cx="2629176" cy="138084"/>
          </a:xfrm>
          <a:prstGeom prst="rect">
            <a:avLst/>
          </a:prstGeom>
        </p:spPr>
        <p:txBody>
          <a:bodyPr anchor="t" rtlCol="false" tIns="0" lIns="0" bIns="0" rIns="0">
            <a:spAutoFit/>
          </a:bodyPr>
          <a:lstStyle/>
          <a:p>
            <a:pPr algn="ctr">
              <a:lnSpc>
                <a:spcPts val="1140"/>
              </a:lnSpc>
            </a:pPr>
            <a:r>
              <a:rPr lang="en-US" sz="950" i="true">
                <a:solidFill>
                  <a:srgbClr val="3D6874"/>
                </a:solidFill>
                <a:latin typeface="Poppins Italics"/>
                <a:ea typeface="Poppins Italics"/>
                <a:cs typeface="Poppins Italics"/>
                <a:sym typeface="Poppins Italics"/>
              </a:rPr>
              <a:t>delivers</a:t>
            </a:r>
          </a:p>
        </p:txBody>
      </p:sp>
      <p:grpSp>
        <p:nvGrpSpPr>
          <p:cNvPr name="Group 169" id="169"/>
          <p:cNvGrpSpPr/>
          <p:nvPr/>
        </p:nvGrpSpPr>
        <p:grpSpPr>
          <a:xfrm rot="0">
            <a:off x="6518224" y="5675662"/>
            <a:ext cx="209998" cy="209998"/>
            <a:chOff x="0" y="0"/>
            <a:chExt cx="279997" cy="279997"/>
          </a:xfrm>
        </p:grpSpPr>
        <p:sp>
          <p:nvSpPr>
            <p:cNvPr name="Freeform 170" id="170" descr="icon_plug_dark.png"/>
            <p:cNvSpPr/>
            <p:nvPr/>
          </p:nvSpPr>
          <p:spPr>
            <a:xfrm flipH="false" flipV="false" rot="0">
              <a:off x="0" y="0"/>
              <a:ext cx="280035" cy="280035"/>
            </a:xfrm>
            <a:custGeom>
              <a:avLst/>
              <a:gdLst/>
              <a:ahLst/>
              <a:cxnLst/>
              <a:rect r="r" b="b" t="t" l="l"/>
              <a:pathLst>
                <a:path h="280035" w="280035">
                  <a:moveTo>
                    <a:pt x="0" y="0"/>
                  </a:moveTo>
                  <a:lnTo>
                    <a:pt x="280035" y="0"/>
                  </a:lnTo>
                  <a:lnTo>
                    <a:pt x="280035" y="280035"/>
                  </a:lnTo>
                  <a:lnTo>
                    <a:pt x="0" y="280035"/>
                  </a:lnTo>
                  <a:lnTo>
                    <a:pt x="0" y="0"/>
                  </a:lnTo>
                  <a:close/>
                </a:path>
              </a:pathLst>
            </a:custGeom>
            <a:blipFill>
              <a:blip r:embed="rId6"/>
              <a:stretch>
                <a:fillRect l="0" t="0" r="13" b="13"/>
              </a:stretch>
            </a:blipFill>
          </p:spPr>
        </p:sp>
      </p:grpSp>
      <p:sp>
        <p:nvSpPr>
          <p:cNvPr name="TextBox 171" id="171"/>
          <p:cNvSpPr txBox="true"/>
          <p:nvPr/>
        </p:nvSpPr>
        <p:spPr>
          <a:xfrm rot="0">
            <a:off x="1280160" y="6236379"/>
            <a:ext cx="14493240" cy="208559"/>
          </a:xfrm>
          <a:prstGeom prst="rect">
            <a:avLst/>
          </a:prstGeom>
        </p:spPr>
        <p:txBody>
          <a:bodyPr anchor="t" rtlCol="false" tIns="0" lIns="0" bIns="0" rIns="0">
            <a:spAutoFit/>
          </a:bodyPr>
          <a:lstStyle/>
          <a:p>
            <a:pPr algn="ctr">
              <a:lnSpc>
                <a:spcPts val="1379"/>
              </a:lnSpc>
            </a:pPr>
            <a:r>
              <a:rPr lang="en-US" sz="1149">
                <a:solidFill>
                  <a:srgbClr val="3D6874"/>
                </a:solidFill>
                <a:latin typeface="Poppins"/>
                <a:ea typeface="Poppins"/>
                <a:cs typeface="Poppins"/>
                <a:sym typeface="Poppins"/>
              </a:rPr>
              <a:t>Either side can send — the message is always persisted before Socket Service pushes it to the other participant.</a:t>
            </a:r>
          </a:p>
        </p:txBody>
      </p:sp>
      <p:grpSp>
        <p:nvGrpSpPr>
          <p:cNvPr name="Group 172" id="172"/>
          <p:cNvGrpSpPr/>
          <p:nvPr/>
        </p:nvGrpSpPr>
        <p:grpSpPr>
          <a:xfrm rot="0">
            <a:off x="8915400" y="2242433"/>
            <a:ext cx="209998" cy="209998"/>
            <a:chOff x="0" y="0"/>
            <a:chExt cx="279997" cy="279997"/>
          </a:xfrm>
        </p:grpSpPr>
        <p:sp>
          <p:nvSpPr>
            <p:cNvPr name="Freeform 173" id="173" descr="icon_plug_white.png"/>
            <p:cNvSpPr/>
            <p:nvPr/>
          </p:nvSpPr>
          <p:spPr>
            <a:xfrm flipH="false" flipV="false" rot="0">
              <a:off x="0" y="0"/>
              <a:ext cx="280035" cy="280035"/>
            </a:xfrm>
            <a:custGeom>
              <a:avLst/>
              <a:gdLst/>
              <a:ahLst/>
              <a:cxnLst/>
              <a:rect r="r" b="b" t="t" l="l"/>
              <a:pathLst>
                <a:path h="280035" w="280035">
                  <a:moveTo>
                    <a:pt x="0" y="0"/>
                  </a:moveTo>
                  <a:lnTo>
                    <a:pt x="280035" y="0"/>
                  </a:lnTo>
                  <a:lnTo>
                    <a:pt x="280035" y="280035"/>
                  </a:lnTo>
                  <a:lnTo>
                    <a:pt x="0" y="280035"/>
                  </a:lnTo>
                  <a:lnTo>
                    <a:pt x="0" y="0"/>
                  </a:lnTo>
                  <a:close/>
                </a:path>
              </a:pathLst>
            </a:custGeom>
            <a:blipFill>
              <a:blip r:embed="rId7"/>
              <a:stretch>
                <a:fillRect l="0" t="0" r="13" b="13"/>
              </a:stretch>
            </a:blipFill>
          </p:spPr>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3F5F4"/>
        </a:solidFill>
      </p:bgPr>
    </p:bg>
    <p:spTree>
      <p:nvGrpSpPr>
        <p:cNvPr id="1" name=""/>
        <p:cNvGrpSpPr/>
        <p:nvPr/>
      </p:nvGrpSpPr>
      <p:grpSpPr>
        <a:xfrm>
          <a:off x="0" y="0"/>
          <a:ext cx="0" cy="0"/>
          <a:chOff x="0" y="0"/>
          <a:chExt cx="0" cy="0"/>
        </a:xfrm>
      </p:grpSpPr>
      <p:grpSp>
        <p:nvGrpSpPr>
          <p:cNvPr name="Group 2" id="2"/>
          <p:cNvGrpSpPr/>
          <p:nvPr/>
        </p:nvGrpSpPr>
        <p:grpSpPr>
          <a:xfrm rot="0">
            <a:off x="16815235" y="686333"/>
            <a:ext cx="754952" cy="754952"/>
            <a:chOff x="0" y="0"/>
            <a:chExt cx="1006602" cy="1006602"/>
          </a:xfrm>
        </p:grpSpPr>
        <p:sp>
          <p:nvSpPr>
            <p:cNvPr name="Freeform 3" id="3" descr="/home/claude/work/assets/star_purple.png"/>
            <p:cNvSpPr/>
            <p:nvPr/>
          </p:nvSpPr>
          <p:spPr>
            <a:xfrm flipH="false" flipV="false" rot="0">
              <a:off x="0" y="0"/>
              <a:ext cx="1006602" cy="1006602"/>
            </a:xfrm>
            <a:custGeom>
              <a:avLst/>
              <a:gdLst/>
              <a:ahLst/>
              <a:cxnLst/>
              <a:rect r="r" b="b" t="t" l="l"/>
              <a:pathLst>
                <a:path h="1006602" w="1006602">
                  <a:moveTo>
                    <a:pt x="0" y="0"/>
                  </a:moveTo>
                  <a:lnTo>
                    <a:pt x="1006602" y="0"/>
                  </a:lnTo>
                  <a:lnTo>
                    <a:pt x="1006602" y="1006602"/>
                  </a:lnTo>
                  <a:lnTo>
                    <a:pt x="0" y="1006602"/>
                  </a:lnTo>
                  <a:lnTo>
                    <a:pt x="0" y="0"/>
                  </a:lnTo>
                  <a:close/>
                </a:path>
              </a:pathLst>
            </a:custGeom>
            <a:blipFill>
              <a:blip r:embed="rId2"/>
              <a:stretch>
                <a:fillRect l="0" t="0" r="0" b="0"/>
              </a:stretch>
            </a:blipFill>
          </p:spPr>
        </p:sp>
      </p:grpSp>
      <p:grpSp>
        <p:nvGrpSpPr>
          <p:cNvPr name="Group 4" id="4"/>
          <p:cNvGrpSpPr/>
          <p:nvPr/>
        </p:nvGrpSpPr>
        <p:grpSpPr>
          <a:xfrm rot="0">
            <a:off x="686333" y="686333"/>
            <a:ext cx="1784471" cy="1235402"/>
            <a:chOff x="0" y="0"/>
            <a:chExt cx="2379294" cy="1647203"/>
          </a:xfrm>
        </p:grpSpPr>
        <p:sp>
          <p:nvSpPr>
            <p:cNvPr name="Freeform 5" id="5"/>
            <p:cNvSpPr/>
            <p:nvPr/>
          </p:nvSpPr>
          <p:spPr>
            <a:xfrm flipH="false" flipV="false" rot="0">
              <a:off x="0" y="0"/>
              <a:ext cx="2379345" cy="1647190"/>
            </a:xfrm>
            <a:custGeom>
              <a:avLst/>
              <a:gdLst/>
              <a:ahLst/>
              <a:cxnLst/>
              <a:rect r="r" b="b" t="t" l="l"/>
              <a:pathLst>
                <a:path h="1647190" w="2379345">
                  <a:moveTo>
                    <a:pt x="0" y="0"/>
                  </a:moveTo>
                  <a:lnTo>
                    <a:pt x="2379345" y="0"/>
                  </a:lnTo>
                  <a:lnTo>
                    <a:pt x="2379345" y="1647190"/>
                  </a:lnTo>
                  <a:lnTo>
                    <a:pt x="0" y="1647190"/>
                  </a:lnTo>
                  <a:close/>
                </a:path>
              </a:pathLst>
            </a:custGeom>
            <a:blipFill>
              <a:blip r:embed="rId3">
                <a:alphaModFix amt="0"/>
              </a:blip>
              <a:stretch>
                <a:fillRect l="-38886" t="0" r="-38884" b="0"/>
              </a:stretch>
            </a:blipFill>
          </p:spPr>
        </p:sp>
      </p:grpSp>
      <p:grpSp>
        <p:nvGrpSpPr>
          <p:cNvPr name="Group 6" id="6"/>
          <p:cNvGrpSpPr/>
          <p:nvPr/>
        </p:nvGrpSpPr>
        <p:grpSpPr>
          <a:xfrm rot="0">
            <a:off x="2127647" y="796147"/>
            <a:ext cx="15099392" cy="1235412"/>
            <a:chOff x="0" y="0"/>
            <a:chExt cx="20132523" cy="1647215"/>
          </a:xfrm>
        </p:grpSpPr>
        <p:sp>
          <p:nvSpPr>
            <p:cNvPr name="Freeform 7" id="7"/>
            <p:cNvSpPr/>
            <p:nvPr/>
          </p:nvSpPr>
          <p:spPr>
            <a:xfrm flipH="false" flipV="false" rot="0">
              <a:off x="0" y="0"/>
              <a:ext cx="20132548" cy="1647190"/>
            </a:xfrm>
            <a:custGeom>
              <a:avLst/>
              <a:gdLst/>
              <a:ahLst/>
              <a:cxnLst/>
              <a:rect r="r" b="b" t="t" l="l"/>
              <a:pathLst>
                <a:path h="1647190" w="20132548">
                  <a:moveTo>
                    <a:pt x="0" y="0"/>
                  </a:moveTo>
                  <a:lnTo>
                    <a:pt x="20132548" y="0"/>
                  </a:lnTo>
                  <a:lnTo>
                    <a:pt x="20132548" y="1647190"/>
                  </a:lnTo>
                  <a:lnTo>
                    <a:pt x="0" y="1647190"/>
                  </a:lnTo>
                  <a:close/>
                </a:path>
              </a:pathLst>
            </a:custGeom>
            <a:blipFill>
              <a:blip r:embed="rId3">
                <a:alphaModFix amt="0"/>
              </a:blip>
              <a:stretch>
                <a:fillRect l="0" t="-187986" r="0" b="-187987"/>
              </a:stretch>
            </a:blipFill>
          </p:spPr>
        </p:sp>
      </p:grpSp>
      <p:grpSp>
        <p:nvGrpSpPr>
          <p:cNvPr name="Group 8" id="8"/>
          <p:cNvGrpSpPr/>
          <p:nvPr/>
        </p:nvGrpSpPr>
        <p:grpSpPr>
          <a:xfrm rot="0">
            <a:off x="686333" y="400283"/>
            <a:ext cx="15099392" cy="1256833"/>
            <a:chOff x="0" y="0"/>
            <a:chExt cx="20132523" cy="1675778"/>
          </a:xfrm>
        </p:grpSpPr>
        <p:sp>
          <p:nvSpPr>
            <p:cNvPr name="Freeform 9" id="9"/>
            <p:cNvSpPr/>
            <p:nvPr/>
          </p:nvSpPr>
          <p:spPr>
            <a:xfrm flipH="false" flipV="false" rot="0">
              <a:off x="0" y="0"/>
              <a:ext cx="20132523" cy="1675782"/>
            </a:xfrm>
            <a:custGeom>
              <a:avLst/>
              <a:gdLst/>
              <a:ahLst/>
              <a:cxnLst/>
              <a:rect r="r" b="b" t="t" l="l"/>
              <a:pathLst>
                <a:path h="1675782" w="20132523">
                  <a:moveTo>
                    <a:pt x="0" y="0"/>
                  </a:moveTo>
                  <a:lnTo>
                    <a:pt x="20132523" y="0"/>
                  </a:lnTo>
                  <a:lnTo>
                    <a:pt x="20132523" y="1675782"/>
                  </a:lnTo>
                  <a:lnTo>
                    <a:pt x="0" y="1675782"/>
                  </a:lnTo>
                  <a:close/>
                </a:path>
              </a:pathLst>
            </a:custGeom>
            <a:blipFill>
              <a:blip r:embed="rId4">
                <a:alphaModFix amt="0"/>
              </a:blip>
              <a:stretch>
                <a:fillRect l="0" t="-184089" r="0" b="-184089"/>
              </a:stretch>
            </a:blipFill>
          </p:spPr>
        </p:sp>
        <p:sp>
          <p:nvSpPr>
            <p:cNvPr name="TextBox 10" id="10"/>
            <p:cNvSpPr txBox="true"/>
            <p:nvPr/>
          </p:nvSpPr>
          <p:spPr>
            <a:xfrm>
              <a:off x="0" y="-28575"/>
              <a:ext cx="20132523" cy="1704353"/>
            </a:xfrm>
            <a:prstGeom prst="rect">
              <a:avLst/>
            </a:prstGeom>
          </p:spPr>
          <p:txBody>
            <a:bodyPr anchor="ctr" rtlCol="false" tIns="0" lIns="0" bIns="0" rIns="0"/>
            <a:lstStyle/>
            <a:p>
              <a:pPr algn="l">
                <a:lnSpc>
                  <a:spcPts val="3962"/>
                </a:lnSpc>
              </a:pPr>
              <a:r>
                <a:rPr lang="en-US" sz="3302" b="true">
                  <a:solidFill>
                    <a:srgbClr val="000000"/>
                  </a:solidFill>
                  <a:latin typeface="Poppins Bold"/>
                  <a:ea typeface="Poppins Bold"/>
                  <a:cs typeface="Poppins Bold"/>
                  <a:sym typeface="Poppins Bold"/>
                </a:rPr>
                <a:t>Implementation : Subscription &amp; Communication</a:t>
              </a:r>
            </a:p>
          </p:txBody>
        </p:sp>
      </p:grpSp>
      <p:grpSp>
        <p:nvGrpSpPr>
          <p:cNvPr name="Group 11" id="11"/>
          <p:cNvGrpSpPr/>
          <p:nvPr/>
        </p:nvGrpSpPr>
        <p:grpSpPr>
          <a:xfrm rot="0">
            <a:off x="686333" y="9718519"/>
            <a:ext cx="8236039" cy="411804"/>
            <a:chOff x="0" y="0"/>
            <a:chExt cx="10981385" cy="549072"/>
          </a:xfrm>
        </p:grpSpPr>
        <p:sp>
          <p:nvSpPr>
            <p:cNvPr name="Freeform 12" id="12"/>
            <p:cNvSpPr/>
            <p:nvPr/>
          </p:nvSpPr>
          <p:spPr>
            <a:xfrm flipH="false" flipV="false" rot="0">
              <a:off x="0" y="0"/>
              <a:ext cx="10981436" cy="549021"/>
            </a:xfrm>
            <a:custGeom>
              <a:avLst/>
              <a:gdLst/>
              <a:ahLst/>
              <a:cxnLst/>
              <a:rect r="r" b="b" t="t" l="l"/>
              <a:pathLst>
                <a:path h="549021" w="10981436">
                  <a:moveTo>
                    <a:pt x="0" y="0"/>
                  </a:moveTo>
                  <a:lnTo>
                    <a:pt x="10981436" y="0"/>
                  </a:lnTo>
                  <a:lnTo>
                    <a:pt x="10981436" y="549021"/>
                  </a:lnTo>
                  <a:lnTo>
                    <a:pt x="0" y="549021"/>
                  </a:lnTo>
                  <a:close/>
                </a:path>
              </a:pathLst>
            </a:custGeom>
            <a:blipFill>
              <a:blip r:embed="rId3">
                <a:alphaModFix amt="0"/>
              </a:blip>
              <a:stretch>
                <a:fillRect l="0" t="-339458" r="0" b="-339467"/>
              </a:stretch>
            </a:blipFill>
          </p:spPr>
        </p:sp>
      </p:grpSp>
      <p:grpSp>
        <p:nvGrpSpPr>
          <p:cNvPr name="Group 13" id="13"/>
          <p:cNvGrpSpPr/>
          <p:nvPr/>
        </p:nvGrpSpPr>
        <p:grpSpPr>
          <a:xfrm rot="0">
            <a:off x="686333" y="9704232"/>
            <a:ext cx="8236039" cy="426091"/>
            <a:chOff x="0" y="0"/>
            <a:chExt cx="10981385" cy="568122"/>
          </a:xfrm>
        </p:grpSpPr>
        <p:sp>
          <p:nvSpPr>
            <p:cNvPr name="Freeform 14" id="14"/>
            <p:cNvSpPr/>
            <p:nvPr/>
          </p:nvSpPr>
          <p:spPr>
            <a:xfrm flipH="false" flipV="false" rot="0">
              <a:off x="0" y="0"/>
              <a:ext cx="10981386" cy="568122"/>
            </a:xfrm>
            <a:custGeom>
              <a:avLst/>
              <a:gdLst/>
              <a:ahLst/>
              <a:cxnLst/>
              <a:rect r="r" b="b" t="t" l="l"/>
              <a:pathLst>
                <a:path h="568122" w="10981386">
                  <a:moveTo>
                    <a:pt x="0" y="0"/>
                  </a:moveTo>
                  <a:lnTo>
                    <a:pt x="10981386" y="0"/>
                  </a:lnTo>
                  <a:lnTo>
                    <a:pt x="10981386" y="568122"/>
                  </a:lnTo>
                  <a:lnTo>
                    <a:pt x="0" y="568122"/>
                  </a:lnTo>
                  <a:close/>
                </a:path>
              </a:pathLst>
            </a:custGeom>
            <a:blipFill>
              <a:blip r:embed="rId4">
                <a:alphaModFix amt="0"/>
              </a:blip>
              <a:stretch>
                <a:fillRect l="0" t="-326631" r="0" b="-326631"/>
              </a:stretch>
            </a:blipFill>
          </p:spPr>
        </p:sp>
        <p:sp>
          <p:nvSpPr>
            <p:cNvPr name="TextBox 15" id="15"/>
            <p:cNvSpPr txBox="true"/>
            <p:nvPr/>
          </p:nvSpPr>
          <p:spPr>
            <a:xfrm>
              <a:off x="0" y="-19050"/>
              <a:ext cx="10981385" cy="587172"/>
            </a:xfrm>
            <a:prstGeom prst="rect">
              <a:avLst/>
            </a:prstGeom>
          </p:spPr>
          <p:txBody>
            <a:bodyPr anchor="ctr" rtlCol="false" tIns="0" lIns="0" bIns="0" rIns="0"/>
            <a:lstStyle/>
            <a:p>
              <a:pPr algn="l">
                <a:lnSpc>
                  <a:spcPts val="1620"/>
                </a:lnSpc>
              </a:pPr>
              <a:r>
                <a:rPr lang="en-US" sz="1350">
                  <a:solidFill>
                    <a:srgbClr val="3D6874"/>
                  </a:solidFill>
                  <a:latin typeface="Poppins"/>
                  <a:ea typeface="Poppins"/>
                  <a:cs typeface="Poppins"/>
                  <a:sym typeface="Poppins"/>
                </a:rPr>
                <a:t>Hire on Demand  •  PFE Defense</a:t>
              </a:r>
            </a:p>
          </p:txBody>
        </p:sp>
      </p:grpSp>
      <p:grpSp>
        <p:nvGrpSpPr>
          <p:cNvPr name="Group 16" id="16"/>
          <p:cNvGrpSpPr/>
          <p:nvPr/>
        </p:nvGrpSpPr>
        <p:grpSpPr>
          <a:xfrm rot="0">
            <a:off x="16242830" y="9718519"/>
            <a:ext cx="1372676" cy="411804"/>
            <a:chOff x="0" y="0"/>
            <a:chExt cx="1830235" cy="549072"/>
          </a:xfrm>
        </p:grpSpPr>
        <p:sp>
          <p:nvSpPr>
            <p:cNvPr name="Freeform 17" id="17"/>
            <p:cNvSpPr/>
            <p:nvPr/>
          </p:nvSpPr>
          <p:spPr>
            <a:xfrm flipH="false" flipV="false" rot="0">
              <a:off x="0" y="0"/>
              <a:ext cx="1830197" cy="549021"/>
            </a:xfrm>
            <a:custGeom>
              <a:avLst/>
              <a:gdLst/>
              <a:ahLst/>
              <a:cxnLst/>
              <a:rect r="r" b="b" t="t" l="l"/>
              <a:pathLst>
                <a:path h="549021" w="1830197">
                  <a:moveTo>
                    <a:pt x="0" y="0"/>
                  </a:moveTo>
                  <a:lnTo>
                    <a:pt x="1830197" y="0"/>
                  </a:lnTo>
                  <a:lnTo>
                    <a:pt x="1830197" y="549021"/>
                  </a:lnTo>
                  <a:lnTo>
                    <a:pt x="0" y="549021"/>
                  </a:lnTo>
                  <a:close/>
                </a:path>
              </a:pathLst>
            </a:custGeom>
            <a:blipFill>
              <a:blip r:embed="rId3">
                <a:alphaModFix amt="0"/>
              </a:blip>
              <a:stretch>
                <a:fillRect l="0" t="-14906" r="-2" b="-14915"/>
              </a:stretch>
            </a:blipFill>
          </p:spPr>
        </p:sp>
      </p:grpSp>
      <p:grpSp>
        <p:nvGrpSpPr>
          <p:cNvPr name="Group 18" id="18"/>
          <p:cNvGrpSpPr/>
          <p:nvPr/>
        </p:nvGrpSpPr>
        <p:grpSpPr>
          <a:xfrm rot="0">
            <a:off x="914400" y="1828800"/>
            <a:ext cx="4572000" cy="6876583"/>
            <a:chOff x="0" y="0"/>
            <a:chExt cx="6096000" cy="9168778"/>
          </a:xfrm>
        </p:grpSpPr>
        <p:sp>
          <p:nvSpPr>
            <p:cNvPr name="Freeform 19" id="19" descr="chat_recruiter.png"/>
            <p:cNvSpPr/>
            <p:nvPr/>
          </p:nvSpPr>
          <p:spPr>
            <a:xfrm flipH="false" flipV="false" rot="0">
              <a:off x="0" y="0"/>
              <a:ext cx="6096000" cy="9168765"/>
            </a:xfrm>
            <a:custGeom>
              <a:avLst/>
              <a:gdLst/>
              <a:ahLst/>
              <a:cxnLst/>
              <a:rect r="r" b="b" t="t" l="l"/>
              <a:pathLst>
                <a:path h="9168765" w="6096000">
                  <a:moveTo>
                    <a:pt x="0" y="0"/>
                  </a:moveTo>
                  <a:lnTo>
                    <a:pt x="6096000" y="0"/>
                  </a:lnTo>
                  <a:lnTo>
                    <a:pt x="6096000" y="9168765"/>
                  </a:lnTo>
                  <a:lnTo>
                    <a:pt x="0" y="9168765"/>
                  </a:lnTo>
                  <a:lnTo>
                    <a:pt x="0" y="0"/>
                  </a:lnTo>
                  <a:close/>
                </a:path>
              </a:pathLst>
            </a:custGeom>
            <a:blipFill>
              <a:blip r:embed="rId5"/>
              <a:stretch>
                <a:fillRect l="0" t="0" r="0" b="0"/>
              </a:stretch>
            </a:blipFill>
          </p:spPr>
        </p:sp>
      </p:grpSp>
      <p:grpSp>
        <p:nvGrpSpPr>
          <p:cNvPr name="Group 20" id="20"/>
          <p:cNvGrpSpPr/>
          <p:nvPr/>
        </p:nvGrpSpPr>
        <p:grpSpPr>
          <a:xfrm rot="0">
            <a:off x="5793461" y="1921735"/>
            <a:ext cx="4572000" cy="6969652"/>
            <a:chOff x="0" y="0"/>
            <a:chExt cx="6096000" cy="9292869"/>
          </a:xfrm>
        </p:grpSpPr>
        <p:sp>
          <p:nvSpPr>
            <p:cNvPr name="Freeform 21" id="21" descr="chat_candidate.png"/>
            <p:cNvSpPr/>
            <p:nvPr/>
          </p:nvSpPr>
          <p:spPr>
            <a:xfrm flipH="false" flipV="false" rot="0">
              <a:off x="0" y="0"/>
              <a:ext cx="6096000" cy="9292844"/>
            </a:xfrm>
            <a:custGeom>
              <a:avLst/>
              <a:gdLst/>
              <a:ahLst/>
              <a:cxnLst/>
              <a:rect r="r" b="b" t="t" l="l"/>
              <a:pathLst>
                <a:path h="9292844" w="6096000">
                  <a:moveTo>
                    <a:pt x="0" y="0"/>
                  </a:moveTo>
                  <a:lnTo>
                    <a:pt x="6096000" y="0"/>
                  </a:lnTo>
                  <a:lnTo>
                    <a:pt x="6096000" y="9292844"/>
                  </a:lnTo>
                  <a:lnTo>
                    <a:pt x="0" y="9292844"/>
                  </a:lnTo>
                  <a:lnTo>
                    <a:pt x="0" y="0"/>
                  </a:lnTo>
                  <a:close/>
                </a:path>
              </a:pathLst>
            </a:custGeom>
            <a:blipFill>
              <a:blip r:embed="rId6"/>
              <a:stretch>
                <a:fillRect l="0" t="0" r="0" b="0"/>
              </a:stretch>
            </a:blipFill>
          </p:spPr>
        </p:sp>
      </p:grpSp>
      <p:grpSp>
        <p:nvGrpSpPr>
          <p:cNvPr name="Group 22" id="22"/>
          <p:cNvGrpSpPr/>
          <p:nvPr/>
        </p:nvGrpSpPr>
        <p:grpSpPr>
          <a:xfrm rot="0">
            <a:off x="10670261" y="1705208"/>
            <a:ext cx="4572000" cy="6876583"/>
            <a:chOff x="0" y="0"/>
            <a:chExt cx="6096000" cy="9168778"/>
          </a:xfrm>
        </p:grpSpPr>
        <p:sp>
          <p:nvSpPr>
            <p:cNvPr name="Freeform 23" id="23" descr="chat_modify.png"/>
            <p:cNvSpPr/>
            <p:nvPr/>
          </p:nvSpPr>
          <p:spPr>
            <a:xfrm flipH="false" flipV="false" rot="0">
              <a:off x="0" y="0"/>
              <a:ext cx="6096000" cy="9168765"/>
            </a:xfrm>
            <a:custGeom>
              <a:avLst/>
              <a:gdLst/>
              <a:ahLst/>
              <a:cxnLst/>
              <a:rect r="r" b="b" t="t" l="l"/>
              <a:pathLst>
                <a:path h="9168765" w="6096000">
                  <a:moveTo>
                    <a:pt x="0" y="0"/>
                  </a:moveTo>
                  <a:lnTo>
                    <a:pt x="6096000" y="0"/>
                  </a:lnTo>
                  <a:lnTo>
                    <a:pt x="6096000" y="9168765"/>
                  </a:lnTo>
                  <a:lnTo>
                    <a:pt x="0" y="9168765"/>
                  </a:lnTo>
                  <a:lnTo>
                    <a:pt x="0" y="0"/>
                  </a:lnTo>
                  <a:close/>
                </a:path>
              </a:pathLst>
            </a:custGeom>
            <a:blipFill>
              <a:blip r:embed="rId7"/>
              <a:stretch>
                <a:fillRect l="0" t="0" r="0" b="0"/>
              </a:stretch>
            </a:blipFill>
          </p:spPr>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C8DAE4"/>
        </a:solidFill>
      </p:bgPr>
    </p:bg>
    <p:spTree>
      <p:nvGrpSpPr>
        <p:cNvPr id="1" name=""/>
        <p:cNvGrpSpPr/>
        <p:nvPr/>
      </p:nvGrpSpPr>
      <p:grpSpPr>
        <a:xfrm>
          <a:off x="0" y="0"/>
          <a:ext cx="0" cy="0"/>
          <a:chOff x="0" y="0"/>
          <a:chExt cx="0" cy="0"/>
        </a:xfrm>
      </p:grpSpPr>
      <p:grpSp>
        <p:nvGrpSpPr>
          <p:cNvPr name="Group 2" id="2"/>
          <p:cNvGrpSpPr/>
          <p:nvPr/>
        </p:nvGrpSpPr>
        <p:grpSpPr>
          <a:xfrm rot="2400000">
            <a:off x="13177437" y="-2195998"/>
            <a:ext cx="6039364" cy="6039364"/>
            <a:chOff x="0" y="0"/>
            <a:chExt cx="8052486" cy="8052486"/>
          </a:xfrm>
        </p:grpSpPr>
        <p:sp>
          <p:nvSpPr>
            <p:cNvPr name="Freeform 3" id="3"/>
            <p:cNvSpPr/>
            <p:nvPr/>
          </p:nvSpPr>
          <p:spPr>
            <a:xfrm flipH="false" flipV="false" rot="0">
              <a:off x="0" y="0"/>
              <a:ext cx="8052435" cy="8052435"/>
            </a:xfrm>
            <a:custGeom>
              <a:avLst/>
              <a:gdLst/>
              <a:ahLst/>
              <a:cxnLst/>
              <a:rect r="r" b="b" t="t" l="l"/>
              <a:pathLst>
                <a:path h="8052435" w="8052435">
                  <a:moveTo>
                    <a:pt x="0" y="0"/>
                  </a:moveTo>
                  <a:lnTo>
                    <a:pt x="8052435" y="0"/>
                  </a:lnTo>
                  <a:lnTo>
                    <a:pt x="8052435" y="8052435"/>
                  </a:lnTo>
                  <a:lnTo>
                    <a:pt x="0" y="8052435"/>
                  </a:lnTo>
                  <a:lnTo>
                    <a:pt x="0" y="0"/>
                  </a:lnTo>
                  <a:close/>
                </a:path>
              </a:pathLst>
            </a:custGeom>
            <a:blipFill>
              <a:blip r:embed="rId2"/>
              <a:stretch>
                <a:fillRect l="0" t="0" r="0" b="0"/>
              </a:stretch>
            </a:blipFill>
          </p:spPr>
        </p:sp>
      </p:grpSp>
      <p:grpSp>
        <p:nvGrpSpPr>
          <p:cNvPr name="Group 4" id="4"/>
          <p:cNvGrpSpPr/>
          <p:nvPr/>
        </p:nvGrpSpPr>
        <p:grpSpPr>
          <a:xfrm rot="-2400000">
            <a:off x="-2470680" y="6314399"/>
            <a:ext cx="5490362" cy="5490362"/>
            <a:chOff x="0" y="0"/>
            <a:chExt cx="7320483" cy="7320483"/>
          </a:xfrm>
        </p:grpSpPr>
        <p:sp>
          <p:nvSpPr>
            <p:cNvPr name="Freeform 5" id="5"/>
            <p:cNvSpPr/>
            <p:nvPr/>
          </p:nvSpPr>
          <p:spPr>
            <a:xfrm flipH="false" flipV="false" rot="0">
              <a:off x="0" y="0"/>
              <a:ext cx="7320534" cy="7320534"/>
            </a:xfrm>
            <a:custGeom>
              <a:avLst/>
              <a:gdLst/>
              <a:ahLst/>
              <a:cxnLst/>
              <a:rect r="r" b="b" t="t" l="l"/>
              <a:pathLst>
                <a:path h="7320534" w="7320534">
                  <a:moveTo>
                    <a:pt x="0" y="0"/>
                  </a:moveTo>
                  <a:lnTo>
                    <a:pt x="7320534" y="0"/>
                  </a:lnTo>
                  <a:lnTo>
                    <a:pt x="7320534" y="7320534"/>
                  </a:lnTo>
                  <a:lnTo>
                    <a:pt x="0" y="7320534"/>
                  </a:lnTo>
                  <a:lnTo>
                    <a:pt x="0" y="0"/>
                  </a:lnTo>
                  <a:close/>
                </a:path>
              </a:pathLst>
            </a:custGeom>
            <a:blipFill>
              <a:blip r:embed="rId3"/>
              <a:stretch>
                <a:fillRect l="0" t="0" r="0" b="0"/>
              </a:stretch>
            </a:blipFill>
          </p:spPr>
        </p:sp>
      </p:grpSp>
      <p:grpSp>
        <p:nvGrpSpPr>
          <p:cNvPr name="Group 6" id="6"/>
          <p:cNvGrpSpPr/>
          <p:nvPr/>
        </p:nvGrpSpPr>
        <p:grpSpPr>
          <a:xfrm rot="0">
            <a:off x="686162" y="686162"/>
            <a:ext cx="1784156" cy="1235164"/>
            <a:chOff x="0" y="0"/>
            <a:chExt cx="2378875" cy="1646885"/>
          </a:xfrm>
        </p:grpSpPr>
        <p:sp>
          <p:nvSpPr>
            <p:cNvPr name="Freeform 7" id="7"/>
            <p:cNvSpPr/>
            <p:nvPr/>
          </p:nvSpPr>
          <p:spPr>
            <a:xfrm flipH="false" flipV="false" rot="0">
              <a:off x="0" y="0"/>
              <a:ext cx="2378837" cy="1646936"/>
            </a:xfrm>
            <a:custGeom>
              <a:avLst/>
              <a:gdLst/>
              <a:ahLst/>
              <a:cxnLst/>
              <a:rect r="r" b="b" t="t" l="l"/>
              <a:pathLst>
                <a:path h="1646936" w="2378837">
                  <a:moveTo>
                    <a:pt x="0" y="0"/>
                  </a:moveTo>
                  <a:lnTo>
                    <a:pt x="2378837" y="0"/>
                  </a:lnTo>
                  <a:lnTo>
                    <a:pt x="2378837" y="1646936"/>
                  </a:lnTo>
                  <a:lnTo>
                    <a:pt x="0" y="1646936"/>
                  </a:lnTo>
                  <a:close/>
                </a:path>
              </a:pathLst>
            </a:custGeom>
            <a:blipFill>
              <a:blip r:embed="rId4">
                <a:alphaModFix amt="0"/>
              </a:blip>
              <a:stretch>
                <a:fillRect l="0" t="-56" r="-1" b="-52"/>
              </a:stretch>
            </a:blipFill>
          </p:spPr>
        </p:sp>
      </p:grpSp>
      <p:grpSp>
        <p:nvGrpSpPr>
          <p:cNvPr name="Group 8" id="8"/>
          <p:cNvGrpSpPr/>
          <p:nvPr/>
        </p:nvGrpSpPr>
        <p:grpSpPr>
          <a:xfrm rot="0">
            <a:off x="2127599" y="796319"/>
            <a:ext cx="14412601" cy="1235164"/>
            <a:chOff x="0" y="0"/>
            <a:chExt cx="19216802" cy="1646885"/>
          </a:xfrm>
        </p:grpSpPr>
        <p:sp>
          <p:nvSpPr>
            <p:cNvPr name="Freeform 9" id="9"/>
            <p:cNvSpPr/>
            <p:nvPr/>
          </p:nvSpPr>
          <p:spPr>
            <a:xfrm flipH="false" flipV="false" rot="0">
              <a:off x="0" y="0"/>
              <a:ext cx="19216751" cy="1646936"/>
            </a:xfrm>
            <a:custGeom>
              <a:avLst/>
              <a:gdLst/>
              <a:ahLst/>
              <a:cxnLst/>
              <a:rect r="r" b="b" t="t" l="l"/>
              <a:pathLst>
                <a:path h="1646936" w="19216751">
                  <a:moveTo>
                    <a:pt x="0" y="0"/>
                  </a:moveTo>
                  <a:lnTo>
                    <a:pt x="19216751" y="0"/>
                  </a:lnTo>
                  <a:lnTo>
                    <a:pt x="19216751" y="1646936"/>
                  </a:lnTo>
                  <a:lnTo>
                    <a:pt x="0" y="1646936"/>
                  </a:lnTo>
                  <a:close/>
                </a:path>
              </a:pathLst>
            </a:custGeom>
            <a:blipFill>
              <a:blip r:embed="rId5">
                <a:alphaModFix amt="0"/>
              </a:blip>
              <a:stretch>
                <a:fillRect l="0" t="-309" r="0" b="-306"/>
              </a:stretch>
            </a:blipFill>
          </p:spPr>
        </p:sp>
      </p:grpSp>
      <p:grpSp>
        <p:nvGrpSpPr>
          <p:cNvPr name="Group 10" id="10"/>
          <p:cNvGrpSpPr/>
          <p:nvPr/>
        </p:nvGrpSpPr>
        <p:grpSpPr>
          <a:xfrm rot="0">
            <a:off x="686162" y="657720"/>
            <a:ext cx="14412601" cy="1263596"/>
            <a:chOff x="0" y="0"/>
            <a:chExt cx="19216802" cy="1684795"/>
          </a:xfrm>
        </p:grpSpPr>
        <p:sp>
          <p:nvSpPr>
            <p:cNvPr name="Freeform 11" id="11"/>
            <p:cNvSpPr/>
            <p:nvPr/>
          </p:nvSpPr>
          <p:spPr>
            <a:xfrm flipH="false" flipV="false" rot="0">
              <a:off x="0" y="0"/>
              <a:ext cx="19216751" cy="1684782"/>
            </a:xfrm>
            <a:custGeom>
              <a:avLst/>
              <a:gdLst/>
              <a:ahLst/>
              <a:cxnLst/>
              <a:rect r="r" b="b" t="t" l="l"/>
              <a:pathLst>
                <a:path h="1684782" w="19216751">
                  <a:moveTo>
                    <a:pt x="0" y="0"/>
                  </a:moveTo>
                  <a:lnTo>
                    <a:pt x="19216751" y="0"/>
                  </a:lnTo>
                  <a:lnTo>
                    <a:pt x="19216751" y="1684782"/>
                  </a:lnTo>
                  <a:lnTo>
                    <a:pt x="0" y="1684782"/>
                  </a:lnTo>
                  <a:close/>
                </a:path>
              </a:pathLst>
            </a:custGeom>
            <a:blipFill>
              <a:blip r:embed="rId6">
                <a:alphaModFix amt="0"/>
              </a:blip>
              <a:stretch>
                <a:fillRect l="-29" t="0" r="-29" b="0"/>
              </a:stretch>
            </a:blipFill>
          </p:spPr>
        </p:sp>
      </p:grpSp>
      <p:grpSp>
        <p:nvGrpSpPr>
          <p:cNvPr name="Group 12" id="12"/>
          <p:cNvGrpSpPr/>
          <p:nvPr/>
        </p:nvGrpSpPr>
        <p:grpSpPr>
          <a:xfrm rot="0">
            <a:off x="686162" y="629279"/>
            <a:ext cx="14412601" cy="1292038"/>
            <a:chOff x="0" y="0"/>
            <a:chExt cx="19216802" cy="1722717"/>
          </a:xfrm>
        </p:grpSpPr>
        <p:sp>
          <p:nvSpPr>
            <p:cNvPr name="Freeform 13" id="13"/>
            <p:cNvSpPr/>
            <p:nvPr/>
          </p:nvSpPr>
          <p:spPr>
            <a:xfrm flipH="false" flipV="false" rot="0">
              <a:off x="0" y="0"/>
              <a:ext cx="19216801" cy="1722720"/>
            </a:xfrm>
            <a:custGeom>
              <a:avLst/>
              <a:gdLst/>
              <a:ahLst/>
              <a:cxnLst/>
              <a:rect r="r" b="b" t="t" l="l"/>
              <a:pathLst>
                <a:path h="1722720" w="19216801">
                  <a:moveTo>
                    <a:pt x="0" y="0"/>
                  </a:moveTo>
                  <a:lnTo>
                    <a:pt x="19216801" y="0"/>
                  </a:lnTo>
                  <a:lnTo>
                    <a:pt x="19216801" y="1722720"/>
                  </a:lnTo>
                  <a:lnTo>
                    <a:pt x="0" y="1722720"/>
                  </a:lnTo>
                  <a:close/>
                </a:path>
              </a:pathLst>
            </a:custGeom>
            <a:blipFill>
              <a:blip r:embed="rId7">
                <a:alphaModFix amt="0"/>
              </a:blip>
              <a:stretch>
                <a:fillRect l="0" t="-167354" r="0" b="-167353"/>
              </a:stretch>
            </a:blipFill>
          </p:spPr>
        </p:sp>
        <p:sp>
          <p:nvSpPr>
            <p:cNvPr name="TextBox 14" id="14"/>
            <p:cNvSpPr txBox="true"/>
            <p:nvPr/>
          </p:nvSpPr>
          <p:spPr>
            <a:xfrm>
              <a:off x="0" y="-28575"/>
              <a:ext cx="19216802" cy="1751292"/>
            </a:xfrm>
            <a:prstGeom prst="rect">
              <a:avLst/>
            </a:prstGeom>
          </p:spPr>
          <p:txBody>
            <a:bodyPr anchor="ctr" rtlCol="false" tIns="0" lIns="0" bIns="0" rIns="0"/>
            <a:lstStyle/>
            <a:p>
              <a:pPr algn="l">
                <a:lnSpc>
                  <a:spcPts val="4682"/>
                </a:lnSpc>
              </a:pPr>
              <a:r>
                <a:rPr lang="en-US" b="true" sz="3908" spc="-1">
                  <a:solidFill>
                    <a:srgbClr val="000000"/>
                  </a:solidFill>
                  <a:latin typeface="Poppins Bold"/>
                  <a:ea typeface="Poppins Bold"/>
                  <a:cs typeface="Poppins Bold"/>
                  <a:sym typeface="Poppins Bold"/>
                </a:rPr>
                <a:t>Conclusion &amp; Perspectives</a:t>
              </a:r>
            </a:p>
          </p:txBody>
        </p:sp>
      </p:grpSp>
      <p:grpSp>
        <p:nvGrpSpPr>
          <p:cNvPr name="Group 15" id="15"/>
          <p:cNvGrpSpPr/>
          <p:nvPr/>
        </p:nvGrpSpPr>
        <p:grpSpPr>
          <a:xfrm rot="0">
            <a:off x="686162" y="9718558"/>
            <a:ext cx="8235725" cy="411480"/>
            <a:chOff x="0" y="0"/>
            <a:chExt cx="10980966" cy="548640"/>
          </a:xfrm>
        </p:grpSpPr>
        <p:sp>
          <p:nvSpPr>
            <p:cNvPr name="Freeform 16" id="16"/>
            <p:cNvSpPr/>
            <p:nvPr/>
          </p:nvSpPr>
          <p:spPr>
            <a:xfrm flipH="false" flipV="false" rot="0">
              <a:off x="0" y="0"/>
              <a:ext cx="10980928" cy="548640"/>
            </a:xfrm>
            <a:custGeom>
              <a:avLst/>
              <a:gdLst/>
              <a:ahLst/>
              <a:cxnLst/>
              <a:rect r="r" b="b" t="t" l="l"/>
              <a:pathLst>
                <a:path h="548640" w="10980928">
                  <a:moveTo>
                    <a:pt x="0" y="0"/>
                  </a:moveTo>
                  <a:lnTo>
                    <a:pt x="10980928" y="0"/>
                  </a:lnTo>
                  <a:lnTo>
                    <a:pt x="10980928" y="548640"/>
                  </a:lnTo>
                  <a:lnTo>
                    <a:pt x="0" y="548640"/>
                  </a:lnTo>
                  <a:close/>
                </a:path>
              </a:pathLst>
            </a:custGeom>
            <a:blipFill>
              <a:blip r:embed="rId8">
                <a:alphaModFix amt="0"/>
              </a:blip>
              <a:stretch>
                <a:fillRect l="0" t="-106" r="0" b="-106"/>
              </a:stretch>
            </a:blipFill>
          </p:spPr>
        </p:sp>
      </p:grpSp>
      <p:grpSp>
        <p:nvGrpSpPr>
          <p:cNvPr name="Group 17" id="17"/>
          <p:cNvGrpSpPr/>
          <p:nvPr/>
        </p:nvGrpSpPr>
        <p:grpSpPr>
          <a:xfrm rot="0">
            <a:off x="686162" y="9704156"/>
            <a:ext cx="8235725" cy="425882"/>
            <a:chOff x="0" y="0"/>
            <a:chExt cx="10980966" cy="567842"/>
          </a:xfrm>
        </p:grpSpPr>
        <p:sp>
          <p:nvSpPr>
            <p:cNvPr name="Freeform 18" id="18"/>
            <p:cNvSpPr/>
            <p:nvPr/>
          </p:nvSpPr>
          <p:spPr>
            <a:xfrm flipH="false" flipV="false" rot="0">
              <a:off x="0" y="0"/>
              <a:ext cx="10980928" cy="567817"/>
            </a:xfrm>
            <a:custGeom>
              <a:avLst/>
              <a:gdLst/>
              <a:ahLst/>
              <a:cxnLst/>
              <a:rect r="r" b="b" t="t" l="l"/>
              <a:pathLst>
                <a:path h="567817" w="10980928">
                  <a:moveTo>
                    <a:pt x="0" y="0"/>
                  </a:moveTo>
                  <a:lnTo>
                    <a:pt x="10980928" y="0"/>
                  </a:lnTo>
                  <a:lnTo>
                    <a:pt x="10980928" y="567817"/>
                  </a:lnTo>
                  <a:lnTo>
                    <a:pt x="0" y="567817"/>
                  </a:lnTo>
                  <a:close/>
                </a:path>
              </a:pathLst>
            </a:custGeom>
            <a:blipFill>
              <a:blip r:embed="rId9">
                <a:alphaModFix amt="0"/>
              </a:blip>
              <a:stretch>
                <a:fillRect l="-243" t="0" r="-244" b="-4"/>
              </a:stretch>
            </a:blipFill>
          </p:spPr>
        </p:sp>
      </p:grpSp>
      <p:grpSp>
        <p:nvGrpSpPr>
          <p:cNvPr name="Group 19" id="19"/>
          <p:cNvGrpSpPr/>
          <p:nvPr/>
        </p:nvGrpSpPr>
        <p:grpSpPr>
          <a:xfrm rot="0">
            <a:off x="686162" y="9690116"/>
            <a:ext cx="8235725" cy="439922"/>
            <a:chOff x="0" y="0"/>
            <a:chExt cx="10980966" cy="586562"/>
          </a:xfrm>
        </p:grpSpPr>
        <p:sp>
          <p:nvSpPr>
            <p:cNvPr name="Freeform 20" id="20"/>
            <p:cNvSpPr/>
            <p:nvPr/>
          </p:nvSpPr>
          <p:spPr>
            <a:xfrm flipH="false" flipV="false" rot="0">
              <a:off x="0" y="0"/>
              <a:ext cx="10980960" cy="586560"/>
            </a:xfrm>
            <a:custGeom>
              <a:avLst/>
              <a:gdLst/>
              <a:ahLst/>
              <a:cxnLst/>
              <a:rect r="r" b="b" t="t" l="l"/>
              <a:pathLst>
                <a:path h="586560" w="10980960">
                  <a:moveTo>
                    <a:pt x="0" y="0"/>
                  </a:moveTo>
                  <a:lnTo>
                    <a:pt x="10980960" y="0"/>
                  </a:lnTo>
                  <a:lnTo>
                    <a:pt x="10980960" y="586560"/>
                  </a:lnTo>
                  <a:lnTo>
                    <a:pt x="0" y="586560"/>
                  </a:lnTo>
                  <a:close/>
                </a:path>
              </a:pathLst>
            </a:custGeom>
            <a:blipFill>
              <a:blip r:embed="rId7">
                <a:alphaModFix amt="0"/>
              </a:blip>
              <a:stretch>
                <a:fillRect l="0" t="-314778" r="0" b="-314778"/>
              </a:stretch>
            </a:blipFill>
          </p:spPr>
        </p:sp>
        <p:sp>
          <p:nvSpPr>
            <p:cNvPr name="TextBox 21" id="21"/>
            <p:cNvSpPr txBox="true"/>
            <p:nvPr/>
          </p:nvSpPr>
          <p:spPr>
            <a:xfrm>
              <a:off x="0" y="-19050"/>
              <a:ext cx="10980966" cy="605612"/>
            </a:xfrm>
            <a:prstGeom prst="rect">
              <a:avLst/>
            </a:prstGeom>
          </p:spPr>
          <p:txBody>
            <a:bodyPr anchor="ctr" rtlCol="false" tIns="0" lIns="0" bIns="0" rIns="0"/>
            <a:lstStyle/>
            <a:p>
              <a:pPr algn="l">
                <a:lnSpc>
                  <a:spcPts val="1620"/>
                </a:lnSpc>
              </a:pPr>
              <a:r>
                <a:rPr lang="en-US" sz="1350" spc="-1">
                  <a:solidFill>
                    <a:srgbClr val="3D6874"/>
                  </a:solidFill>
                  <a:latin typeface="Poppins"/>
                  <a:ea typeface="Poppins"/>
                  <a:cs typeface="Poppins"/>
                  <a:sym typeface="Poppins"/>
                </a:rPr>
                <a:t>Hire on Demand  •  PFE Defense</a:t>
              </a:r>
            </a:p>
          </p:txBody>
        </p:sp>
      </p:grpSp>
      <p:grpSp>
        <p:nvGrpSpPr>
          <p:cNvPr name="Group 22" id="22"/>
          <p:cNvGrpSpPr/>
          <p:nvPr/>
        </p:nvGrpSpPr>
        <p:grpSpPr>
          <a:xfrm rot="0">
            <a:off x="16242840" y="9718558"/>
            <a:ext cx="1372324" cy="411480"/>
            <a:chOff x="0" y="0"/>
            <a:chExt cx="1829765" cy="548640"/>
          </a:xfrm>
        </p:grpSpPr>
        <p:sp>
          <p:nvSpPr>
            <p:cNvPr name="Freeform 23" id="23"/>
            <p:cNvSpPr/>
            <p:nvPr/>
          </p:nvSpPr>
          <p:spPr>
            <a:xfrm flipH="false" flipV="false" rot="0">
              <a:off x="0" y="0"/>
              <a:ext cx="1829816" cy="548640"/>
            </a:xfrm>
            <a:custGeom>
              <a:avLst/>
              <a:gdLst/>
              <a:ahLst/>
              <a:cxnLst/>
              <a:rect r="r" b="b" t="t" l="l"/>
              <a:pathLst>
                <a:path h="548640" w="1829816">
                  <a:moveTo>
                    <a:pt x="0" y="0"/>
                  </a:moveTo>
                  <a:lnTo>
                    <a:pt x="1829816" y="0"/>
                  </a:lnTo>
                  <a:lnTo>
                    <a:pt x="1829816" y="548640"/>
                  </a:lnTo>
                  <a:lnTo>
                    <a:pt x="0" y="548640"/>
                  </a:lnTo>
                  <a:close/>
                </a:path>
              </a:pathLst>
            </a:custGeom>
            <a:blipFill>
              <a:blip r:embed="rId10">
                <a:alphaModFix amt="0"/>
              </a:blip>
              <a:stretch>
                <a:fillRect l="0" t="-94" r="2" b="-97"/>
              </a:stretch>
            </a:blipFill>
          </p:spPr>
        </p:sp>
      </p:grpSp>
      <p:grpSp>
        <p:nvGrpSpPr>
          <p:cNvPr name="Group 24" id="24"/>
          <p:cNvGrpSpPr/>
          <p:nvPr/>
        </p:nvGrpSpPr>
        <p:grpSpPr>
          <a:xfrm rot="0">
            <a:off x="738359" y="2454116"/>
            <a:ext cx="16985523" cy="3050000"/>
            <a:chOff x="0" y="0"/>
            <a:chExt cx="22647364" cy="4066667"/>
          </a:xfrm>
        </p:grpSpPr>
        <p:sp>
          <p:nvSpPr>
            <p:cNvPr name="Freeform 25" id="25"/>
            <p:cNvSpPr/>
            <p:nvPr/>
          </p:nvSpPr>
          <p:spPr>
            <a:xfrm flipH="false" flipV="false" rot="0">
              <a:off x="0" y="0"/>
              <a:ext cx="22647402" cy="4066667"/>
            </a:xfrm>
            <a:custGeom>
              <a:avLst/>
              <a:gdLst/>
              <a:ahLst/>
              <a:cxnLst/>
              <a:rect r="r" b="b" t="t" l="l"/>
              <a:pathLst>
                <a:path h="4066667" w="22647402">
                  <a:moveTo>
                    <a:pt x="0" y="0"/>
                  </a:moveTo>
                  <a:lnTo>
                    <a:pt x="22647402" y="0"/>
                  </a:lnTo>
                  <a:lnTo>
                    <a:pt x="22647402" y="4066667"/>
                  </a:lnTo>
                  <a:lnTo>
                    <a:pt x="0" y="4066667"/>
                  </a:lnTo>
                  <a:lnTo>
                    <a:pt x="0" y="0"/>
                  </a:lnTo>
                  <a:close/>
                </a:path>
              </a:pathLst>
            </a:custGeom>
            <a:blipFill>
              <a:blip r:embed="rId11"/>
              <a:stretch>
                <a:fillRect l="0" t="-74403" r="0" b="-74403"/>
              </a:stretch>
            </a:blipFill>
          </p:spPr>
        </p:sp>
      </p:grpSp>
      <p:grpSp>
        <p:nvGrpSpPr>
          <p:cNvPr name="Group 26" id="26"/>
          <p:cNvGrpSpPr/>
          <p:nvPr/>
        </p:nvGrpSpPr>
        <p:grpSpPr>
          <a:xfrm rot="0">
            <a:off x="1029595" y="2690279"/>
            <a:ext cx="4000005" cy="498243"/>
            <a:chOff x="0" y="0"/>
            <a:chExt cx="5333340" cy="664324"/>
          </a:xfrm>
        </p:grpSpPr>
        <p:sp>
          <p:nvSpPr>
            <p:cNvPr name="Freeform 27" id="27"/>
            <p:cNvSpPr/>
            <p:nvPr/>
          </p:nvSpPr>
          <p:spPr>
            <a:xfrm flipH="false" flipV="false" rot="0">
              <a:off x="0" y="0"/>
              <a:ext cx="5333333" cy="664320"/>
            </a:xfrm>
            <a:custGeom>
              <a:avLst/>
              <a:gdLst/>
              <a:ahLst/>
              <a:cxnLst/>
              <a:rect r="r" b="b" t="t" l="l"/>
              <a:pathLst>
                <a:path h="664320" w="5333333">
                  <a:moveTo>
                    <a:pt x="0" y="0"/>
                  </a:moveTo>
                  <a:lnTo>
                    <a:pt x="5333333" y="0"/>
                  </a:lnTo>
                  <a:lnTo>
                    <a:pt x="5333333" y="664320"/>
                  </a:lnTo>
                  <a:lnTo>
                    <a:pt x="0" y="664320"/>
                  </a:lnTo>
                  <a:close/>
                </a:path>
              </a:pathLst>
            </a:custGeom>
            <a:blipFill>
              <a:blip r:embed="rId7">
                <a:alphaModFix amt="0"/>
              </a:blip>
              <a:stretch>
                <a:fillRect l="0" t="-106430" r="0" b="-106431"/>
              </a:stretch>
            </a:blipFill>
          </p:spPr>
        </p:sp>
        <p:sp>
          <p:nvSpPr>
            <p:cNvPr name="TextBox 28" id="28"/>
            <p:cNvSpPr txBox="true"/>
            <p:nvPr/>
          </p:nvSpPr>
          <p:spPr>
            <a:xfrm>
              <a:off x="0" y="-19050"/>
              <a:ext cx="5333340" cy="683374"/>
            </a:xfrm>
            <a:prstGeom prst="rect">
              <a:avLst/>
            </a:prstGeom>
          </p:spPr>
          <p:txBody>
            <a:bodyPr anchor="ctr" rtlCol="false" tIns="0" lIns="0" bIns="0" rIns="0"/>
            <a:lstStyle/>
            <a:p>
              <a:pPr algn="l">
                <a:lnSpc>
                  <a:spcPts val="2340"/>
                </a:lnSpc>
              </a:pPr>
              <a:r>
                <a:rPr lang="en-US" b="true" sz="1950" spc="-1">
                  <a:solidFill>
                    <a:srgbClr val="000000"/>
                  </a:solidFill>
                  <a:latin typeface="Poppins Bold"/>
                  <a:ea typeface="Poppins Bold"/>
                  <a:cs typeface="Poppins Bold"/>
                  <a:sym typeface="Poppins Bold"/>
                </a:rPr>
                <a:t>CONCLUSION</a:t>
              </a:r>
            </a:p>
          </p:txBody>
        </p:sp>
      </p:grpSp>
      <p:sp>
        <p:nvSpPr>
          <p:cNvPr name="TextBox 29" id="29"/>
          <p:cNvSpPr txBox="true"/>
          <p:nvPr/>
        </p:nvSpPr>
        <p:spPr>
          <a:xfrm rot="0">
            <a:off x="1029595" y="3185731"/>
            <a:ext cx="16403041" cy="2157146"/>
          </a:xfrm>
          <a:prstGeom prst="rect">
            <a:avLst/>
          </a:prstGeom>
        </p:spPr>
        <p:txBody>
          <a:bodyPr anchor="t" rtlCol="false" tIns="0" lIns="0" bIns="0" rIns="0">
            <a:spAutoFit/>
          </a:bodyPr>
          <a:lstStyle/>
          <a:p>
            <a:pPr algn="l">
              <a:lnSpc>
                <a:spcPts val="2338"/>
              </a:lnSpc>
            </a:pPr>
            <a:r>
              <a:rPr lang="en-US" sz="1700" spc="-1">
                <a:solidFill>
                  <a:srgbClr val="000000"/>
                </a:solidFill>
                <a:latin typeface="Poppins"/>
                <a:ea typeface="Poppins"/>
                <a:cs typeface="Poppins"/>
                <a:sym typeface="Poppins"/>
              </a:rPr>
              <a:t>Hire on Demand provides an integrated recruitment platform that combines AI-powered candidate profiling, skill-based assessments, proctoring, automated evaluation, ranking, and recruiter search. The project addresses the gap between declared skills and verified competencies, supporting more structured and informed recruitment decisions.</a:t>
            </a:r>
          </a:p>
        </p:txBody>
      </p:sp>
      <p:grpSp>
        <p:nvGrpSpPr>
          <p:cNvPr name="Group 30" id="30"/>
          <p:cNvGrpSpPr/>
          <p:nvPr/>
        </p:nvGrpSpPr>
        <p:grpSpPr>
          <a:xfrm rot="0">
            <a:off x="754923" y="5884116"/>
            <a:ext cx="16814883" cy="2550004"/>
            <a:chOff x="0" y="0"/>
            <a:chExt cx="22419843" cy="3400006"/>
          </a:xfrm>
        </p:grpSpPr>
        <p:sp>
          <p:nvSpPr>
            <p:cNvPr name="Freeform 31" id="31"/>
            <p:cNvSpPr/>
            <p:nvPr/>
          </p:nvSpPr>
          <p:spPr>
            <a:xfrm flipH="false" flipV="false" rot="0">
              <a:off x="0" y="0"/>
              <a:ext cx="22419818" cy="3400044"/>
            </a:xfrm>
            <a:custGeom>
              <a:avLst/>
              <a:gdLst/>
              <a:ahLst/>
              <a:cxnLst/>
              <a:rect r="r" b="b" t="t" l="l"/>
              <a:pathLst>
                <a:path h="3400044" w="22419818">
                  <a:moveTo>
                    <a:pt x="0" y="0"/>
                  </a:moveTo>
                  <a:lnTo>
                    <a:pt x="22419818" y="0"/>
                  </a:lnTo>
                  <a:lnTo>
                    <a:pt x="22419818" y="3400044"/>
                  </a:lnTo>
                  <a:lnTo>
                    <a:pt x="0" y="3400044"/>
                  </a:lnTo>
                  <a:lnTo>
                    <a:pt x="0" y="0"/>
                  </a:lnTo>
                  <a:close/>
                </a:path>
              </a:pathLst>
            </a:custGeom>
            <a:blipFill>
              <a:blip r:embed="rId11"/>
              <a:stretch>
                <a:fillRect l="0" t="-97300" r="0" b="-97299"/>
              </a:stretch>
            </a:blipFill>
          </p:spPr>
        </p:sp>
      </p:grpSp>
      <p:grpSp>
        <p:nvGrpSpPr>
          <p:cNvPr name="Group 32" id="32"/>
          <p:cNvGrpSpPr/>
          <p:nvPr/>
        </p:nvGrpSpPr>
        <p:grpSpPr>
          <a:xfrm rot="0">
            <a:off x="1046159" y="6120279"/>
            <a:ext cx="5999998" cy="498243"/>
            <a:chOff x="0" y="0"/>
            <a:chExt cx="7999997" cy="664324"/>
          </a:xfrm>
        </p:grpSpPr>
        <p:sp>
          <p:nvSpPr>
            <p:cNvPr name="Freeform 33" id="33"/>
            <p:cNvSpPr/>
            <p:nvPr/>
          </p:nvSpPr>
          <p:spPr>
            <a:xfrm flipH="false" flipV="false" rot="0">
              <a:off x="0" y="0"/>
              <a:ext cx="8000000" cy="664320"/>
            </a:xfrm>
            <a:custGeom>
              <a:avLst/>
              <a:gdLst/>
              <a:ahLst/>
              <a:cxnLst/>
              <a:rect r="r" b="b" t="t" l="l"/>
              <a:pathLst>
                <a:path h="664320" w="8000000">
                  <a:moveTo>
                    <a:pt x="0" y="0"/>
                  </a:moveTo>
                  <a:lnTo>
                    <a:pt x="8000000" y="0"/>
                  </a:lnTo>
                  <a:lnTo>
                    <a:pt x="8000000" y="664320"/>
                  </a:lnTo>
                  <a:lnTo>
                    <a:pt x="0" y="664320"/>
                  </a:lnTo>
                  <a:close/>
                </a:path>
              </a:pathLst>
            </a:custGeom>
            <a:blipFill>
              <a:blip r:embed="rId7">
                <a:alphaModFix amt="0"/>
              </a:blip>
              <a:stretch>
                <a:fillRect l="0" t="-184645" r="0" b="-184646"/>
              </a:stretch>
            </a:blipFill>
          </p:spPr>
        </p:sp>
        <p:sp>
          <p:nvSpPr>
            <p:cNvPr name="TextBox 34" id="34"/>
            <p:cNvSpPr txBox="true"/>
            <p:nvPr/>
          </p:nvSpPr>
          <p:spPr>
            <a:xfrm>
              <a:off x="0" y="-19050"/>
              <a:ext cx="7999997" cy="683374"/>
            </a:xfrm>
            <a:prstGeom prst="rect">
              <a:avLst/>
            </a:prstGeom>
          </p:spPr>
          <p:txBody>
            <a:bodyPr anchor="ctr" rtlCol="false" tIns="0" lIns="0" bIns="0" rIns="0"/>
            <a:lstStyle/>
            <a:p>
              <a:pPr algn="l">
                <a:lnSpc>
                  <a:spcPts val="2340"/>
                </a:lnSpc>
              </a:pPr>
              <a:r>
                <a:rPr lang="en-US" b="true" sz="1950" spc="-1">
                  <a:solidFill>
                    <a:srgbClr val="000000"/>
                  </a:solidFill>
                  <a:latin typeface="Poppins Bold"/>
                  <a:ea typeface="Poppins Bold"/>
                  <a:cs typeface="Poppins Bold"/>
                  <a:sym typeface="Poppins Bold"/>
                </a:rPr>
                <a:t>Future Perspectives</a:t>
              </a:r>
            </a:p>
          </p:txBody>
        </p:sp>
      </p:grpSp>
      <p:sp>
        <p:nvSpPr>
          <p:cNvPr name="TextBox 35" id="35"/>
          <p:cNvSpPr txBox="true"/>
          <p:nvPr/>
        </p:nvSpPr>
        <p:spPr>
          <a:xfrm rot="0">
            <a:off x="1046159" y="6741233"/>
            <a:ext cx="3102483" cy="1542888"/>
          </a:xfrm>
          <a:prstGeom prst="rect">
            <a:avLst/>
          </a:prstGeom>
        </p:spPr>
        <p:txBody>
          <a:bodyPr anchor="t" rtlCol="false" tIns="0" lIns="0" bIns="0" rIns="0">
            <a:spAutoFit/>
          </a:bodyPr>
          <a:lstStyle/>
          <a:p>
            <a:pPr algn="l">
              <a:lnSpc>
                <a:spcPts val="1619"/>
              </a:lnSpc>
            </a:pPr>
            <a:r>
              <a:rPr lang="en-US" b="true" sz="1299" spc="0">
                <a:solidFill>
                  <a:srgbClr val="000000"/>
                </a:solidFill>
                <a:latin typeface="Poppins Bold"/>
                <a:ea typeface="Poppins Bold"/>
                <a:cs typeface="Poppins Bold"/>
                <a:sym typeface="Poppins Bold"/>
              </a:rPr>
              <a:t>Semantic candidate–job matching</a:t>
            </a:r>
          </a:p>
          <a:p>
            <a:pPr algn="l">
              <a:lnSpc>
                <a:spcPts val="1449"/>
              </a:lnSpc>
            </a:pPr>
            <a:r>
              <a:rPr lang="en-US" sz="1149" spc="0">
                <a:solidFill>
                  <a:srgbClr val="000000"/>
                </a:solidFill>
                <a:latin typeface="Poppins"/>
                <a:ea typeface="Poppins"/>
                <a:cs typeface="Poppins"/>
                <a:sym typeface="Poppins"/>
              </a:rPr>
              <a:t>Match profiles with job requirements.</a:t>
            </a:r>
          </a:p>
        </p:txBody>
      </p:sp>
      <p:sp>
        <p:nvSpPr>
          <p:cNvPr name="TextBox 36" id="36"/>
          <p:cNvSpPr txBox="true"/>
          <p:nvPr/>
        </p:nvSpPr>
        <p:spPr>
          <a:xfrm rot="0">
            <a:off x="4328636" y="6741233"/>
            <a:ext cx="3102483" cy="1542888"/>
          </a:xfrm>
          <a:prstGeom prst="rect">
            <a:avLst/>
          </a:prstGeom>
        </p:spPr>
        <p:txBody>
          <a:bodyPr anchor="t" rtlCol="false" tIns="0" lIns="0" bIns="0" rIns="0">
            <a:spAutoFit/>
          </a:bodyPr>
          <a:lstStyle/>
          <a:p>
            <a:pPr algn="l">
              <a:lnSpc>
                <a:spcPts val="1619"/>
              </a:lnSpc>
            </a:pPr>
            <a:r>
              <a:rPr lang="en-US" b="true" sz="1299" spc="0">
                <a:solidFill>
                  <a:srgbClr val="000000"/>
                </a:solidFill>
                <a:latin typeface="Poppins Bold"/>
                <a:ea typeface="Poppins Bold"/>
                <a:cs typeface="Poppins Bold"/>
                <a:sym typeface="Poppins Bold"/>
              </a:rPr>
              <a:t>Smarter recommendations</a:t>
            </a:r>
          </a:p>
          <a:p>
            <a:pPr algn="l">
              <a:lnSpc>
                <a:spcPts val="1449"/>
              </a:lnSpc>
            </a:pPr>
            <a:r>
              <a:rPr lang="en-US" sz="1149" spc="0">
                <a:solidFill>
                  <a:srgbClr val="000000"/>
                </a:solidFill>
                <a:latin typeface="Poppins"/>
                <a:ea typeface="Poppins"/>
                <a:cs typeface="Poppins"/>
                <a:sym typeface="Poppins"/>
              </a:rPr>
              <a:t>Improve candidate discovery and suggestions.</a:t>
            </a:r>
          </a:p>
        </p:txBody>
      </p:sp>
      <p:sp>
        <p:nvSpPr>
          <p:cNvPr name="TextBox 37" id="37"/>
          <p:cNvSpPr txBox="true"/>
          <p:nvPr/>
        </p:nvSpPr>
        <p:spPr>
          <a:xfrm rot="0">
            <a:off x="7611123" y="6741233"/>
            <a:ext cx="3102483" cy="1542888"/>
          </a:xfrm>
          <a:prstGeom prst="rect">
            <a:avLst/>
          </a:prstGeom>
        </p:spPr>
        <p:txBody>
          <a:bodyPr anchor="t" rtlCol="false" tIns="0" lIns="0" bIns="0" rIns="0">
            <a:spAutoFit/>
          </a:bodyPr>
          <a:lstStyle/>
          <a:p>
            <a:pPr algn="l">
              <a:lnSpc>
                <a:spcPts val="1619"/>
              </a:lnSpc>
            </a:pPr>
            <a:r>
              <a:rPr lang="en-US" b="true" sz="1299" spc="0">
                <a:solidFill>
                  <a:srgbClr val="000000"/>
                </a:solidFill>
                <a:latin typeface="Poppins Bold"/>
                <a:ea typeface="Poppins Bold"/>
                <a:cs typeface="Poppins Bold"/>
                <a:sym typeface="Poppins Bold"/>
              </a:rPr>
              <a:t>Adaptive assessments</a:t>
            </a:r>
          </a:p>
          <a:p>
            <a:pPr algn="l">
              <a:lnSpc>
                <a:spcPts val="1449"/>
              </a:lnSpc>
            </a:pPr>
            <a:r>
              <a:rPr lang="en-US" sz="1149" spc="0">
                <a:solidFill>
                  <a:srgbClr val="000000"/>
                </a:solidFill>
                <a:latin typeface="Poppins"/>
                <a:ea typeface="Poppins"/>
                <a:cs typeface="Poppins"/>
                <a:sym typeface="Poppins"/>
              </a:rPr>
              <a:t>Adjust evaluation to candidate performance.</a:t>
            </a:r>
          </a:p>
        </p:txBody>
      </p:sp>
      <p:sp>
        <p:nvSpPr>
          <p:cNvPr name="TextBox 38" id="38"/>
          <p:cNvSpPr txBox="true"/>
          <p:nvPr/>
        </p:nvSpPr>
        <p:spPr>
          <a:xfrm rot="0">
            <a:off x="10893600" y="6741233"/>
            <a:ext cx="3102483" cy="1542888"/>
          </a:xfrm>
          <a:prstGeom prst="rect">
            <a:avLst/>
          </a:prstGeom>
        </p:spPr>
        <p:txBody>
          <a:bodyPr anchor="t" rtlCol="false" tIns="0" lIns="0" bIns="0" rIns="0">
            <a:spAutoFit/>
          </a:bodyPr>
          <a:lstStyle/>
          <a:p>
            <a:pPr algn="l">
              <a:lnSpc>
                <a:spcPts val="1619"/>
              </a:lnSpc>
            </a:pPr>
            <a:r>
              <a:rPr lang="en-US" b="true" sz="1299" spc="0">
                <a:solidFill>
                  <a:srgbClr val="000000"/>
                </a:solidFill>
                <a:latin typeface="Poppins Bold"/>
                <a:ea typeface="Poppins Bold"/>
                <a:cs typeface="Poppins Bold"/>
                <a:sym typeface="Poppins Bold"/>
              </a:rPr>
              <a:t>Complex &amp; scanned CVs</a:t>
            </a:r>
          </a:p>
          <a:p>
            <a:pPr algn="l">
              <a:lnSpc>
                <a:spcPts val="1449"/>
              </a:lnSpc>
            </a:pPr>
            <a:r>
              <a:rPr lang="en-US" sz="1149" spc="0">
                <a:solidFill>
                  <a:srgbClr val="000000"/>
                </a:solidFill>
                <a:latin typeface="Poppins"/>
                <a:ea typeface="Poppins"/>
                <a:cs typeface="Poppins"/>
                <a:sym typeface="Poppins"/>
              </a:rPr>
              <a:t>Improve extraction from difficult documents.</a:t>
            </a:r>
          </a:p>
        </p:txBody>
      </p:sp>
      <p:sp>
        <p:nvSpPr>
          <p:cNvPr name="TextBox 39" id="39"/>
          <p:cNvSpPr txBox="true"/>
          <p:nvPr/>
        </p:nvSpPr>
        <p:spPr>
          <a:xfrm rot="0">
            <a:off x="14176077" y="6741233"/>
            <a:ext cx="3102483" cy="1542888"/>
          </a:xfrm>
          <a:prstGeom prst="rect">
            <a:avLst/>
          </a:prstGeom>
        </p:spPr>
        <p:txBody>
          <a:bodyPr anchor="t" rtlCol="false" tIns="0" lIns="0" bIns="0" rIns="0">
            <a:spAutoFit/>
          </a:bodyPr>
          <a:lstStyle/>
          <a:p>
            <a:pPr algn="l">
              <a:lnSpc>
                <a:spcPts val="1619"/>
              </a:lnSpc>
            </a:pPr>
            <a:r>
              <a:rPr lang="en-US" b="true" sz="1299" spc="0">
                <a:solidFill>
                  <a:srgbClr val="000000"/>
                </a:solidFill>
                <a:latin typeface="Poppins Bold"/>
                <a:ea typeface="Poppins Bold"/>
                <a:cs typeface="Poppins Bold"/>
                <a:sym typeface="Poppins Bold"/>
              </a:rPr>
              <a:t>Analytics &amp; scalability</a:t>
            </a:r>
          </a:p>
          <a:p>
            <a:pPr algn="l">
              <a:lnSpc>
                <a:spcPts val="1449"/>
              </a:lnSpc>
            </a:pPr>
            <a:r>
              <a:rPr lang="en-US" sz="1149" spc="0">
                <a:solidFill>
                  <a:srgbClr val="000000"/>
                </a:solidFill>
                <a:latin typeface="Poppins"/>
                <a:ea typeface="Poppins"/>
                <a:cs typeface="Poppins"/>
                <a:sym typeface="Poppins"/>
              </a:rPr>
              <a:t>Extend insights and support larger volumes.</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C8DAE4"/>
        </a:solidFill>
      </p:bgPr>
    </p:bg>
    <p:spTree>
      <p:nvGrpSpPr>
        <p:cNvPr id="1" name=""/>
        <p:cNvGrpSpPr/>
        <p:nvPr/>
      </p:nvGrpSpPr>
      <p:grpSpPr>
        <a:xfrm>
          <a:off x="0" y="0"/>
          <a:ext cx="0" cy="0"/>
          <a:chOff x="0" y="0"/>
          <a:chExt cx="0" cy="0"/>
        </a:xfrm>
      </p:grpSpPr>
      <p:sp>
        <p:nvSpPr>
          <p:cNvPr name="Freeform 2" id="2"/>
          <p:cNvSpPr/>
          <p:nvPr/>
        </p:nvSpPr>
        <p:spPr>
          <a:xfrm flipH="false" flipV="false" rot="0">
            <a:off x="-8237232" y="-4683680"/>
            <a:ext cx="12425170" cy="9827180"/>
          </a:xfrm>
          <a:custGeom>
            <a:avLst/>
            <a:gdLst/>
            <a:ahLst/>
            <a:cxnLst/>
            <a:rect r="r" b="b" t="t" l="l"/>
            <a:pathLst>
              <a:path h="9827180" w="12425170">
                <a:moveTo>
                  <a:pt x="0" y="0"/>
                </a:moveTo>
                <a:lnTo>
                  <a:pt x="12425170" y="0"/>
                </a:lnTo>
                <a:lnTo>
                  <a:pt x="12425170" y="9827180"/>
                </a:lnTo>
                <a:lnTo>
                  <a:pt x="0" y="9827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23482">
            <a:off x="5232288" y="2396765"/>
            <a:ext cx="7727442" cy="1973617"/>
            <a:chOff x="0" y="0"/>
            <a:chExt cx="1799002" cy="459472"/>
          </a:xfrm>
        </p:grpSpPr>
        <p:sp>
          <p:nvSpPr>
            <p:cNvPr name="Freeform 4" id="4"/>
            <p:cNvSpPr/>
            <p:nvPr/>
          </p:nvSpPr>
          <p:spPr>
            <a:xfrm flipH="false" flipV="false" rot="0">
              <a:off x="0" y="0"/>
              <a:ext cx="1799002" cy="459472"/>
            </a:xfrm>
            <a:custGeom>
              <a:avLst/>
              <a:gdLst/>
              <a:ahLst/>
              <a:cxnLst/>
              <a:rect r="r" b="b" t="t" l="l"/>
              <a:pathLst>
                <a:path h="459472" w="1799002">
                  <a:moveTo>
                    <a:pt x="0" y="0"/>
                  </a:moveTo>
                  <a:lnTo>
                    <a:pt x="1799002" y="0"/>
                  </a:lnTo>
                  <a:lnTo>
                    <a:pt x="1799002" y="459472"/>
                  </a:lnTo>
                  <a:lnTo>
                    <a:pt x="0" y="459472"/>
                  </a:lnTo>
                  <a:close/>
                </a:path>
              </a:pathLst>
            </a:custGeom>
            <a:solidFill>
              <a:srgbClr val="F3F5F4"/>
            </a:solidFill>
          </p:spPr>
        </p:sp>
        <p:sp>
          <p:nvSpPr>
            <p:cNvPr name="TextBox 5" id="5"/>
            <p:cNvSpPr txBox="true"/>
            <p:nvPr/>
          </p:nvSpPr>
          <p:spPr>
            <a:xfrm>
              <a:off x="0" y="-28575"/>
              <a:ext cx="1799002" cy="48804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23482">
            <a:off x="3939967" y="4649501"/>
            <a:ext cx="10951289" cy="1973617"/>
            <a:chOff x="0" y="0"/>
            <a:chExt cx="2549536" cy="459472"/>
          </a:xfrm>
        </p:grpSpPr>
        <p:sp>
          <p:nvSpPr>
            <p:cNvPr name="Freeform 7" id="7"/>
            <p:cNvSpPr/>
            <p:nvPr/>
          </p:nvSpPr>
          <p:spPr>
            <a:xfrm flipH="false" flipV="false" rot="0">
              <a:off x="0" y="0"/>
              <a:ext cx="2549536" cy="459472"/>
            </a:xfrm>
            <a:custGeom>
              <a:avLst/>
              <a:gdLst/>
              <a:ahLst/>
              <a:cxnLst/>
              <a:rect r="r" b="b" t="t" l="l"/>
              <a:pathLst>
                <a:path h="459472" w="2549536">
                  <a:moveTo>
                    <a:pt x="0" y="0"/>
                  </a:moveTo>
                  <a:lnTo>
                    <a:pt x="2549536" y="0"/>
                  </a:lnTo>
                  <a:lnTo>
                    <a:pt x="2549536" y="459472"/>
                  </a:lnTo>
                  <a:lnTo>
                    <a:pt x="0" y="459472"/>
                  </a:lnTo>
                  <a:close/>
                </a:path>
              </a:pathLst>
            </a:custGeom>
            <a:solidFill>
              <a:srgbClr val="F3F5F4"/>
            </a:solidFill>
          </p:spPr>
        </p:sp>
        <p:sp>
          <p:nvSpPr>
            <p:cNvPr name="TextBox 8" id="8"/>
            <p:cNvSpPr txBox="true"/>
            <p:nvPr/>
          </p:nvSpPr>
          <p:spPr>
            <a:xfrm>
              <a:off x="0" y="-28575"/>
              <a:ext cx="2549536" cy="488047"/>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9748925" y="6039806"/>
            <a:ext cx="5644927" cy="1198483"/>
          </a:xfrm>
          <a:custGeom>
            <a:avLst/>
            <a:gdLst/>
            <a:ahLst/>
            <a:cxnLst/>
            <a:rect r="r" b="b" t="t" l="l"/>
            <a:pathLst>
              <a:path h="1198483" w="5644927">
                <a:moveTo>
                  <a:pt x="0" y="0"/>
                </a:moveTo>
                <a:lnTo>
                  <a:pt x="5644927" y="0"/>
                </a:lnTo>
                <a:lnTo>
                  <a:pt x="5644927" y="1198484"/>
                </a:lnTo>
                <a:lnTo>
                  <a:pt x="0" y="11984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123482">
            <a:off x="1411868" y="2485869"/>
            <a:ext cx="16016038" cy="3866842"/>
          </a:xfrm>
          <a:prstGeom prst="rect">
            <a:avLst/>
          </a:prstGeom>
        </p:spPr>
        <p:txBody>
          <a:bodyPr anchor="t" rtlCol="false" tIns="0" lIns="0" bIns="0" rIns="0">
            <a:spAutoFit/>
          </a:bodyPr>
          <a:lstStyle/>
          <a:p>
            <a:pPr algn="ctr">
              <a:lnSpc>
                <a:spcPts val="14861"/>
              </a:lnSpc>
            </a:pPr>
            <a:r>
              <a:rPr lang="en-US" sz="14569">
                <a:solidFill>
                  <a:srgbClr val="000000"/>
                </a:solidFill>
                <a:latin typeface="Marykate 2"/>
                <a:ea typeface="Marykate 2"/>
                <a:cs typeface="Marykate 2"/>
                <a:sym typeface="Marykate 2"/>
              </a:rPr>
              <a:t>THANK YOU</a:t>
            </a:r>
          </a:p>
          <a:p>
            <a:pPr algn="ctr" marL="0" indent="0" lvl="0">
              <a:lnSpc>
                <a:spcPts val="14861"/>
              </a:lnSpc>
            </a:pPr>
            <a:r>
              <a:rPr lang="en-US" sz="14569">
                <a:solidFill>
                  <a:srgbClr val="000000"/>
                </a:solidFill>
                <a:latin typeface="Marykate 2"/>
                <a:ea typeface="Marykate 2"/>
                <a:cs typeface="Marykate 2"/>
                <a:sym typeface="Marykate 2"/>
              </a:rPr>
              <a:t>FOR YOUR ATTENTION</a:t>
            </a:r>
          </a:p>
        </p:txBody>
      </p:sp>
      <p:sp>
        <p:nvSpPr>
          <p:cNvPr name="Freeform 11" id="11"/>
          <p:cNvSpPr/>
          <p:nvPr/>
        </p:nvSpPr>
        <p:spPr>
          <a:xfrm flipH="false" flipV="false" rot="0">
            <a:off x="467137" y="3372712"/>
            <a:ext cx="2647330" cy="2647330"/>
          </a:xfrm>
          <a:custGeom>
            <a:avLst/>
            <a:gdLst/>
            <a:ahLst/>
            <a:cxnLst/>
            <a:rect r="r" b="b" t="t" l="l"/>
            <a:pathLst>
              <a:path h="2647330" w="2647330">
                <a:moveTo>
                  <a:pt x="0" y="0"/>
                </a:moveTo>
                <a:lnTo>
                  <a:pt x="2647330" y="0"/>
                </a:lnTo>
                <a:lnTo>
                  <a:pt x="2647330" y="2647330"/>
                </a:lnTo>
                <a:lnTo>
                  <a:pt x="0" y="26473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DAHUFhLbvgk</dc:identifier>
  <dcterms:modified xsi:type="dcterms:W3CDTF">2011-08-01T06:04:30Z</dcterms:modified>
  <cp:revision>1</cp:revision>
  <dc:title>Recruiter Experience</dc:title>
</cp:coreProperties>
</file>